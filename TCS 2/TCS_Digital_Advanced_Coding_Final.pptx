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6"/>
  </p:notesMasterIdLst>
  <p:sldIdLst>
    <p:sldId id="998" r:id="rId2"/>
    <p:sldId id="999" r:id="rId3"/>
    <p:sldId id="509" r:id="rId4"/>
    <p:sldId id="1000" r:id="rId5"/>
    <p:sldId id="1001" r:id="rId6"/>
    <p:sldId id="1002" r:id="rId7"/>
    <p:sldId id="1003" r:id="rId8"/>
    <p:sldId id="1004" r:id="rId9"/>
    <p:sldId id="1005" r:id="rId10"/>
    <p:sldId id="1006" r:id="rId11"/>
    <p:sldId id="1007" r:id="rId12"/>
    <p:sldId id="1323" r:id="rId13"/>
    <p:sldId id="1324" r:id="rId14"/>
    <p:sldId id="1325" r:id="rId15"/>
    <p:sldId id="1326" r:id="rId16"/>
    <p:sldId id="1327" r:id="rId17"/>
    <p:sldId id="1328" r:id="rId18"/>
    <p:sldId id="1329" r:id="rId19"/>
    <p:sldId id="1330" r:id="rId20"/>
    <p:sldId id="1331" r:id="rId21"/>
    <p:sldId id="1332" r:id="rId22"/>
    <p:sldId id="1333" r:id="rId23"/>
    <p:sldId id="1334" r:id="rId24"/>
    <p:sldId id="1335" r:id="rId25"/>
    <p:sldId id="1336" r:id="rId26"/>
    <p:sldId id="1337" r:id="rId27"/>
    <p:sldId id="1338" r:id="rId28"/>
    <p:sldId id="1339" r:id="rId29"/>
    <p:sldId id="1340" r:id="rId30"/>
    <p:sldId id="1341" r:id="rId31"/>
    <p:sldId id="1342" r:id="rId32"/>
    <p:sldId id="459" r:id="rId33"/>
    <p:sldId id="1016" r:id="rId34"/>
    <p:sldId id="1017" r:id="rId35"/>
    <p:sldId id="1018" r:id="rId36"/>
    <p:sldId id="1019" r:id="rId37"/>
    <p:sldId id="460" r:id="rId38"/>
    <p:sldId id="461" r:id="rId39"/>
    <p:sldId id="1020" r:id="rId40"/>
    <p:sldId id="1021" r:id="rId41"/>
    <p:sldId id="1022" r:id="rId42"/>
    <p:sldId id="1023" r:id="rId43"/>
    <p:sldId id="1024" r:id="rId44"/>
    <p:sldId id="1025" r:id="rId45"/>
    <p:sldId id="463" r:id="rId46"/>
    <p:sldId id="1026" r:id="rId47"/>
    <p:sldId id="467" r:id="rId48"/>
    <p:sldId id="465" r:id="rId49"/>
    <p:sldId id="1028" r:id="rId50"/>
    <p:sldId id="1030" r:id="rId51"/>
    <p:sldId id="471" r:id="rId52"/>
    <p:sldId id="1033" r:id="rId53"/>
    <p:sldId id="1034" r:id="rId54"/>
    <p:sldId id="1035" r:id="rId55"/>
    <p:sldId id="1036" r:id="rId56"/>
    <p:sldId id="1037" r:id="rId57"/>
    <p:sldId id="1345" r:id="rId58"/>
    <p:sldId id="1040" r:id="rId59"/>
    <p:sldId id="1043" r:id="rId60"/>
    <p:sldId id="1046" r:id="rId61"/>
    <p:sldId id="475" r:id="rId62"/>
    <p:sldId id="1048" r:id="rId63"/>
    <p:sldId id="1049" r:id="rId64"/>
    <p:sldId id="476" r:id="rId65"/>
    <p:sldId id="1348" r:id="rId66"/>
    <p:sldId id="1050" r:id="rId67"/>
    <p:sldId id="1346" r:id="rId68"/>
    <p:sldId id="1051" r:id="rId69"/>
    <p:sldId id="1347" r:id="rId70"/>
    <p:sldId id="1052" r:id="rId71"/>
    <p:sldId id="483" r:id="rId72"/>
    <p:sldId id="1053" r:id="rId73"/>
    <p:sldId id="486" r:id="rId74"/>
    <p:sldId id="1055" r:id="rId75"/>
    <p:sldId id="1056" r:id="rId76"/>
    <p:sldId id="1057" r:id="rId77"/>
    <p:sldId id="487" r:id="rId78"/>
    <p:sldId id="488" r:id="rId79"/>
    <p:sldId id="1058" r:id="rId80"/>
    <p:sldId id="1059" r:id="rId81"/>
    <p:sldId id="1060" r:id="rId82"/>
    <p:sldId id="494" r:id="rId83"/>
    <p:sldId id="1061" r:id="rId84"/>
    <p:sldId id="1062" r:id="rId85"/>
    <p:sldId id="495" r:id="rId86"/>
    <p:sldId id="1063" r:id="rId87"/>
    <p:sldId id="1064" r:id="rId88"/>
    <p:sldId id="1065" r:id="rId89"/>
    <p:sldId id="496" r:id="rId90"/>
    <p:sldId id="1066" r:id="rId91"/>
    <p:sldId id="1067" r:id="rId92"/>
    <p:sldId id="1068" r:id="rId93"/>
    <p:sldId id="1069" r:id="rId94"/>
    <p:sldId id="1070" r:id="rId95"/>
    <p:sldId id="1071" r:id="rId96"/>
    <p:sldId id="499" r:id="rId97"/>
    <p:sldId id="1072" r:id="rId98"/>
    <p:sldId id="1073" r:id="rId99"/>
    <p:sldId id="1074" r:id="rId100"/>
    <p:sldId id="1075" r:id="rId101"/>
    <p:sldId id="1076" r:id="rId102"/>
    <p:sldId id="1077" r:id="rId103"/>
    <p:sldId id="1078" r:id="rId104"/>
    <p:sldId id="1079" r:id="rId105"/>
    <p:sldId id="1080" r:id="rId106"/>
    <p:sldId id="1081" r:id="rId107"/>
    <p:sldId id="1082" r:id="rId108"/>
    <p:sldId id="1083" r:id="rId109"/>
    <p:sldId id="1084" r:id="rId110"/>
    <p:sldId id="1085" r:id="rId111"/>
    <p:sldId id="503" r:id="rId112"/>
    <p:sldId id="1086" r:id="rId113"/>
    <p:sldId id="1087" r:id="rId114"/>
    <p:sldId id="1088" r:id="rId115"/>
    <p:sldId id="1089" r:id="rId116"/>
    <p:sldId id="1090" r:id="rId117"/>
    <p:sldId id="1091" r:id="rId118"/>
    <p:sldId id="1092" r:id="rId119"/>
    <p:sldId id="505" r:id="rId120"/>
    <p:sldId id="1094" r:id="rId121"/>
    <p:sldId id="1095" r:id="rId122"/>
    <p:sldId id="1096" r:id="rId123"/>
    <p:sldId id="1097" r:id="rId124"/>
    <p:sldId id="1098" r:id="rId125"/>
    <p:sldId id="1099" r:id="rId126"/>
    <p:sldId id="511" r:id="rId127"/>
    <p:sldId id="1100" r:id="rId128"/>
    <p:sldId id="1101" r:id="rId129"/>
    <p:sldId id="1102" r:id="rId130"/>
    <p:sldId id="1103" r:id="rId131"/>
    <p:sldId id="512" r:id="rId132"/>
    <p:sldId id="1104" r:id="rId133"/>
    <p:sldId id="1105" r:id="rId134"/>
    <p:sldId id="1106" r:id="rId135"/>
    <p:sldId id="515" r:id="rId136"/>
    <p:sldId id="1107" r:id="rId137"/>
    <p:sldId id="1108" r:id="rId138"/>
    <p:sldId id="517" r:id="rId139"/>
    <p:sldId id="1109" r:id="rId140"/>
    <p:sldId id="1110" r:id="rId141"/>
    <p:sldId id="1111" r:id="rId142"/>
    <p:sldId id="518" r:id="rId143"/>
    <p:sldId id="1112" r:id="rId144"/>
    <p:sldId id="1113" r:id="rId145"/>
    <p:sldId id="1114" r:id="rId146"/>
    <p:sldId id="1115" r:id="rId147"/>
    <p:sldId id="1116" r:id="rId148"/>
    <p:sldId id="1117" r:id="rId149"/>
    <p:sldId id="1118" r:id="rId150"/>
    <p:sldId id="1119" r:id="rId151"/>
    <p:sldId id="1120" r:id="rId152"/>
    <p:sldId id="1121" r:id="rId153"/>
    <p:sldId id="1122" r:id="rId154"/>
    <p:sldId id="519" r:id="rId155"/>
    <p:sldId id="1123" r:id="rId156"/>
    <p:sldId id="1124" r:id="rId157"/>
    <p:sldId id="1125" r:id="rId158"/>
    <p:sldId id="1126" r:id="rId159"/>
    <p:sldId id="1127" r:id="rId160"/>
    <p:sldId id="1128" r:id="rId161"/>
    <p:sldId id="1129" r:id="rId162"/>
    <p:sldId id="1130" r:id="rId163"/>
    <p:sldId id="1131" r:id="rId164"/>
    <p:sldId id="1132" r:id="rId165"/>
    <p:sldId id="1133" r:id="rId166"/>
    <p:sldId id="1134" r:id="rId167"/>
    <p:sldId id="1135" r:id="rId168"/>
    <p:sldId id="1136" r:id="rId169"/>
    <p:sldId id="1137" r:id="rId170"/>
    <p:sldId id="1138" r:id="rId171"/>
    <p:sldId id="1139" r:id="rId172"/>
    <p:sldId id="1140" r:id="rId173"/>
    <p:sldId id="1141" r:id="rId174"/>
    <p:sldId id="1142" r:id="rId175"/>
    <p:sldId id="1143" r:id="rId176"/>
    <p:sldId id="1144" r:id="rId177"/>
    <p:sldId id="1145" r:id="rId178"/>
    <p:sldId id="1146" r:id="rId179"/>
    <p:sldId id="1147" r:id="rId180"/>
    <p:sldId id="1148" r:id="rId181"/>
    <p:sldId id="1149" r:id="rId182"/>
    <p:sldId id="1150" r:id="rId183"/>
    <p:sldId id="1151" r:id="rId184"/>
    <p:sldId id="1152" r:id="rId185"/>
    <p:sldId id="1153" r:id="rId186"/>
    <p:sldId id="1154" r:id="rId187"/>
    <p:sldId id="1155" r:id="rId188"/>
    <p:sldId id="1156" r:id="rId189"/>
    <p:sldId id="1157" r:id="rId190"/>
    <p:sldId id="1158" r:id="rId191"/>
    <p:sldId id="1159" r:id="rId192"/>
    <p:sldId id="1160" r:id="rId193"/>
    <p:sldId id="1161" r:id="rId194"/>
    <p:sldId id="1162" r:id="rId195"/>
    <p:sldId id="1163" r:id="rId196"/>
    <p:sldId id="1164" r:id="rId197"/>
    <p:sldId id="1165" r:id="rId198"/>
    <p:sldId id="1167" r:id="rId199"/>
    <p:sldId id="1344" r:id="rId200"/>
    <p:sldId id="1168" r:id="rId201"/>
    <p:sldId id="1169" r:id="rId202"/>
    <p:sldId id="1170" r:id="rId203"/>
    <p:sldId id="1171" r:id="rId204"/>
    <p:sldId id="1172" r:id="rId205"/>
    <p:sldId id="1173" r:id="rId206"/>
    <p:sldId id="1174" r:id="rId207"/>
    <p:sldId id="1175" r:id="rId208"/>
    <p:sldId id="1176" r:id="rId209"/>
    <p:sldId id="1177" r:id="rId210"/>
    <p:sldId id="1178" r:id="rId211"/>
    <p:sldId id="1179" r:id="rId212"/>
    <p:sldId id="1180" r:id="rId213"/>
    <p:sldId id="1181" r:id="rId214"/>
    <p:sldId id="1182" r:id="rId215"/>
    <p:sldId id="1183" r:id="rId216"/>
    <p:sldId id="1184" r:id="rId217"/>
    <p:sldId id="1185" r:id="rId218"/>
    <p:sldId id="1186" r:id="rId219"/>
    <p:sldId id="1187" r:id="rId220"/>
    <p:sldId id="1188" r:id="rId221"/>
    <p:sldId id="1189" r:id="rId222"/>
    <p:sldId id="1190" r:id="rId223"/>
    <p:sldId id="1191" r:id="rId224"/>
    <p:sldId id="1192" r:id="rId225"/>
    <p:sldId id="1193" r:id="rId226"/>
    <p:sldId id="1194" r:id="rId227"/>
    <p:sldId id="1195" r:id="rId228"/>
    <p:sldId id="1196" r:id="rId229"/>
    <p:sldId id="1197" r:id="rId230"/>
    <p:sldId id="1198" r:id="rId231"/>
    <p:sldId id="1199" r:id="rId232"/>
    <p:sldId id="1200" r:id="rId233"/>
    <p:sldId id="1201" r:id="rId234"/>
    <p:sldId id="1202" r:id="rId235"/>
    <p:sldId id="1203" r:id="rId236"/>
    <p:sldId id="1204" r:id="rId237"/>
    <p:sldId id="1205" r:id="rId238"/>
    <p:sldId id="1206" r:id="rId239"/>
    <p:sldId id="1207" r:id="rId240"/>
    <p:sldId id="1208" r:id="rId241"/>
    <p:sldId id="1209" r:id="rId242"/>
    <p:sldId id="1210" r:id="rId243"/>
    <p:sldId id="1211" r:id="rId244"/>
    <p:sldId id="1212" r:id="rId245"/>
    <p:sldId id="1213" r:id="rId246"/>
    <p:sldId id="1214" r:id="rId247"/>
    <p:sldId id="1215" r:id="rId248"/>
    <p:sldId id="1216" r:id="rId249"/>
    <p:sldId id="1217" r:id="rId250"/>
    <p:sldId id="1218" r:id="rId251"/>
    <p:sldId id="1219" r:id="rId252"/>
    <p:sldId id="1220" r:id="rId253"/>
    <p:sldId id="1221" r:id="rId254"/>
    <p:sldId id="1222" r:id="rId255"/>
    <p:sldId id="1223" r:id="rId256"/>
    <p:sldId id="1224" r:id="rId257"/>
    <p:sldId id="1225" r:id="rId258"/>
    <p:sldId id="1226" r:id="rId259"/>
    <p:sldId id="1227" r:id="rId260"/>
    <p:sldId id="1228" r:id="rId261"/>
    <p:sldId id="1229" r:id="rId262"/>
    <p:sldId id="1230" r:id="rId263"/>
    <p:sldId id="1231" r:id="rId264"/>
    <p:sldId id="1232" r:id="rId265"/>
    <p:sldId id="1233" r:id="rId266"/>
    <p:sldId id="1234" r:id="rId267"/>
    <p:sldId id="1235" r:id="rId268"/>
    <p:sldId id="1236" r:id="rId269"/>
    <p:sldId id="1237" r:id="rId270"/>
    <p:sldId id="1238" r:id="rId271"/>
    <p:sldId id="1239" r:id="rId272"/>
    <p:sldId id="1240" r:id="rId273"/>
    <p:sldId id="1241" r:id="rId274"/>
    <p:sldId id="1242" r:id="rId275"/>
    <p:sldId id="1243" r:id="rId276"/>
    <p:sldId id="1244" r:id="rId277"/>
    <p:sldId id="1245" r:id="rId278"/>
    <p:sldId id="1246" r:id="rId279"/>
    <p:sldId id="455" r:id="rId280"/>
    <p:sldId id="731" r:id="rId281"/>
    <p:sldId id="766" r:id="rId282"/>
    <p:sldId id="767" r:id="rId283"/>
    <p:sldId id="457" r:id="rId284"/>
    <p:sldId id="458" r:id="rId285"/>
    <p:sldId id="732" r:id="rId286"/>
    <p:sldId id="733" r:id="rId287"/>
    <p:sldId id="734" r:id="rId288"/>
    <p:sldId id="735" r:id="rId289"/>
    <p:sldId id="736" r:id="rId290"/>
    <p:sldId id="737" r:id="rId291"/>
    <p:sldId id="768" r:id="rId292"/>
    <p:sldId id="738" r:id="rId293"/>
    <p:sldId id="739" r:id="rId294"/>
    <p:sldId id="740" r:id="rId295"/>
    <p:sldId id="741" r:id="rId296"/>
    <p:sldId id="742" r:id="rId297"/>
    <p:sldId id="743" r:id="rId298"/>
    <p:sldId id="744" r:id="rId299"/>
    <p:sldId id="745" r:id="rId300"/>
    <p:sldId id="746" r:id="rId301"/>
    <p:sldId id="747" r:id="rId302"/>
    <p:sldId id="748" r:id="rId303"/>
    <p:sldId id="749" r:id="rId304"/>
    <p:sldId id="752" r:id="rId305"/>
    <p:sldId id="753" r:id="rId306"/>
    <p:sldId id="754" r:id="rId307"/>
    <p:sldId id="769" r:id="rId308"/>
    <p:sldId id="755" r:id="rId309"/>
    <p:sldId id="756" r:id="rId310"/>
    <p:sldId id="757" r:id="rId311"/>
    <p:sldId id="758" r:id="rId312"/>
    <p:sldId id="759" r:id="rId313"/>
    <p:sldId id="770" r:id="rId314"/>
    <p:sldId id="760" r:id="rId315"/>
    <p:sldId id="761" r:id="rId316"/>
    <p:sldId id="762" r:id="rId317"/>
    <p:sldId id="763" r:id="rId318"/>
    <p:sldId id="765" r:id="rId319"/>
    <p:sldId id="764" r:id="rId320"/>
    <p:sldId id="771" r:id="rId321"/>
    <p:sldId id="772" r:id="rId322"/>
    <p:sldId id="773" r:id="rId323"/>
    <p:sldId id="774" r:id="rId324"/>
    <p:sldId id="775" r:id="rId325"/>
    <p:sldId id="776" r:id="rId326"/>
    <p:sldId id="777" r:id="rId327"/>
    <p:sldId id="778" r:id="rId328"/>
    <p:sldId id="779" r:id="rId329"/>
    <p:sldId id="780" r:id="rId330"/>
    <p:sldId id="781" r:id="rId331"/>
    <p:sldId id="782" r:id="rId332"/>
    <p:sldId id="783" r:id="rId333"/>
    <p:sldId id="784" r:id="rId334"/>
    <p:sldId id="785" r:id="rId335"/>
    <p:sldId id="786" r:id="rId336"/>
    <p:sldId id="787" r:id="rId337"/>
    <p:sldId id="788" r:id="rId338"/>
    <p:sldId id="789" r:id="rId339"/>
    <p:sldId id="790" r:id="rId340"/>
    <p:sldId id="791" r:id="rId341"/>
    <p:sldId id="792" r:id="rId342"/>
    <p:sldId id="793" r:id="rId343"/>
    <p:sldId id="794" r:id="rId344"/>
    <p:sldId id="795" r:id="rId345"/>
    <p:sldId id="796" r:id="rId346"/>
    <p:sldId id="797" r:id="rId347"/>
    <p:sldId id="798" r:id="rId348"/>
    <p:sldId id="799" r:id="rId349"/>
    <p:sldId id="800" r:id="rId350"/>
    <p:sldId id="801" r:id="rId351"/>
    <p:sldId id="802" r:id="rId352"/>
    <p:sldId id="803" r:id="rId353"/>
    <p:sldId id="804" r:id="rId354"/>
    <p:sldId id="805" r:id="rId355"/>
    <p:sldId id="806" r:id="rId356"/>
    <p:sldId id="807" r:id="rId357"/>
    <p:sldId id="808" r:id="rId358"/>
    <p:sldId id="809" r:id="rId359"/>
    <p:sldId id="480" r:id="rId360"/>
    <p:sldId id="810" r:id="rId361"/>
    <p:sldId id="811" r:id="rId362"/>
    <p:sldId id="812" r:id="rId363"/>
    <p:sldId id="813" r:id="rId364"/>
    <p:sldId id="814" r:id="rId365"/>
    <p:sldId id="815" r:id="rId366"/>
    <p:sldId id="817" r:id="rId367"/>
    <p:sldId id="818" r:id="rId368"/>
    <p:sldId id="816" r:id="rId369"/>
    <p:sldId id="819" r:id="rId370"/>
    <p:sldId id="820" r:id="rId371"/>
    <p:sldId id="821" r:id="rId372"/>
    <p:sldId id="822" r:id="rId373"/>
    <p:sldId id="823" r:id="rId374"/>
    <p:sldId id="824" r:id="rId375"/>
    <p:sldId id="825" r:id="rId376"/>
    <p:sldId id="826" r:id="rId377"/>
    <p:sldId id="827" r:id="rId378"/>
    <p:sldId id="828" r:id="rId379"/>
    <p:sldId id="829" r:id="rId380"/>
    <p:sldId id="830" r:id="rId381"/>
    <p:sldId id="831" r:id="rId382"/>
    <p:sldId id="832" r:id="rId383"/>
    <p:sldId id="833" r:id="rId384"/>
    <p:sldId id="834" r:id="rId385"/>
    <p:sldId id="835" r:id="rId386"/>
    <p:sldId id="836" r:id="rId387"/>
    <p:sldId id="837" r:id="rId388"/>
    <p:sldId id="838" r:id="rId389"/>
    <p:sldId id="839" r:id="rId390"/>
    <p:sldId id="840" r:id="rId391"/>
    <p:sldId id="841" r:id="rId392"/>
    <p:sldId id="842" r:id="rId393"/>
    <p:sldId id="843" r:id="rId394"/>
    <p:sldId id="844" r:id="rId395"/>
    <p:sldId id="845" r:id="rId396"/>
    <p:sldId id="846" r:id="rId397"/>
    <p:sldId id="847" r:id="rId398"/>
    <p:sldId id="848" r:id="rId399"/>
    <p:sldId id="849" r:id="rId400"/>
    <p:sldId id="850" r:id="rId401"/>
    <p:sldId id="851" r:id="rId402"/>
    <p:sldId id="852" r:id="rId403"/>
    <p:sldId id="853" r:id="rId404"/>
    <p:sldId id="854" r:id="rId405"/>
    <p:sldId id="855" r:id="rId406"/>
    <p:sldId id="856" r:id="rId407"/>
    <p:sldId id="857" r:id="rId408"/>
    <p:sldId id="860" r:id="rId409"/>
    <p:sldId id="859" r:id="rId410"/>
    <p:sldId id="858" r:id="rId411"/>
    <p:sldId id="861" r:id="rId412"/>
    <p:sldId id="862" r:id="rId413"/>
    <p:sldId id="863" r:id="rId414"/>
    <p:sldId id="864" r:id="rId415"/>
    <p:sldId id="865" r:id="rId416"/>
    <p:sldId id="866" r:id="rId417"/>
    <p:sldId id="867" r:id="rId418"/>
    <p:sldId id="868" r:id="rId419"/>
    <p:sldId id="869" r:id="rId420"/>
    <p:sldId id="870" r:id="rId421"/>
    <p:sldId id="871" r:id="rId422"/>
    <p:sldId id="872" r:id="rId423"/>
    <p:sldId id="873" r:id="rId424"/>
    <p:sldId id="874" r:id="rId425"/>
    <p:sldId id="875" r:id="rId426"/>
    <p:sldId id="876" r:id="rId427"/>
    <p:sldId id="877" r:id="rId428"/>
    <p:sldId id="878" r:id="rId429"/>
    <p:sldId id="879" r:id="rId430"/>
    <p:sldId id="880" r:id="rId431"/>
    <p:sldId id="881" r:id="rId432"/>
    <p:sldId id="882" r:id="rId433"/>
    <p:sldId id="883" r:id="rId434"/>
    <p:sldId id="884" r:id="rId435"/>
    <p:sldId id="885" r:id="rId436"/>
    <p:sldId id="886" r:id="rId437"/>
    <p:sldId id="887" r:id="rId438"/>
    <p:sldId id="888" r:id="rId439"/>
    <p:sldId id="889" r:id="rId440"/>
    <p:sldId id="890" r:id="rId441"/>
    <p:sldId id="891" r:id="rId442"/>
    <p:sldId id="892" r:id="rId443"/>
    <p:sldId id="893" r:id="rId444"/>
    <p:sldId id="894" r:id="rId445"/>
    <p:sldId id="895" r:id="rId446"/>
    <p:sldId id="896" r:id="rId447"/>
    <p:sldId id="897" r:id="rId448"/>
    <p:sldId id="898" r:id="rId449"/>
    <p:sldId id="899" r:id="rId450"/>
    <p:sldId id="900" r:id="rId451"/>
    <p:sldId id="901" r:id="rId452"/>
    <p:sldId id="902" r:id="rId453"/>
    <p:sldId id="903" r:id="rId454"/>
    <p:sldId id="904" r:id="rId455"/>
    <p:sldId id="905" r:id="rId456"/>
    <p:sldId id="906" r:id="rId457"/>
    <p:sldId id="907" r:id="rId458"/>
    <p:sldId id="908" r:id="rId459"/>
    <p:sldId id="909" r:id="rId460"/>
    <p:sldId id="910" r:id="rId461"/>
    <p:sldId id="911" r:id="rId462"/>
    <p:sldId id="912" r:id="rId463"/>
    <p:sldId id="913" r:id="rId464"/>
    <p:sldId id="914" r:id="rId465"/>
    <p:sldId id="915" r:id="rId466"/>
    <p:sldId id="916" r:id="rId467"/>
    <p:sldId id="917" r:id="rId468"/>
    <p:sldId id="918" r:id="rId469"/>
    <p:sldId id="919" r:id="rId470"/>
    <p:sldId id="920" r:id="rId471"/>
    <p:sldId id="921" r:id="rId472"/>
    <p:sldId id="922" r:id="rId473"/>
    <p:sldId id="923" r:id="rId474"/>
    <p:sldId id="924" r:id="rId475"/>
    <p:sldId id="925" r:id="rId476"/>
    <p:sldId id="926" r:id="rId477"/>
    <p:sldId id="927" r:id="rId478"/>
    <p:sldId id="928" r:id="rId479"/>
    <p:sldId id="929" r:id="rId480"/>
    <p:sldId id="930" r:id="rId481"/>
    <p:sldId id="931" r:id="rId482"/>
    <p:sldId id="932" r:id="rId483"/>
    <p:sldId id="933" r:id="rId484"/>
    <p:sldId id="934" r:id="rId485"/>
    <p:sldId id="935" r:id="rId486"/>
    <p:sldId id="936" r:id="rId487"/>
    <p:sldId id="937" r:id="rId488"/>
    <p:sldId id="938" r:id="rId489"/>
    <p:sldId id="939" r:id="rId490"/>
    <p:sldId id="940" r:id="rId491"/>
    <p:sldId id="941" r:id="rId492"/>
    <p:sldId id="942" r:id="rId493"/>
    <p:sldId id="943" r:id="rId494"/>
    <p:sldId id="944" r:id="rId495"/>
    <p:sldId id="945" r:id="rId496"/>
    <p:sldId id="946" r:id="rId497"/>
    <p:sldId id="947" r:id="rId498"/>
    <p:sldId id="948" r:id="rId499"/>
    <p:sldId id="949" r:id="rId500"/>
    <p:sldId id="950" r:id="rId501"/>
    <p:sldId id="951" r:id="rId502"/>
    <p:sldId id="952" r:id="rId503"/>
    <p:sldId id="953" r:id="rId504"/>
    <p:sldId id="954" r:id="rId505"/>
    <p:sldId id="955" r:id="rId506"/>
    <p:sldId id="956" r:id="rId507"/>
    <p:sldId id="957" r:id="rId508"/>
    <p:sldId id="958" r:id="rId509"/>
    <p:sldId id="959" r:id="rId510"/>
    <p:sldId id="960" r:id="rId511"/>
    <p:sldId id="961" r:id="rId512"/>
    <p:sldId id="962" r:id="rId513"/>
    <p:sldId id="963" r:id="rId514"/>
    <p:sldId id="964" r:id="rId515"/>
    <p:sldId id="965" r:id="rId516"/>
    <p:sldId id="966" r:id="rId517"/>
    <p:sldId id="967" r:id="rId518"/>
    <p:sldId id="968" r:id="rId519"/>
    <p:sldId id="969" r:id="rId520"/>
    <p:sldId id="970" r:id="rId521"/>
    <p:sldId id="1343" r:id="rId522"/>
    <p:sldId id="971" r:id="rId523"/>
    <p:sldId id="972" r:id="rId524"/>
    <p:sldId id="973" r:id="rId525"/>
    <p:sldId id="974" r:id="rId526"/>
    <p:sldId id="975" r:id="rId527"/>
    <p:sldId id="976" r:id="rId528"/>
    <p:sldId id="977" r:id="rId529"/>
    <p:sldId id="978" r:id="rId530"/>
    <p:sldId id="979" r:id="rId531"/>
    <p:sldId id="980" r:id="rId532"/>
    <p:sldId id="981" r:id="rId533"/>
    <p:sldId id="982" r:id="rId534"/>
    <p:sldId id="983" r:id="rId535"/>
    <p:sldId id="984" r:id="rId536"/>
    <p:sldId id="985" r:id="rId537"/>
    <p:sldId id="986" r:id="rId538"/>
    <p:sldId id="987" r:id="rId539"/>
    <p:sldId id="988" r:id="rId540"/>
    <p:sldId id="989" r:id="rId541"/>
    <p:sldId id="990" r:id="rId542"/>
    <p:sldId id="991" r:id="rId543"/>
    <p:sldId id="992" r:id="rId544"/>
    <p:sldId id="993" r:id="rId545"/>
    <p:sldId id="994" r:id="rId546"/>
    <p:sldId id="995" r:id="rId547"/>
    <p:sldId id="996" r:id="rId548"/>
    <p:sldId id="997" r:id="rId549"/>
    <p:sldId id="1247" r:id="rId550"/>
    <p:sldId id="1248" r:id="rId551"/>
    <p:sldId id="1249" r:id="rId552"/>
    <p:sldId id="1253" r:id="rId553"/>
    <p:sldId id="1254" r:id="rId554"/>
    <p:sldId id="1255" r:id="rId555"/>
    <p:sldId id="1250" r:id="rId556"/>
    <p:sldId id="1251" r:id="rId557"/>
    <p:sldId id="1252" r:id="rId558"/>
    <p:sldId id="1256" r:id="rId559"/>
    <p:sldId id="1257" r:id="rId560"/>
    <p:sldId id="1258" r:id="rId561"/>
    <p:sldId id="1259" r:id="rId562"/>
    <p:sldId id="1260" r:id="rId563"/>
    <p:sldId id="1261" r:id="rId564"/>
    <p:sldId id="1262" r:id="rId565"/>
    <p:sldId id="1263" r:id="rId566"/>
    <p:sldId id="1264" r:id="rId567"/>
    <p:sldId id="1265" r:id="rId568"/>
    <p:sldId id="1266" r:id="rId569"/>
    <p:sldId id="1269" r:id="rId570"/>
    <p:sldId id="1268" r:id="rId571"/>
    <p:sldId id="1270" r:id="rId572"/>
    <p:sldId id="1271" r:id="rId573"/>
    <p:sldId id="1272" r:id="rId574"/>
    <p:sldId id="1273" r:id="rId575"/>
    <p:sldId id="1274" r:id="rId576"/>
    <p:sldId id="1275" r:id="rId577"/>
    <p:sldId id="1276" r:id="rId578"/>
    <p:sldId id="1277" r:id="rId579"/>
    <p:sldId id="1278" r:id="rId580"/>
    <p:sldId id="1279" r:id="rId581"/>
    <p:sldId id="1280" r:id="rId582"/>
    <p:sldId id="1281" r:id="rId583"/>
    <p:sldId id="1282" r:id="rId584"/>
    <p:sldId id="1283" r:id="rId585"/>
    <p:sldId id="1284" r:id="rId586"/>
    <p:sldId id="1285" r:id="rId587"/>
    <p:sldId id="1286" r:id="rId588"/>
    <p:sldId id="1287" r:id="rId589"/>
    <p:sldId id="1288" r:id="rId590"/>
    <p:sldId id="1289" r:id="rId591"/>
    <p:sldId id="1290" r:id="rId592"/>
    <p:sldId id="1291" r:id="rId593"/>
    <p:sldId id="1292" r:id="rId594"/>
    <p:sldId id="1293" r:id="rId595"/>
    <p:sldId id="1294" r:id="rId596"/>
    <p:sldId id="1295" r:id="rId597"/>
    <p:sldId id="1296" r:id="rId598"/>
    <p:sldId id="1297" r:id="rId599"/>
    <p:sldId id="1298" r:id="rId600"/>
    <p:sldId id="1299" r:id="rId601"/>
    <p:sldId id="1300" r:id="rId602"/>
    <p:sldId id="1301" r:id="rId603"/>
    <p:sldId id="1302" r:id="rId604"/>
    <p:sldId id="1303" r:id="rId605"/>
    <p:sldId id="1304" r:id="rId606"/>
    <p:sldId id="1305" r:id="rId607"/>
    <p:sldId id="1306" r:id="rId608"/>
    <p:sldId id="1307" r:id="rId609"/>
    <p:sldId id="1308" r:id="rId610"/>
    <p:sldId id="1309" r:id="rId611"/>
    <p:sldId id="1310" r:id="rId612"/>
    <p:sldId id="1311" r:id="rId613"/>
    <p:sldId id="1312" r:id="rId614"/>
    <p:sldId id="1313" r:id="rId615"/>
    <p:sldId id="1314" r:id="rId616"/>
    <p:sldId id="1315" r:id="rId617"/>
    <p:sldId id="1316" r:id="rId618"/>
    <p:sldId id="1317" r:id="rId619"/>
    <p:sldId id="1318" r:id="rId620"/>
    <p:sldId id="1319" r:id="rId621"/>
    <p:sldId id="1320" r:id="rId622"/>
    <p:sldId id="1321" r:id="rId623"/>
    <p:sldId id="1322" r:id="rId624"/>
    <p:sldId id="454" r:id="rId6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21" autoAdjust="0"/>
    <p:restoredTop sz="94660"/>
  </p:normalViewPr>
  <p:slideViewPr>
    <p:cSldViewPr snapToGrid="0">
      <p:cViewPr varScale="1">
        <p:scale>
          <a:sx n="78" d="100"/>
          <a:sy n="78" d="100"/>
        </p:scale>
        <p:origin x="754" y="53"/>
      </p:cViewPr>
      <p:guideLst/>
    </p:cSldViewPr>
  </p:slideViewPr>
  <p:notesTextViewPr>
    <p:cViewPr>
      <p:scale>
        <a:sx n="1" d="1"/>
        <a:sy n="1" d="1"/>
      </p:scale>
      <p:origin x="0" y="0"/>
    </p:cViewPr>
  </p:notesTextViewPr>
  <p:sorterViewPr>
    <p:cViewPr>
      <p:scale>
        <a:sx n="100" d="100"/>
        <a:sy n="100" d="100"/>
      </p:scale>
      <p:origin x="0" y="-556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324" Type="http://schemas.openxmlformats.org/officeDocument/2006/relationships/slide" Target="slides/slide323.xml"/><Relationship Id="rId531" Type="http://schemas.openxmlformats.org/officeDocument/2006/relationships/slide" Target="slides/slide530.xml"/><Relationship Id="rId629" Type="http://schemas.openxmlformats.org/officeDocument/2006/relationships/theme" Target="theme/theme1.xml"/><Relationship Id="rId170" Type="http://schemas.openxmlformats.org/officeDocument/2006/relationships/slide" Target="slides/slide169.xml"/><Relationship Id="rId268" Type="http://schemas.openxmlformats.org/officeDocument/2006/relationships/slide" Target="slides/slide267.xml"/><Relationship Id="rId475" Type="http://schemas.openxmlformats.org/officeDocument/2006/relationships/slide" Target="slides/slide474.xml"/><Relationship Id="rId32" Type="http://schemas.openxmlformats.org/officeDocument/2006/relationships/slide" Target="slides/slide31.xml"/><Relationship Id="rId128" Type="http://schemas.openxmlformats.org/officeDocument/2006/relationships/slide" Target="slides/slide127.xml"/><Relationship Id="rId335" Type="http://schemas.openxmlformats.org/officeDocument/2006/relationships/slide" Target="slides/slide334.xml"/><Relationship Id="rId542" Type="http://schemas.openxmlformats.org/officeDocument/2006/relationships/slide" Target="slides/slide541.xml"/><Relationship Id="rId181" Type="http://schemas.openxmlformats.org/officeDocument/2006/relationships/slide" Target="slides/slide180.xml"/><Relationship Id="rId402" Type="http://schemas.openxmlformats.org/officeDocument/2006/relationships/slide" Target="slides/slide401.xml"/><Relationship Id="rId279" Type="http://schemas.openxmlformats.org/officeDocument/2006/relationships/slide" Target="slides/slide278.xml"/><Relationship Id="rId486" Type="http://schemas.openxmlformats.org/officeDocument/2006/relationships/slide" Target="slides/slide485.xml"/><Relationship Id="rId43" Type="http://schemas.openxmlformats.org/officeDocument/2006/relationships/slide" Target="slides/slide42.xml"/><Relationship Id="rId139" Type="http://schemas.openxmlformats.org/officeDocument/2006/relationships/slide" Target="slides/slide138.xml"/><Relationship Id="rId346" Type="http://schemas.openxmlformats.org/officeDocument/2006/relationships/slide" Target="slides/slide345.xml"/><Relationship Id="rId553" Type="http://schemas.openxmlformats.org/officeDocument/2006/relationships/slide" Target="slides/slide552.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497" Type="http://schemas.openxmlformats.org/officeDocument/2006/relationships/slide" Target="slides/slide496.xml"/><Relationship Id="rId620" Type="http://schemas.openxmlformats.org/officeDocument/2006/relationships/slide" Target="slides/slide619.xml"/><Relationship Id="rId357" Type="http://schemas.openxmlformats.org/officeDocument/2006/relationships/slide" Target="slides/slide356.xml"/><Relationship Id="rId54" Type="http://schemas.openxmlformats.org/officeDocument/2006/relationships/slide" Target="slides/slide53.xml"/><Relationship Id="rId217" Type="http://schemas.openxmlformats.org/officeDocument/2006/relationships/slide" Target="slides/slide216.xml"/><Relationship Id="rId564" Type="http://schemas.openxmlformats.org/officeDocument/2006/relationships/slide" Target="slides/slide563.xml"/><Relationship Id="rId424" Type="http://schemas.openxmlformats.org/officeDocument/2006/relationships/slide" Target="slides/slide423.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575" Type="http://schemas.openxmlformats.org/officeDocument/2006/relationships/slide" Target="slides/slide574.xml"/><Relationship Id="rId228" Type="http://schemas.openxmlformats.org/officeDocument/2006/relationships/slide" Target="slides/slide227.xml"/><Relationship Id="rId435" Type="http://schemas.openxmlformats.org/officeDocument/2006/relationships/slide" Target="slides/slide434.xml"/><Relationship Id="rId281" Type="http://schemas.openxmlformats.org/officeDocument/2006/relationships/slide" Target="slides/slide280.xml"/><Relationship Id="rId502" Type="http://schemas.openxmlformats.org/officeDocument/2006/relationships/slide" Target="slides/slide501.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586" Type="http://schemas.openxmlformats.org/officeDocument/2006/relationships/slide" Target="slides/slide585.xml"/><Relationship Id="rId7" Type="http://schemas.openxmlformats.org/officeDocument/2006/relationships/slide" Target="slides/slide6.xml"/><Relationship Id="rId239" Type="http://schemas.openxmlformats.org/officeDocument/2006/relationships/slide" Target="slides/slide238.xml"/><Relationship Id="rId446" Type="http://schemas.openxmlformats.org/officeDocument/2006/relationships/slide" Target="slides/slide445.xml"/><Relationship Id="rId292" Type="http://schemas.openxmlformats.org/officeDocument/2006/relationships/slide" Target="slides/slide291.xml"/><Relationship Id="rId306" Type="http://schemas.openxmlformats.org/officeDocument/2006/relationships/slide" Target="slides/slide305.xml"/><Relationship Id="rId87" Type="http://schemas.openxmlformats.org/officeDocument/2006/relationships/slide" Target="slides/slide86.xml"/><Relationship Id="rId513" Type="http://schemas.openxmlformats.org/officeDocument/2006/relationships/slide" Target="slides/slide512.xml"/><Relationship Id="rId597" Type="http://schemas.openxmlformats.org/officeDocument/2006/relationships/slide" Target="slides/slide596.xml"/><Relationship Id="rId152" Type="http://schemas.openxmlformats.org/officeDocument/2006/relationships/slide" Target="slides/slide151.xml"/><Relationship Id="rId457" Type="http://schemas.openxmlformats.org/officeDocument/2006/relationships/slide" Target="slides/slide456.xml"/><Relationship Id="rId14" Type="http://schemas.openxmlformats.org/officeDocument/2006/relationships/slide" Target="slides/slide13.xml"/><Relationship Id="rId317" Type="http://schemas.openxmlformats.org/officeDocument/2006/relationships/slide" Target="slides/slide316.xml"/><Relationship Id="rId524" Type="http://schemas.openxmlformats.org/officeDocument/2006/relationships/slide" Target="slides/slide523.xml"/><Relationship Id="rId98" Type="http://schemas.openxmlformats.org/officeDocument/2006/relationships/slide" Target="slides/slide97.xml"/><Relationship Id="rId163" Type="http://schemas.openxmlformats.org/officeDocument/2006/relationships/slide" Target="slides/slide162.xml"/><Relationship Id="rId370" Type="http://schemas.openxmlformats.org/officeDocument/2006/relationships/slide" Target="slides/slide369.xml"/><Relationship Id="rId230" Type="http://schemas.openxmlformats.org/officeDocument/2006/relationships/slide" Target="slides/slide229.xml"/><Relationship Id="rId468" Type="http://schemas.openxmlformats.org/officeDocument/2006/relationships/slide" Target="slides/slide467.xml"/><Relationship Id="rId25" Type="http://schemas.openxmlformats.org/officeDocument/2006/relationships/slide" Target="slides/slide24.xml"/><Relationship Id="rId328" Type="http://schemas.openxmlformats.org/officeDocument/2006/relationships/slide" Target="slides/slide327.xml"/><Relationship Id="rId535" Type="http://schemas.openxmlformats.org/officeDocument/2006/relationships/slide" Target="slides/slide534.xml"/><Relationship Id="rId174" Type="http://schemas.openxmlformats.org/officeDocument/2006/relationships/slide" Target="slides/slide173.xml"/><Relationship Id="rId381" Type="http://schemas.openxmlformats.org/officeDocument/2006/relationships/slide" Target="slides/slide380.xml"/><Relationship Id="rId602" Type="http://schemas.openxmlformats.org/officeDocument/2006/relationships/slide" Target="slides/slide601.xml"/><Relationship Id="rId241" Type="http://schemas.openxmlformats.org/officeDocument/2006/relationships/slide" Target="slides/slide240.xml"/><Relationship Id="rId479" Type="http://schemas.openxmlformats.org/officeDocument/2006/relationships/slide" Target="slides/slide478.xml"/><Relationship Id="rId36" Type="http://schemas.openxmlformats.org/officeDocument/2006/relationships/slide" Target="slides/slide35.xml"/><Relationship Id="rId339" Type="http://schemas.openxmlformats.org/officeDocument/2006/relationships/slide" Target="slides/slide338.xml"/><Relationship Id="rId546" Type="http://schemas.openxmlformats.org/officeDocument/2006/relationships/slide" Target="slides/slide545.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588" Type="http://schemas.openxmlformats.org/officeDocument/2006/relationships/slide" Target="slides/slide587.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48" Type="http://schemas.openxmlformats.org/officeDocument/2006/relationships/slide" Target="slides/slide447.xml"/><Relationship Id="rId613" Type="http://schemas.openxmlformats.org/officeDocument/2006/relationships/slide" Target="slides/slide612.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515" Type="http://schemas.openxmlformats.org/officeDocument/2006/relationships/slide" Target="slides/slide514.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557" Type="http://schemas.openxmlformats.org/officeDocument/2006/relationships/slide" Target="slides/slide556.xml"/><Relationship Id="rId599" Type="http://schemas.openxmlformats.org/officeDocument/2006/relationships/slide" Target="slides/slide598.xml"/><Relationship Id="rId196" Type="http://schemas.openxmlformats.org/officeDocument/2006/relationships/slide" Target="slides/slide195.xml"/><Relationship Id="rId417" Type="http://schemas.openxmlformats.org/officeDocument/2006/relationships/slide" Target="slides/slide416.xml"/><Relationship Id="rId459" Type="http://schemas.openxmlformats.org/officeDocument/2006/relationships/slide" Target="slides/slide458.xml"/><Relationship Id="rId624" Type="http://schemas.openxmlformats.org/officeDocument/2006/relationships/slide" Target="slides/slide623.xml"/><Relationship Id="rId16" Type="http://schemas.openxmlformats.org/officeDocument/2006/relationships/slide" Target="slides/slide15.xml"/><Relationship Id="rId221" Type="http://schemas.openxmlformats.org/officeDocument/2006/relationships/slide" Target="slides/slide220.xml"/><Relationship Id="rId263" Type="http://schemas.openxmlformats.org/officeDocument/2006/relationships/slide" Target="slides/slide262.xml"/><Relationship Id="rId319" Type="http://schemas.openxmlformats.org/officeDocument/2006/relationships/slide" Target="slides/slide318.xml"/><Relationship Id="rId470" Type="http://schemas.openxmlformats.org/officeDocument/2006/relationships/slide" Target="slides/slide469.xml"/><Relationship Id="rId526" Type="http://schemas.openxmlformats.org/officeDocument/2006/relationships/slide" Target="slides/slide525.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568" Type="http://schemas.openxmlformats.org/officeDocument/2006/relationships/slide" Target="slides/slide567.xml"/><Relationship Id="rId165" Type="http://schemas.openxmlformats.org/officeDocument/2006/relationships/slide" Target="slides/slide164.xml"/><Relationship Id="rId372" Type="http://schemas.openxmlformats.org/officeDocument/2006/relationships/slide" Target="slides/slide371.xml"/><Relationship Id="rId428" Type="http://schemas.openxmlformats.org/officeDocument/2006/relationships/slide" Target="slides/slide427.xml"/><Relationship Id="rId232" Type="http://schemas.openxmlformats.org/officeDocument/2006/relationships/slide" Target="slides/slide231.xml"/><Relationship Id="rId274" Type="http://schemas.openxmlformats.org/officeDocument/2006/relationships/slide" Target="slides/slide273.xml"/><Relationship Id="rId481" Type="http://schemas.openxmlformats.org/officeDocument/2006/relationships/slide" Target="slides/slide480.xml"/><Relationship Id="rId27" Type="http://schemas.openxmlformats.org/officeDocument/2006/relationships/slide" Target="slides/slide26.xml"/><Relationship Id="rId69" Type="http://schemas.openxmlformats.org/officeDocument/2006/relationships/slide" Target="slides/slide68.xml"/><Relationship Id="rId134" Type="http://schemas.openxmlformats.org/officeDocument/2006/relationships/slide" Target="slides/slide133.xml"/><Relationship Id="rId537" Type="http://schemas.openxmlformats.org/officeDocument/2006/relationships/slide" Target="slides/slide536.xml"/><Relationship Id="rId579" Type="http://schemas.openxmlformats.org/officeDocument/2006/relationships/slide" Target="slides/slide578.xml"/><Relationship Id="rId80" Type="http://schemas.openxmlformats.org/officeDocument/2006/relationships/slide" Target="slides/slide79.xml"/><Relationship Id="rId176" Type="http://schemas.openxmlformats.org/officeDocument/2006/relationships/slide" Target="slides/slide175.xml"/><Relationship Id="rId341" Type="http://schemas.openxmlformats.org/officeDocument/2006/relationships/slide" Target="slides/slide340.xml"/><Relationship Id="rId383" Type="http://schemas.openxmlformats.org/officeDocument/2006/relationships/slide" Target="slides/slide382.xml"/><Relationship Id="rId439" Type="http://schemas.openxmlformats.org/officeDocument/2006/relationships/slide" Target="slides/slide438.xml"/><Relationship Id="rId590" Type="http://schemas.openxmlformats.org/officeDocument/2006/relationships/slide" Target="slides/slide589.xml"/><Relationship Id="rId604" Type="http://schemas.openxmlformats.org/officeDocument/2006/relationships/slide" Target="slides/slide603.xml"/><Relationship Id="rId201" Type="http://schemas.openxmlformats.org/officeDocument/2006/relationships/slide" Target="slides/slide200.xml"/><Relationship Id="rId243" Type="http://schemas.openxmlformats.org/officeDocument/2006/relationships/slide" Target="slides/slide242.xml"/><Relationship Id="rId285" Type="http://schemas.openxmlformats.org/officeDocument/2006/relationships/slide" Target="slides/slide284.xml"/><Relationship Id="rId450" Type="http://schemas.openxmlformats.org/officeDocument/2006/relationships/slide" Target="slides/slide449.xml"/><Relationship Id="rId506" Type="http://schemas.openxmlformats.org/officeDocument/2006/relationships/slide" Target="slides/slide505.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492" Type="http://schemas.openxmlformats.org/officeDocument/2006/relationships/slide" Target="slides/slide491.xml"/><Relationship Id="rId548" Type="http://schemas.openxmlformats.org/officeDocument/2006/relationships/slide" Target="slides/slide547.xml"/><Relationship Id="rId91" Type="http://schemas.openxmlformats.org/officeDocument/2006/relationships/slide" Target="slides/slide90.xml"/><Relationship Id="rId145" Type="http://schemas.openxmlformats.org/officeDocument/2006/relationships/slide" Target="slides/slide144.xml"/><Relationship Id="rId187" Type="http://schemas.openxmlformats.org/officeDocument/2006/relationships/slide" Target="slides/slide186.xml"/><Relationship Id="rId352" Type="http://schemas.openxmlformats.org/officeDocument/2006/relationships/slide" Target="slides/slide351.xml"/><Relationship Id="rId394" Type="http://schemas.openxmlformats.org/officeDocument/2006/relationships/slide" Target="slides/slide393.xml"/><Relationship Id="rId408" Type="http://schemas.openxmlformats.org/officeDocument/2006/relationships/slide" Target="slides/slide407.xml"/><Relationship Id="rId615" Type="http://schemas.openxmlformats.org/officeDocument/2006/relationships/slide" Target="slides/slide614.xml"/><Relationship Id="rId212" Type="http://schemas.openxmlformats.org/officeDocument/2006/relationships/slide" Target="slides/slide211.xml"/><Relationship Id="rId254" Type="http://schemas.openxmlformats.org/officeDocument/2006/relationships/slide" Target="slides/slide253.xml"/><Relationship Id="rId49" Type="http://schemas.openxmlformats.org/officeDocument/2006/relationships/slide" Target="slides/slide48.xml"/><Relationship Id="rId114" Type="http://schemas.openxmlformats.org/officeDocument/2006/relationships/slide" Target="slides/slide113.xml"/><Relationship Id="rId296" Type="http://schemas.openxmlformats.org/officeDocument/2006/relationships/slide" Target="slides/slide295.xml"/><Relationship Id="rId461" Type="http://schemas.openxmlformats.org/officeDocument/2006/relationships/slide" Target="slides/slide460.xml"/><Relationship Id="rId517" Type="http://schemas.openxmlformats.org/officeDocument/2006/relationships/slide" Target="slides/slide516.xml"/><Relationship Id="rId559" Type="http://schemas.openxmlformats.org/officeDocument/2006/relationships/slide" Target="slides/slide558.xml"/><Relationship Id="rId60" Type="http://schemas.openxmlformats.org/officeDocument/2006/relationships/slide" Target="slides/slide59.xml"/><Relationship Id="rId156" Type="http://schemas.openxmlformats.org/officeDocument/2006/relationships/slide" Target="slides/slide155.xml"/><Relationship Id="rId198" Type="http://schemas.openxmlformats.org/officeDocument/2006/relationships/slide" Target="slides/slide197.xml"/><Relationship Id="rId321" Type="http://schemas.openxmlformats.org/officeDocument/2006/relationships/slide" Target="slides/slide320.xml"/><Relationship Id="rId363" Type="http://schemas.openxmlformats.org/officeDocument/2006/relationships/slide" Target="slides/slide362.xml"/><Relationship Id="rId419" Type="http://schemas.openxmlformats.org/officeDocument/2006/relationships/slide" Target="slides/slide418.xml"/><Relationship Id="rId570" Type="http://schemas.openxmlformats.org/officeDocument/2006/relationships/slide" Target="slides/slide569.xml"/><Relationship Id="rId626" Type="http://schemas.openxmlformats.org/officeDocument/2006/relationships/notesMaster" Target="notesMasters/notesMaster1.xml"/><Relationship Id="rId223" Type="http://schemas.openxmlformats.org/officeDocument/2006/relationships/slide" Target="slides/slide222.xml"/><Relationship Id="rId430" Type="http://schemas.openxmlformats.org/officeDocument/2006/relationships/slide" Target="slides/slide429.xml"/><Relationship Id="rId18" Type="http://schemas.openxmlformats.org/officeDocument/2006/relationships/slide" Target="slides/slide17.xml"/><Relationship Id="rId265" Type="http://schemas.openxmlformats.org/officeDocument/2006/relationships/slide" Target="slides/slide264.xml"/><Relationship Id="rId472" Type="http://schemas.openxmlformats.org/officeDocument/2006/relationships/slide" Target="slides/slide471.xml"/><Relationship Id="rId528" Type="http://schemas.openxmlformats.org/officeDocument/2006/relationships/slide" Target="slides/slide527.xml"/><Relationship Id="rId125" Type="http://schemas.openxmlformats.org/officeDocument/2006/relationships/slide" Target="slides/slide124.xml"/><Relationship Id="rId167" Type="http://schemas.openxmlformats.org/officeDocument/2006/relationships/slide" Target="slides/slide166.xml"/><Relationship Id="rId332" Type="http://schemas.openxmlformats.org/officeDocument/2006/relationships/slide" Target="slides/slide331.xml"/><Relationship Id="rId374" Type="http://schemas.openxmlformats.org/officeDocument/2006/relationships/slide" Target="slides/slide373.xml"/><Relationship Id="rId581" Type="http://schemas.openxmlformats.org/officeDocument/2006/relationships/slide" Target="slides/slide580.xml"/><Relationship Id="rId71" Type="http://schemas.openxmlformats.org/officeDocument/2006/relationships/slide" Target="slides/slide70.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76" Type="http://schemas.openxmlformats.org/officeDocument/2006/relationships/slide" Target="slides/slide275.xml"/><Relationship Id="rId441" Type="http://schemas.openxmlformats.org/officeDocument/2006/relationships/slide" Target="slides/slide440.xml"/><Relationship Id="rId483" Type="http://schemas.openxmlformats.org/officeDocument/2006/relationships/slide" Target="slides/slide482.xml"/><Relationship Id="rId539" Type="http://schemas.openxmlformats.org/officeDocument/2006/relationships/slide" Target="slides/slide538.xml"/><Relationship Id="rId40" Type="http://schemas.openxmlformats.org/officeDocument/2006/relationships/slide" Target="slides/slide39.xml"/><Relationship Id="rId136" Type="http://schemas.openxmlformats.org/officeDocument/2006/relationships/slide" Target="slides/slide135.xml"/><Relationship Id="rId178" Type="http://schemas.openxmlformats.org/officeDocument/2006/relationships/slide" Target="slides/slide177.xml"/><Relationship Id="rId301" Type="http://schemas.openxmlformats.org/officeDocument/2006/relationships/slide" Target="slides/slide300.xml"/><Relationship Id="rId343" Type="http://schemas.openxmlformats.org/officeDocument/2006/relationships/slide" Target="slides/slide342.xml"/><Relationship Id="rId550" Type="http://schemas.openxmlformats.org/officeDocument/2006/relationships/slide" Target="slides/slide549.xml"/><Relationship Id="rId82" Type="http://schemas.openxmlformats.org/officeDocument/2006/relationships/slide" Target="slides/slide81.xml"/><Relationship Id="rId203" Type="http://schemas.openxmlformats.org/officeDocument/2006/relationships/slide" Target="slides/slide202.xml"/><Relationship Id="rId385" Type="http://schemas.openxmlformats.org/officeDocument/2006/relationships/slide" Target="slides/slide384.xml"/><Relationship Id="rId592" Type="http://schemas.openxmlformats.org/officeDocument/2006/relationships/slide" Target="slides/slide591.xml"/><Relationship Id="rId606" Type="http://schemas.openxmlformats.org/officeDocument/2006/relationships/slide" Target="slides/slide605.xml"/><Relationship Id="rId245" Type="http://schemas.openxmlformats.org/officeDocument/2006/relationships/slide" Target="slides/slide244.xml"/><Relationship Id="rId287" Type="http://schemas.openxmlformats.org/officeDocument/2006/relationships/slide" Target="slides/slide286.xml"/><Relationship Id="rId410" Type="http://schemas.openxmlformats.org/officeDocument/2006/relationships/slide" Target="slides/slide409.xml"/><Relationship Id="rId452" Type="http://schemas.openxmlformats.org/officeDocument/2006/relationships/slide" Target="slides/slide451.xml"/><Relationship Id="rId494" Type="http://schemas.openxmlformats.org/officeDocument/2006/relationships/slide" Target="slides/slide493.xml"/><Relationship Id="rId508" Type="http://schemas.openxmlformats.org/officeDocument/2006/relationships/slide" Target="slides/slide507.xml"/><Relationship Id="rId105" Type="http://schemas.openxmlformats.org/officeDocument/2006/relationships/slide" Target="slides/slide104.xml"/><Relationship Id="rId147" Type="http://schemas.openxmlformats.org/officeDocument/2006/relationships/slide" Target="slides/slide146.xml"/><Relationship Id="rId312" Type="http://schemas.openxmlformats.org/officeDocument/2006/relationships/slide" Target="slides/slide311.xml"/><Relationship Id="rId354" Type="http://schemas.openxmlformats.org/officeDocument/2006/relationships/slide" Target="slides/slide353.xml"/><Relationship Id="rId51" Type="http://schemas.openxmlformats.org/officeDocument/2006/relationships/slide" Target="slides/slide50.xml"/><Relationship Id="rId93" Type="http://schemas.openxmlformats.org/officeDocument/2006/relationships/slide" Target="slides/slide92.xml"/><Relationship Id="rId189" Type="http://schemas.openxmlformats.org/officeDocument/2006/relationships/slide" Target="slides/slide188.xml"/><Relationship Id="rId396" Type="http://schemas.openxmlformats.org/officeDocument/2006/relationships/slide" Target="slides/slide395.xml"/><Relationship Id="rId561" Type="http://schemas.openxmlformats.org/officeDocument/2006/relationships/slide" Target="slides/slide560.xml"/><Relationship Id="rId617" Type="http://schemas.openxmlformats.org/officeDocument/2006/relationships/slide" Target="slides/slide616.xml"/><Relationship Id="rId214" Type="http://schemas.openxmlformats.org/officeDocument/2006/relationships/slide" Target="slides/slide213.xml"/><Relationship Id="rId256" Type="http://schemas.openxmlformats.org/officeDocument/2006/relationships/slide" Target="slides/slide255.xml"/><Relationship Id="rId298" Type="http://schemas.openxmlformats.org/officeDocument/2006/relationships/slide" Target="slides/slide297.xml"/><Relationship Id="rId421" Type="http://schemas.openxmlformats.org/officeDocument/2006/relationships/slide" Target="slides/slide420.xml"/><Relationship Id="rId463" Type="http://schemas.openxmlformats.org/officeDocument/2006/relationships/slide" Target="slides/slide462.xml"/><Relationship Id="rId519" Type="http://schemas.openxmlformats.org/officeDocument/2006/relationships/slide" Target="slides/slide518.xml"/><Relationship Id="rId116" Type="http://schemas.openxmlformats.org/officeDocument/2006/relationships/slide" Target="slides/slide115.xml"/><Relationship Id="rId158" Type="http://schemas.openxmlformats.org/officeDocument/2006/relationships/slide" Target="slides/slide157.xml"/><Relationship Id="rId323" Type="http://schemas.openxmlformats.org/officeDocument/2006/relationships/slide" Target="slides/slide322.xml"/><Relationship Id="rId530" Type="http://schemas.openxmlformats.org/officeDocument/2006/relationships/slide" Target="slides/slide529.xml"/><Relationship Id="rId20" Type="http://schemas.openxmlformats.org/officeDocument/2006/relationships/slide" Target="slides/slide19.xml"/><Relationship Id="rId62" Type="http://schemas.openxmlformats.org/officeDocument/2006/relationships/slide" Target="slides/slide61.xml"/><Relationship Id="rId365" Type="http://schemas.openxmlformats.org/officeDocument/2006/relationships/slide" Target="slides/slide364.xml"/><Relationship Id="rId572" Type="http://schemas.openxmlformats.org/officeDocument/2006/relationships/slide" Target="slides/slide571.xml"/><Relationship Id="rId628" Type="http://schemas.openxmlformats.org/officeDocument/2006/relationships/viewProps" Target="viewProps.xml"/><Relationship Id="rId225" Type="http://schemas.openxmlformats.org/officeDocument/2006/relationships/slide" Target="slides/slide224.xml"/><Relationship Id="rId267" Type="http://schemas.openxmlformats.org/officeDocument/2006/relationships/slide" Target="slides/slide266.xml"/><Relationship Id="rId432" Type="http://schemas.openxmlformats.org/officeDocument/2006/relationships/slide" Target="slides/slide431.xml"/><Relationship Id="rId474" Type="http://schemas.openxmlformats.org/officeDocument/2006/relationships/slide" Target="slides/slide473.xml"/><Relationship Id="rId127" Type="http://schemas.openxmlformats.org/officeDocument/2006/relationships/slide" Target="slides/slide126.xml"/><Relationship Id="rId31" Type="http://schemas.openxmlformats.org/officeDocument/2006/relationships/slide" Target="slides/slide30.xml"/><Relationship Id="rId73" Type="http://schemas.openxmlformats.org/officeDocument/2006/relationships/slide" Target="slides/slide72.xml"/><Relationship Id="rId169" Type="http://schemas.openxmlformats.org/officeDocument/2006/relationships/slide" Target="slides/slide168.xml"/><Relationship Id="rId334" Type="http://schemas.openxmlformats.org/officeDocument/2006/relationships/slide" Target="slides/slide333.xml"/><Relationship Id="rId376" Type="http://schemas.openxmlformats.org/officeDocument/2006/relationships/slide" Target="slides/slide375.xml"/><Relationship Id="rId541" Type="http://schemas.openxmlformats.org/officeDocument/2006/relationships/slide" Target="slides/slide540.xml"/><Relationship Id="rId583" Type="http://schemas.openxmlformats.org/officeDocument/2006/relationships/slide" Target="slides/slide582.xml"/><Relationship Id="rId4" Type="http://schemas.openxmlformats.org/officeDocument/2006/relationships/slide" Target="slides/slide3.xml"/><Relationship Id="rId180" Type="http://schemas.openxmlformats.org/officeDocument/2006/relationships/slide" Target="slides/slide179.xml"/><Relationship Id="rId236" Type="http://schemas.openxmlformats.org/officeDocument/2006/relationships/slide" Target="slides/slide235.xml"/><Relationship Id="rId278" Type="http://schemas.openxmlformats.org/officeDocument/2006/relationships/slide" Target="slides/slide277.xml"/><Relationship Id="rId401" Type="http://schemas.openxmlformats.org/officeDocument/2006/relationships/slide" Target="slides/slide400.xml"/><Relationship Id="rId443" Type="http://schemas.openxmlformats.org/officeDocument/2006/relationships/slide" Target="slides/slide442.xml"/><Relationship Id="rId303" Type="http://schemas.openxmlformats.org/officeDocument/2006/relationships/slide" Target="slides/slide302.xml"/><Relationship Id="rId485" Type="http://schemas.openxmlformats.org/officeDocument/2006/relationships/slide" Target="slides/slide484.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510" Type="http://schemas.openxmlformats.org/officeDocument/2006/relationships/slide" Target="slides/slide509.xml"/><Relationship Id="rId552" Type="http://schemas.openxmlformats.org/officeDocument/2006/relationships/slide" Target="slides/slide551.xml"/><Relationship Id="rId594" Type="http://schemas.openxmlformats.org/officeDocument/2006/relationships/slide" Target="slides/slide593.xml"/><Relationship Id="rId608" Type="http://schemas.openxmlformats.org/officeDocument/2006/relationships/slide" Target="slides/slide60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slide" Target="slides/slide453.xml"/><Relationship Id="rId496" Type="http://schemas.openxmlformats.org/officeDocument/2006/relationships/slide" Target="slides/slide495.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521" Type="http://schemas.openxmlformats.org/officeDocument/2006/relationships/slide" Target="slides/slide520.xml"/><Relationship Id="rId563" Type="http://schemas.openxmlformats.org/officeDocument/2006/relationships/slide" Target="slides/slide562.xml"/><Relationship Id="rId619" Type="http://schemas.openxmlformats.org/officeDocument/2006/relationships/slide" Target="slides/slide61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465" Type="http://schemas.openxmlformats.org/officeDocument/2006/relationships/slide" Target="slides/slide464.xml"/><Relationship Id="rId630" Type="http://schemas.openxmlformats.org/officeDocument/2006/relationships/tableStyles" Target="tableStyles.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532" Type="http://schemas.openxmlformats.org/officeDocument/2006/relationships/slide" Target="slides/slide531.xml"/><Relationship Id="rId574" Type="http://schemas.openxmlformats.org/officeDocument/2006/relationships/slide" Target="slides/slide573.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476" Type="http://schemas.openxmlformats.org/officeDocument/2006/relationships/slide" Target="slides/slide475.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501" Type="http://schemas.openxmlformats.org/officeDocument/2006/relationships/slide" Target="slides/slide500.xml"/><Relationship Id="rId543" Type="http://schemas.openxmlformats.org/officeDocument/2006/relationships/slide" Target="slides/slide542.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585" Type="http://schemas.openxmlformats.org/officeDocument/2006/relationships/slide" Target="slides/slide584.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487" Type="http://schemas.openxmlformats.org/officeDocument/2006/relationships/slide" Target="slides/slide486.xml"/><Relationship Id="rId610" Type="http://schemas.openxmlformats.org/officeDocument/2006/relationships/slide" Target="slides/slide609.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512" Type="http://schemas.openxmlformats.org/officeDocument/2006/relationships/slide" Target="slides/slide511.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554" Type="http://schemas.openxmlformats.org/officeDocument/2006/relationships/slide" Target="slides/slide553.xml"/><Relationship Id="rId596" Type="http://schemas.openxmlformats.org/officeDocument/2006/relationships/slide" Target="slides/slide595.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456" Type="http://schemas.openxmlformats.org/officeDocument/2006/relationships/slide" Target="slides/slide455.xml"/><Relationship Id="rId498" Type="http://schemas.openxmlformats.org/officeDocument/2006/relationships/slide" Target="slides/slide497.xml"/><Relationship Id="rId621" Type="http://schemas.openxmlformats.org/officeDocument/2006/relationships/slide" Target="slides/slide620.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23" Type="http://schemas.openxmlformats.org/officeDocument/2006/relationships/slide" Target="slides/slide522.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565" Type="http://schemas.openxmlformats.org/officeDocument/2006/relationships/slide" Target="slides/slide564.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467" Type="http://schemas.openxmlformats.org/officeDocument/2006/relationships/slide" Target="slides/slide466.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534" Type="http://schemas.openxmlformats.org/officeDocument/2006/relationships/slide" Target="slides/slide533.xml"/><Relationship Id="rId576" Type="http://schemas.openxmlformats.org/officeDocument/2006/relationships/slide" Target="slides/slide575.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slide" Target="slides/slide435.xml"/><Relationship Id="rId601" Type="http://schemas.openxmlformats.org/officeDocument/2006/relationships/slide" Target="slides/slide600.xml"/><Relationship Id="rId240" Type="http://schemas.openxmlformats.org/officeDocument/2006/relationships/slide" Target="slides/slide239.xml"/><Relationship Id="rId478" Type="http://schemas.openxmlformats.org/officeDocument/2006/relationships/slide" Target="slides/slide477.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503" Type="http://schemas.openxmlformats.org/officeDocument/2006/relationships/slide" Target="slides/slide502.xml"/><Relationship Id="rId545" Type="http://schemas.openxmlformats.org/officeDocument/2006/relationships/slide" Target="slides/slide544.xml"/><Relationship Id="rId587" Type="http://schemas.openxmlformats.org/officeDocument/2006/relationships/slide" Target="slides/slide586.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447" Type="http://schemas.openxmlformats.org/officeDocument/2006/relationships/slide" Target="slides/slide446.xml"/><Relationship Id="rId612" Type="http://schemas.openxmlformats.org/officeDocument/2006/relationships/slide" Target="slides/slide611.xml"/><Relationship Id="rId251" Type="http://schemas.openxmlformats.org/officeDocument/2006/relationships/slide" Target="slides/slide250.xml"/><Relationship Id="rId489" Type="http://schemas.openxmlformats.org/officeDocument/2006/relationships/slide" Target="slides/slide488.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514" Type="http://schemas.openxmlformats.org/officeDocument/2006/relationships/slide" Target="slides/slide513.xml"/><Relationship Id="rId556" Type="http://schemas.openxmlformats.org/officeDocument/2006/relationships/slide" Target="slides/slide555.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598" Type="http://schemas.openxmlformats.org/officeDocument/2006/relationships/slide" Target="slides/slide597.xml"/><Relationship Id="rId220" Type="http://schemas.openxmlformats.org/officeDocument/2006/relationships/slide" Target="slides/slide219.xml"/><Relationship Id="rId458" Type="http://schemas.openxmlformats.org/officeDocument/2006/relationships/slide" Target="slides/slide457.xml"/><Relationship Id="rId623" Type="http://schemas.openxmlformats.org/officeDocument/2006/relationships/slide" Target="slides/slide622.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525" Type="http://schemas.openxmlformats.org/officeDocument/2006/relationships/slide" Target="slides/slide524.xml"/><Relationship Id="rId567" Type="http://schemas.openxmlformats.org/officeDocument/2006/relationships/slide" Target="slides/slide566.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427" Type="http://schemas.openxmlformats.org/officeDocument/2006/relationships/slide" Target="slides/slide426.xml"/><Relationship Id="rId469" Type="http://schemas.openxmlformats.org/officeDocument/2006/relationships/slide" Target="slides/slide468.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480" Type="http://schemas.openxmlformats.org/officeDocument/2006/relationships/slide" Target="slides/slide479.xml"/><Relationship Id="rId536" Type="http://schemas.openxmlformats.org/officeDocument/2006/relationships/slide" Target="slides/slide535.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578" Type="http://schemas.openxmlformats.org/officeDocument/2006/relationships/slide" Target="slides/slide577.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slide" Target="slides/slide437.xml"/><Relationship Id="rId603" Type="http://schemas.openxmlformats.org/officeDocument/2006/relationships/slide" Target="slides/slide602.xml"/><Relationship Id="rId242" Type="http://schemas.openxmlformats.org/officeDocument/2006/relationships/slide" Target="slides/slide241.xml"/><Relationship Id="rId284" Type="http://schemas.openxmlformats.org/officeDocument/2006/relationships/slide" Target="slides/slide283.xml"/><Relationship Id="rId491" Type="http://schemas.openxmlformats.org/officeDocument/2006/relationships/slide" Target="slides/slide490.xml"/><Relationship Id="rId505" Type="http://schemas.openxmlformats.org/officeDocument/2006/relationships/slide" Target="slides/slide504.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547" Type="http://schemas.openxmlformats.org/officeDocument/2006/relationships/slide" Target="slides/slide546.xml"/><Relationship Id="rId589" Type="http://schemas.openxmlformats.org/officeDocument/2006/relationships/slide" Target="slides/slide588.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slide" Target="slides/slide448.xml"/><Relationship Id="rId614" Type="http://schemas.openxmlformats.org/officeDocument/2006/relationships/slide" Target="slides/slide613.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516" Type="http://schemas.openxmlformats.org/officeDocument/2006/relationships/slide" Target="slides/slide515.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558" Type="http://schemas.openxmlformats.org/officeDocument/2006/relationships/slide" Target="slides/slide557.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625" Type="http://schemas.openxmlformats.org/officeDocument/2006/relationships/slide" Target="slides/slide624.xml"/><Relationship Id="rId222" Type="http://schemas.openxmlformats.org/officeDocument/2006/relationships/slide" Target="slides/slide221.xml"/><Relationship Id="rId264" Type="http://schemas.openxmlformats.org/officeDocument/2006/relationships/slide" Target="slides/slide263.xml"/><Relationship Id="rId471" Type="http://schemas.openxmlformats.org/officeDocument/2006/relationships/slide" Target="slides/slide470.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527" Type="http://schemas.openxmlformats.org/officeDocument/2006/relationships/slide" Target="slides/slide526.xml"/><Relationship Id="rId569" Type="http://schemas.openxmlformats.org/officeDocument/2006/relationships/slide" Target="slides/slide568.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580" Type="http://schemas.openxmlformats.org/officeDocument/2006/relationships/slide" Target="slides/slide579.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482" Type="http://schemas.openxmlformats.org/officeDocument/2006/relationships/slide" Target="slides/slide481.xml"/><Relationship Id="rId538" Type="http://schemas.openxmlformats.org/officeDocument/2006/relationships/slide" Target="slides/slide537.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591" Type="http://schemas.openxmlformats.org/officeDocument/2006/relationships/slide" Target="slides/slide590.xml"/><Relationship Id="rId605" Type="http://schemas.openxmlformats.org/officeDocument/2006/relationships/slide" Target="slides/slide604.xml"/><Relationship Id="rId202" Type="http://schemas.openxmlformats.org/officeDocument/2006/relationships/slide" Target="slides/slide201.xml"/><Relationship Id="rId244" Type="http://schemas.openxmlformats.org/officeDocument/2006/relationships/slide" Target="slides/slide243.xml"/><Relationship Id="rId39" Type="http://schemas.openxmlformats.org/officeDocument/2006/relationships/slide" Target="slides/slide38.xml"/><Relationship Id="rId286" Type="http://schemas.openxmlformats.org/officeDocument/2006/relationships/slide" Target="slides/slide285.xml"/><Relationship Id="rId451" Type="http://schemas.openxmlformats.org/officeDocument/2006/relationships/slide" Target="slides/slide450.xml"/><Relationship Id="rId493" Type="http://schemas.openxmlformats.org/officeDocument/2006/relationships/slide" Target="slides/slide492.xml"/><Relationship Id="rId507" Type="http://schemas.openxmlformats.org/officeDocument/2006/relationships/slide" Target="slides/slide506.xml"/><Relationship Id="rId549" Type="http://schemas.openxmlformats.org/officeDocument/2006/relationships/slide" Target="slides/slide548.xml"/><Relationship Id="rId50" Type="http://schemas.openxmlformats.org/officeDocument/2006/relationships/slide" Target="slides/slide49.xml"/><Relationship Id="rId104" Type="http://schemas.openxmlformats.org/officeDocument/2006/relationships/slide" Target="slides/slide103.xml"/><Relationship Id="rId146" Type="http://schemas.openxmlformats.org/officeDocument/2006/relationships/slide" Target="slides/slide145.xml"/><Relationship Id="rId188" Type="http://schemas.openxmlformats.org/officeDocument/2006/relationships/slide" Target="slides/slide187.xml"/><Relationship Id="rId311" Type="http://schemas.openxmlformats.org/officeDocument/2006/relationships/slide" Target="slides/slide310.xml"/><Relationship Id="rId353" Type="http://schemas.openxmlformats.org/officeDocument/2006/relationships/slide" Target="slides/slide352.xml"/><Relationship Id="rId395" Type="http://schemas.openxmlformats.org/officeDocument/2006/relationships/slide" Target="slides/slide394.xml"/><Relationship Id="rId409" Type="http://schemas.openxmlformats.org/officeDocument/2006/relationships/slide" Target="slides/slide408.xml"/><Relationship Id="rId560" Type="http://schemas.openxmlformats.org/officeDocument/2006/relationships/slide" Target="slides/slide559.xml"/><Relationship Id="rId92" Type="http://schemas.openxmlformats.org/officeDocument/2006/relationships/slide" Target="slides/slide91.xml"/><Relationship Id="rId213" Type="http://schemas.openxmlformats.org/officeDocument/2006/relationships/slide" Target="slides/slide212.xml"/><Relationship Id="rId420" Type="http://schemas.openxmlformats.org/officeDocument/2006/relationships/slide" Target="slides/slide419.xml"/><Relationship Id="rId616" Type="http://schemas.openxmlformats.org/officeDocument/2006/relationships/slide" Target="slides/slide615.xml"/><Relationship Id="rId255" Type="http://schemas.openxmlformats.org/officeDocument/2006/relationships/slide" Target="slides/slide254.xml"/><Relationship Id="rId297" Type="http://schemas.openxmlformats.org/officeDocument/2006/relationships/slide" Target="slides/slide296.xml"/><Relationship Id="rId462" Type="http://schemas.openxmlformats.org/officeDocument/2006/relationships/slide" Target="slides/slide461.xml"/><Relationship Id="rId518" Type="http://schemas.openxmlformats.org/officeDocument/2006/relationships/slide" Target="slides/slide517.xml"/><Relationship Id="rId115" Type="http://schemas.openxmlformats.org/officeDocument/2006/relationships/slide" Target="slides/slide114.xml"/><Relationship Id="rId157" Type="http://schemas.openxmlformats.org/officeDocument/2006/relationships/slide" Target="slides/slide156.xml"/><Relationship Id="rId322" Type="http://schemas.openxmlformats.org/officeDocument/2006/relationships/slide" Target="slides/slide321.xml"/><Relationship Id="rId364" Type="http://schemas.openxmlformats.org/officeDocument/2006/relationships/slide" Target="slides/slide363.xml"/><Relationship Id="rId61" Type="http://schemas.openxmlformats.org/officeDocument/2006/relationships/slide" Target="slides/slide60.xml"/><Relationship Id="rId199" Type="http://schemas.openxmlformats.org/officeDocument/2006/relationships/slide" Target="slides/slide198.xml"/><Relationship Id="rId571" Type="http://schemas.openxmlformats.org/officeDocument/2006/relationships/slide" Target="slides/slide570.xml"/><Relationship Id="rId627" Type="http://schemas.openxmlformats.org/officeDocument/2006/relationships/presProps" Target="presProps.xml"/><Relationship Id="rId19" Type="http://schemas.openxmlformats.org/officeDocument/2006/relationships/slide" Target="slides/slide18.xml"/><Relationship Id="rId224" Type="http://schemas.openxmlformats.org/officeDocument/2006/relationships/slide" Target="slides/slide223.xml"/><Relationship Id="rId266" Type="http://schemas.openxmlformats.org/officeDocument/2006/relationships/slide" Target="slides/slide265.xml"/><Relationship Id="rId431" Type="http://schemas.openxmlformats.org/officeDocument/2006/relationships/slide" Target="slides/slide430.xml"/><Relationship Id="rId473" Type="http://schemas.openxmlformats.org/officeDocument/2006/relationships/slide" Target="slides/slide472.xml"/><Relationship Id="rId529" Type="http://schemas.openxmlformats.org/officeDocument/2006/relationships/slide" Target="slides/slide528.xml"/><Relationship Id="rId30" Type="http://schemas.openxmlformats.org/officeDocument/2006/relationships/slide" Target="slides/slide29.xml"/><Relationship Id="rId126" Type="http://schemas.openxmlformats.org/officeDocument/2006/relationships/slide" Target="slides/slide125.xml"/><Relationship Id="rId168" Type="http://schemas.openxmlformats.org/officeDocument/2006/relationships/slide" Target="slides/slide167.xml"/><Relationship Id="rId333" Type="http://schemas.openxmlformats.org/officeDocument/2006/relationships/slide" Target="slides/slide332.xml"/><Relationship Id="rId540" Type="http://schemas.openxmlformats.org/officeDocument/2006/relationships/slide" Target="slides/slide539.xml"/><Relationship Id="rId72" Type="http://schemas.openxmlformats.org/officeDocument/2006/relationships/slide" Target="slides/slide71.xml"/><Relationship Id="rId375" Type="http://schemas.openxmlformats.org/officeDocument/2006/relationships/slide" Target="slides/slide374.xml"/><Relationship Id="rId582" Type="http://schemas.openxmlformats.org/officeDocument/2006/relationships/slide" Target="slides/slide581.xml"/><Relationship Id="rId3" Type="http://schemas.openxmlformats.org/officeDocument/2006/relationships/slide" Target="slides/slide2.xml"/><Relationship Id="rId235" Type="http://schemas.openxmlformats.org/officeDocument/2006/relationships/slide" Target="slides/slide234.xml"/><Relationship Id="rId277" Type="http://schemas.openxmlformats.org/officeDocument/2006/relationships/slide" Target="slides/slide276.xml"/><Relationship Id="rId400" Type="http://schemas.openxmlformats.org/officeDocument/2006/relationships/slide" Target="slides/slide399.xml"/><Relationship Id="rId442" Type="http://schemas.openxmlformats.org/officeDocument/2006/relationships/slide" Target="slides/slide441.xml"/><Relationship Id="rId484" Type="http://schemas.openxmlformats.org/officeDocument/2006/relationships/slide" Target="slides/slide483.xml"/><Relationship Id="rId137" Type="http://schemas.openxmlformats.org/officeDocument/2006/relationships/slide" Target="slides/slide136.xml"/><Relationship Id="rId302" Type="http://schemas.openxmlformats.org/officeDocument/2006/relationships/slide" Target="slides/slide301.xml"/><Relationship Id="rId344" Type="http://schemas.openxmlformats.org/officeDocument/2006/relationships/slide" Target="slides/slide343.xml"/><Relationship Id="rId41" Type="http://schemas.openxmlformats.org/officeDocument/2006/relationships/slide" Target="slides/slide40.xml"/><Relationship Id="rId83" Type="http://schemas.openxmlformats.org/officeDocument/2006/relationships/slide" Target="slides/slide82.xml"/><Relationship Id="rId179" Type="http://schemas.openxmlformats.org/officeDocument/2006/relationships/slide" Target="slides/slide178.xml"/><Relationship Id="rId386" Type="http://schemas.openxmlformats.org/officeDocument/2006/relationships/slide" Target="slides/slide385.xml"/><Relationship Id="rId551" Type="http://schemas.openxmlformats.org/officeDocument/2006/relationships/slide" Target="slides/slide550.xml"/><Relationship Id="rId593" Type="http://schemas.openxmlformats.org/officeDocument/2006/relationships/slide" Target="slides/slide592.xml"/><Relationship Id="rId607" Type="http://schemas.openxmlformats.org/officeDocument/2006/relationships/slide" Target="slides/slide606.xml"/><Relationship Id="rId190" Type="http://schemas.openxmlformats.org/officeDocument/2006/relationships/slide" Target="slides/slide189.xml"/><Relationship Id="rId204" Type="http://schemas.openxmlformats.org/officeDocument/2006/relationships/slide" Target="slides/slide203.xml"/><Relationship Id="rId246" Type="http://schemas.openxmlformats.org/officeDocument/2006/relationships/slide" Target="slides/slide245.xml"/><Relationship Id="rId288" Type="http://schemas.openxmlformats.org/officeDocument/2006/relationships/slide" Target="slides/slide287.xml"/><Relationship Id="rId411" Type="http://schemas.openxmlformats.org/officeDocument/2006/relationships/slide" Target="slides/slide410.xml"/><Relationship Id="rId453" Type="http://schemas.openxmlformats.org/officeDocument/2006/relationships/slide" Target="slides/slide452.xml"/><Relationship Id="rId509" Type="http://schemas.openxmlformats.org/officeDocument/2006/relationships/slide" Target="slides/slide508.xml"/><Relationship Id="rId106" Type="http://schemas.openxmlformats.org/officeDocument/2006/relationships/slide" Target="slides/slide105.xml"/><Relationship Id="rId313" Type="http://schemas.openxmlformats.org/officeDocument/2006/relationships/slide" Target="slides/slide312.xml"/><Relationship Id="rId495" Type="http://schemas.openxmlformats.org/officeDocument/2006/relationships/slide" Target="slides/slide494.xml"/><Relationship Id="rId10" Type="http://schemas.openxmlformats.org/officeDocument/2006/relationships/slide" Target="slides/slide9.xml"/><Relationship Id="rId52" Type="http://schemas.openxmlformats.org/officeDocument/2006/relationships/slide" Target="slides/slide51.xml"/><Relationship Id="rId94" Type="http://schemas.openxmlformats.org/officeDocument/2006/relationships/slide" Target="slides/slide93.xml"/><Relationship Id="rId148" Type="http://schemas.openxmlformats.org/officeDocument/2006/relationships/slide" Target="slides/slide147.xml"/><Relationship Id="rId355" Type="http://schemas.openxmlformats.org/officeDocument/2006/relationships/slide" Target="slides/slide354.xml"/><Relationship Id="rId397" Type="http://schemas.openxmlformats.org/officeDocument/2006/relationships/slide" Target="slides/slide396.xml"/><Relationship Id="rId520" Type="http://schemas.openxmlformats.org/officeDocument/2006/relationships/slide" Target="slides/slide519.xml"/><Relationship Id="rId562" Type="http://schemas.openxmlformats.org/officeDocument/2006/relationships/slide" Target="slides/slide561.xml"/><Relationship Id="rId618" Type="http://schemas.openxmlformats.org/officeDocument/2006/relationships/slide" Target="slides/slide617.xml"/><Relationship Id="rId215" Type="http://schemas.openxmlformats.org/officeDocument/2006/relationships/slide" Target="slides/slide214.xml"/><Relationship Id="rId257" Type="http://schemas.openxmlformats.org/officeDocument/2006/relationships/slide" Target="slides/slide256.xml"/><Relationship Id="rId422" Type="http://schemas.openxmlformats.org/officeDocument/2006/relationships/slide" Target="slides/slide421.xml"/><Relationship Id="rId464" Type="http://schemas.openxmlformats.org/officeDocument/2006/relationships/slide" Target="slides/slide463.xml"/><Relationship Id="rId299" Type="http://schemas.openxmlformats.org/officeDocument/2006/relationships/slide" Target="slides/slide298.xml"/><Relationship Id="rId63" Type="http://schemas.openxmlformats.org/officeDocument/2006/relationships/slide" Target="slides/slide62.xml"/><Relationship Id="rId159" Type="http://schemas.openxmlformats.org/officeDocument/2006/relationships/slide" Target="slides/slide158.xml"/><Relationship Id="rId366" Type="http://schemas.openxmlformats.org/officeDocument/2006/relationships/slide" Target="slides/slide365.xml"/><Relationship Id="rId573" Type="http://schemas.openxmlformats.org/officeDocument/2006/relationships/slide" Target="slides/slide572.xml"/><Relationship Id="rId226" Type="http://schemas.openxmlformats.org/officeDocument/2006/relationships/slide" Target="slides/slide225.xml"/><Relationship Id="rId433" Type="http://schemas.openxmlformats.org/officeDocument/2006/relationships/slide" Target="slides/slide432.xml"/><Relationship Id="rId74" Type="http://schemas.openxmlformats.org/officeDocument/2006/relationships/slide" Target="slides/slide73.xml"/><Relationship Id="rId377" Type="http://schemas.openxmlformats.org/officeDocument/2006/relationships/slide" Target="slides/slide376.xml"/><Relationship Id="rId500" Type="http://schemas.openxmlformats.org/officeDocument/2006/relationships/slide" Target="slides/slide499.xml"/><Relationship Id="rId584" Type="http://schemas.openxmlformats.org/officeDocument/2006/relationships/slide" Target="slides/slide583.xml"/><Relationship Id="rId5" Type="http://schemas.openxmlformats.org/officeDocument/2006/relationships/slide" Target="slides/slide4.xml"/><Relationship Id="rId237" Type="http://schemas.openxmlformats.org/officeDocument/2006/relationships/slide" Target="slides/slide236.xml"/><Relationship Id="rId444" Type="http://schemas.openxmlformats.org/officeDocument/2006/relationships/slide" Target="slides/slide443.xml"/><Relationship Id="rId290" Type="http://schemas.openxmlformats.org/officeDocument/2006/relationships/slide" Target="slides/slide289.xml"/><Relationship Id="rId304" Type="http://schemas.openxmlformats.org/officeDocument/2006/relationships/slide" Target="slides/slide303.xml"/><Relationship Id="rId388" Type="http://schemas.openxmlformats.org/officeDocument/2006/relationships/slide" Target="slides/slide387.xml"/><Relationship Id="rId511" Type="http://schemas.openxmlformats.org/officeDocument/2006/relationships/slide" Target="slides/slide510.xml"/><Relationship Id="rId609" Type="http://schemas.openxmlformats.org/officeDocument/2006/relationships/slide" Target="slides/slide608.xml"/><Relationship Id="rId85" Type="http://schemas.openxmlformats.org/officeDocument/2006/relationships/slide" Target="slides/slide84.xml"/><Relationship Id="rId150" Type="http://schemas.openxmlformats.org/officeDocument/2006/relationships/slide" Target="slides/slide149.xml"/><Relationship Id="rId595" Type="http://schemas.openxmlformats.org/officeDocument/2006/relationships/slide" Target="slides/slide594.xml"/><Relationship Id="rId248" Type="http://schemas.openxmlformats.org/officeDocument/2006/relationships/slide" Target="slides/slide247.xml"/><Relationship Id="rId455" Type="http://schemas.openxmlformats.org/officeDocument/2006/relationships/slide" Target="slides/slide454.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22" Type="http://schemas.openxmlformats.org/officeDocument/2006/relationships/slide" Target="slides/slide521.xml"/><Relationship Id="rId96" Type="http://schemas.openxmlformats.org/officeDocument/2006/relationships/slide" Target="slides/slide95.xml"/><Relationship Id="rId161" Type="http://schemas.openxmlformats.org/officeDocument/2006/relationships/slide" Target="slides/slide160.xml"/><Relationship Id="rId399" Type="http://schemas.openxmlformats.org/officeDocument/2006/relationships/slide" Target="slides/slide398.xml"/><Relationship Id="rId259" Type="http://schemas.openxmlformats.org/officeDocument/2006/relationships/slide" Target="slides/slide258.xml"/><Relationship Id="rId466" Type="http://schemas.openxmlformats.org/officeDocument/2006/relationships/slide" Target="slides/slide465.xml"/><Relationship Id="rId23" Type="http://schemas.openxmlformats.org/officeDocument/2006/relationships/slide" Target="slides/slide22.xml"/><Relationship Id="rId119" Type="http://schemas.openxmlformats.org/officeDocument/2006/relationships/slide" Target="slides/slide118.xml"/><Relationship Id="rId326" Type="http://schemas.openxmlformats.org/officeDocument/2006/relationships/slide" Target="slides/slide325.xml"/><Relationship Id="rId533" Type="http://schemas.openxmlformats.org/officeDocument/2006/relationships/slide" Target="slides/slide532.xml"/><Relationship Id="rId172" Type="http://schemas.openxmlformats.org/officeDocument/2006/relationships/slide" Target="slides/slide171.xml"/><Relationship Id="rId477" Type="http://schemas.openxmlformats.org/officeDocument/2006/relationships/slide" Target="slides/slide476.xml"/><Relationship Id="rId600" Type="http://schemas.openxmlformats.org/officeDocument/2006/relationships/slide" Target="slides/slide599.xml"/><Relationship Id="rId337" Type="http://schemas.openxmlformats.org/officeDocument/2006/relationships/slide" Target="slides/slide336.xml"/><Relationship Id="rId34" Type="http://schemas.openxmlformats.org/officeDocument/2006/relationships/slide" Target="slides/slide33.xml"/><Relationship Id="rId544" Type="http://schemas.openxmlformats.org/officeDocument/2006/relationships/slide" Target="slides/slide543.xml"/><Relationship Id="rId183" Type="http://schemas.openxmlformats.org/officeDocument/2006/relationships/slide" Target="slides/slide182.xml"/><Relationship Id="rId390" Type="http://schemas.openxmlformats.org/officeDocument/2006/relationships/slide" Target="slides/slide389.xml"/><Relationship Id="rId404" Type="http://schemas.openxmlformats.org/officeDocument/2006/relationships/slide" Target="slides/slide403.xml"/><Relationship Id="rId611" Type="http://schemas.openxmlformats.org/officeDocument/2006/relationships/slide" Target="slides/slide610.xml"/><Relationship Id="rId250" Type="http://schemas.openxmlformats.org/officeDocument/2006/relationships/slide" Target="slides/slide249.xml"/><Relationship Id="rId488" Type="http://schemas.openxmlformats.org/officeDocument/2006/relationships/slide" Target="slides/slide487.xml"/><Relationship Id="rId45" Type="http://schemas.openxmlformats.org/officeDocument/2006/relationships/slide" Target="slides/slide44.xml"/><Relationship Id="rId110" Type="http://schemas.openxmlformats.org/officeDocument/2006/relationships/slide" Target="slides/slide109.xml"/><Relationship Id="rId348" Type="http://schemas.openxmlformats.org/officeDocument/2006/relationships/slide" Target="slides/slide347.xml"/><Relationship Id="rId555" Type="http://schemas.openxmlformats.org/officeDocument/2006/relationships/slide" Target="slides/slide554.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622" Type="http://schemas.openxmlformats.org/officeDocument/2006/relationships/slide" Target="slides/slide621.xml"/><Relationship Id="rId261" Type="http://schemas.openxmlformats.org/officeDocument/2006/relationships/slide" Target="slides/slide260.xml"/><Relationship Id="rId499" Type="http://schemas.openxmlformats.org/officeDocument/2006/relationships/slide" Target="slides/slide498.xml"/><Relationship Id="rId56" Type="http://schemas.openxmlformats.org/officeDocument/2006/relationships/slide" Target="slides/slide55.xml"/><Relationship Id="rId359" Type="http://schemas.openxmlformats.org/officeDocument/2006/relationships/slide" Target="slides/slide358.xml"/><Relationship Id="rId566" Type="http://schemas.openxmlformats.org/officeDocument/2006/relationships/slide" Target="slides/slide565.xml"/><Relationship Id="rId121" Type="http://schemas.openxmlformats.org/officeDocument/2006/relationships/slide" Target="slides/slide120.xml"/><Relationship Id="rId219" Type="http://schemas.openxmlformats.org/officeDocument/2006/relationships/slide" Target="slides/slide218.xml"/><Relationship Id="rId426" Type="http://schemas.openxmlformats.org/officeDocument/2006/relationships/slide" Target="slides/slide425.xml"/><Relationship Id="rId67" Type="http://schemas.openxmlformats.org/officeDocument/2006/relationships/slide" Target="slides/slide66.xml"/><Relationship Id="rId272" Type="http://schemas.openxmlformats.org/officeDocument/2006/relationships/slide" Target="slides/slide271.xml"/><Relationship Id="rId577" Type="http://schemas.openxmlformats.org/officeDocument/2006/relationships/slide" Target="slides/slide576.xml"/><Relationship Id="rId132" Type="http://schemas.openxmlformats.org/officeDocument/2006/relationships/slide" Target="slides/slide131.xml"/><Relationship Id="rId437" Type="http://schemas.openxmlformats.org/officeDocument/2006/relationships/slide" Target="slides/slide436.xml"/><Relationship Id="rId283" Type="http://schemas.openxmlformats.org/officeDocument/2006/relationships/slide" Target="slides/slide282.xml"/><Relationship Id="rId490" Type="http://schemas.openxmlformats.org/officeDocument/2006/relationships/slide" Target="slides/slide489.xml"/><Relationship Id="rId504" Type="http://schemas.openxmlformats.org/officeDocument/2006/relationships/slide" Target="slides/slide50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33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342.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343.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344.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345.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36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36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37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37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37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380.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381.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382.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383.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392.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393.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394.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402.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403.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404.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412.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413.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414.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425.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426.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427.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428.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43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43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43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443.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444.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452.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453.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454.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465.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466.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4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4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4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484.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485.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495.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496.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497.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498.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50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50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50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50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513.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514.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515.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516.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522.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523.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529.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530.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538.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539.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540.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541.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549.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550.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551.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563.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564.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569.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570.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578.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579.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58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58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596.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597.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605.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606.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614.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615.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616.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6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a:t>
            </a:r>
            <a:r>
              <a:rPr lang="en-US" b="1" baseline="30000" dirty="0"/>
              <a:t>st</a:t>
            </a:r>
            <a:r>
              <a:rPr lang="en-US" b="1" dirty="0"/>
              <a:t> slide (Mandatory)</a:t>
            </a:r>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t>Cover Page</a:t>
            </a:r>
          </a:p>
          <a:p>
            <a:r>
              <a:rPr lang="en-US" dirty="0"/>
              <a:t>Font: </a:t>
            </a:r>
            <a:r>
              <a:rPr lang="en-US" dirty="0" err="1"/>
              <a:t>Nunito</a:t>
            </a:r>
            <a:r>
              <a:rPr lang="en-US" dirty="0"/>
              <a:t> Sans</a:t>
            </a:r>
          </a:p>
          <a:p>
            <a:r>
              <a:rPr lang="en-US" dirty="0"/>
              <a:t>Primary colors: Black, White and Red (#F05136)</a:t>
            </a:r>
          </a:p>
          <a:p>
            <a:r>
              <a:rPr lang="en-US" b="1" dirty="0"/>
              <a:t>General Instruction:</a:t>
            </a:r>
          </a:p>
          <a:p>
            <a:r>
              <a:rPr lang="en-US" dirty="0"/>
              <a:t>Don’t edit this PPT (keep it for future reference) </a:t>
            </a:r>
          </a:p>
          <a:p>
            <a:r>
              <a:rPr lang="en-US" dirty="0"/>
              <a:t>Copy paste the required slide into your PPT. Format it there.</a:t>
            </a:r>
          </a:p>
          <a:p>
            <a:r>
              <a:rPr lang="en-US" dirty="0"/>
              <a:t>Write less, talk/present more</a:t>
            </a:r>
          </a:p>
          <a:p>
            <a:r>
              <a:rPr lang="en-US" dirty="0"/>
              <a:t>Use the font </a:t>
            </a:r>
            <a:r>
              <a:rPr lang="en-US" b="1" dirty="0" err="1"/>
              <a:t>Nunito</a:t>
            </a:r>
            <a:r>
              <a:rPr lang="en-US" b="1" dirty="0"/>
              <a:t> Sans Regular</a:t>
            </a:r>
            <a:r>
              <a:rPr lang="en-US" dirty="0"/>
              <a:t>. You can download it from google fonts (</a:t>
            </a:r>
            <a:r>
              <a:rPr lang="en-US" i="1" u="sng" dirty="0">
                <a:solidFill>
                  <a:srgbClr val="0070C0"/>
                </a:solidFill>
              </a:rPr>
              <a:t>https://fonts.google.com/specimen/Nunito+Sans</a:t>
            </a:r>
            <a:r>
              <a:rPr lang="en-US" dirty="0"/>
              <a:t>). </a:t>
            </a:r>
          </a:p>
          <a:p>
            <a:r>
              <a:rPr lang="en-US" dirty="0"/>
              <a:t>Don’t change the size and/or positions of headings, texts, unless absolutely necessary. (minimum size: 20)</a:t>
            </a:r>
          </a:p>
          <a:p>
            <a:r>
              <a:rPr lang="en-US" dirty="0"/>
              <a:t>The size of the image must be adjusted according to the text. (try to make it look visually attractive)</a:t>
            </a:r>
          </a:p>
          <a:p>
            <a:r>
              <a:rPr lang="en-US" dirty="0"/>
              <a:t>1 image per slide. No more than 4 points per slide.</a:t>
            </a:r>
          </a:p>
          <a:p>
            <a:endParaRPr lang="en-US" dirty="0"/>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t>Cover Page</a:t>
            </a:r>
          </a:p>
          <a:p>
            <a:r>
              <a:rPr lang="en-US" dirty="0"/>
              <a:t>Font: </a:t>
            </a:r>
            <a:r>
              <a:rPr lang="en-US" dirty="0" err="1"/>
              <a:t>Nunito</a:t>
            </a:r>
            <a:r>
              <a:rPr lang="en-US" dirty="0"/>
              <a:t> Sans</a:t>
            </a:r>
          </a:p>
          <a:p>
            <a:r>
              <a:rPr lang="en-US" dirty="0"/>
              <a:t>Primary colors: Black, White and Red (#F05136)</a:t>
            </a:r>
          </a:p>
          <a:p>
            <a:r>
              <a:rPr lang="en-US" b="1" dirty="0"/>
              <a:t>General Instruction:</a:t>
            </a:r>
          </a:p>
          <a:p>
            <a:r>
              <a:rPr lang="en-US" dirty="0"/>
              <a:t>Don’t edit this PPT (keep it for future reference) </a:t>
            </a:r>
          </a:p>
          <a:p>
            <a:r>
              <a:rPr lang="en-US" dirty="0"/>
              <a:t>Copy paste the required slide into your PPT. Format it there.</a:t>
            </a:r>
          </a:p>
          <a:p>
            <a:r>
              <a:rPr lang="en-US" dirty="0"/>
              <a:t>Write less, talk/present more</a:t>
            </a:r>
          </a:p>
          <a:p>
            <a:r>
              <a:rPr lang="en-US" dirty="0"/>
              <a:t>Use the font </a:t>
            </a:r>
            <a:r>
              <a:rPr lang="en-US" b="1" dirty="0" err="1"/>
              <a:t>Nunito</a:t>
            </a:r>
            <a:r>
              <a:rPr lang="en-US" b="1" dirty="0"/>
              <a:t> Sans Regular</a:t>
            </a:r>
            <a:r>
              <a:rPr lang="en-US" dirty="0"/>
              <a:t>. You can download it from google fonts (</a:t>
            </a:r>
            <a:r>
              <a:rPr lang="en-US" i="1" u="sng" dirty="0">
                <a:solidFill>
                  <a:srgbClr val="0070C0"/>
                </a:solidFill>
              </a:rPr>
              <a:t>https://fonts.google.com/specimen/Nunito+Sans</a:t>
            </a:r>
            <a:r>
              <a:rPr lang="en-US" dirty="0"/>
              <a:t>). </a:t>
            </a:r>
          </a:p>
          <a:p>
            <a:r>
              <a:rPr lang="en-US" dirty="0"/>
              <a:t>Don’t change the size and/or positions of headings, texts, unless absolutely necessary. (minimum size: 20)</a:t>
            </a:r>
          </a:p>
          <a:p>
            <a:r>
              <a:rPr lang="en-US" dirty="0"/>
              <a:t>The size of the image must be adjusted according to the text. (try to make it look visually attractive)</a:t>
            </a:r>
          </a:p>
          <a:p>
            <a:r>
              <a:rPr lang="en-US" dirty="0"/>
              <a:t>1 image per slide. No more than 4 points per slide.</a:t>
            </a:r>
          </a:p>
          <a:p>
            <a:endParaRPr lang="en-US"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45</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46</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47</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71</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72</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73</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74</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75</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76</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77</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78</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79</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80</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81</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82</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83</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84</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85</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86</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87</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88</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89</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90</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91</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96</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97</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111</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119</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122</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126</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127</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128</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129</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130</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131</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132</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133</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135</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136</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137</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AB6876-1BF1-4B88-890A-0B4E46201506}" type="slidenum">
              <a:rPr lang="en-US" smtClean="0"/>
              <a:t>138</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142</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143</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144</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145</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146</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154</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155</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156</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157</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166</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167</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168</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169</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170</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171</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179</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180</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181</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182</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190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191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192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198</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199</a:t>
            </a:fld>
            <a:endParaRPr lang="en-US" dirty="0"/>
          </a:p>
        </p:txBody>
      </p:sp>
    </p:spTree>
    <p:extLst>
      <p:ext uri="{BB962C8B-B14F-4D97-AF65-F5344CB8AC3E}">
        <p14:creationId xmlns:p14="http://schemas.microsoft.com/office/powerpoint/2010/main" val="264833898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200</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201</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210</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211</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216</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217</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218</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230</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231</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232</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233</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234</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235</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236</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237</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252</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253</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254</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255</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256</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264</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265</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266</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267</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268</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279</a:t>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280</a:t>
            </a:fld>
            <a:endParaRPr lang="en-US"/>
          </a:p>
        </p:txBody>
      </p:sp>
    </p:spTree>
    <p:extLst>
      <p:ext uri="{BB962C8B-B14F-4D97-AF65-F5344CB8AC3E}">
        <p14:creationId xmlns:p14="http://schemas.microsoft.com/office/powerpoint/2010/main" val="140264512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281</a:t>
            </a:fld>
            <a:endParaRPr lang="en-US"/>
          </a:p>
        </p:txBody>
      </p:sp>
    </p:spTree>
    <p:extLst>
      <p:ext uri="{BB962C8B-B14F-4D97-AF65-F5344CB8AC3E}">
        <p14:creationId xmlns:p14="http://schemas.microsoft.com/office/powerpoint/2010/main" val="27039938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282</a:t>
            </a:fld>
            <a:endParaRPr lang="en-US"/>
          </a:p>
        </p:txBody>
      </p:sp>
    </p:spTree>
    <p:extLst>
      <p:ext uri="{BB962C8B-B14F-4D97-AF65-F5344CB8AC3E}">
        <p14:creationId xmlns:p14="http://schemas.microsoft.com/office/powerpoint/2010/main" val="308258835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290</a:t>
            </a:fld>
            <a:endParaRPr lang="en-US"/>
          </a:p>
        </p:txBody>
      </p:sp>
    </p:spTree>
    <p:extLst>
      <p:ext uri="{BB962C8B-B14F-4D97-AF65-F5344CB8AC3E}">
        <p14:creationId xmlns:p14="http://schemas.microsoft.com/office/powerpoint/2010/main" val="379619490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291</a:t>
            </a:fld>
            <a:endParaRPr lang="en-US"/>
          </a:p>
        </p:txBody>
      </p:sp>
    </p:spTree>
    <p:extLst>
      <p:ext uri="{BB962C8B-B14F-4D97-AF65-F5344CB8AC3E}">
        <p14:creationId xmlns:p14="http://schemas.microsoft.com/office/powerpoint/2010/main" val="192613231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296</a:t>
            </a:fld>
            <a:endParaRPr lang="en-US"/>
          </a:p>
        </p:txBody>
      </p:sp>
    </p:spTree>
    <p:extLst>
      <p:ext uri="{BB962C8B-B14F-4D97-AF65-F5344CB8AC3E}">
        <p14:creationId xmlns:p14="http://schemas.microsoft.com/office/powerpoint/2010/main" val="78463088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297</a:t>
            </a:fld>
            <a:endParaRPr lang="en-US"/>
          </a:p>
        </p:txBody>
      </p:sp>
    </p:spTree>
    <p:extLst>
      <p:ext uri="{BB962C8B-B14F-4D97-AF65-F5344CB8AC3E}">
        <p14:creationId xmlns:p14="http://schemas.microsoft.com/office/powerpoint/2010/main" val="245227056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298</a:t>
            </a:fld>
            <a:endParaRPr lang="en-US"/>
          </a:p>
        </p:txBody>
      </p:sp>
    </p:spTree>
    <p:extLst>
      <p:ext uri="{BB962C8B-B14F-4D97-AF65-F5344CB8AC3E}">
        <p14:creationId xmlns:p14="http://schemas.microsoft.com/office/powerpoint/2010/main" val="243006840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306</a:t>
            </a:fld>
            <a:endParaRPr lang="en-US"/>
          </a:p>
        </p:txBody>
      </p:sp>
    </p:spTree>
    <p:extLst>
      <p:ext uri="{BB962C8B-B14F-4D97-AF65-F5344CB8AC3E}">
        <p14:creationId xmlns:p14="http://schemas.microsoft.com/office/powerpoint/2010/main" val="428281914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307</a:t>
            </a:fld>
            <a:endParaRPr lang="en-US"/>
          </a:p>
        </p:txBody>
      </p:sp>
    </p:spTree>
    <p:extLst>
      <p:ext uri="{BB962C8B-B14F-4D97-AF65-F5344CB8AC3E}">
        <p14:creationId xmlns:p14="http://schemas.microsoft.com/office/powerpoint/2010/main" val="160225807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312</a:t>
            </a:fld>
            <a:endParaRPr lang="en-US"/>
          </a:p>
        </p:txBody>
      </p:sp>
    </p:spTree>
    <p:extLst>
      <p:ext uri="{BB962C8B-B14F-4D97-AF65-F5344CB8AC3E}">
        <p14:creationId xmlns:p14="http://schemas.microsoft.com/office/powerpoint/2010/main" val="1893181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313</a:t>
            </a:fld>
            <a:endParaRPr lang="en-US"/>
          </a:p>
        </p:txBody>
      </p:sp>
    </p:spTree>
    <p:extLst>
      <p:ext uri="{BB962C8B-B14F-4D97-AF65-F5344CB8AC3E}">
        <p14:creationId xmlns:p14="http://schemas.microsoft.com/office/powerpoint/2010/main" val="74998411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latin typeface="Nunito Sans" pitchFamily="2" charset="0"/>
              </a:rPr>
              <a:t>Cover Page</a:t>
            </a:r>
          </a:p>
          <a:p>
            <a:r>
              <a:rPr lang="en-US" dirty="0">
                <a:latin typeface="Nunito Sans" pitchFamily="2" charset="0"/>
              </a:rPr>
              <a:t>Font: </a:t>
            </a:r>
            <a:r>
              <a:rPr lang="en-US" dirty="0" err="1">
                <a:latin typeface="Nunito Sans" pitchFamily="2" charset="0"/>
              </a:rPr>
              <a:t>Nunito</a:t>
            </a:r>
            <a:r>
              <a:rPr lang="en-US" dirty="0">
                <a:latin typeface="Nunito Sans" panose="00000500000000000000" pitchFamily="2" charset="0"/>
              </a:rPr>
              <a:t> Sans</a:t>
            </a:r>
          </a:p>
          <a:p>
            <a:r>
              <a:rPr lang="en-US" dirty="0">
                <a:latin typeface="Nunito Sans" panose="00000500000000000000" pitchFamily="2" charset="0"/>
              </a:rPr>
              <a:t>Primary colors: Black, White and Red (#F05136)</a:t>
            </a:r>
          </a:p>
          <a:p>
            <a:r>
              <a:rPr lang="en-US" b="1" dirty="0">
                <a:latin typeface="Nunito Sans" pitchFamily="2" charset="0"/>
              </a:rPr>
              <a:t>General Instruction:</a:t>
            </a:r>
          </a:p>
          <a:p>
            <a:r>
              <a:rPr lang="en-US" dirty="0">
                <a:latin typeface="Nunito Sans" panose="00000500000000000000" pitchFamily="2" charset="0"/>
              </a:rPr>
              <a:t>Don’t edit this PPT (keep it for future reference) </a:t>
            </a:r>
          </a:p>
          <a:p>
            <a:r>
              <a:rPr lang="en-US" dirty="0">
                <a:latin typeface="Nunito Sans" panose="00000500000000000000" pitchFamily="2" charset="0"/>
              </a:rPr>
              <a:t>Copy paste the required slide into your PPT. Format it there.</a:t>
            </a:r>
          </a:p>
          <a:p>
            <a:r>
              <a:rPr lang="en-US" dirty="0">
                <a:latin typeface="Nunito Sans" panose="00000500000000000000" pitchFamily="2" charset="0"/>
              </a:rPr>
              <a:t>Write less, talk/present more</a:t>
            </a:r>
          </a:p>
          <a:p>
            <a:r>
              <a:rPr lang="en-US" dirty="0">
                <a:latin typeface="Nunito Sans" panose="00000500000000000000" pitchFamily="2" charset="0"/>
              </a:rPr>
              <a:t>Use the font </a:t>
            </a:r>
            <a:r>
              <a:rPr lang="en-US" b="1" dirty="0" err="1">
                <a:latin typeface="Nunito Sans" pitchFamily="2" charset="0"/>
              </a:rPr>
              <a:t>Nunito</a:t>
            </a:r>
            <a:r>
              <a:rPr lang="en-US" b="1" dirty="0">
                <a:latin typeface="Nunito Sans" pitchFamily="2" charset="0"/>
              </a:rPr>
              <a:t> Sans Regular</a:t>
            </a:r>
            <a:r>
              <a:rPr lang="en-US" dirty="0">
                <a:latin typeface="Nunito Sans" pitchFamily="2" charset="0"/>
              </a:rPr>
              <a:t>. You can download it from google fonts (</a:t>
            </a:r>
            <a:r>
              <a:rPr lang="en-US" i="1" u="sng" dirty="0">
                <a:solidFill>
                  <a:srgbClr val="0070C0"/>
                </a:solidFill>
                <a:latin typeface="Nunito Sans" pitchFamily="2" charset="0"/>
              </a:rPr>
              <a:t>https://fonts.google.com/specimen/Nunito+Sans</a:t>
            </a:r>
            <a:r>
              <a:rPr lang="en-US" dirty="0">
                <a:latin typeface="Nunito Sans" panose="00000500000000000000" pitchFamily="2" charset="0"/>
              </a:rPr>
              <a:t>). </a:t>
            </a:r>
          </a:p>
          <a:p>
            <a:r>
              <a:rPr lang="en-US" dirty="0">
                <a:latin typeface="Nunito Sans" panose="00000500000000000000" pitchFamily="2" charset="0"/>
              </a:rPr>
              <a:t>Don’t change the size and/or positions of headings, texts, unless absolutely necessary. (minimum size: 20)</a:t>
            </a:r>
          </a:p>
          <a:p>
            <a:r>
              <a:rPr lang="en-US" dirty="0">
                <a:latin typeface="Nunito Sans" panose="00000500000000000000" pitchFamily="2" charset="0"/>
              </a:rPr>
              <a:t>The size of the image must be adjusted according to the text. (try to make it look visually attractive)</a:t>
            </a:r>
          </a:p>
          <a:p>
            <a:r>
              <a:rPr lang="en-US" dirty="0">
                <a:latin typeface="Nunito Sans" panose="00000500000000000000" pitchFamily="2" charset="0"/>
              </a:rPr>
              <a:t>1 image per slide. No more than 4 points per slide.</a:t>
            </a:r>
          </a:p>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318</a:t>
            </a:fld>
            <a:endParaRPr lang="en-US"/>
          </a:p>
        </p:txBody>
      </p:sp>
    </p:spTree>
    <p:extLst>
      <p:ext uri="{BB962C8B-B14F-4D97-AF65-F5344CB8AC3E}">
        <p14:creationId xmlns:p14="http://schemas.microsoft.com/office/powerpoint/2010/main" val="193355954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319</a:t>
            </a:fld>
            <a:endParaRPr lang="en-US"/>
          </a:p>
        </p:txBody>
      </p:sp>
    </p:spTree>
    <p:extLst>
      <p:ext uri="{BB962C8B-B14F-4D97-AF65-F5344CB8AC3E}">
        <p14:creationId xmlns:p14="http://schemas.microsoft.com/office/powerpoint/2010/main" val="280578432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320</a:t>
            </a:fld>
            <a:endParaRPr lang="en-US"/>
          </a:p>
        </p:txBody>
      </p:sp>
    </p:spTree>
    <p:extLst>
      <p:ext uri="{BB962C8B-B14F-4D97-AF65-F5344CB8AC3E}">
        <p14:creationId xmlns:p14="http://schemas.microsoft.com/office/powerpoint/2010/main" val="259526357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328</a:t>
            </a:fld>
            <a:endParaRPr lang="en-US"/>
          </a:p>
        </p:txBody>
      </p:sp>
    </p:spTree>
    <p:extLst>
      <p:ext uri="{BB962C8B-B14F-4D97-AF65-F5344CB8AC3E}">
        <p14:creationId xmlns:p14="http://schemas.microsoft.com/office/powerpoint/2010/main" val="267255033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329</a:t>
            </a:fld>
            <a:endParaRPr lang="en-US"/>
          </a:p>
        </p:txBody>
      </p:sp>
    </p:spTree>
    <p:extLst>
      <p:ext uri="{BB962C8B-B14F-4D97-AF65-F5344CB8AC3E}">
        <p14:creationId xmlns:p14="http://schemas.microsoft.com/office/powerpoint/2010/main" val="7279892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330</a:t>
            </a:fld>
            <a:endParaRPr lang="en-US"/>
          </a:p>
        </p:txBody>
      </p:sp>
    </p:spTree>
    <p:extLst>
      <p:ext uri="{BB962C8B-B14F-4D97-AF65-F5344CB8AC3E}">
        <p14:creationId xmlns:p14="http://schemas.microsoft.com/office/powerpoint/2010/main" val="361335566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331</a:t>
            </a:fld>
            <a:endParaRPr lang="en-US"/>
          </a:p>
        </p:txBody>
      </p:sp>
    </p:spTree>
    <p:extLst>
      <p:ext uri="{BB962C8B-B14F-4D97-AF65-F5344CB8AC3E}">
        <p14:creationId xmlns:p14="http://schemas.microsoft.com/office/powerpoint/2010/main" val="98705751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332</a:t>
            </a:fld>
            <a:endParaRPr lang="en-US"/>
          </a:p>
        </p:txBody>
      </p:sp>
    </p:spTree>
    <p:extLst>
      <p:ext uri="{BB962C8B-B14F-4D97-AF65-F5344CB8AC3E}">
        <p14:creationId xmlns:p14="http://schemas.microsoft.com/office/powerpoint/2010/main" val="377220273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333</a:t>
            </a:fld>
            <a:endParaRPr lang="en-US"/>
          </a:p>
        </p:txBody>
      </p:sp>
    </p:spTree>
    <p:extLst>
      <p:ext uri="{BB962C8B-B14F-4D97-AF65-F5344CB8AC3E}">
        <p14:creationId xmlns:p14="http://schemas.microsoft.com/office/powerpoint/2010/main" val="115670846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334</a:t>
            </a:fld>
            <a:endParaRPr lang="en-US"/>
          </a:p>
        </p:txBody>
      </p:sp>
    </p:spTree>
    <p:extLst>
      <p:ext uri="{BB962C8B-B14F-4D97-AF65-F5344CB8AC3E}">
        <p14:creationId xmlns:p14="http://schemas.microsoft.com/office/powerpoint/2010/main" val="246725087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342</a:t>
            </a:fld>
            <a:endParaRPr lang="en-US"/>
          </a:p>
        </p:txBody>
      </p:sp>
    </p:spTree>
    <p:extLst>
      <p:ext uri="{BB962C8B-B14F-4D97-AF65-F5344CB8AC3E}">
        <p14:creationId xmlns:p14="http://schemas.microsoft.com/office/powerpoint/2010/main" val="173145508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343</a:t>
            </a:fld>
            <a:endParaRPr lang="en-US"/>
          </a:p>
        </p:txBody>
      </p:sp>
    </p:spTree>
    <p:extLst>
      <p:ext uri="{BB962C8B-B14F-4D97-AF65-F5344CB8AC3E}">
        <p14:creationId xmlns:p14="http://schemas.microsoft.com/office/powerpoint/2010/main" val="44955961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344</a:t>
            </a:fld>
            <a:endParaRPr lang="en-US"/>
          </a:p>
        </p:txBody>
      </p:sp>
    </p:spTree>
    <p:extLst>
      <p:ext uri="{BB962C8B-B14F-4D97-AF65-F5344CB8AC3E}">
        <p14:creationId xmlns:p14="http://schemas.microsoft.com/office/powerpoint/2010/main" val="386833173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345</a:t>
            </a:fld>
            <a:endParaRPr lang="en-US"/>
          </a:p>
        </p:txBody>
      </p:sp>
    </p:spTree>
    <p:extLst>
      <p:ext uri="{BB962C8B-B14F-4D97-AF65-F5344CB8AC3E}">
        <p14:creationId xmlns:p14="http://schemas.microsoft.com/office/powerpoint/2010/main" val="109721374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353</a:t>
            </a:fld>
            <a:endParaRPr lang="en-US"/>
          </a:p>
        </p:txBody>
      </p:sp>
    </p:spTree>
    <p:extLst>
      <p:ext uri="{BB962C8B-B14F-4D97-AF65-F5344CB8AC3E}">
        <p14:creationId xmlns:p14="http://schemas.microsoft.com/office/powerpoint/2010/main" val="413216380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354</a:t>
            </a:fld>
            <a:endParaRPr lang="en-US"/>
          </a:p>
        </p:txBody>
      </p:sp>
    </p:spTree>
    <p:extLst>
      <p:ext uri="{BB962C8B-B14F-4D97-AF65-F5344CB8AC3E}">
        <p14:creationId xmlns:p14="http://schemas.microsoft.com/office/powerpoint/2010/main" val="161970672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355</a:t>
            </a:fld>
            <a:endParaRPr lang="en-US"/>
          </a:p>
        </p:txBody>
      </p:sp>
    </p:spTree>
    <p:extLst>
      <p:ext uri="{BB962C8B-B14F-4D97-AF65-F5344CB8AC3E}">
        <p14:creationId xmlns:p14="http://schemas.microsoft.com/office/powerpoint/2010/main" val="203182982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356</a:t>
            </a:fld>
            <a:endParaRPr lang="en-US"/>
          </a:p>
        </p:txBody>
      </p:sp>
    </p:spTree>
    <p:extLst>
      <p:ext uri="{BB962C8B-B14F-4D97-AF65-F5344CB8AC3E}">
        <p14:creationId xmlns:p14="http://schemas.microsoft.com/office/powerpoint/2010/main" val="311280190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368</a:t>
            </a:fld>
            <a:endParaRPr lang="en-US"/>
          </a:p>
        </p:txBody>
      </p:sp>
    </p:spTree>
    <p:extLst>
      <p:ext uri="{BB962C8B-B14F-4D97-AF65-F5344CB8AC3E}">
        <p14:creationId xmlns:p14="http://schemas.microsoft.com/office/powerpoint/2010/main" val="48276992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369</a:t>
            </a:fld>
            <a:endParaRPr lang="en-US"/>
          </a:p>
        </p:txBody>
      </p:sp>
    </p:spTree>
    <p:extLst>
      <p:ext uri="{BB962C8B-B14F-4D97-AF65-F5344CB8AC3E}">
        <p14:creationId xmlns:p14="http://schemas.microsoft.com/office/powerpoint/2010/main" val="11980066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370</a:t>
            </a:fld>
            <a:endParaRPr lang="en-US"/>
          </a:p>
        </p:txBody>
      </p:sp>
    </p:spTree>
    <p:extLst>
      <p:ext uri="{BB962C8B-B14F-4D97-AF65-F5344CB8AC3E}">
        <p14:creationId xmlns:p14="http://schemas.microsoft.com/office/powerpoint/2010/main" val="47139115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371</a:t>
            </a:fld>
            <a:endParaRPr lang="en-US"/>
          </a:p>
        </p:txBody>
      </p:sp>
    </p:spTree>
    <p:extLst>
      <p:ext uri="{BB962C8B-B14F-4D97-AF65-F5344CB8AC3E}">
        <p14:creationId xmlns:p14="http://schemas.microsoft.com/office/powerpoint/2010/main" val="3683146480"/>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379</a:t>
            </a:fld>
            <a:endParaRPr lang="en-US"/>
          </a:p>
        </p:txBody>
      </p:sp>
    </p:spTree>
    <p:extLst>
      <p:ext uri="{BB962C8B-B14F-4D97-AF65-F5344CB8AC3E}">
        <p14:creationId xmlns:p14="http://schemas.microsoft.com/office/powerpoint/2010/main" val="4213221546"/>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380</a:t>
            </a:fld>
            <a:endParaRPr lang="en-US"/>
          </a:p>
        </p:txBody>
      </p:sp>
    </p:spTree>
    <p:extLst>
      <p:ext uri="{BB962C8B-B14F-4D97-AF65-F5344CB8AC3E}">
        <p14:creationId xmlns:p14="http://schemas.microsoft.com/office/powerpoint/2010/main" val="25949752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381</a:t>
            </a:fld>
            <a:endParaRPr lang="en-US"/>
          </a:p>
        </p:txBody>
      </p:sp>
    </p:spTree>
    <p:extLst>
      <p:ext uri="{BB962C8B-B14F-4D97-AF65-F5344CB8AC3E}">
        <p14:creationId xmlns:p14="http://schemas.microsoft.com/office/powerpoint/2010/main" val="1654366153"/>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382</a:t>
            </a:fld>
            <a:endParaRPr lang="en-US"/>
          </a:p>
        </p:txBody>
      </p:sp>
    </p:spTree>
    <p:extLst>
      <p:ext uri="{BB962C8B-B14F-4D97-AF65-F5344CB8AC3E}">
        <p14:creationId xmlns:p14="http://schemas.microsoft.com/office/powerpoint/2010/main" val="3006667153"/>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383</a:t>
            </a:fld>
            <a:endParaRPr lang="en-US"/>
          </a:p>
        </p:txBody>
      </p:sp>
    </p:spTree>
    <p:extLst>
      <p:ext uri="{BB962C8B-B14F-4D97-AF65-F5344CB8AC3E}">
        <p14:creationId xmlns:p14="http://schemas.microsoft.com/office/powerpoint/2010/main" val="334571259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392</a:t>
            </a:fld>
            <a:endParaRPr lang="en-US"/>
          </a:p>
        </p:txBody>
      </p:sp>
    </p:spTree>
    <p:extLst>
      <p:ext uri="{BB962C8B-B14F-4D97-AF65-F5344CB8AC3E}">
        <p14:creationId xmlns:p14="http://schemas.microsoft.com/office/powerpoint/2010/main" val="4112329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393</a:t>
            </a:fld>
            <a:endParaRPr lang="en-US"/>
          </a:p>
        </p:txBody>
      </p:sp>
    </p:spTree>
    <p:extLst>
      <p:ext uri="{BB962C8B-B14F-4D97-AF65-F5344CB8AC3E}">
        <p14:creationId xmlns:p14="http://schemas.microsoft.com/office/powerpoint/2010/main" val="882922818"/>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394</a:t>
            </a:fld>
            <a:endParaRPr lang="en-US"/>
          </a:p>
        </p:txBody>
      </p:sp>
    </p:spTree>
    <p:extLst>
      <p:ext uri="{BB962C8B-B14F-4D97-AF65-F5344CB8AC3E}">
        <p14:creationId xmlns:p14="http://schemas.microsoft.com/office/powerpoint/2010/main" val="358033718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402</a:t>
            </a:fld>
            <a:endParaRPr lang="en-US"/>
          </a:p>
        </p:txBody>
      </p:sp>
    </p:spTree>
    <p:extLst>
      <p:ext uri="{BB962C8B-B14F-4D97-AF65-F5344CB8AC3E}">
        <p14:creationId xmlns:p14="http://schemas.microsoft.com/office/powerpoint/2010/main" val="325505833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403</a:t>
            </a:fld>
            <a:endParaRPr lang="en-US"/>
          </a:p>
        </p:txBody>
      </p:sp>
    </p:spTree>
    <p:extLst>
      <p:ext uri="{BB962C8B-B14F-4D97-AF65-F5344CB8AC3E}">
        <p14:creationId xmlns:p14="http://schemas.microsoft.com/office/powerpoint/2010/main" val="2053481549"/>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404</a:t>
            </a:fld>
            <a:endParaRPr lang="en-US"/>
          </a:p>
        </p:txBody>
      </p:sp>
    </p:spTree>
    <p:extLst>
      <p:ext uri="{BB962C8B-B14F-4D97-AF65-F5344CB8AC3E}">
        <p14:creationId xmlns:p14="http://schemas.microsoft.com/office/powerpoint/2010/main" val="1425468679"/>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412</a:t>
            </a:fld>
            <a:endParaRPr lang="en-US"/>
          </a:p>
        </p:txBody>
      </p:sp>
    </p:spTree>
    <p:extLst>
      <p:ext uri="{BB962C8B-B14F-4D97-AF65-F5344CB8AC3E}">
        <p14:creationId xmlns:p14="http://schemas.microsoft.com/office/powerpoint/2010/main" val="258948563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413</a:t>
            </a:fld>
            <a:endParaRPr lang="en-US"/>
          </a:p>
        </p:txBody>
      </p:sp>
    </p:spTree>
    <p:extLst>
      <p:ext uri="{BB962C8B-B14F-4D97-AF65-F5344CB8AC3E}">
        <p14:creationId xmlns:p14="http://schemas.microsoft.com/office/powerpoint/2010/main" val="3134633130"/>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414</a:t>
            </a:fld>
            <a:endParaRPr lang="en-US"/>
          </a:p>
        </p:txBody>
      </p:sp>
    </p:spTree>
    <p:extLst>
      <p:ext uri="{BB962C8B-B14F-4D97-AF65-F5344CB8AC3E}">
        <p14:creationId xmlns:p14="http://schemas.microsoft.com/office/powerpoint/2010/main" val="279945530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425</a:t>
            </a:fld>
            <a:endParaRPr lang="en-US"/>
          </a:p>
        </p:txBody>
      </p:sp>
    </p:spTree>
    <p:extLst>
      <p:ext uri="{BB962C8B-B14F-4D97-AF65-F5344CB8AC3E}">
        <p14:creationId xmlns:p14="http://schemas.microsoft.com/office/powerpoint/2010/main" val="61827491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426</a:t>
            </a:fld>
            <a:endParaRPr lang="en-US"/>
          </a:p>
        </p:txBody>
      </p:sp>
    </p:spTree>
    <p:extLst>
      <p:ext uri="{BB962C8B-B14F-4D97-AF65-F5344CB8AC3E}">
        <p14:creationId xmlns:p14="http://schemas.microsoft.com/office/powerpoint/2010/main" val="33342782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427</a:t>
            </a:fld>
            <a:endParaRPr lang="en-US"/>
          </a:p>
        </p:txBody>
      </p:sp>
    </p:spTree>
    <p:extLst>
      <p:ext uri="{BB962C8B-B14F-4D97-AF65-F5344CB8AC3E}">
        <p14:creationId xmlns:p14="http://schemas.microsoft.com/office/powerpoint/2010/main" val="115005907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428</a:t>
            </a:fld>
            <a:endParaRPr lang="en-US"/>
          </a:p>
        </p:txBody>
      </p:sp>
    </p:spTree>
    <p:extLst>
      <p:ext uri="{BB962C8B-B14F-4D97-AF65-F5344CB8AC3E}">
        <p14:creationId xmlns:p14="http://schemas.microsoft.com/office/powerpoint/2010/main" val="1032608817"/>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dirty="0">
                <a:latin typeface="Nunito Sans" pitchFamily="2" charset="0"/>
              </a:rPr>
              <a:t>Cover Page</a:t>
            </a:r>
          </a:p>
          <a:p>
            <a:r>
              <a:rPr lang="en-US" dirty="0">
                <a:latin typeface="Nunito Sans" pitchFamily="2" charset="0"/>
              </a:rPr>
              <a:t>Font: </a:t>
            </a:r>
            <a:r>
              <a:rPr lang="en-US" dirty="0" err="1">
                <a:latin typeface="Nunito Sans" pitchFamily="2" charset="0"/>
              </a:rPr>
              <a:t>Nunito</a:t>
            </a:r>
            <a:r>
              <a:rPr lang="en-US" dirty="0">
                <a:latin typeface="Nunito Sans" panose="00000500000000000000" pitchFamily="2" charset="0"/>
              </a:rPr>
              <a:t> Sans</a:t>
            </a:r>
          </a:p>
          <a:p>
            <a:r>
              <a:rPr lang="en-US" dirty="0">
                <a:latin typeface="Nunito Sans" panose="00000500000000000000" pitchFamily="2" charset="0"/>
              </a:rPr>
              <a:t>Primary colors: Black, White and Red (#F05136)</a:t>
            </a:r>
          </a:p>
          <a:p>
            <a:r>
              <a:rPr lang="en-US" b="1" dirty="0">
                <a:latin typeface="Nunito Sans" pitchFamily="2" charset="0"/>
              </a:rPr>
              <a:t>General Instruction:</a:t>
            </a:r>
          </a:p>
          <a:p>
            <a:r>
              <a:rPr lang="en-US" dirty="0">
                <a:latin typeface="Nunito Sans" panose="00000500000000000000" pitchFamily="2" charset="0"/>
              </a:rPr>
              <a:t>Don’t edit this PPT (keep it for future reference) </a:t>
            </a:r>
          </a:p>
          <a:p>
            <a:r>
              <a:rPr lang="en-US" dirty="0">
                <a:latin typeface="Nunito Sans" panose="00000500000000000000" pitchFamily="2" charset="0"/>
              </a:rPr>
              <a:t>Copy paste the required slide into your PPT. Format it there.</a:t>
            </a:r>
          </a:p>
          <a:p>
            <a:r>
              <a:rPr lang="en-US" dirty="0">
                <a:latin typeface="Nunito Sans" panose="00000500000000000000" pitchFamily="2" charset="0"/>
              </a:rPr>
              <a:t>Write less, talk/present more</a:t>
            </a:r>
          </a:p>
          <a:p>
            <a:r>
              <a:rPr lang="en-US" dirty="0">
                <a:latin typeface="Nunito Sans" panose="00000500000000000000" pitchFamily="2" charset="0"/>
              </a:rPr>
              <a:t>Use the font </a:t>
            </a:r>
            <a:r>
              <a:rPr lang="en-US" b="1" dirty="0" err="1">
                <a:latin typeface="Nunito Sans" pitchFamily="2" charset="0"/>
              </a:rPr>
              <a:t>Nunito</a:t>
            </a:r>
            <a:r>
              <a:rPr lang="en-US" b="1" dirty="0">
                <a:latin typeface="Nunito Sans" pitchFamily="2" charset="0"/>
              </a:rPr>
              <a:t> Sans Regular</a:t>
            </a:r>
            <a:r>
              <a:rPr lang="en-US" dirty="0">
                <a:latin typeface="Nunito Sans" pitchFamily="2" charset="0"/>
              </a:rPr>
              <a:t>. You can download it from google fonts (</a:t>
            </a:r>
            <a:r>
              <a:rPr lang="en-US" i="1" u="sng" dirty="0">
                <a:solidFill>
                  <a:srgbClr val="0070C0"/>
                </a:solidFill>
                <a:latin typeface="Nunito Sans" pitchFamily="2" charset="0"/>
              </a:rPr>
              <a:t>https://fonts.google.com/specimen/Nunito+Sans</a:t>
            </a:r>
            <a:r>
              <a:rPr lang="en-US" dirty="0">
                <a:latin typeface="Nunito Sans" panose="00000500000000000000" pitchFamily="2" charset="0"/>
              </a:rPr>
              <a:t>). </a:t>
            </a:r>
          </a:p>
          <a:p>
            <a:r>
              <a:rPr lang="en-US" dirty="0">
                <a:latin typeface="Nunito Sans" panose="00000500000000000000" pitchFamily="2" charset="0"/>
              </a:rPr>
              <a:t>Don’t change the size and/or positions of headings, texts, unless absolutely necessary. (minimum size: 20)</a:t>
            </a:r>
          </a:p>
          <a:p>
            <a:r>
              <a:rPr lang="en-US" dirty="0">
                <a:latin typeface="Nunito Sans" panose="00000500000000000000" pitchFamily="2" charset="0"/>
              </a:rPr>
              <a:t>The size of the image must be adjusted according to the text. (try to make it look visually attractive)</a:t>
            </a:r>
          </a:p>
          <a:p>
            <a:r>
              <a:rPr lang="en-US" dirty="0">
                <a:latin typeface="Nunito Sans" panose="00000500000000000000" pitchFamily="2" charset="0"/>
              </a:rPr>
              <a:t>1 image per slide. No more than 4 points per slide.</a:t>
            </a:r>
          </a:p>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433</a:t>
            </a:fld>
            <a:endParaRPr lang="en-US"/>
          </a:p>
        </p:txBody>
      </p:sp>
    </p:spTree>
    <p:extLst>
      <p:ext uri="{BB962C8B-B14F-4D97-AF65-F5344CB8AC3E}">
        <p14:creationId xmlns:p14="http://schemas.microsoft.com/office/powerpoint/2010/main" val="237021377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434</a:t>
            </a:fld>
            <a:endParaRPr lang="en-US"/>
          </a:p>
        </p:txBody>
      </p:sp>
    </p:spTree>
    <p:extLst>
      <p:ext uri="{BB962C8B-B14F-4D97-AF65-F5344CB8AC3E}">
        <p14:creationId xmlns:p14="http://schemas.microsoft.com/office/powerpoint/2010/main" val="103671408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435</a:t>
            </a:fld>
            <a:endParaRPr lang="en-US"/>
          </a:p>
        </p:txBody>
      </p:sp>
    </p:spTree>
    <p:extLst>
      <p:ext uri="{BB962C8B-B14F-4D97-AF65-F5344CB8AC3E}">
        <p14:creationId xmlns:p14="http://schemas.microsoft.com/office/powerpoint/2010/main" val="136119405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443</a:t>
            </a:fld>
            <a:endParaRPr lang="en-US"/>
          </a:p>
        </p:txBody>
      </p:sp>
    </p:spTree>
    <p:extLst>
      <p:ext uri="{BB962C8B-B14F-4D97-AF65-F5344CB8AC3E}">
        <p14:creationId xmlns:p14="http://schemas.microsoft.com/office/powerpoint/2010/main" val="373459400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444</a:t>
            </a:fld>
            <a:endParaRPr lang="en-US"/>
          </a:p>
        </p:txBody>
      </p:sp>
    </p:spTree>
    <p:extLst>
      <p:ext uri="{BB962C8B-B14F-4D97-AF65-F5344CB8AC3E}">
        <p14:creationId xmlns:p14="http://schemas.microsoft.com/office/powerpoint/2010/main" val="950627142"/>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452</a:t>
            </a:fld>
            <a:endParaRPr lang="en-US"/>
          </a:p>
        </p:txBody>
      </p:sp>
    </p:spTree>
    <p:extLst>
      <p:ext uri="{BB962C8B-B14F-4D97-AF65-F5344CB8AC3E}">
        <p14:creationId xmlns:p14="http://schemas.microsoft.com/office/powerpoint/2010/main" val="927082210"/>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453</a:t>
            </a:fld>
            <a:endParaRPr lang="en-US"/>
          </a:p>
        </p:txBody>
      </p:sp>
    </p:spTree>
    <p:extLst>
      <p:ext uri="{BB962C8B-B14F-4D97-AF65-F5344CB8AC3E}">
        <p14:creationId xmlns:p14="http://schemas.microsoft.com/office/powerpoint/2010/main" val="148568213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454</a:t>
            </a:fld>
            <a:endParaRPr lang="en-US"/>
          </a:p>
        </p:txBody>
      </p:sp>
    </p:spTree>
    <p:extLst>
      <p:ext uri="{BB962C8B-B14F-4D97-AF65-F5344CB8AC3E}">
        <p14:creationId xmlns:p14="http://schemas.microsoft.com/office/powerpoint/2010/main" val="33617461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465</a:t>
            </a:fld>
            <a:endParaRPr lang="en-US"/>
          </a:p>
        </p:txBody>
      </p:sp>
    </p:spTree>
    <p:extLst>
      <p:ext uri="{BB962C8B-B14F-4D97-AF65-F5344CB8AC3E}">
        <p14:creationId xmlns:p14="http://schemas.microsoft.com/office/powerpoint/2010/main" val="4214986295"/>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466</a:t>
            </a:fld>
            <a:endParaRPr lang="en-US"/>
          </a:p>
        </p:txBody>
      </p:sp>
    </p:spTree>
    <p:extLst>
      <p:ext uri="{BB962C8B-B14F-4D97-AF65-F5344CB8AC3E}">
        <p14:creationId xmlns:p14="http://schemas.microsoft.com/office/powerpoint/2010/main" val="251198793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474</a:t>
            </a:fld>
            <a:endParaRPr lang="en-US"/>
          </a:p>
        </p:txBody>
      </p:sp>
    </p:spTree>
    <p:extLst>
      <p:ext uri="{BB962C8B-B14F-4D97-AF65-F5344CB8AC3E}">
        <p14:creationId xmlns:p14="http://schemas.microsoft.com/office/powerpoint/2010/main" val="296847960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475</a:t>
            </a:fld>
            <a:endParaRPr lang="en-US"/>
          </a:p>
        </p:txBody>
      </p:sp>
    </p:spTree>
    <p:extLst>
      <p:ext uri="{BB962C8B-B14F-4D97-AF65-F5344CB8AC3E}">
        <p14:creationId xmlns:p14="http://schemas.microsoft.com/office/powerpoint/2010/main" val="3163002708"/>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476</a:t>
            </a:fld>
            <a:endParaRPr lang="en-US"/>
          </a:p>
        </p:txBody>
      </p:sp>
    </p:spTree>
    <p:extLst>
      <p:ext uri="{BB962C8B-B14F-4D97-AF65-F5344CB8AC3E}">
        <p14:creationId xmlns:p14="http://schemas.microsoft.com/office/powerpoint/2010/main" val="2213602579"/>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484</a:t>
            </a:fld>
            <a:endParaRPr lang="en-US"/>
          </a:p>
        </p:txBody>
      </p:sp>
    </p:spTree>
    <p:extLst>
      <p:ext uri="{BB962C8B-B14F-4D97-AF65-F5344CB8AC3E}">
        <p14:creationId xmlns:p14="http://schemas.microsoft.com/office/powerpoint/2010/main" val="153226914"/>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485</a:t>
            </a:fld>
            <a:endParaRPr lang="en-US"/>
          </a:p>
        </p:txBody>
      </p:sp>
    </p:spTree>
    <p:extLst>
      <p:ext uri="{BB962C8B-B14F-4D97-AF65-F5344CB8AC3E}">
        <p14:creationId xmlns:p14="http://schemas.microsoft.com/office/powerpoint/2010/main" val="1908731933"/>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495</a:t>
            </a:fld>
            <a:endParaRPr lang="en-US"/>
          </a:p>
        </p:txBody>
      </p:sp>
    </p:spTree>
    <p:extLst>
      <p:ext uri="{BB962C8B-B14F-4D97-AF65-F5344CB8AC3E}">
        <p14:creationId xmlns:p14="http://schemas.microsoft.com/office/powerpoint/2010/main" val="3585491573"/>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496</a:t>
            </a:fld>
            <a:endParaRPr lang="en-US"/>
          </a:p>
        </p:txBody>
      </p:sp>
    </p:spTree>
    <p:extLst>
      <p:ext uri="{BB962C8B-B14F-4D97-AF65-F5344CB8AC3E}">
        <p14:creationId xmlns:p14="http://schemas.microsoft.com/office/powerpoint/2010/main" val="62792092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497</a:t>
            </a:fld>
            <a:endParaRPr lang="en-US"/>
          </a:p>
        </p:txBody>
      </p:sp>
    </p:spTree>
    <p:extLst>
      <p:ext uri="{BB962C8B-B14F-4D97-AF65-F5344CB8AC3E}">
        <p14:creationId xmlns:p14="http://schemas.microsoft.com/office/powerpoint/2010/main" val="1182156355"/>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498</a:t>
            </a:fld>
            <a:endParaRPr lang="en-US"/>
          </a:p>
        </p:txBody>
      </p:sp>
    </p:spTree>
    <p:extLst>
      <p:ext uri="{BB962C8B-B14F-4D97-AF65-F5344CB8AC3E}">
        <p14:creationId xmlns:p14="http://schemas.microsoft.com/office/powerpoint/2010/main" val="295279220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503</a:t>
            </a:fld>
            <a:endParaRPr lang="en-US"/>
          </a:p>
        </p:txBody>
      </p:sp>
    </p:spTree>
    <p:extLst>
      <p:ext uri="{BB962C8B-B14F-4D97-AF65-F5344CB8AC3E}">
        <p14:creationId xmlns:p14="http://schemas.microsoft.com/office/powerpoint/2010/main" val="446405516"/>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504</a:t>
            </a:fld>
            <a:endParaRPr lang="en-US"/>
          </a:p>
        </p:txBody>
      </p:sp>
    </p:spTree>
    <p:extLst>
      <p:ext uri="{BB962C8B-B14F-4D97-AF65-F5344CB8AC3E}">
        <p14:creationId xmlns:p14="http://schemas.microsoft.com/office/powerpoint/2010/main" val="2280089934"/>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505</a:t>
            </a:fld>
            <a:endParaRPr lang="en-US"/>
          </a:p>
        </p:txBody>
      </p:sp>
    </p:spTree>
    <p:extLst>
      <p:ext uri="{BB962C8B-B14F-4D97-AF65-F5344CB8AC3E}">
        <p14:creationId xmlns:p14="http://schemas.microsoft.com/office/powerpoint/2010/main" val="2529454169"/>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506</a:t>
            </a:fld>
            <a:endParaRPr lang="en-US"/>
          </a:p>
        </p:txBody>
      </p:sp>
    </p:spTree>
    <p:extLst>
      <p:ext uri="{BB962C8B-B14F-4D97-AF65-F5344CB8AC3E}">
        <p14:creationId xmlns:p14="http://schemas.microsoft.com/office/powerpoint/2010/main" val="155131581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513</a:t>
            </a:fld>
            <a:endParaRPr lang="en-US"/>
          </a:p>
        </p:txBody>
      </p:sp>
    </p:spTree>
    <p:extLst>
      <p:ext uri="{BB962C8B-B14F-4D97-AF65-F5344CB8AC3E}">
        <p14:creationId xmlns:p14="http://schemas.microsoft.com/office/powerpoint/2010/main" val="2561745922"/>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514</a:t>
            </a:fld>
            <a:endParaRPr lang="en-US"/>
          </a:p>
        </p:txBody>
      </p:sp>
    </p:spTree>
    <p:extLst>
      <p:ext uri="{BB962C8B-B14F-4D97-AF65-F5344CB8AC3E}">
        <p14:creationId xmlns:p14="http://schemas.microsoft.com/office/powerpoint/2010/main" val="303785945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515</a:t>
            </a:fld>
            <a:endParaRPr lang="en-US"/>
          </a:p>
        </p:txBody>
      </p:sp>
    </p:spTree>
    <p:extLst>
      <p:ext uri="{BB962C8B-B14F-4D97-AF65-F5344CB8AC3E}">
        <p14:creationId xmlns:p14="http://schemas.microsoft.com/office/powerpoint/2010/main" val="2974452404"/>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516</a:t>
            </a:fld>
            <a:endParaRPr lang="en-US"/>
          </a:p>
        </p:txBody>
      </p:sp>
    </p:spTree>
    <p:extLst>
      <p:ext uri="{BB962C8B-B14F-4D97-AF65-F5344CB8AC3E}">
        <p14:creationId xmlns:p14="http://schemas.microsoft.com/office/powerpoint/2010/main" val="1716146120"/>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522</a:t>
            </a:fld>
            <a:endParaRPr lang="en-US"/>
          </a:p>
        </p:txBody>
      </p:sp>
    </p:spTree>
    <p:extLst>
      <p:ext uri="{BB962C8B-B14F-4D97-AF65-F5344CB8AC3E}">
        <p14:creationId xmlns:p14="http://schemas.microsoft.com/office/powerpoint/2010/main" val="1816091974"/>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523</a:t>
            </a:fld>
            <a:endParaRPr lang="en-US"/>
          </a:p>
        </p:txBody>
      </p:sp>
    </p:spTree>
    <p:extLst>
      <p:ext uri="{BB962C8B-B14F-4D97-AF65-F5344CB8AC3E}">
        <p14:creationId xmlns:p14="http://schemas.microsoft.com/office/powerpoint/2010/main" val="260180110"/>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529</a:t>
            </a:fld>
            <a:endParaRPr lang="en-US"/>
          </a:p>
        </p:txBody>
      </p:sp>
    </p:spTree>
    <p:extLst>
      <p:ext uri="{BB962C8B-B14F-4D97-AF65-F5344CB8AC3E}">
        <p14:creationId xmlns:p14="http://schemas.microsoft.com/office/powerpoint/2010/main" val="382373169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530</a:t>
            </a:fld>
            <a:endParaRPr lang="en-US"/>
          </a:p>
        </p:txBody>
      </p:sp>
    </p:spTree>
    <p:extLst>
      <p:ext uri="{BB962C8B-B14F-4D97-AF65-F5344CB8AC3E}">
        <p14:creationId xmlns:p14="http://schemas.microsoft.com/office/powerpoint/2010/main" val="168583074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538</a:t>
            </a:fld>
            <a:endParaRPr lang="en-US"/>
          </a:p>
        </p:txBody>
      </p:sp>
    </p:spTree>
    <p:extLst>
      <p:ext uri="{BB962C8B-B14F-4D97-AF65-F5344CB8AC3E}">
        <p14:creationId xmlns:p14="http://schemas.microsoft.com/office/powerpoint/2010/main" val="3339880214"/>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539</a:t>
            </a:fld>
            <a:endParaRPr lang="en-US"/>
          </a:p>
        </p:txBody>
      </p:sp>
    </p:spTree>
    <p:extLst>
      <p:ext uri="{BB962C8B-B14F-4D97-AF65-F5344CB8AC3E}">
        <p14:creationId xmlns:p14="http://schemas.microsoft.com/office/powerpoint/2010/main" val="1901274536"/>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540</a:t>
            </a:fld>
            <a:endParaRPr lang="en-US"/>
          </a:p>
        </p:txBody>
      </p:sp>
    </p:spTree>
    <p:extLst>
      <p:ext uri="{BB962C8B-B14F-4D97-AF65-F5344CB8AC3E}">
        <p14:creationId xmlns:p14="http://schemas.microsoft.com/office/powerpoint/2010/main" val="501900095"/>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541</a:t>
            </a:fld>
            <a:endParaRPr lang="en-US"/>
          </a:p>
        </p:txBody>
      </p:sp>
    </p:spTree>
    <p:extLst>
      <p:ext uri="{BB962C8B-B14F-4D97-AF65-F5344CB8AC3E}">
        <p14:creationId xmlns:p14="http://schemas.microsoft.com/office/powerpoint/2010/main" val="1155725674"/>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549</a:t>
            </a:fld>
            <a:endParaRPr lang="en-US"/>
          </a:p>
        </p:txBody>
      </p:sp>
    </p:spTree>
    <p:extLst>
      <p:ext uri="{BB962C8B-B14F-4D97-AF65-F5344CB8AC3E}">
        <p14:creationId xmlns:p14="http://schemas.microsoft.com/office/powerpoint/2010/main" val="4140850835"/>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550</a:t>
            </a:fld>
            <a:endParaRPr lang="en-US"/>
          </a:p>
        </p:txBody>
      </p:sp>
    </p:spTree>
    <p:extLst>
      <p:ext uri="{BB962C8B-B14F-4D97-AF65-F5344CB8AC3E}">
        <p14:creationId xmlns:p14="http://schemas.microsoft.com/office/powerpoint/2010/main" val="2078009169"/>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551</a:t>
            </a:fld>
            <a:endParaRPr lang="en-US"/>
          </a:p>
        </p:txBody>
      </p:sp>
    </p:spTree>
    <p:extLst>
      <p:ext uri="{BB962C8B-B14F-4D97-AF65-F5344CB8AC3E}">
        <p14:creationId xmlns:p14="http://schemas.microsoft.com/office/powerpoint/2010/main" val="1410980109"/>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563</a:t>
            </a:fld>
            <a:endParaRPr lang="en-US"/>
          </a:p>
        </p:txBody>
      </p:sp>
    </p:spTree>
    <p:extLst>
      <p:ext uri="{BB962C8B-B14F-4D97-AF65-F5344CB8AC3E}">
        <p14:creationId xmlns:p14="http://schemas.microsoft.com/office/powerpoint/2010/main" val="3468796049"/>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564</a:t>
            </a:fld>
            <a:endParaRPr lang="en-US"/>
          </a:p>
        </p:txBody>
      </p:sp>
    </p:spTree>
    <p:extLst>
      <p:ext uri="{BB962C8B-B14F-4D97-AF65-F5344CB8AC3E}">
        <p14:creationId xmlns:p14="http://schemas.microsoft.com/office/powerpoint/2010/main" val="2219942437"/>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569</a:t>
            </a:fld>
            <a:endParaRPr lang="en-US"/>
          </a:p>
        </p:txBody>
      </p:sp>
    </p:spTree>
    <p:extLst>
      <p:ext uri="{BB962C8B-B14F-4D97-AF65-F5344CB8AC3E}">
        <p14:creationId xmlns:p14="http://schemas.microsoft.com/office/powerpoint/2010/main" val="1470035474"/>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570</a:t>
            </a:fld>
            <a:endParaRPr lang="en-US"/>
          </a:p>
        </p:txBody>
      </p:sp>
    </p:spTree>
    <p:extLst>
      <p:ext uri="{BB962C8B-B14F-4D97-AF65-F5344CB8AC3E}">
        <p14:creationId xmlns:p14="http://schemas.microsoft.com/office/powerpoint/2010/main" val="2098442559"/>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578</a:t>
            </a:fld>
            <a:endParaRPr lang="en-US"/>
          </a:p>
        </p:txBody>
      </p:sp>
    </p:spTree>
    <p:extLst>
      <p:ext uri="{BB962C8B-B14F-4D97-AF65-F5344CB8AC3E}">
        <p14:creationId xmlns:p14="http://schemas.microsoft.com/office/powerpoint/2010/main" val="2558017639"/>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579</a:t>
            </a:fld>
            <a:endParaRPr lang="en-US"/>
          </a:p>
        </p:txBody>
      </p:sp>
    </p:spTree>
    <p:extLst>
      <p:ext uri="{BB962C8B-B14F-4D97-AF65-F5344CB8AC3E}">
        <p14:creationId xmlns:p14="http://schemas.microsoft.com/office/powerpoint/2010/main" val="1680203749"/>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587</a:t>
            </a:fld>
            <a:endParaRPr lang="en-US"/>
          </a:p>
        </p:txBody>
      </p:sp>
    </p:spTree>
    <p:extLst>
      <p:ext uri="{BB962C8B-B14F-4D97-AF65-F5344CB8AC3E}">
        <p14:creationId xmlns:p14="http://schemas.microsoft.com/office/powerpoint/2010/main" val="2051984677"/>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588</a:t>
            </a:fld>
            <a:endParaRPr lang="en-US"/>
          </a:p>
        </p:txBody>
      </p:sp>
    </p:spTree>
    <p:extLst>
      <p:ext uri="{BB962C8B-B14F-4D97-AF65-F5344CB8AC3E}">
        <p14:creationId xmlns:p14="http://schemas.microsoft.com/office/powerpoint/2010/main" val="4257717403"/>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596</a:t>
            </a:fld>
            <a:endParaRPr lang="en-US"/>
          </a:p>
        </p:txBody>
      </p:sp>
    </p:spTree>
    <p:extLst>
      <p:ext uri="{BB962C8B-B14F-4D97-AF65-F5344CB8AC3E}">
        <p14:creationId xmlns:p14="http://schemas.microsoft.com/office/powerpoint/2010/main" val="3171209698"/>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597</a:t>
            </a:fld>
            <a:endParaRPr lang="en-US"/>
          </a:p>
        </p:txBody>
      </p:sp>
    </p:spTree>
    <p:extLst>
      <p:ext uri="{BB962C8B-B14F-4D97-AF65-F5344CB8AC3E}">
        <p14:creationId xmlns:p14="http://schemas.microsoft.com/office/powerpoint/2010/main" val="1320900795"/>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605</a:t>
            </a:fld>
            <a:endParaRPr lang="en-US"/>
          </a:p>
        </p:txBody>
      </p:sp>
    </p:spTree>
    <p:extLst>
      <p:ext uri="{BB962C8B-B14F-4D97-AF65-F5344CB8AC3E}">
        <p14:creationId xmlns:p14="http://schemas.microsoft.com/office/powerpoint/2010/main" val="3472155592"/>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606</a:t>
            </a:fld>
            <a:endParaRPr lang="en-US"/>
          </a:p>
        </p:txBody>
      </p:sp>
    </p:spTree>
    <p:extLst>
      <p:ext uri="{BB962C8B-B14F-4D97-AF65-F5344CB8AC3E}">
        <p14:creationId xmlns:p14="http://schemas.microsoft.com/office/powerpoint/2010/main" val="416349500"/>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614</a:t>
            </a:fld>
            <a:endParaRPr lang="en-US"/>
          </a:p>
        </p:txBody>
      </p:sp>
    </p:spTree>
    <p:extLst>
      <p:ext uri="{BB962C8B-B14F-4D97-AF65-F5344CB8AC3E}">
        <p14:creationId xmlns:p14="http://schemas.microsoft.com/office/powerpoint/2010/main" val="1940723772"/>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615</a:t>
            </a:fld>
            <a:endParaRPr lang="en-US"/>
          </a:p>
        </p:txBody>
      </p:sp>
    </p:spTree>
    <p:extLst>
      <p:ext uri="{BB962C8B-B14F-4D97-AF65-F5344CB8AC3E}">
        <p14:creationId xmlns:p14="http://schemas.microsoft.com/office/powerpoint/2010/main" val="4294158988"/>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Input + Output (Programming)</a:t>
            </a:r>
          </a:p>
        </p:txBody>
      </p:sp>
      <p:sp>
        <p:nvSpPr>
          <p:cNvPr id="4" name="Slide Number Placeholder 3"/>
          <p:cNvSpPr>
            <a:spLocks noGrp="1"/>
          </p:cNvSpPr>
          <p:nvPr>
            <p:ph type="sldNum" sz="quarter" idx="5"/>
          </p:nvPr>
        </p:nvSpPr>
        <p:spPr/>
        <p:txBody>
          <a:bodyPr/>
          <a:lstStyle/>
          <a:p>
            <a:fld id="{0AAB6876-1BF1-4B88-890A-0B4E46201506}" type="slidenum">
              <a:rPr lang="en-US" smtClean="0"/>
              <a:t>616</a:t>
            </a:fld>
            <a:endParaRPr lang="en-US"/>
          </a:p>
        </p:txBody>
      </p:sp>
    </p:spTree>
    <p:extLst>
      <p:ext uri="{BB962C8B-B14F-4D97-AF65-F5344CB8AC3E}">
        <p14:creationId xmlns:p14="http://schemas.microsoft.com/office/powerpoint/2010/main" val="2631784510"/>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Thank you slide</a:t>
            </a:r>
          </a:p>
        </p:txBody>
      </p:sp>
      <p:sp>
        <p:nvSpPr>
          <p:cNvPr id="4" name="Slide Number Placeholder 3"/>
          <p:cNvSpPr>
            <a:spLocks noGrp="1"/>
          </p:cNvSpPr>
          <p:nvPr>
            <p:ph type="sldNum" sz="quarter" idx="5"/>
          </p:nvPr>
        </p:nvSpPr>
        <p:spPr/>
        <p:txBody>
          <a:bodyPr/>
          <a:lstStyle/>
          <a:p>
            <a:fld id="{0AAB6876-1BF1-4B88-890A-0B4E46201506}" type="slidenum">
              <a:rPr lang="en-US" smtClean="0"/>
              <a:t>624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2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2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2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2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2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2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2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2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2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2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2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2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3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3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3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3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3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3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3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3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3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3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3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3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3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3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3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3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3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3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3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3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3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3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3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3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3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3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3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3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3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3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3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3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3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4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4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4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4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4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4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4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4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4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4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4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4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4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4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4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4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4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4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4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4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4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4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4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4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4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4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4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1.xml"/><Relationship Id="rId1" Type="http://schemas.openxmlformats.org/officeDocument/2006/relationships/slideLayout" Target="../slideLayouts/slideLayout1.xml"/></Relationships>
</file>

<file path=ppt/slides/_rels/slide4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2.xml"/><Relationship Id="rId1" Type="http://schemas.openxmlformats.org/officeDocument/2006/relationships/slideLayout" Target="../slideLayouts/slideLayout1.xml"/></Relationships>
</file>

<file path=ppt/slides/_rels/slide5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5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5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50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5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5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5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5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5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5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5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3.xml"/><Relationship Id="rId1" Type="http://schemas.openxmlformats.org/officeDocument/2006/relationships/slideLayout" Target="../slideLayouts/slideLayout1.xml"/></Relationships>
</file>

<file path=ppt/slides/_rels/slide5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5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5.xml"/><Relationship Id="rId1" Type="http://schemas.openxmlformats.org/officeDocument/2006/relationships/slideLayout" Target="../slideLayouts/slideLayout1.xml"/></Relationships>
</file>

<file path=ppt/slides/_rels/slide5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6.xml"/><Relationship Id="rId1" Type="http://schemas.openxmlformats.org/officeDocument/2006/relationships/slideLayout" Target="../slideLayouts/slideLayout1.xml"/></Relationships>
</file>

<file path=ppt/slides/_rels/slide5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5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5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9.xml"/><Relationship Id="rId1" Type="http://schemas.openxmlformats.org/officeDocument/2006/relationships/slideLayout" Target="../slideLayouts/slideLayout1.xml"/></Relationships>
</file>

<file path=ppt/slides/_rels/slide5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5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1.xml"/><Relationship Id="rId1" Type="http://schemas.openxmlformats.org/officeDocument/2006/relationships/slideLayout" Target="../slideLayouts/slideLayout1.xml"/></Relationships>
</file>

<file path=ppt/slides/_rels/slide5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2.xml"/><Relationship Id="rId1" Type="http://schemas.openxmlformats.org/officeDocument/2006/relationships/slideLayout" Target="../slideLayouts/slideLayout1.xml"/></Relationships>
</file>

<file path=ppt/slides/_rels/slide5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3.xml"/><Relationship Id="rId1" Type="http://schemas.openxmlformats.org/officeDocument/2006/relationships/slideLayout" Target="../slideLayouts/slideLayout1.xml"/></Relationships>
</file>

<file path=ppt/slides/_rels/slide5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4.xml"/><Relationship Id="rId1" Type="http://schemas.openxmlformats.org/officeDocument/2006/relationships/slideLayout" Target="../slideLayouts/slideLayout1.xml"/></Relationships>
</file>

<file path=ppt/slides/_rels/slide5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5.xml"/><Relationship Id="rId1" Type="http://schemas.openxmlformats.org/officeDocument/2006/relationships/slideLayout" Target="../slideLayouts/slideLayout1.xml"/></Relationships>
</file>

<file path=ppt/slides/_rels/slide5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6.xml"/><Relationship Id="rId1" Type="http://schemas.openxmlformats.org/officeDocument/2006/relationships/slideLayout" Target="../slideLayouts/slideLayout1.xml"/></Relationships>
</file>

<file path=ppt/slides/_rels/slide5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7.xml"/><Relationship Id="rId1" Type="http://schemas.openxmlformats.org/officeDocument/2006/relationships/slideLayout" Target="../slideLayouts/slideLayout1.xml"/></Relationships>
</file>

<file path=ppt/slides/_rels/slide5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8.xml"/><Relationship Id="rId1" Type="http://schemas.openxmlformats.org/officeDocument/2006/relationships/slideLayout" Target="../slideLayouts/slideLayout1.xml"/></Relationships>
</file>

<file path=ppt/slides/_rels/slide5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9.xml"/><Relationship Id="rId1" Type="http://schemas.openxmlformats.org/officeDocument/2006/relationships/slideLayout" Target="../slideLayouts/slideLayout1.xml"/></Relationships>
</file>

<file path=ppt/slides/_rels/slide5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0.xml"/><Relationship Id="rId1" Type="http://schemas.openxmlformats.org/officeDocument/2006/relationships/slideLayout" Target="../slideLayouts/slideLayout1.xml"/></Relationships>
</file>

<file path=ppt/slides/_rels/slide59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1.xml"/><Relationship Id="rId1" Type="http://schemas.openxmlformats.org/officeDocument/2006/relationships/slideLayout" Target="../slideLayouts/slideLayout1.xml"/></Relationships>
</file>

<file path=ppt/slides/_rels/slide60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2.xml"/><Relationship Id="rId1" Type="http://schemas.openxmlformats.org/officeDocument/2006/relationships/slideLayout" Target="../slideLayouts/slideLayout1.xml"/></Relationships>
</file>

<file path=ppt/slides/_rels/slide60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3.xml"/><Relationship Id="rId1" Type="http://schemas.openxmlformats.org/officeDocument/2006/relationships/slideLayout" Target="../slideLayouts/slideLayout1.xml"/></Relationships>
</file>

<file path=ppt/slides/_rels/slide6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4.xml"/><Relationship Id="rId1" Type="http://schemas.openxmlformats.org/officeDocument/2006/relationships/slideLayout" Target="../slideLayouts/slideLayout1.xml"/></Relationships>
</file>

<file path=ppt/slides/_rels/slide6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5.xml"/><Relationship Id="rId1" Type="http://schemas.openxmlformats.org/officeDocument/2006/relationships/slideLayout" Target="../slideLayouts/slideLayout1.xml"/></Relationships>
</file>

<file path=ppt/slides/_rels/slide6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105000"/>
            <a:ext cx="5110844" cy="6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itchFamily="2" charset="0"/>
              </a:rPr>
              <a:t>Topic/Course</a:t>
            </a:r>
            <a:endParaRPr sz="4500" b="1" dirty="0">
              <a:solidFill>
                <a:schemeClr val="bg1"/>
              </a:solidFill>
              <a:latin typeface="Nunito Sans" pitchFamily="2" charset="0"/>
            </a:endParaRPr>
          </a:p>
        </p:txBody>
      </p:sp>
      <p:sp>
        <p:nvSpPr>
          <p:cNvPr id="12" name="Here is where the title goes. Sometimes it could be two lines too"/>
          <p:cNvSpPr txBox="1"/>
          <p:nvPr/>
        </p:nvSpPr>
        <p:spPr>
          <a:xfrm>
            <a:off x="2228196" y="2514600"/>
            <a:ext cx="6745013" cy="284934"/>
          </a:xfrm>
          <a:prstGeom prst="rect">
            <a:avLst/>
          </a:prstGeom>
          <a:ln w="12700">
            <a:miter lim="400000"/>
          </a:ln>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itchFamily="2" charset="0"/>
              </a:rPr>
              <a:t>Sub-Topic (Example: name of college)</a:t>
            </a:r>
            <a:endParaRPr sz="1500" b="1" dirty="0">
              <a:solidFill>
                <a:schemeClr val="bg1"/>
              </a:solidFill>
              <a:latin typeface="Nunito Sans" pitchFamily="2" charset="0"/>
            </a:endParaRPr>
          </a:p>
        </p:txBody>
      </p:sp>
      <p:sp>
        <p:nvSpPr>
          <p:cNvPr id="13" name="TextBox 12"/>
          <p:cNvSpPr txBox="1"/>
          <p:nvPr/>
        </p:nvSpPr>
        <p:spPr>
          <a:xfrm>
            <a:off x="1015554" y="1740939"/>
            <a:ext cx="10160892" cy="1014730"/>
          </a:xfrm>
          <a:prstGeom prst="rect">
            <a:avLst/>
          </a:prstGeom>
          <a:noFill/>
        </p:spPr>
        <p:txBody>
          <a:bodyPr wrap="square" rtlCol="0">
            <a:spAutoFit/>
          </a:bodyPr>
          <a:lstStyle/>
          <a:p>
            <a:r>
              <a:rPr lang="en-US" sz="6000" dirty="0">
                <a:latin typeface="Nunito Sans SemiBold" panose="00000700000000000000" pitchFamily="2" charset="0"/>
              </a:rPr>
              <a:t>TCS Digital </a:t>
            </a:r>
            <a:r>
              <a:rPr lang="en-US" sz="6000">
                <a:latin typeface="Nunito Sans SemiBold" panose="00000700000000000000" pitchFamily="2" charset="0"/>
              </a:rPr>
              <a:t>Advanced Coding</a:t>
            </a:r>
            <a:endParaRPr lang="en-US" sz="6000" dirty="0">
              <a:latin typeface="Nunito Sans SemiBold" panose="00000700000000000000" pitchFamily="2" charset="0"/>
            </a:endParaRPr>
          </a:p>
        </p:txBody>
      </p:sp>
      <p:sp>
        <p:nvSpPr>
          <p:cNvPr id="10" name="Rectangle 9"/>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8000" cy="29896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itchFamily="2" charset="0"/>
              </a:rPr>
              <a:t>Topic/Course</a:t>
            </a:r>
            <a:endParaRPr sz="4500" b="1" dirty="0">
              <a:solidFill>
                <a:schemeClr val="bg1"/>
              </a:solidFill>
              <a:latin typeface="Nunito Sans" pitchFamily="2" charset="0"/>
            </a:endParaRPr>
          </a:p>
        </p:txBody>
      </p:sp>
      <p:sp>
        <p:nvSpPr>
          <p:cNvPr id="12" name="Here is where the title goes. Sometimes it could be two lines too"/>
          <p:cNvSpPr txBox="1"/>
          <p:nvPr/>
        </p:nvSpPr>
        <p:spPr>
          <a:xfrm>
            <a:off x="2228196" y="2514600"/>
            <a:ext cx="6745013" cy="284934"/>
          </a:xfrm>
          <a:prstGeom prst="rect">
            <a:avLst/>
          </a:prstGeom>
          <a:ln w="12700">
            <a:miter lim="400000"/>
          </a:ln>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itchFamily="2" charset="0"/>
              </a:rPr>
              <a:t>Sub-Topic (Example: name of college)</a:t>
            </a:r>
            <a:endParaRPr sz="1500" b="1" dirty="0">
              <a:solidFill>
                <a:schemeClr val="bg1"/>
              </a:solidFill>
              <a:latin typeface="Nunito Sans" pitchFamily="2" charset="0"/>
            </a:endParaRPr>
          </a:p>
        </p:txBody>
      </p:sp>
      <p:sp>
        <p:nvSpPr>
          <p:cNvPr id="13" name="TextBox 12"/>
          <p:cNvSpPr txBox="1"/>
          <p:nvPr/>
        </p:nvSpPr>
        <p:spPr>
          <a:xfrm>
            <a:off x="938084" y="1499639"/>
            <a:ext cx="10160892" cy="1014730"/>
          </a:xfrm>
          <a:prstGeom prst="rect">
            <a:avLst/>
          </a:prstGeom>
          <a:noFill/>
        </p:spPr>
        <p:txBody>
          <a:bodyPr wrap="square" rtlCol="0">
            <a:spAutoFit/>
          </a:bodyPr>
          <a:lstStyle/>
          <a:p>
            <a:r>
              <a:rPr lang="en-US" sz="6000" dirty="0">
                <a:latin typeface="Nunito Sans SemiBold" panose="00000700000000000000" pitchFamily="2" charset="0"/>
              </a:rPr>
              <a:t>Set A</a:t>
            </a:r>
          </a:p>
        </p:txBody>
      </p:sp>
      <p:sp>
        <p:nvSpPr>
          <p:cNvPr id="10" name="Rectangle 9"/>
          <p:cNvSpPr/>
          <p:nvPr/>
        </p:nvSpPr>
        <p:spPr>
          <a:xfrm>
            <a:off x="1206669" y="1499898"/>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8000" cy="2989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938270" y="53975"/>
            <a:ext cx="7792085" cy="829945"/>
          </a:xfrm>
          <a:prstGeom prst="rect">
            <a:avLst/>
          </a:prstGeom>
          <a:noFill/>
        </p:spPr>
        <p:txBody>
          <a:bodyPr wrap="square" rtlCol="0">
            <a:spAutoFit/>
          </a:bodyPr>
          <a:lstStyle/>
          <a:p>
            <a:pPr algn="r"/>
            <a:r>
              <a:rPr lang="en-US" sz="4800" b="1" dirty="0">
                <a:solidFill>
                  <a:schemeClr val="bg1"/>
                </a:solidFill>
                <a:latin typeface="Nunito Sans" pitchFamily="2" charset="0"/>
                <a:sym typeface="+mn-ea"/>
              </a:rPr>
              <a:t>question 1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5" name="TextBox 11"/>
          <p:cNvSpPr txBox="1"/>
          <p:nvPr/>
        </p:nvSpPr>
        <p:spPr>
          <a:xfrm>
            <a:off x="223520" y="883285"/>
            <a:ext cx="11968480" cy="6631305"/>
          </a:xfrm>
          <a:prstGeom prst="rect">
            <a:avLst/>
          </a:prstGeom>
          <a:noFill/>
        </p:spPr>
        <p:txBody>
          <a:bodyPr wrap="square" rtlCol="0">
            <a:spAutoFit/>
          </a:bodyPr>
          <a:lstStyle/>
          <a:p>
            <a:r>
              <a:rPr lang="en-US" sz="2500" dirty="0">
                <a:latin typeface="Nunito Sans" panose="00000500000000000000" pitchFamily="2" charset="0"/>
                <a:sym typeface="+mn-ea"/>
              </a:rPr>
              <a:t>Ayush is working on a strange algorithm where he wants to convert a string from A to B, both the strings of equal length N.</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Below are the rules which can be performed to convert a string.</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String A and B are of equal length</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Both of them are in lower case</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Choose a subset X from the string A, between the index 1 and N.</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Let ‘s’ be the letter which alphabetically comes before all other letters in the subset. Let ‘s’ be called the ‘smallest element’ in the subset.</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Replace all the elements of subset with the letter ‘s’</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928745" y="53975"/>
            <a:ext cx="7792085" cy="829945"/>
          </a:xfrm>
          <a:prstGeom prst="rect">
            <a:avLst/>
          </a:prstGeom>
          <a:noFill/>
        </p:spPr>
        <p:txBody>
          <a:bodyPr wrap="square" rtlCol="0">
            <a:spAutoFit/>
          </a:bodyPr>
          <a:lstStyle/>
          <a:p>
            <a:pPr algn="r"/>
            <a:r>
              <a:rPr lang="en-US" sz="4800" b="1" dirty="0">
                <a:solidFill>
                  <a:schemeClr val="bg1"/>
                </a:solidFill>
                <a:latin typeface="Nunito Sans" pitchFamily="2" charset="0"/>
                <a:sym typeface="+mn-ea"/>
              </a:rPr>
              <a:t>question 1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5" name="TextBox 11"/>
          <p:cNvSpPr txBox="1"/>
          <p:nvPr/>
        </p:nvSpPr>
        <p:spPr>
          <a:xfrm>
            <a:off x="223520" y="883285"/>
            <a:ext cx="11968480" cy="5478423"/>
          </a:xfrm>
          <a:prstGeom prst="rect">
            <a:avLst/>
          </a:prstGeom>
          <a:noFill/>
        </p:spPr>
        <p:txBody>
          <a:bodyPr wrap="square" rtlCol="0">
            <a:spAutoFit/>
          </a:bodyPr>
          <a:lstStyle/>
          <a:p>
            <a:r>
              <a:rPr lang="en-US" sz="2500" dirty="0">
                <a:latin typeface="Nunito Sans" panose="00000500000000000000" pitchFamily="2" charset="0"/>
                <a:sym typeface="+mn-ea"/>
              </a:rPr>
              <a:t>Find the minimum number of moves which is required to perform the conversion. If it is not possible to convert the string from A to b then return -1</a:t>
            </a:r>
          </a:p>
          <a:p>
            <a:r>
              <a:rPr lang="en-US" sz="2500" dirty="0">
                <a:latin typeface="Nunito Sans" panose="00000500000000000000" pitchFamily="2" charset="0"/>
                <a:sym typeface="+mn-ea"/>
              </a:rPr>
              <a:t>Let us try to understand it with and examples</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Suppose there are 2 strings</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A = abcab</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B = aabab</a:t>
            </a:r>
          </a:p>
          <a:p>
            <a:endParaRPr lang="en-US" sz="2500" dirty="0">
              <a:latin typeface="Nunito Sans" panose="00000500000000000000" pitchFamily="2" charset="0"/>
              <a:sym typeface="+mn-ea"/>
            </a:endParaRPr>
          </a:p>
          <a:p>
            <a:r>
              <a:rPr lang="en-US" sz="2500" b="1" dirty="0">
                <a:latin typeface="Nunito Sans" pitchFamily="2" charset="0"/>
                <a:sym typeface="+mn-ea"/>
              </a:rPr>
              <a:t>Operation 1:</a:t>
            </a:r>
          </a:p>
          <a:p>
            <a:r>
              <a:rPr lang="en-US" sz="2500" dirty="0">
                <a:latin typeface="Nunito Sans" panose="00000500000000000000" pitchFamily="2" charset="0"/>
                <a:sym typeface="+mn-ea"/>
              </a:rPr>
              <a:t>Now we have chosen a subset S, let us say we have taken index 2,3,5 from A</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928745" y="53975"/>
            <a:ext cx="7792085" cy="829945"/>
          </a:xfrm>
          <a:prstGeom prst="rect">
            <a:avLst/>
          </a:prstGeom>
          <a:noFill/>
        </p:spPr>
        <p:txBody>
          <a:bodyPr wrap="square" rtlCol="0">
            <a:spAutoFit/>
          </a:bodyPr>
          <a:lstStyle/>
          <a:p>
            <a:pPr algn="r"/>
            <a:r>
              <a:rPr lang="en-US" sz="4800" b="1" dirty="0">
                <a:solidFill>
                  <a:schemeClr val="bg1"/>
                </a:solidFill>
                <a:latin typeface="Nunito Sans" pitchFamily="2" charset="0"/>
                <a:sym typeface="+mn-ea"/>
              </a:rPr>
              <a:t>question 1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5" name="TextBox 11"/>
          <p:cNvSpPr txBox="1"/>
          <p:nvPr/>
        </p:nvSpPr>
        <p:spPr>
          <a:xfrm>
            <a:off x="223520" y="883285"/>
            <a:ext cx="11968480" cy="5863144"/>
          </a:xfrm>
          <a:prstGeom prst="rect">
            <a:avLst/>
          </a:prstGeom>
          <a:noFill/>
        </p:spPr>
        <p:txBody>
          <a:bodyPr wrap="square" rtlCol="0">
            <a:spAutoFit/>
          </a:bodyPr>
          <a:lstStyle/>
          <a:p>
            <a:r>
              <a:rPr lang="en-US" sz="2500" dirty="0">
                <a:latin typeface="Nunito Sans" panose="00000500000000000000" pitchFamily="2" charset="0"/>
                <a:sym typeface="+mn-ea"/>
              </a:rPr>
              <a:t>Then the subset S becomes [bcb]</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Next, we have to choose the smallest element , 6041 here, which is b here in b &amp; c</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Next, we have to replace all the other elements in subset with this element. So ‘b’ with replace everything in [bcb]. which becomes [bbb].</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Now we will place all the respective elements back to their respective index. This will update the original string as [abbab]</a:t>
            </a:r>
          </a:p>
          <a:p>
            <a:endParaRPr lang="en-US" sz="2500" dirty="0">
              <a:latin typeface="Nunito Sans" panose="00000500000000000000" pitchFamily="2" charset="0"/>
              <a:sym typeface="+mn-ea"/>
            </a:endParaRPr>
          </a:p>
          <a:p>
            <a:r>
              <a:rPr lang="en-US" sz="2500" b="1" dirty="0">
                <a:latin typeface="Nunito Sans" pitchFamily="2" charset="0"/>
                <a:sym typeface="+mn-ea"/>
              </a:rPr>
              <a:t>Operation 2:</a:t>
            </a:r>
          </a:p>
          <a:p>
            <a:r>
              <a:rPr lang="en-US" sz="2500" dirty="0">
                <a:latin typeface="Nunito Sans" panose="00000500000000000000" pitchFamily="2" charset="0"/>
                <a:sym typeface="+mn-ea"/>
              </a:rPr>
              <a:t>Original string [abbab]</a:t>
            </a:r>
          </a:p>
          <a:p>
            <a:r>
              <a:rPr lang="en-US" sz="2500" dirty="0">
                <a:latin typeface="Nunito Sans" panose="00000500000000000000" pitchFamily="2" charset="0"/>
                <a:sym typeface="+mn-ea"/>
              </a:rPr>
              <a:t>Now we have chosen a subset S, let say we have taken a index 1,2,4 from A</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928745" y="53975"/>
            <a:ext cx="7792085" cy="829945"/>
          </a:xfrm>
          <a:prstGeom prst="rect">
            <a:avLst/>
          </a:prstGeom>
          <a:noFill/>
        </p:spPr>
        <p:txBody>
          <a:bodyPr wrap="square" rtlCol="0">
            <a:spAutoFit/>
          </a:bodyPr>
          <a:lstStyle/>
          <a:p>
            <a:pPr algn="r"/>
            <a:r>
              <a:rPr lang="en-US" sz="4800" b="1" dirty="0">
                <a:solidFill>
                  <a:schemeClr val="bg1"/>
                </a:solidFill>
                <a:latin typeface="Nunito Sans" pitchFamily="2" charset="0"/>
                <a:sym typeface="+mn-ea"/>
              </a:rPr>
              <a:t>question 1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5" name="TextBox 11"/>
          <p:cNvSpPr txBox="1"/>
          <p:nvPr/>
        </p:nvSpPr>
        <p:spPr>
          <a:xfrm>
            <a:off x="223520" y="883285"/>
            <a:ext cx="11968480" cy="6632585"/>
          </a:xfrm>
          <a:prstGeom prst="rect">
            <a:avLst/>
          </a:prstGeom>
          <a:noFill/>
        </p:spPr>
        <p:txBody>
          <a:bodyPr wrap="square" rtlCol="0">
            <a:spAutoFit/>
          </a:bodyPr>
          <a:lstStyle/>
          <a:p>
            <a:r>
              <a:rPr lang="en-US" sz="2500" dirty="0">
                <a:latin typeface="Nunito Sans" panose="00000500000000000000" pitchFamily="2" charset="0"/>
                <a:sym typeface="+mn-ea"/>
              </a:rPr>
              <a:t>Then the subset become [aba]</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Next, we have to choose the smallest element, which is here in a &amp; b.</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Next, we have to replace the smallest with all the other elements in subset. So ‘a’ will replace everything in [aba]</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Now we will place all the respective elements back to their respective index. This will update the original string as [aabab]</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This is exactly same as String B</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Hence it is possible to convert string A to B, with 2 operations. So, the answer is 2.</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928745" y="53975"/>
            <a:ext cx="7792085" cy="829945"/>
          </a:xfrm>
          <a:prstGeom prst="rect">
            <a:avLst/>
          </a:prstGeom>
          <a:noFill/>
        </p:spPr>
        <p:txBody>
          <a:bodyPr wrap="square" rtlCol="0">
            <a:spAutoFit/>
          </a:bodyPr>
          <a:lstStyle/>
          <a:p>
            <a:pPr algn="r"/>
            <a:r>
              <a:rPr lang="en-US" sz="4800" b="1" dirty="0">
                <a:solidFill>
                  <a:schemeClr val="bg1"/>
                </a:solidFill>
                <a:latin typeface="Nunito Sans" pitchFamily="2" charset="0"/>
                <a:sym typeface="+mn-ea"/>
              </a:rPr>
              <a:t>question 1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5" name="TextBox 11"/>
          <p:cNvSpPr txBox="1"/>
          <p:nvPr/>
        </p:nvSpPr>
        <p:spPr>
          <a:xfrm>
            <a:off x="223520" y="883285"/>
            <a:ext cx="11968480" cy="8171468"/>
          </a:xfrm>
          <a:prstGeom prst="rect">
            <a:avLst/>
          </a:prstGeom>
          <a:noFill/>
        </p:spPr>
        <p:txBody>
          <a:bodyPr wrap="square" rtlCol="0">
            <a:spAutoFit/>
          </a:bodyPr>
          <a:lstStyle/>
          <a:p>
            <a:r>
              <a:rPr lang="en-US" sz="2500" b="1" dirty="0">
                <a:latin typeface="Nunito Sans" pitchFamily="2" charset="0"/>
                <a:sym typeface="+mn-ea"/>
              </a:rPr>
              <a:t>Example 1:</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Input:</a:t>
            </a:r>
          </a:p>
          <a:p>
            <a:r>
              <a:rPr lang="en-US" sz="2500" dirty="0">
                <a:latin typeface="Nunito Sans" panose="00000500000000000000" pitchFamily="2" charset="0"/>
                <a:sym typeface="+mn-ea"/>
              </a:rPr>
              <a:t>2-&gt; Input integer, N</a:t>
            </a:r>
          </a:p>
          <a:p>
            <a:r>
              <a:rPr lang="en-US" sz="2500" dirty="0">
                <a:latin typeface="Nunito Sans" panose="00000500000000000000" pitchFamily="2" charset="0"/>
                <a:sym typeface="+mn-ea"/>
              </a:rPr>
              <a:t>de-&gt; input string, A</a:t>
            </a:r>
          </a:p>
          <a:p>
            <a:r>
              <a:rPr lang="en-US" sz="2500" dirty="0">
                <a:latin typeface="Nunito Sans" panose="00000500000000000000" pitchFamily="2" charset="0"/>
                <a:sym typeface="+mn-ea"/>
              </a:rPr>
              <a:t>cd-&gt; Input string, B</a:t>
            </a:r>
          </a:p>
          <a:p>
            <a:endParaRPr lang="en-US" sz="2500" dirty="0">
              <a:latin typeface="Nunito Sans" panose="00000500000000000000" pitchFamily="2" charset="0"/>
              <a:sym typeface="+mn-ea"/>
            </a:endParaRPr>
          </a:p>
          <a:p>
            <a:r>
              <a:rPr lang="en-US" sz="2500" b="1" dirty="0">
                <a:latin typeface="Nunito Sans" pitchFamily="2" charset="0"/>
                <a:sym typeface="+mn-ea"/>
              </a:rPr>
              <a:t>Output:</a:t>
            </a:r>
          </a:p>
          <a:p>
            <a:r>
              <a:rPr lang="en-US" sz="2500" dirty="0">
                <a:latin typeface="Nunito Sans" panose="00000500000000000000" pitchFamily="2" charset="0"/>
                <a:sym typeface="+mn-ea"/>
              </a:rPr>
              <a:t>-1</a:t>
            </a:r>
          </a:p>
          <a:p>
            <a:endParaRPr lang="en-US" sz="2500" dirty="0">
              <a:latin typeface="Nunito Sans" panose="00000500000000000000" pitchFamily="2" charset="0"/>
              <a:sym typeface="+mn-ea"/>
            </a:endParaRPr>
          </a:p>
          <a:p>
            <a:r>
              <a:rPr lang="en-US" sz="2500" b="1" dirty="0">
                <a:latin typeface="Nunito Sans" pitchFamily="2" charset="0"/>
                <a:sym typeface="+mn-ea"/>
              </a:rPr>
              <a:t>Explanation:</a:t>
            </a:r>
          </a:p>
          <a:p>
            <a:r>
              <a:rPr lang="en-US" sz="2500" dirty="0">
                <a:latin typeface="Nunito Sans" panose="00000500000000000000" pitchFamily="2" charset="0"/>
                <a:sym typeface="+mn-ea"/>
              </a:rPr>
              <a:t>In the above example we can clearly see that there is an alphabet in A which is completely different from B. hence it is not possible to convert A to B</a:t>
            </a:r>
          </a:p>
          <a:p>
            <a:r>
              <a:rPr lang="en-US" sz="2500" dirty="0">
                <a:latin typeface="Nunito Sans" panose="00000500000000000000" pitchFamily="2" charset="0"/>
                <a:sym typeface="+mn-ea"/>
              </a:rPr>
              <a:t>So the answer is -1</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 </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928745" y="53975"/>
            <a:ext cx="7792085" cy="829945"/>
          </a:xfrm>
          <a:prstGeom prst="rect">
            <a:avLst/>
          </a:prstGeom>
          <a:noFill/>
        </p:spPr>
        <p:txBody>
          <a:bodyPr wrap="square" rtlCol="0">
            <a:spAutoFit/>
          </a:bodyPr>
          <a:lstStyle/>
          <a:p>
            <a:pPr algn="r"/>
            <a:r>
              <a:rPr lang="en-US" sz="4800" b="1" dirty="0">
                <a:solidFill>
                  <a:schemeClr val="bg1"/>
                </a:solidFill>
                <a:latin typeface="Nunito Sans" pitchFamily="2" charset="0"/>
                <a:sym typeface="+mn-ea"/>
              </a:rPr>
              <a:t>question 1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5" name="TextBox 11"/>
          <p:cNvSpPr txBox="1"/>
          <p:nvPr/>
        </p:nvSpPr>
        <p:spPr>
          <a:xfrm>
            <a:off x="223520" y="883285"/>
            <a:ext cx="11968480" cy="8940165"/>
          </a:xfrm>
          <a:prstGeom prst="rect">
            <a:avLst/>
          </a:prstGeom>
          <a:noFill/>
        </p:spPr>
        <p:txBody>
          <a:bodyPr wrap="square" rtlCol="0">
            <a:spAutoFit/>
          </a:bodyPr>
          <a:lstStyle/>
          <a:p>
            <a:r>
              <a:rPr lang="en-US" sz="2500" b="1" dirty="0">
                <a:latin typeface="Nunito Sans" pitchFamily="2" charset="0"/>
                <a:sym typeface="+mn-ea"/>
              </a:rPr>
              <a:t>Example 2:</a:t>
            </a:r>
          </a:p>
          <a:p>
            <a:endParaRPr lang="en-US" sz="2500" dirty="0">
              <a:latin typeface="Nunito Sans" pitchFamily="2" charset="0"/>
              <a:sym typeface="+mn-ea"/>
            </a:endParaRPr>
          </a:p>
          <a:p>
            <a:r>
              <a:rPr lang="en-US" sz="2500" b="1" dirty="0">
                <a:latin typeface="Nunito Sans" pitchFamily="2" charset="0"/>
                <a:sym typeface="+mn-ea"/>
              </a:rPr>
              <a:t>Input:</a:t>
            </a:r>
          </a:p>
          <a:p>
            <a:r>
              <a:rPr lang="en-US" sz="2500" dirty="0">
                <a:latin typeface="Nunito Sans" panose="00000500000000000000" pitchFamily="2" charset="0"/>
                <a:sym typeface="+mn-ea"/>
              </a:rPr>
              <a:t>4-&gt; input integer, N</a:t>
            </a:r>
          </a:p>
          <a:p>
            <a:r>
              <a:rPr lang="en-US" sz="2500" dirty="0">
                <a:latin typeface="Nunito Sans" panose="00000500000000000000" pitchFamily="2" charset="0"/>
                <a:sym typeface="+mn-ea"/>
              </a:rPr>
              <a:t>abab-&gt; input string, A</a:t>
            </a:r>
          </a:p>
          <a:p>
            <a:r>
              <a:rPr lang="en-US" sz="2500" dirty="0">
                <a:latin typeface="Nunito Sans" panose="00000500000000000000" pitchFamily="2" charset="0"/>
                <a:sym typeface="+mn-ea"/>
              </a:rPr>
              <a:t>abaa-&gt; input string A</a:t>
            </a:r>
          </a:p>
          <a:p>
            <a:endParaRPr lang="en-US" sz="2500" dirty="0">
              <a:latin typeface="Nunito Sans" panose="00000500000000000000" pitchFamily="2" charset="0"/>
              <a:sym typeface="+mn-ea"/>
            </a:endParaRPr>
          </a:p>
          <a:p>
            <a:r>
              <a:rPr lang="en-US" sz="2500" b="1" dirty="0">
                <a:latin typeface="Nunito Sans" pitchFamily="2" charset="0"/>
                <a:sym typeface="+mn-ea"/>
              </a:rPr>
              <a:t>Output</a:t>
            </a:r>
            <a:r>
              <a:rPr lang="en-US" sz="2500" dirty="0">
                <a:latin typeface="Nunito Sans" panose="00000500000000000000" pitchFamily="2" charset="0"/>
                <a:sym typeface="+mn-ea"/>
              </a:rPr>
              <a:t>:</a:t>
            </a:r>
          </a:p>
          <a:p>
            <a:r>
              <a:rPr lang="en-US" sz="2500" dirty="0">
                <a:latin typeface="Nunito Sans" panose="00000500000000000000" pitchFamily="2" charset="0"/>
                <a:sym typeface="+mn-ea"/>
              </a:rPr>
              <a:t>1 -&gt; Output</a:t>
            </a:r>
          </a:p>
          <a:p>
            <a:endParaRPr lang="en-US" sz="2500" dirty="0">
              <a:latin typeface="Nunito Sans" panose="00000500000000000000" pitchFamily="2" charset="0"/>
              <a:sym typeface="+mn-ea"/>
            </a:endParaRPr>
          </a:p>
          <a:p>
            <a:r>
              <a:rPr lang="en-US" sz="2500" b="1" dirty="0">
                <a:latin typeface="Nunito Sans" pitchFamily="2" charset="0"/>
                <a:sym typeface="+mn-ea"/>
              </a:rPr>
              <a:t>Explanation:</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Operation 1:</a:t>
            </a:r>
          </a:p>
          <a:p>
            <a:r>
              <a:rPr lang="en-US" sz="2500" dirty="0">
                <a:latin typeface="Nunito Sans" panose="00000500000000000000" pitchFamily="2" charset="0"/>
                <a:sym typeface="+mn-ea"/>
              </a:rPr>
              <a:t>Now we have chosen a subset S, let say we have taken index 3,4 from A</a:t>
            </a:r>
          </a:p>
          <a:p>
            <a:r>
              <a:rPr lang="en-US" sz="2500" dirty="0">
                <a:latin typeface="Nunito Sans" panose="00000500000000000000" pitchFamily="2" charset="0"/>
                <a:sym typeface="+mn-ea"/>
              </a:rPr>
              <a:t>then the Subset S becomes [ab]</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 </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928745" y="53975"/>
            <a:ext cx="7792085" cy="829945"/>
          </a:xfrm>
          <a:prstGeom prst="rect">
            <a:avLst/>
          </a:prstGeom>
          <a:noFill/>
        </p:spPr>
        <p:txBody>
          <a:bodyPr wrap="square" rtlCol="0">
            <a:spAutoFit/>
          </a:bodyPr>
          <a:lstStyle/>
          <a:p>
            <a:pPr algn="r"/>
            <a:r>
              <a:rPr lang="en-US" sz="4800" b="1" dirty="0">
                <a:solidFill>
                  <a:schemeClr val="bg1"/>
                </a:solidFill>
                <a:latin typeface="Nunito Sans" pitchFamily="2" charset="0"/>
                <a:sym typeface="+mn-ea"/>
              </a:rPr>
              <a:t>question 1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5" name="TextBox 11"/>
          <p:cNvSpPr txBox="1"/>
          <p:nvPr/>
        </p:nvSpPr>
        <p:spPr>
          <a:xfrm>
            <a:off x="223520" y="883285"/>
            <a:ext cx="11968480" cy="5478423"/>
          </a:xfrm>
          <a:prstGeom prst="rect">
            <a:avLst/>
          </a:prstGeom>
          <a:noFill/>
        </p:spPr>
        <p:txBody>
          <a:bodyPr wrap="square" rtlCol="0">
            <a:spAutoFit/>
          </a:bodyPr>
          <a:lstStyle/>
          <a:p>
            <a:r>
              <a:rPr lang="en-US" sz="2500" dirty="0">
                <a:latin typeface="Nunito Sans" panose="00000500000000000000" pitchFamily="2" charset="0"/>
                <a:sym typeface="+mn-ea"/>
              </a:rPr>
              <a:t>Next, we have to choose the smallest element, which is a here in a &amp; b</a:t>
            </a:r>
          </a:p>
          <a:p>
            <a:r>
              <a:rPr lang="en-US" sz="2500" dirty="0">
                <a:latin typeface="Nunito Sans" panose="00000500000000000000" pitchFamily="2" charset="0"/>
                <a:sym typeface="+mn-ea"/>
              </a:rPr>
              <a:t>Next, we have to replace the smallest with all the other elements in subset. So ‘a’ will replace everything in [abl, which becomes [aa]</a:t>
            </a:r>
          </a:p>
          <a:p>
            <a:r>
              <a:rPr lang="en-US" sz="2500" dirty="0">
                <a:latin typeface="Nunito Sans" panose="00000500000000000000" pitchFamily="2" charset="0"/>
                <a:sym typeface="+mn-ea"/>
              </a:rPr>
              <a:t>Now we will place all the respective elements back to their respective index. This will update the original string as [abaa]</a:t>
            </a:r>
          </a:p>
          <a:p>
            <a:r>
              <a:rPr lang="en-US" sz="2500" dirty="0">
                <a:latin typeface="Nunito Sans" panose="00000500000000000000" pitchFamily="2" charset="0"/>
                <a:sym typeface="+mn-ea"/>
              </a:rPr>
              <a:t>This is exactly same as String B</a:t>
            </a:r>
          </a:p>
          <a:p>
            <a:r>
              <a:rPr lang="en-US" sz="2500" dirty="0">
                <a:latin typeface="Nunito Sans" panose="00000500000000000000" pitchFamily="2" charset="0"/>
                <a:sym typeface="+mn-ea"/>
              </a:rPr>
              <a:t>Hence it is possible to convert string A to B. with 1 operation. So, the answer is 1.</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C</a:t>
            </a:r>
            <a:r>
              <a:rPr lang="en-US" sz="2500" b="1" dirty="0">
                <a:latin typeface="Nunito Sans" pitchFamily="2" charset="0"/>
                <a:sym typeface="+mn-ea"/>
              </a:rPr>
              <a:t>onstraints:</a:t>
            </a:r>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1&lt;=N&lt;=1000</a:t>
            </a:r>
          </a:p>
          <a:p>
            <a:r>
              <a:rPr lang="en-US" sz="2500" dirty="0">
                <a:latin typeface="Nunito Sans" panose="00000500000000000000" pitchFamily="2" charset="0"/>
                <a:sym typeface="+mn-ea"/>
              </a:rPr>
              <a:t>N integer</a:t>
            </a:r>
          </a:p>
          <a:p>
            <a:r>
              <a:rPr lang="en-US" sz="2500" dirty="0">
                <a:latin typeface="Nunito Sans" panose="00000500000000000000" pitchFamily="2" charset="0"/>
                <a:sym typeface="+mn-ea"/>
              </a:rPr>
              <a:t>Only lower case letters of the English alphabet</a:t>
            </a:r>
          </a:p>
          <a:p>
            <a:r>
              <a:rPr lang="en-US" sz="2500" dirty="0">
                <a:latin typeface="Nunito Sans" panose="00000500000000000000" pitchFamily="2" charset="0"/>
                <a:sym typeface="+mn-ea"/>
              </a:rPr>
              <a:t>Length of A,B = N</a:t>
            </a:r>
          </a:p>
          <a:p>
            <a:endParaRPr lang="en-US" sz="2500" dirty="0">
              <a:latin typeface="Nunito Sans" panose="00000500000000000000" pitchFamily="2"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928745" y="53975"/>
            <a:ext cx="7792085" cy="829945"/>
          </a:xfrm>
          <a:prstGeom prst="rect">
            <a:avLst/>
          </a:prstGeom>
          <a:noFill/>
        </p:spPr>
        <p:txBody>
          <a:bodyPr wrap="square" rtlCol="0">
            <a:spAutoFit/>
          </a:bodyPr>
          <a:lstStyle/>
          <a:p>
            <a:pPr algn="r"/>
            <a:r>
              <a:rPr lang="en-US" sz="4800" b="1" dirty="0">
                <a:solidFill>
                  <a:schemeClr val="bg1"/>
                </a:solidFill>
                <a:latin typeface="Nunito Sans" pitchFamily="2" charset="0"/>
                <a:sym typeface="+mn-ea"/>
              </a:rPr>
              <a:t>question 1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5" name="TextBox 11"/>
          <p:cNvSpPr txBox="1"/>
          <p:nvPr/>
        </p:nvSpPr>
        <p:spPr>
          <a:xfrm>
            <a:off x="223520" y="883285"/>
            <a:ext cx="11968480" cy="4707890"/>
          </a:xfrm>
          <a:prstGeom prst="rect">
            <a:avLst/>
          </a:prstGeom>
          <a:noFill/>
        </p:spPr>
        <p:txBody>
          <a:bodyPr wrap="square" rtlCol="0">
            <a:spAutoFit/>
          </a:bodyPr>
          <a:lstStyle/>
          <a:p>
            <a:r>
              <a:rPr lang="en-US" sz="2500" b="1" dirty="0">
                <a:latin typeface="Nunito Sans" pitchFamily="2" charset="0"/>
                <a:sym typeface="+mn-ea"/>
              </a:rPr>
              <a:t>The input format for testing</a:t>
            </a:r>
          </a:p>
          <a:p>
            <a:r>
              <a:rPr lang="en-US" sz="2500" dirty="0">
                <a:latin typeface="Nunito Sans" panose="00000500000000000000" pitchFamily="2" charset="0"/>
                <a:sym typeface="+mn-ea"/>
              </a:rPr>
              <a:t>First Input-Accept value of Integer, N.</a:t>
            </a:r>
          </a:p>
          <a:p>
            <a:r>
              <a:rPr lang="en-US" sz="2500" dirty="0">
                <a:latin typeface="Nunito Sans" panose="00000500000000000000" pitchFamily="2" charset="0"/>
                <a:sym typeface="+mn-ea"/>
              </a:rPr>
              <a:t>Second Input-Accept value of string, A (Next Line)</a:t>
            </a:r>
          </a:p>
          <a:p>
            <a:r>
              <a:rPr lang="en-US" sz="2500" dirty="0">
                <a:latin typeface="Nunito Sans" panose="00000500000000000000" pitchFamily="2" charset="0"/>
                <a:sym typeface="+mn-ea"/>
              </a:rPr>
              <a:t>Third Input-Accept value of string, B(Next Line)</a:t>
            </a:r>
          </a:p>
          <a:p>
            <a:r>
              <a:rPr lang="en-US" sz="2500" dirty="0">
                <a:latin typeface="Nunito Sans" panose="00000500000000000000" pitchFamily="2" charset="0"/>
                <a:sym typeface="+mn-ea"/>
              </a:rPr>
              <a:t>Additional messages in output will cause the failure of test cases</a:t>
            </a:r>
          </a:p>
          <a:p>
            <a:endParaRPr lang="en-US" sz="2500" dirty="0">
              <a:latin typeface="Nunito Sans" panose="00000500000000000000" pitchFamily="2" charset="0"/>
              <a:sym typeface="+mn-ea"/>
            </a:endParaRPr>
          </a:p>
          <a:p>
            <a:r>
              <a:rPr lang="en-US" sz="2500" b="1" dirty="0">
                <a:latin typeface="Nunito Sans" pitchFamily="2" charset="0"/>
                <a:sym typeface="+mn-ea"/>
              </a:rPr>
              <a:t>The Output format for testing</a:t>
            </a:r>
          </a:p>
          <a:p>
            <a:r>
              <a:rPr lang="en-US" sz="2500" dirty="0">
                <a:latin typeface="Nunito Sans" panose="00000500000000000000" pitchFamily="2" charset="0"/>
                <a:sym typeface="+mn-ea"/>
              </a:rPr>
              <a:t>The output is an integer as per above logic. (Check the output in Example 1, Example 21</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Additional messages in output will cause the failure of test cases</a:t>
            </a:r>
          </a:p>
          <a:p>
            <a:endParaRPr lang="en-US" sz="2500" dirty="0">
              <a:latin typeface="Nunito Sans" panose="00000500000000000000" pitchFamily="2"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#include &lt;</a:t>
            </a:r>
            <a:r>
              <a:rPr lang="en-US" sz="2000" b="1" dirty="0" err="1">
                <a:solidFill>
                  <a:schemeClr val="bg1"/>
                </a:solidFill>
                <a:latin typeface="Nunito Sans" panose="020B0604020202020204" charset="0"/>
                <a:cs typeface="Courier New" panose="02070309020205020404" pitchFamily="49" charset="0"/>
              </a:rPr>
              <a:t>stdio.h</a:t>
            </a:r>
            <a:r>
              <a:rPr lang="en-US" sz="2000" b="1" dirty="0">
                <a:solidFill>
                  <a:schemeClr val="bg1"/>
                </a:solidFill>
                <a:latin typeface="Nunito Sans" panose="020B0604020202020204" charset="0"/>
                <a:cs typeface="Courier New" panose="02070309020205020404" pitchFamily="49" charset="0"/>
              </a:rPr>
              <a:t>&gt;</a:t>
            </a:r>
          </a:p>
          <a:p>
            <a:r>
              <a:rPr lang="en-US" sz="2000" b="1" dirty="0">
                <a:solidFill>
                  <a:schemeClr val="bg1"/>
                </a:solidFill>
                <a:latin typeface="Nunito Sans" panose="020B0604020202020204" charset="0"/>
                <a:cs typeface="Courier New" panose="02070309020205020404" pitchFamily="49" charset="0"/>
              </a:rPr>
              <a:t>#include &lt;</a:t>
            </a:r>
            <a:r>
              <a:rPr lang="en-US" sz="2000" b="1" dirty="0" err="1">
                <a:solidFill>
                  <a:schemeClr val="bg1"/>
                </a:solidFill>
                <a:latin typeface="Nunito Sans" panose="020B0604020202020204" charset="0"/>
                <a:cs typeface="Courier New" panose="02070309020205020404" pitchFamily="49" charset="0"/>
              </a:rPr>
              <a:t>stdlib.h</a:t>
            </a:r>
            <a:r>
              <a:rPr lang="en-US" sz="2000" b="1" dirty="0">
                <a:solidFill>
                  <a:schemeClr val="bg1"/>
                </a:solidFill>
                <a:latin typeface="Nunito Sans" panose="020B0604020202020204" charset="0"/>
                <a:cs typeface="Courier New" panose="02070309020205020404" pitchFamily="49" charset="0"/>
              </a:rPr>
              <a:t>&gt;</a:t>
            </a:r>
          </a:p>
          <a:p>
            <a:r>
              <a:rPr lang="en-US" sz="2000" b="1" dirty="0">
                <a:solidFill>
                  <a:schemeClr val="bg1"/>
                </a:solidFill>
                <a:latin typeface="Nunito Sans" panose="020B0604020202020204" charset="0"/>
                <a:cs typeface="Courier New" panose="02070309020205020404" pitchFamily="49" charset="0"/>
              </a:rPr>
              <a:t>#include &lt;</a:t>
            </a:r>
            <a:r>
              <a:rPr lang="en-US" sz="2000" b="1" dirty="0" err="1">
                <a:solidFill>
                  <a:schemeClr val="bg1"/>
                </a:solidFill>
                <a:latin typeface="Nunito Sans" panose="020B0604020202020204" charset="0"/>
                <a:cs typeface="Courier New" panose="02070309020205020404" pitchFamily="49" charset="0"/>
              </a:rPr>
              <a:t>string.h</a:t>
            </a:r>
            <a:r>
              <a:rPr lang="en-US" sz="2000" b="1" dirty="0">
                <a:solidFill>
                  <a:schemeClr val="bg1"/>
                </a:solidFill>
                <a:latin typeface="Nunito Sans" panose="020B0604020202020204" charset="0"/>
                <a:cs typeface="Courier New" panose="02070309020205020404" pitchFamily="49" charset="0"/>
              </a:rPr>
              <a:t>&gt;</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void </a:t>
            </a:r>
            <a:r>
              <a:rPr lang="en-US" sz="2000" b="1" dirty="0" err="1">
                <a:solidFill>
                  <a:schemeClr val="bg1"/>
                </a:solidFill>
                <a:latin typeface="Nunito Sans" panose="020B0604020202020204" charset="0"/>
                <a:cs typeface="Courier New" panose="02070309020205020404" pitchFamily="49" charset="0"/>
              </a:rPr>
              <a:t>transformString</a:t>
            </a:r>
            <a:r>
              <a:rPr lang="en-US" sz="2000" b="1" dirty="0">
                <a:solidFill>
                  <a:schemeClr val="bg1"/>
                </a:solidFill>
                <a:latin typeface="Nunito Sans" panose="020B0604020202020204" charset="0"/>
                <a:cs typeface="Courier New" panose="02070309020205020404" pitchFamily="49" charset="0"/>
              </a:rPr>
              <a:t>(char* str1, char* str2)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N = </a:t>
            </a:r>
            <a:r>
              <a:rPr lang="en-US" sz="2000" b="1" dirty="0" err="1">
                <a:solidFill>
                  <a:schemeClr val="bg1"/>
                </a:solidFill>
                <a:latin typeface="Nunito Sans" panose="020B0604020202020204" charset="0"/>
                <a:cs typeface="Courier New" panose="02070309020205020404" pitchFamily="49" charset="0"/>
              </a:rPr>
              <a:t>strlen</a:t>
            </a:r>
            <a:r>
              <a:rPr lang="en-US" sz="2000" b="1" dirty="0">
                <a:solidFill>
                  <a:schemeClr val="bg1"/>
                </a:solidFill>
                <a:latin typeface="Nunito Sans" panose="020B0604020202020204" charset="0"/>
                <a:cs typeface="Courier New" panose="02070309020205020404" pitchFamily="49" charset="0"/>
              </a:rPr>
              <a:t>(str1);</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[26][N];</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convCharSize</a:t>
            </a:r>
            <a:r>
              <a:rPr lang="en-US" sz="2000" b="1" dirty="0">
                <a:solidFill>
                  <a:schemeClr val="bg1"/>
                </a:solidFill>
                <a:latin typeface="Nunito Sans" panose="020B0604020202020204" charset="0"/>
                <a:cs typeface="Courier New" panose="02070309020205020404" pitchFamily="49" charset="0"/>
              </a:rPr>
              <a:t>[26] = { 0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str1array[26][N];</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str1arraySize[26] = { 0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[N];</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Initialize </a:t>
            </a:r>
            <a:r>
              <a:rPr lang="en-US" sz="2000" b="1" dirty="0" err="1">
                <a:solidFill>
                  <a:schemeClr val="bg1"/>
                </a:solidFill>
                <a:latin typeface="Nunito Sans" panose="020B0604020202020204" charset="0"/>
                <a:cs typeface="Courier New" panose="02070309020205020404" pitchFamily="49" charset="0"/>
              </a:rPr>
              <a:t>convertMap</a:t>
            </a:r>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0;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N;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-1;</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Filling str1array and </a:t>
            </a:r>
            <a:r>
              <a:rPr lang="en-US" sz="2000" b="1" dirty="0" err="1">
                <a:solidFill>
                  <a:schemeClr val="bg1"/>
                </a:solidFill>
                <a:latin typeface="Nunito Sans" panose="020B0604020202020204" charset="0"/>
                <a:cs typeface="Courier New" panose="02070309020205020404" pitchFamily="49" charset="0"/>
              </a:rPr>
              <a:t>convChar</a:t>
            </a:r>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0;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N;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str1array[str1[</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'a'][str1arraySize[str1[</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 =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97000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0;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N;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 Not possible to convert</a:t>
            </a:r>
          </a:p>
          <a:p>
            <a:r>
              <a:rPr lang="en-US" sz="2000" b="1" dirty="0">
                <a:solidFill>
                  <a:schemeClr val="bg1"/>
                </a:solidFill>
                <a:latin typeface="Nunito Sans" panose="020B0604020202020204" charset="0"/>
                <a:cs typeface="Courier New" panose="02070309020205020404" pitchFamily="49" charset="0"/>
              </a:rPr>
              <a:t>        if (str1[</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str2[</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printf</a:t>
            </a:r>
            <a:r>
              <a:rPr lang="en-US" sz="2000" b="1" dirty="0">
                <a:solidFill>
                  <a:schemeClr val="bg1"/>
                </a:solidFill>
                <a:latin typeface="Nunito Sans" panose="020B0604020202020204" charset="0"/>
                <a:cs typeface="Courier New" panose="02070309020205020404" pitchFamily="49" charset="0"/>
              </a:rPr>
              <a:t>("-1\n");</a:t>
            </a:r>
          </a:p>
          <a:p>
            <a:r>
              <a:rPr lang="en-US" sz="2000" b="1" dirty="0">
                <a:solidFill>
                  <a:schemeClr val="bg1"/>
                </a:solidFill>
                <a:latin typeface="Nunito Sans" panose="020B0604020202020204" charset="0"/>
                <a:cs typeface="Courier New" panose="02070309020205020404" pitchFamily="49" charset="0"/>
              </a:rPr>
              <a:t>            return;</a:t>
            </a:r>
          </a:p>
          <a:p>
            <a:r>
              <a:rPr lang="en-US" sz="2000" b="1" dirty="0">
                <a:solidFill>
                  <a:schemeClr val="bg1"/>
                </a:solidFill>
                <a:latin typeface="Nunito Sans" panose="020B0604020202020204" charset="0"/>
                <a:cs typeface="Courier New" panose="02070309020205020404" pitchFamily="49" charset="0"/>
              </a:rPr>
              <a:t>        } else if (str1[</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str2[</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continue;</a:t>
            </a:r>
          </a:p>
          <a:p>
            <a:r>
              <a:rPr lang="en-US" sz="2000" b="1" dirty="0">
                <a:solidFill>
                  <a:schemeClr val="bg1"/>
                </a:solidFill>
                <a:latin typeface="Nunito Sans" panose="020B0604020202020204" charset="0"/>
                <a:cs typeface="Courier New" panose="02070309020205020404" pitchFamily="49" charset="0"/>
              </a:rPr>
              <a:t>        } else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index = str2[</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[index][</a:t>
            </a:r>
            <a:r>
              <a:rPr lang="en-US" sz="2000" b="1" dirty="0" err="1">
                <a:solidFill>
                  <a:schemeClr val="bg1"/>
                </a:solidFill>
                <a:latin typeface="Nunito Sans" panose="020B0604020202020204" charset="0"/>
                <a:cs typeface="Courier New" panose="02070309020205020404" pitchFamily="49" charset="0"/>
              </a:rPr>
              <a:t>convCharSize</a:t>
            </a:r>
            <a:r>
              <a:rPr lang="en-US" sz="2000" b="1" dirty="0">
                <a:solidFill>
                  <a:schemeClr val="bg1"/>
                </a:solidFill>
                <a:latin typeface="Nunito Sans" panose="020B0604020202020204" charset="0"/>
                <a:cs typeface="Courier New" panose="02070309020205020404" pitchFamily="49" charset="0"/>
              </a:rPr>
              <a:t>[index]++] =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str2[</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Calculate result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ret = 0;</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retv</a:t>
            </a:r>
            <a:r>
              <a:rPr lang="en-US" sz="2000" b="1" dirty="0">
                <a:solidFill>
                  <a:schemeClr val="bg1"/>
                </a:solidFill>
                <a:latin typeface="Nunito Sans" panose="020B0604020202020204" charset="0"/>
                <a:cs typeface="Courier New" panose="02070309020205020404" pitchFamily="49" charset="0"/>
              </a:rPr>
              <a:t>[N][N];</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retvSize</a:t>
            </a:r>
            <a:r>
              <a:rPr lang="en-US" sz="2000" b="1" dirty="0">
                <a:solidFill>
                  <a:schemeClr val="bg1"/>
                </a:solidFill>
                <a:latin typeface="Nunito Sans" panose="020B0604020202020204" charset="0"/>
                <a:cs typeface="Courier New" panose="02070309020205020404" pitchFamily="49" charset="0"/>
              </a:rPr>
              <a:t> = 0;</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610242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25;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&gt;= 0;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v =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vSize</a:t>
            </a:r>
            <a:r>
              <a:rPr lang="en-US" sz="2000" b="1" dirty="0">
                <a:solidFill>
                  <a:schemeClr val="bg1"/>
                </a:solidFill>
                <a:latin typeface="Nunito Sans" panose="020B0604020202020204" charset="0"/>
                <a:cs typeface="Courier New" panose="02070309020205020404" pitchFamily="49" charset="0"/>
              </a:rPr>
              <a:t> = </a:t>
            </a:r>
            <a:r>
              <a:rPr lang="en-US" sz="2000" b="1" dirty="0" err="1">
                <a:solidFill>
                  <a:schemeClr val="bg1"/>
                </a:solidFill>
                <a:latin typeface="Nunito Sans" panose="020B0604020202020204" charset="0"/>
                <a:cs typeface="Courier New" panose="02070309020205020404" pitchFamily="49" charset="0"/>
              </a:rPr>
              <a:t>convCharSize</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if (</a:t>
            </a:r>
            <a:r>
              <a:rPr lang="en-US" sz="2000" b="1" dirty="0" err="1">
                <a:solidFill>
                  <a:schemeClr val="bg1"/>
                </a:solidFill>
                <a:latin typeface="Nunito Sans" panose="020B0604020202020204" charset="0"/>
                <a:cs typeface="Courier New" panose="02070309020205020404" pitchFamily="49" charset="0"/>
              </a:rPr>
              <a:t>vSize</a:t>
            </a:r>
            <a:r>
              <a:rPr lang="en-US" sz="2000" b="1" dirty="0">
                <a:solidFill>
                  <a:schemeClr val="bg1"/>
                </a:solidFill>
                <a:latin typeface="Nunito Sans" panose="020B0604020202020204" charset="0"/>
                <a:cs typeface="Courier New" panose="02070309020205020404" pitchFamily="49" charset="0"/>
              </a:rPr>
              <a:t> == 0)</a:t>
            </a:r>
          </a:p>
          <a:p>
            <a:r>
              <a:rPr lang="en-US" sz="2000" b="1" dirty="0">
                <a:solidFill>
                  <a:schemeClr val="bg1"/>
                </a:solidFill>
                <a:latin typeface="Nunito Sans" panose="020B0604020202020204" charset="0"/>
                <a:cs typeface="Courier New" panose="02070309020205020404" pitchFamily="49" charset="0"/>
              </a:rPr>
              <a:t>            continue;</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ret++;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v1 = str1array[</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v1Size = str1arraySize[</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if (v1Size == 0)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printf</a:t>
            </a:r>
            <a:r>
              <a:rPr lang="en-US" sz="2000" b="1" dirty="0">
                <a:solidFill>
                  <a:schemeClr val="bg1"/>
                </a:solidFill>
                <a:latin typeface="Nunito Sans" panose="020B0604020202020204" charset="0"/>
                <a:cs typeface="Courier New" panose="02070309020205020404" pitchFamily="49" charset="0"/>
              </a:rPr>
              <a:t>("-1\n");</a:t>
            </a:r>
          </a:p>
          <a:p>
            <a:r>
              <a:rPr lang="en-US" sz="2000" b="1" dirty="0">
                <a:solidFill>
                  <a:schemeClr val="bg1"/>
                </a:solidFill>
                <a:latin typeface="Nunito Sans" panose="020B0604020202020204" charset="0"/>
                <a:cs typeface="Courier New" panose="02070309020205020404" pitchFamily="49" charset="0"/>
              </a:rPr>
              <a:t>            return;</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0;</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j = 0; j &lt; v1Size; </a:t>
            </a:r>
            <a:r>
              <a:rPr lang="en-US" sz="2000" b="1" dirty="0" err="1">
                <a:solidFill>
                  <a:schemeClr val="bg1"/>
                </a:solidFill>
                <a:latin typeface="Nunito Sans" panose="020B0604020202020204" charset="0"/>
                <a:cs typeface="Courier New" panose="02070309020205020404" pitchFamily="49" charset="0"/>
              </a:rPr>
              <a:t>j++</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if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[v1[j]] != -1) {</a:t>
            </a:r>
          </a:p>
          <a:p>
            <a:r>
              <a:rPr lang="en-US" sz="2000" b="1" dirty="0">
                <a:solidFill>
                  <a:schemeClr val="bg1"/>
                </a:solidFill>
                <a:latin typeface="Nunito Sans" panose="020B0604020202020204" charset="0"/>
                <a:cs typeface="Courier New" panose="02070309020205020404" pitchFamily="49" charset="0"/>
              </a:rPr>
              <a:t>                char a =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[v1[j]];</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537325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if (a &gt;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a:t>
            </a:r>
          </a:p>
          <a:p>
            <a:r>
              <a:rPr lang="en-US" sz="2000" b="1" dirty="0">
                <a:solidFill>
                  <a:schemeClr val="bg1"/>
                </a:solidFill>
                <a:latin typeface="Nunito Sans" panose="020B0604020202020204" charset="0"/>
                <a:cs typeface="Courier New" panose="02070309020205020404" pitchFamily="49" charset="0"/>
              </a:rPr>
              <a:t>                    continue;</a:t>
            </a:r>
          </a:p>
          <a:p>
            <a:r>
              <a:rPr lang="en-US" sz="2000" b="1" dirty="0">
                <a:solidFill>
                  <a:schemeClr val="bg1"/>
                </a:solidFill>
                <a:latin typeface="Nunito Sans" panose="020B0604020202020204" charset="0"/>
                <a:cs typeface="Courier New" panose="02070309020205020404" pitchFamily="49" charset="0"/>
              </a:rPr>
              <a:t>                else {</a:t>
            </a:r>
          </a:p>
          <a:p>
            <a:r>
              <a:rPr lang="en-US" sz="2000" b="1" dirty="0">
                <a:solidFill>
                  <a:schemeClr val="bg1"/>
                </a:solidFill>
                <a:latin typeface="Nunito Sans" panose="020B0604020202020204" charset="0"/>
                <a:cs typeface="Courier New" panose="02070309020205020404" pitchFamily="49" charset="0"/>
              </a:rPr>
              <a:t>                    v[</a:t>
            </a:r>
            <a:r>
              <a:rPr lang="en-US" sz="2000" b="1" dirty="0" err="1">
                <a:solidFill>
                  <a:schemeClr val="bg1"/>
                </a:solidFill>
                <a:latin typeface="Nunito Sans" panose="020B0604020202020204" charset="0"/>
                <a:cs typeface="Courier New" panose="02070309020205020404" pitchFamily="49" charset="0"/>
              </a:rPr>
              <a:t>vSize</a:t>
            </a:r>
            <a:r>
              <a:rPr lang="en-US" sz="2000" b="1" dirty="0">
                <a:solidFill>
                  <a:schemeClr val="bg1"/>
                </a:solidFill>
                <a:latin typeface="Nunito Sans" panose="020B0604020202020204" charset="0"/>
                <a:cs typeface="Courier New" panose="02070309020205020404" pitchFamily="49" charset="0"/>
              </a:rPr>
              <a:t>++] = v1[j];</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1;</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memcpy</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retv</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retvSize</a:t>
            </a:r>
            <a:r>
              <a:rPr lang="en-US" sz="2000" b="1" dirty="0">
                <a:solidFill>
                  <a:schemeClr val="bg1"/>
                </a:solidFill>
                <a:latin typeface="Nunito Sans" panose="020B0604020202020204" charset="0"/>
                <a:cs typeface="Courier New" panose="02070309020205020404" pitchFamily="49" charset="0"/>
              </a:rPr>
              <a:t>++], v, </a:t>
            </a:r>
            <a:r>
              <a:rPr lang="en-US" sz="2000" b="1" dirty="0" err="1">
                <a:solidFill>
                  <a:schemeClr val="bg1"/>
                </a:solidFill>
                <a:latin typeface="Nunito Sans" panose="020B0604020202020204" charset="0"/>
                <a:cs typeface="Courier New" panose="02070309020205020404" pitchFamily="49" charset="0"/>
              </a:rPr>
              <a:t>vSize</a:t>
            </a:r>
            <a:r>
              <a:rPr lang="en-US" sz="2000" b="1" dirty="0">
                <a:solidFill>
                  <a:schemeClr val="bg1"/>
                </a:solidFill>
                <a:latin typeface="Nunito Sans" panose="020B0604020202020204" charset="0"/>
                <a:cs typeface="Courier New" panose="02070309020205020404" pitchFamily="49" charset="0"/>
              </a:rPr>
              <a:t> * </a:t>
            </a:r>
            <a:r>
              <a:rPr lang="en-US" sz="2000" b="1" dirty="0" err="1">
                <a:solidFill>
                  <a:schemeClr val="bg1"/>
                </a:solidFill>
                <a:latin typeface="Nunito Sans" panose="020B0604020202020204" charset="0"/>
                <a:cs typeface="Courier New" panose="02070309020205020404" pitchFamily="49" charset="0"/>
              </a:rPr>
              <a:t>sizeof</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break;</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 else {</a:t>
            </a:r>
          </a:p>
          <a:p>
            <a:r>
              <a:rPr lang="en-US" sz="2000" b="1" dirty="0">
                <a:solidFill>
                  <a:schemeClr val="bg1"/>
                </a:solidFill>
                <a:latin typeface="Nunito Sans" panose="020B0604020202020204" charset="0"/>
                <a:cs typeface="Courier New" panose="02070309020205020404" pitchFamily="49" charset="0"/>
              </a:rPr>
              <a:t>                v[</a:t>
            </a:r>
            <a:r>
              <a:rPr lang="en-US" sz="2000" b="1" dirty="0" err="1">
                <a:solidFill>
                  <a:schemeClr val="bg1"/>
                </a:solidFill>
                <a:latin typeface="Nunito Sans" panose="020B0604020202020204" charset="0"/>
                <a:cs typeface="Courier New" panose="02070309020205020404" pitchFamily="49" charset="0"/>
              </a:rPr>
              <a:t>vSize</a:t>
            </a:r>
            <a:r>
              <a:rPr lang="en-US" sz="2000" b="1" dirty="0">
                <a:solidFill>
                  <a:schemeClr val="bg1"/>
                </a:solidFill>
                <a:latin typeface="Nunito Sans" panose="020B0604020202020204" charset="0"/>
                <a:cs typeface="Courier New" panose="02070309020205020404" pitchFamily="49" charset="0"/>
              </a:rPr>
              <a:t>++] = v1[j];</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1;</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memcpy</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retv</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retvSize</a:t>
            </a:r>
            <a:r>
              <a:rPr lang="en-US" sz="2000" b="1" dirty="0">
                <a:solidFill>
                  <a:schemeClr val="bg1"/>
                </a:solidFill>
                <a:latin typeface="Nunito Sans" panose="020B0604020202020204" charset="0"/>
                <a:cs typeface="Courier New" panose="02070309020205020404" pitchFamily="49" charset="0"/>
              </a:rPr>
              <a:t>++], v, </a:t>
            </a:r>
            <a:r>
              <a:rPr lang="en-US" sz="2000" b="1" dirty="0" err="1">
                <a:solidFill>
                  <a:schemeClr val="bg1"/>
                </a:solidFill>
                <a:latin typeface="Nunito Sans" panose="020B0604020202020204" charset="0"/>
                <a:cs typeface="Courier New" panose="02070309020205020404" pitchFamily="49" charset="0"/>
              </a:rPr>
              <a:t>vSize</a:t>
            </a:r>
            <a:r>
              <a:rPr lang="en-US" sz="2000" b="1" dirty="0">
                <a:solidFill>
                  <a:schemeClr val="bg1"/>
                </a:solidFill>
                <a:latin typeface="Nunito Sans" panose="020B0604020202020204" charset="0"/>
                <a:cs typeface="Courier New" panose="02070309020205020404" pitchFamily="49" charset="0"/>
              </a:rPr>
              <a:t> * </a:t>
            </a:r>
            <a:r>
              <a:rPr lang="en-US" sz="2000" b="1" dirty="0" err="1">
                <a:solidFill>
                  <a:schemeClr val="bg1"/>
                </a:solidFill>
                <a:latin typeface="Nunito Sans" panose="020B0604020202020204" charset="0"/>
                <a:cs typeface="Courier New" panose="02070309020205020404" pitchFamily="49" charset="0"/>
              </a:rPr>
              <a:t>sizeof</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break;</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if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printf</a:t>
            </a:r>
            <a:r>
              <a:rPr lang="en-US" sz="2000" b="1" dirty="0">
                <a:solidFill>
                  <a:schemeClr val="bg1"/>
                </a:solidFill>
                <a:latin typeface="Nunito Sans" panose="020B0604020202020204" charset="0"/>
                <a:cs typeface="Courier New" panose="02070309020205020404" pitchFamily="49" charset="0"/>
              </a:rPr>
              <a:t>("-1\n");</a:t>
            </a:r>
          </a:p>
          <a:p>
            <a:r>
              <a:rPr lang="en-US" sz="2000" b="1" dirty="0">
                <a:solidFill>
                  <a:schemeClr val="bg1"/>
                </a:solidFill>
                <a:latin typeface="Nunito Sans" panose="020B0604020202020204" charset="0"/>
                <a:cs typeface="Courier New" panose="02070309020205020404" pitchFamily="49" charset="0"/>
              </a:rPr>
              <a:t>            return;</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943968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err="1">
                <a:solidFill>
                  <a:schemeClr val="bg1"/>
                </a:solidFill>
                <a:latin typeface="Nunito Sans" panose="020B0604020202020204" charset="0"/>
                <a:cs typeface="Courier New" panose="02070309020205020404" pitchFamily="49" charset="0"/>
              </a:rPr>
              <a:t>printf</a:t>
            </a:r>
            <a:r>
              <a:rPr lang="en-US" sz="2000" b="1" dirty="0">
                <a:solidFill>
                  <a:schemeClr val="bg1"/>
                </a:solidFill>
                <a:latin typeface="Nunito Sans" panose="020B0604020202020204" charset="0"/>
                <a:cs typeface="Courier New" panose="02070309020205020404" pitchFamily="49" charset="0"/>
              </a:rPr>
              <a:t>("%d\n", ret);</a:t>
            </a:r>
          </a:p>
          <a:p>
            <a:r>
              <a:rPr lang="en-US" sz="2000" b="1" dirty="0">
                <a:solidFill>
                  <a:schemeClr val="bg1"/>
                </a:solidFill>
                <a:latin typeface="Nunito Sans" panose="020B0604020202020204" charset="0"/>
                <a:cs typeface="Courier New" panose="02070309020205020404" pitchFamily="49" charset="0"/>
              </a:rPr>
              <a:t>}</a:t>
            </a:r>
          </a:p>
          <a:p>
            <a:endParaRPr lang="en-US" sz="2000" b="1" dirty="0">
              <a:solidFill>
                <a:schemeClr val="bg1"/>
              </a:solidFill>
              <a:latin typeface="Nunito Sans" panose="020B0604020202020204" charset="0"/>
              <a:cs typeface="Courier New" panose="02070309020205020404" pitchFamily="49" charset="0"/>
            </a:endParaRPr>
          </a:p>
          <a:p>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main()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N;</a:t>
            </a:r>
          </a:p>
          <a:p>
            <a:r>
              <a:rPr lang="en-US" sz="2000" b="1" dirty="0">
                <a:solidFill>
                  <a:schemeClr val="bg1"/>
                </a:solidFill>
                <a:latin typeface="Nunito Sans" panose="020B0604020202020204" charset="0"/>
                <a:cs typeface="Courier New" panose="02070309020205020404" pitchFamily="49" charset="0"/>
              </a:rPr>
              <a:t>    char A[1000], B[1000];</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Read the input values</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scanf</a:t>
            </a:r>
            <a:r>
              <a:rPr lang="en-US" sz="2000" b="1" dirty="0">
                <a:solidFill>
                  <a:schemeClr val="bg1"/>
                </a:solidFill>
                <a:latin typeface="Nunito Sans" panose="020B0604020202020204" charset="0"/>
                <a:cs typeface="Courier New" panose="02070309020205020404" pitchFamily="49" charset="0"/>
              </a:rPr>
              <a:t>("%d", &amp;N);</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scanf</a:t>
            </a:r>
            <a:r>
              <a:rPr lang="en-US" sz="2000" b="1" dirty="0">
                <a:solidFill>
                  <a:schemeClr val="bg1"/>
                </a:solidFill>
                <a:latin typeface="Nunito Sans" panose="020B0604020202020204" charset="0"/>
                <a:cs typeface="Courier New" panose="02070309020205020404" pitchFamily="49" charset="0"/>
              </a:rPr>
              <a:t>("%s", A);</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scanf</a:t>
            </a:r>
            <a:r>
              <a:rPr lang="en-US" sz="2000" b="1" dirty="0">
                <a:solidFill>
                  <a:schemeClr val="bg1"/>
                </a:solidFill>
                <a:latin typeface="Nunito Sans" panose="020B0604020202020204" charset="0"/>
                <a:cs typeface="Courier New" panose="02070309020205020404" pitchFamily="49" charset="0"/>
              </a:rPr>
              <a:t>("%s", B);</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transformString</a:t>
            </a:r>
            <a:r>
              <a:rPr lang="en-US" sz="2000" b="1" dirty="0">
                <a:solidFill>
                  <a:schemeClr val="bg1"/>
                </a:solidFill>
                <a:latin typeface="Nunito Sans" panose="020B0604020202020204" charset="0"/>
                <a:cs typeface="Courier New" panose="02070309020205020404" pitchFamily="49" charset="0"/>
              </a:rPr>
              <a:t>(A, B);</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return 0;</a:t>
            </a:r>
          </a:p>
          <a:p>
            <a:r>
              <a:rPr lang="en-US" sz="2000" b="1" dirty="0">
                <a:solidFill>
                  <a:schemeClr val="bg1"/>
                </a:solidFill>
                <a:latin typeface="Nunito Sans" panose="020B0604020202020204" charset="0"/>
                <a:cs typeface="Courier New" panose="02070309020205020404" pitchFamily="49" charset="0"/>
              </a:rPr>
              <a:t>}</a:t>
            </a:r>
          </a:p>
          <a:p>
            <a:endParaRPr lang="en-US" sz="2000" b="1" dirty="0">
              <a:solidFill>
                <a:schemeClr val="bg1"/>
              </a:solidFill>
              <a:latin typeface="Nunito Sans" panose="020B060402020202020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668888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charset="0"/>
              </a:rPr>
              <a:t>#include &lt;bits/</a:t>
            </a:r>
            <a:r>
              <a:rPr lang="en-US" sz="2000" dirty="0" err="1">
                <a:latin typeface="Nunito Sans" panose="020B0604020202020204" charset="0"/>
              </a:rPr>
              <a:t>stdc</a:t>
            </a:r>
            <a:r>
              <a:rPr lang="en-US" sz="2000" dirty="0">
                <a:latin typeface="Nunito Sans" panose="020B0604020202020204" charset="0"/>
              </a:rPr>
              <a:t>++.h&gt;</a:t>
            </a:r>
          </a:p>
          <a:p>
            <a:r>
              <a:rPr lang="en-US" sz="2000" dirty="0">
                <a:latin typeface="Nunito Sans" panose="020B0604020202020204" charset="0"/>
              </a:rPr>
              <a:t>using namespace </a:t>
            </a:r>
            <a:r>
              <a:rPr lang="en-US" sz="2000" dirty="0" err="1">
                <a:latin typeface="Nunito Sans" panose="020B0604020202020204" charset="0"/>
              </a:rPr>
              <a:t>std</a:t>
            </a:r>
            <a:r>
              <a:rPr lang="en-US" sz="2000" dirty="0">
                <a:latin typeface="Nunito Sans" panose="020B0604020202020204" charset="0"/>
              </a:rPr>
              <a:t>;</a:t>
            </a:r>
          </a:p>
          <a:p>
            <a:r>
              <a:rPr lang="en-US" sz="2000" dirty="0">
                <a:latin typeface="Nunito Sans" panose="020B0604020202020204" charset="0"/>
              </a:rPr>
              <a:t>void </a:t>
            </a:r>
            <a:r>
              <a:rPr lang="en-US" sz="2000" dirty="0" err="1">
                <a:latin typeface="Nunito Sans" panose="020B0604020202020204" charset="0"/>
              </a:rPr>
              <a:t>transformString</a:t>
            </a:r>
            <a:r>
              <a:rPr lang="en-US" sz="2000" dirty="0">
                <a:latin typeface="Nunito Sans" panose="020B0604020202020204" charset="0"/>
              </a:rPr>
              <a:t>(string str1,string str2)</a:t>
            </a:r>
          </a:p>
          <a:p>
            <a:r>
              <a:rPr lang="en-US" sz="2000" dirty="0">
                <a:latin typeface="Nunito Sans" panose="020B0604020202020204" charset="0"/>
              </a:rPr>
              <a:t>{</a:t>
            </a:r>
          </a:p>
          <a:p>
            <a:r>
              <a:rPr lang="en-US" sz="2000" dirty="0">
                <a:latin typeface="Nunito Sans" panose="020B0604020202020204" charset="0"/>
              </a:rPr>
              <a:t>    </a:t>
            </a:r>
            <a:r>
              <a:rPr lang="en-US" sz="2000" dirty="0" err="1">
                <a:latin typeface="Nunito Sans" panose="020B0604020202020204" charset="0"/>
              </a:rPr>
              <a:t>int</a:t>
            </a:r>
            <a:r>
              <a:rPr lang="en-US" sz="2000" dirty="0">
                <a:latin typeface="Nunito Sans" panose="020B0604020202020204" charset="0"/>
              </a:rPr>
              <a:t> N = str1.length();</a:t>
            </a:r>
          </a:p>
          <a:p>
            <a:r>
              <a:rPr lang="en-US" sz="2000" dirty="0">
                <a:latin typeface="Nunito Sans" panose="020B0604020202020204" charset="0"/>
              </a:rPr>
              <a:t>    vector&lt;</a:t>
            </a:r>
            <a:r>
              <a:rPr lang="en-US" sz="2000" dirty="0" err="1">
                <a:latin typeface="Nunito Sans" panose="020B0604020202020204" charset="0"/>
              </a:rPr>
              <a:t>int</a:t>
            </a:r>
            <a:r>
              <a:rPr lang="en-US" sz="2000" dirty="0">
                <a:latin typeface="Nunito Sans" panose="020B0604020202020204" charset="0"/>
              </a:rPr>
              <a:t>&gt; </a:t>
            </a:r>
            <a:r>
              <a:rPr lang="en-US" sz="2000" dirty="0" err="1">
                <a:latin typeface="Nunito Sans" panose="020B0604020202020204" charset="0"/>
              </a:rPr>
              <a:t>convChar</a:t>
            </a:r>
            <a:r>
              <a:rPr lang="en-US" sz="2000" dirty="0">
                <a:latin typeface="Nunito Sans" panose="020B0604020202020204" charset="0"/>
              </a:rPr>
              <a:t>[26];</a:t>
            </a:r>
          </a:p>
          <a:p>
            <a:r>
              <a:rPr lang="en-US" sz="2000" dirty="0">
                <a:latin typeface="Nunito Sans" panose="020B0604020202020204" charset="0"/>
              </a:rPr>
              <a:t>    vector&lt;</a:t>
            </a:r>
            <a:r>
              <a:rPr lang="en-US" sz="2000" dirty="0" err="1">
                <a:latin typeface="Nunito Sans" panose="020B0604020202020204" charset="0"/>
              </a:rPr>
              <a:t>int</a:t>
            </a:r>
            <a:r>
              <a:rPr lang="en-US" sz="2000" dirty="0">
                <a:latin typeface="Nunito Sans" panose="020B0604020202020204" charset="0"/>
              </a:rPr>
              <a:t>&gt; str1array[26];</a:t>
            </a:r>
          </a:p>
          <a:p>
            <a:r>
              <a:rPr lang="en-US" sz="2000" dirty="0">
                <a:latin typeface="Nunito Sans" panose="020B0604020202020204" charset="0"/>
              </a:rPr>
              <a:t>    // Initialize both arrays</a:t>
            </a:r>
          </a:p>
          <a:p>
            <a:r>
              <a:rPr lang="en-US" sz="2000" dirty="0">
                <a:latin typeface="Nunito Sans" panose="020B0604020202020204" charset="0"/>
              </a:rPr>
              <a:t>    for (</a:t>
            </a:r>
            <a:r>
              <a:rPr lang="en-US" sz="2000" dirty="0" err="1">
                <a:latin typeface="Nunito Sans" panose="020B0604020202020204" charset="0"/>
              </a:rPr>
              <a:t>int</a:t>
            </a:r>
            <a:r>
              <a:rPr lang="en-US" sz="2000" dirty="0">
                <a:latin typeface="Nunito Sans" panose="020B0604020202020204" charset="0"/>
              </a:rPr>
              <a:t> </a:t>
            </a:r>
            <a:r>
              <a:rPr lang="en-US" sz="2000" dirty="0" err="1">
                <a:latin typeface="Nunito Sans" panose="020B0604020202020204" charset="0"/>
              </a:rPr>
              <a:t>i</a:t>
            </a:r>
            <a:r>
              <a:rPr lang="en-US" sz="2000" dirty="0">
                <a:latin typeface="Nunito Sans" panose="020B0604020202020204" charset="0"/>
              </a:rPr>
              <a:t> = 0; </a:t>
            </a:r>
            <a:r>
              <a:rPr lang="en-US" sz="2000" dirty="0" err="1">
                <a:latin typeface="Nunito Sans" panose="020B0604020202020204" charset="0"/>
              </a:rPr>
              <a:t>i</a:t>
            </a:r>
            <a:r>
              <a:rPr lang="en-US" sz="2000" dirty="0">
                <a:latin typeface="Nunito Sans" panose="020B0604020202020204" charset="0"/>
              </a:rPr>
              <a:t> &lt; 26; </a:t>
            </a:r>
            <a:r>
              <a:rPr lang="en-US" sz="2000" dirty="0" err="1">
                <a:latin typeface="Nunito Sans" panose="020B0604020202020204" charset="0"/>
              </a:rPr>
              <a:t>i</a:t>
            </a:r>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vector&lt;</a:t>
            </a:r>
            <a:r>
              <a:rPr lang="en-US" sz="2000" dirty="0" err="1">
                <a:latin typeface="Nunito Sans" panose="020B0604020202020204" charset="0"/>
              </a:rPr>
              <a:t>int</a:t>
            </a:r>
            <a:r>
              <a:rPr lang="en-US" sz="2000" dirty="0">
                <a:latin typeface="Nunito Sans" panose="020B0604020202020204" charset="0"/>
              </a:rPr>
              <a:t>&gt; v;</a:t>
            </a:r>
          </a:p>
          <a:p>
            <a:r>
              <a:rPr lang="en-US" sz="2000" dirty="0">
                <a:latin typeface="Nunito Sans" panose="020B0604020202020204" charset="0"/>
              </a:rPr>
              <a:t>        </a:t>
            </a:r>
            <a:r>
              <a:rPr lang="en-US" sz="2000" dirty="0" err="1">
                <a:latin typeface="Nunito Sans" panose="020B0604020202020204" charset="0"/>
              </a:rPr>
              <a:t>convChar</a:t>
            </a:r>
            <a:r>
              <a:rPr lang="en-US" sz="2000" dirty="0">
                <a:latin typeface="Nunito Sans" panose="020B0604020202020204" charset="0"/>
              </a:rPr>
              <a:t>[</a:t>
            </a:r>
            <a:r>
              <a:rPr lang="en-US" sz="2000" dirty="0" err="1">
                <a:latin typeface="Nunito Sans" panose="020B0604020202020204" charset="0"/>
              </a:rPr>
              <a:t>i</a:t>
            </a:r>
            <a:r>
              <a:rPr lang="en-US" sz="2000" dirty="0">
                <a:latin typeface="Nunito Sans" panose="020B0604020202020204" charset="0"/>
              </a:rPr>
              <a:t>] = v;</a:t>
            </a:r>
          </a:p>
          <a:p>
            <a:r>
              <a:rPr lang="en-US" sz="2000" dirty="0">
                <a:latin typeface="Nunito Sans" panose="020B0604020202020204" charset="0"/>
              </a:rPr>
              <a:t>        str1array[</a:t>
            </a:r>
            <a:r>
              <a:rPr lang="en-US" sz="2000" dirty="0" err="1">
                <a:latin typeface="Nunito Sans" panose="020B0604020202020204" charset="0"/>
              </a:rPr>
              <a:t>i</a:t>
            </a:r>
            <a:r>
              <a:rPr lang="en-US" sz="2000" dirty="0">
                <a:latin typeface="Nunito Sans" panose="020B0604020202020204" charset="0"/>
              </a:rPr>
              <a:t>] = v;</a:t>
            </a:r>
          </a:p>
          <a:p>
            <a:r>
              <a:rPr lang="en-US" sz="2000" dirty="0">
                <a:latin typeface="Nunito Sans" panose="020B0604020202020204" charset="0"/>
              </a:rPr>
              <a:t>    }</a:t>
            </a:r>
          </a:p>
          <a:p>
            <a:r>
              <a:rPr lang="en-US" sz="2000" dirty="0">
                <a:latin typeface="Nunito Sans" panose="020B0604020202020204" charset="0"/>
              </a:rPr>
              <a:t>    // Stores the index of character</a:t>
            </a:r>
          </a:p>
          <a:p>
            <a:r>
              <a:rPr lang="en-US" sz="2000" dirty="0">
                <a:latin typeface="Nunito Sans" panose="020B0604020202020204" charset="0"/>
              </a:rPr>
              <a:t>    map&lt;</a:t>
            </a:r>
            <a:r>
              <a:rPr lang="en-US" sz="2000" dirty="0" err="1">
                <a:latin typeface="Nunito Sans" panose="020B0604020202020204" charset="0"/>
              </a:rPr>
              <a:t>int</a:t>
            </a:r>
            <a:r>
              <a:rPr lang="en-US" sz="2000" dirty="0">
                <a:latin typeface="Nunito Sans" panose="020B0604020202020204" charset="0"/>
              </a:rPr>
              <a:t>, char&gt; </a:t>
            </a:r>
            <a:r>
              <a:rPr lang="en-US" sz="2000" dirty="0" err="1">
                <a:latin typeface="Nunito Sans" panose="020B0604020202020204" charset="0"/>
              </a:rPr>
              <a:t>convertMap</a:t>
            </a:r>
            <a:r>
              <a:rPr lang="en-US" sz="2000" dirty="0">
                <a:latin typeface="Nunito Sans" panose="020B0604020202020204" charset="0"/>
              </a:rPr>
              <a:t>;</a:t>
            </a:r>
          </a:p>
          <a:p>
            <a:r>
              <a:rPr lang="en-US" sz="2000" dirty="0">
                <a:latin typeface="Nunito Sans" panose="020B0604020202020204" charset="0"/>
              </a:rPr>
              <a:t>    // Filling str1array, </a:t>
            </a:r>
            <a:r>
              <a:rPr lang="en-US" sz="2000" dirty="0" err="1">
                <a:latin typeface="Nunito Sans" panose="020B0604020202020204" charset="0"/>
              </a:rPr>
              <a:t>convChar</a:t>
            </a:r>
            <a:endParaRPr lang="en-US" sz="2000" dirty="0">
              <a:latin typeface="Nunito Sans" panose="020B0604020202020204" charset="0"/>
            </a:endParaRPr>
          </a:p>
          <a:p>
            <a:r>
              <a:rPr lang="en-US" sz="2000" dirty="0">
                <a:latin typeface="Nunito Sans" panose="020B0604020202020204" charset="0"/>
              </a:rPr>
              <a:t>    // and </a:t>
            </a:r>
            <a:r>
              <a:rPr lang="en-US" sz="2000" dirty="0" err="1">
                <a:latin typeface="Nunito Sans" panose="020B0604020202020204" charset="0"/>
              </a:rPr>
              <a:t>hashmap</a:t>
            </a:r>
            <a:r>
              <a:rPr lang="en-US" sz="2000" dirty="0">
                <a:latin typeface="Nunito Sans" panose="020B0604020202020204" charset="0"/>
              </a:rPr>
              <a:t> </a:t>
            </a:r>
            <a:r>
              <a:rPr lang="en-US" sz="2000" dirty="0" err="1">
                <a:latin typeface="Nunito Sans" panose="020B0604020202020204" charset="0"/>
              </a:rPr>
              <a:t>convertMap</a:t>
            </a:r>
            <a:r>
              <a:rPr lang="en-US" sz="2000" dirty="0">
                <a:latin typeface="Nunito Sans" panose="020B0604020202020204" charset="0"/>
              </a:rPr>
              <a:t>.</a:t>
            </a:r>
          </a:p>
          <a:p>
            <a:r>
              <a:rPr lang="en-US" sz="2000" dirty="0">
                <a:latin typeface="Nunito Sans" panose="020B0604020202020204" charset="0"/>
              </a:rPr>
              <a:t>    for (</a:t>
            </a:r>
            <a:r>
              <a:rPr lang="en-US" sz="2000" dirty="0" err="1">
                <a:latin typeface="Nunito Sans" panose="020B0604020202020204" charset="0"/>
              </a:rPr>
              <a:t>int</a:t>
            </a:r>
            <a:r>
              <a:rPr lang="en-US" sz="2000" dirty="0">
                <a:latin typeface="Nunito Sans" panose="020B0604020202020204" charset="0"/>
              </a:rPr>
              <a:t> </a:t>
            </a:r>
            <a:r>
              <a:rPr lang="en-US" sz="2000" dirty="0" err="1">
                <a:latin typeface="Nunito Sans" panose="020B0604020202020204" charset="0"/>
              </a:rPr>
              <a:t>i</a:t>
            </a:r>
            <a:r>
              <a:rPr lang="en-US" sz="2000" dirty="0">
                <a:latin typeface="Nunito Sans" panose="020B0604020202020204" charset="0"/>
              </a:rPr>
              <a:t> = 0; </a:t>
            </a:r>
            <a:r>
              <a:rPr lang="en-US" sz="2000" dirty="0" err="1">
                <a:latin typeface="Nunito Sans" panose="020B0604020202020204" charset="0"/>
              </a:rPr>
              <a:t>i</a:t>
            </a:r>
            <a:r>
              <a:rPr lang="en-US" sz="2000" dirty="0">
                <a:latin typeface="Nunito Sans" panose="020B0604020202020204" charset="0"/>
              </a:rPr>
              <a:t> &lt; N; </a:t>
            </a:r>
            <a:r>
              <a:rPr lang="en-US" sz="2000" dirty="0" err="1">
                <a:latin typeface="Nunito Sans" panose="020B0604020202020204" charset="0"/>
              </a:rPr>
              <a:t>i</a:t>
            </a:r>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str1array[str1[</a:t>
            </a:r>
            <a:r>
              <a:rPr lang="en-US" sz="2000" dirty="0" err="1">
                <a:latin typeface="Nunito Sans" panose="020B0604020202020204" charset="0"/>
              </a:rPr>
              <a:t>i</a:t>
            </a:r>
            <a:r>
              <a:rPr lang="en-US" sz="2000" dirty="0">
                <a:latin typeface="Nunito Sans" panose="020B0604020202020204" charset="0"/>
              </a:rPr>
              <a:t>] - 'a'].</a:t>
            </a:r>
            <a:r>
              <a:rPr lang="en-US" sz="2000" dirty="0" err="1">
                <a:latin typeface="Nunito Sans" panose="020B0604020202020204" charset="0"/>
              </a:rPr>
              <a:t>push_back</a:t>
            </a:r>
            <a:r>
              <a:rPr lang="en-US" sz="2000" dirty="0">
                <a:latin typeface="Nunito Sans" panose="020B0604020202020204" charset="0"/>
              </a:rPr>
              <a:t>(</a:t>
            </a:r>
            <a:r>
              <a:rPr lang="en-US" sz="2000" dirty="0" err="1">
                <a:latin typeface="Nunito Sans" panose="020B0604020202020204" charset="0"/>
              </a:rPr>
              <a:t>i</a:t>
            </a:r>
            <a:r>
              <a:rPr lang="en-US" sz="2000" dirty="0">
                <a:latin typeface="Nunito Sans" panose="020B0604020202020204" charset="0"/>
              </a:rPr>
              <a:t>);</a:t>
            </a:r>
          </a:p>
          <a:p>
            <a:r>
              <a:rPr lang="en-US" sz="2000" dirty="0">
                <a:latin typeface="Nunito Sans" panose="020B0604020202020204" charset="0"/>
              </a:rPr>
              <a:t>    }</a:t>
            </a:r>
          </a:p>
          <a:p>
            <a:endParaRPr lang="en-US" sz="2000" b="1" dirty="0">
              <a:solidFill>
                <a:schemeClr val="bg1"/>
              </a:solidFill>
              <a:latin typeface="Nunito Sans" panose="020B060402020202020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53350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charset="0"/>
              </a:rPr>
              <a:t>for (</a:t>
            </a:r>
            <a:r>
              <a:rPr lang="en-US" sz="2000" dirty="0" err="1">
                <a:latin typeface="Nunito Sans" panose="020B0604020202020204" charset="0"/>
              </a:rPr>
              <a:t>int</a:t>
            </a:r>
            <a:r>
              <a:rPr lang="en-US" sz="2000" dirty="0">
                <a:latin typeface="Nunito Sans" panose="020B0604020202020204" charset="0"/>
              </a:rPr>
              <a:t> </a:t>
            </a:r>
            <a:r>
              <a:rPr lang="en-US" sz="2000" dirty="0" err="1">
                <a:latin typeface="Nunito Sans" panose="020B0604020202020204" charset="0"/>
              </a:rPr>
              <a:t>i</a:t>
            </a:r>
            <a:r>
              <a:rPr lang="en-US" sz="2000" dirty="0">
                <a:latin typeface="Nunito Sans" panose="020B0604020202020204" charset="0"/>
              </a:rPr>
              <a:t> = 0; </a:t>
            </a:r>
            <a:r>
              <a:rPr lang="en-US" sz="2000" dirty="0" err="1">
                <a:latin typeface="Nunito Sans" panose="020B0604020202020204" charset="0"/>
              </a:rPr>
              <a:t>i</a:t>
            </a:r>
            <a:r>
              <a:rPr lang="en-US" sz="2000" dirty="0">
                <a:latin typeface="Nunito Sans" panose="020B0604020202020204" charset="0"/>
              </a:rPr>
              <a:t> &lt; N; </a:t>
            </a:r>
            <a:r>
              <a:rPr lang="en-US" sz="2000" dirty="0" err="1">
                <a:latin typeface="Nunito Sans" panose="020B0604020202020204" charset="0"/>
              </a:rPr>
              <a:t>i</a:t>
            </a:r>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 Not possible to convert</a:t>
            </a:r>
          </a:p>
          <a:p>
            <a:r>
              <a:rPr lang="en-US" sz="2000" dirty="0">
                <a:latin typeface="Nunito Sans" panose="020B0604020202020204" charset="0"/>
              </a:rPr>
              <a:t>        if (str1[</a:t>
            </a:r>
            <a:r>
              <a:rPr lang="en-US" sz="2000" dirty="0" err="1">
                <a:latin typeface="Nunito Sans" panose="020B0604020202020204" charset="0"/>
              </a:rPr>
              <a:t>i</a:t>
            </a:r>
            <a:r>
              <a:rPr lang="en-US" sz="2000" dirty="0">
                <a:latin typeface="Nunito Sans" panose="020B0604020202020204" charset="0"/>
              </a:rPr>
              <a:t>] &lt; str2[</a:t>
            </a:r>
            <a:r>
              <a:rPr lang="en-US" sz="2000" dirty="0" err="1">
                <a:latin typeface="Nunito Sans" panose="020B0604020202020204" charset="0"/>
              </a:rPr>
              <a:t>i</a:t>
            </a:r>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a:t>
            </a:r>
            <a:r>
              <a:rPr lang="en-US" sz="2000" dirty="0" err="1">
                <a:latin typeface="Nunito Sans" panose="020B0604020202020204" charset="0"/>
              </a:rPr>
              <a:t>cout</a:t>
            </a:r>
            <a:r>
              <a:rPr lang="en-US" sz="2000" dirty="0">
                <a:latin typeface="Nunito Sans" panose="020B0604020202020204" charset="0"/>
              </a:rPr>
              <a:t> &lt;&lt; -1 &lt;&lt; </a:t>
            </a:r>
            <a:r>
              <a:rPr lang="en-US" sz="2000" dirty="0" err="1">
                <a:latin typeface="Nunito Sans" panose="020B0604020202020204" charset="0"/>
              </a:rPr>
              <a:t>endl</a:t>
            </a:r>
            <a:r>
              <a:rPr lang="en-US" sz="2000" dirty="0">
                <a:latin typeface="Nunito Sans" panose="020B0604020202020204" charset="0"/>
              </a:rPr>
              <a:t>;</a:t>
            </a:r>
          </a:p>
          <a:p>
            <a:r>
              <a:rPr lang="en-US" sz="2000" dirty="0">
                <a:latin typeface="Nunito Sans" panose="020B0604020202020204" charset="0"/>
              </a:rPr>
              <a:t>            return;</a:t>
            </a:r>
          </a:p>
          <a:p>
            <a:r>
              <a:rPr lang="en-US" sz="2000" dirty="0">
                <a:latin typeface="Nunito Sans" panose="020B0604020202020204" charset="0"/>
              </a:rPr>
              <a:t>        }</a:t>
            </a:r>
          </a:p>
          <a:p>
            <a:r>
              <a:rPr lang="en-US" sz="2000" dirty="0">
                <a:latin typeface="Nunito Sans" panose="020B0604020202020204" charset="0"/>
              </a:rPr>
              <a:t>        else if (str1[</a:t>
            </a:r>
            <a:r>
              <a:rPr lang="en-US" sz="2000" dirty="0" err="1">
                <a:latin typeface="Nunito Sans" panose="020B0604020202020204" charset="0"/>
              </a:rPr>
              <a:t>i</a:t>
            </a:r>
            <a:r>
              <a:rPr lang="en-US" sz="2000" dirty="0">
                <a:latin typeface="Nunito Sans" panose="020B0604020202020204" charset="0"/>
              </a:rPr>
              <a:t>] == str2[</a:t>
            </a:r>
            <a:r>
              <a:rPr lang="en-US" sz="2000" dirty="0" err="1">
                <a:latin typeface="Nunito Sans" panose="020B0604020202020204" charset="0"/>
              </a:rPr>
              <a:t>i</a:t>
            </a:r>
            <a:r>
              <a:rPr lang="en-US" sz="2000" dirty="0">
                <a:latin typeface="Nunito Sans" panose="020B0604020202020204" charset="0"/>
              </a:rPr>
              <a:t>])</a:t>
            </a:r>
          </a:p>
          <a:p>
            <a:r>
              <a:rPr lang="en-US" sz="2000" dirty="0">
                <a:latin typeface="Nunito Sans" panose="020B0604020202020204" charset="0"/>
              </a:rPr>
              <a:t>            continue;</a:t>
            </a:r>
          </a:p>
          <a:p>
            <a:r>
              <a:rPr lang="en-US" sz="2000" dirty="0">
                <a:latin typeface="Nunito Sans" panose="020B0604020202020204" charset="0"/>
              </a:rPr>
              <a:t>        else </a:t>
            </a:r>
          </a:p>
          <a:p>
            <a:r>
              <a:rPr lang="en-US" sz="2000" dirty="0">
                <a:latin typeface="Nunito Sans" panose="020B0604020202020204" charset="0"/>
              </a:rPr>
              <a:t>        {</a:t>
            </a:r>
          </a:p>
          <a:p>
            <a:r>
              <a:rPr lang="en-US" sz="2000" dirty="0">
                <a:latin typeface="Nunito Sans" panose="020B0604020202020204" charset="0"/>
              </a:rPr>
              <a:t>            </a:t>
            </a:r>
            <a:r>
              <a:rPr lang="en-US" sz="2000" dirty="0" err="1">
                <a:latin typeface="Nunito Sans" panose="020B0604020202020204" charset="0"/>
              </a:rPr>
              <a:t>convChar</a:t>
            </a:r>
            <a:r>
              <a:rPr lang="en-US" sz="2000" dirty="0">
                <a:latin typeface="Nunito Sans" panose="020B0604020202020204" charset="0"/>
              </a:rPr>
              <a:t>[str2[</a:t>
            </a:r>
            <a:r>
              <a:rPr lang="en-US" sz="2000" dirty="0" err="1">
                <a:latin typeface="Nunito Sans" panose="020B0604020202020204" charset="0"/>
              </a:rPr>
              <a:t>i</a:t>
            </a:r>
            <a:r>
              <a:rPr lang="en-US" sz="2000" dirty="0">
                <a:latin typeface="Nunito Sans" panose="020B0604020202020204" charset="0"/>
              </a:rPr>
              <a:t>] - 'a'].</a:t>
            </a:r>
            <a:r>
              <a:rPr lang="en-US" sz="2000" dirty="0" err="1">
                <a:latin typeface="Nunito Sans" panose="020B0604020202020204" charset="0"/>
              </a:rPr>
              <a:t>push_back</a:t>
            </a:r>
            <a:r>
              <a:rPr lang="en-US" sz="2000" dirty="0">
                <a:latin typeface="Nunito Sans" panose="020B0604020202020204" charset="0"/>
              </a:rPr>
              <a:t>(</a:t>
            </a:r>
            <a:r>
              <a:rPr lang="en-US" sz="2000" dirty="0" err="1">
                <a:latin typeface="Nunito Sans" panose="020B0604020202020204" charset="0"/>
              </a:rPr>
              <a:t>i</a:t>
            </a:r>
            <a:r>
              <a:rPr lang="en-US" sz="2000" dirty="0">
                <a:latin typeface="Nunito Sans" panose="020B0604020202020204" charset="0"/>
              </a:rPr>
              <a:t>);</a:t>
            </a:r>
          </a:p>
          <a:p>
            <a:r>
              <a:rPr lang="en-US" sz="2000" dirty="0">
                <a:latin typeface="Nunito Sans" panose="020B0604020202020204" charset="0"/>
              </a:rPr>
              <a:t>            </a:t>
            </a:r>
            <a:r>
              <a:rPr lang="en-US" sz="2000" dirty="0" err="1">
                <a:latin typeface="Nunito Sans" panose="020B0604020202020204" charset="0"/>
              </a:rPr>
              <a:t>convertMap</a:t>
            </a:r>
            <a:r>
              <a:rPr lang="en-US" sz="2000" dirty="0">
                <a:latin typeface="Nunito Sans" panose="020B0604020202020204" charset="0"/>
              </a:rPr>
              <a:t>[</a:t>
            </a:r>
            <a:r>
              <a:rPr lang="en-US" sz="2000" dirty="0" err="1">
                <a:latin typeface="Nunito Sans" panose="020B0604020202020204" charset="0"/>
              </a:rPr>
              <a:t>i</a:t>
            </a:r>
            <a:r>
              <a:rPr lang="en-US" sz="2000" dirty="0">
                <a:latin typeface="Nunito Sans" panose="020B0604020202020204" charset="0"/>
              </a:rPr>
              <a:t>] = str2[</a:t>
            </a:r>
            <a:r>
              <a:rPr lang="en-US" sz="2000" dirty="0" err="1">
                <a:latin typeface="Nunito Sans" panose="020B0604020202020204" charset="0"/>
              </a:rPr>
              <a:t>i</a:t>
            </a:r>
            <a:r>
              <a:rPr lang="en-US" sz="2000" dirty="0">
                <a:latin typeface="Nunito Sans" panose="020B0604020202020204" charset="0"/>
              </a:rPr>
              <a:t>];</a:t>
            </a:r>
          </a:p>
          <a:p>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 Calculate result</a:t>
            </a:r>
          </a:p>
          <a:p>
            <a:r>
              <a:rPr lang="en-US" sz="2000" dirty="0">
                <a:latin typeface="Nunito Sans" panose="020B0604020202020204" charset="0"/>
              </a:rPr>
              <a:t>    // Initializing return values</a:t>
            </a:r>
          </a:p>
          <a:p>
            <a:r>
              <a:rPr lang="en-US" sz="2000" dirty="0">
                <a:latin typeface="Nunito Sans" panose="020B0604020202020204" charset="0"/>
              </a:rPr>
              <a:t>    </a:t>
            </a:r>
            <a:r>
              <a:rPr lang="en-US" sz="2000" dirty="0" err="1">
                <a:latin typeface="Nunito Sans" panose="020B0604020202020204" charset="0"/>
              </a:rPr>
              <a:t>int</a:t>
            </a:r>
            <a:r>
              <a:rPr lang="en-US" sz="2000" dirty="0">
                <a:latin typeface="Nunito Sans" panose="020B0604020202020204" charset="0"/>
              </a:rPr>
              <a:t> ret = 0;</a:t>
            </a:r>
          </a:p>
          <a:p>
            <a:r>
              <a:rPr lang="en-US" sz="2000" dirty="0">
                <a:latin typeface="Nunito Sans" panose="020B0604020202020204" charset="0"/>
              </a:rPr>
              <a:t>    vector&lt;vector&lt;</a:t>
            </a:r>
            <a:r>
              <a:rPr lang="en-US" sz="2000" dirty="0" err="1">
                <a:latin typeface="Nunito Sans" panose="020B0604020202020204" charset="0"/>
              </a:rPr>
              <a:t>int</a:t>
            </a:r>
            <a:r>
              <a:rPr lang="en-US" sz="2000" dirty="0">
                <a:latin typeface="Nunito Sans" panose="020B0604020202020204" charset="0"/>
              </a:rPr>
              <a:t>&gt; &gt; </a:t>
            </a:r>
            <a:r>
              <a:rPr lang="en-US" sz="2000" dirty="0" err="1">
                <a:latin typeface="Nunito Sans" panose="020B0604020202020204" charset="0"/>
              </a:rPr>
              <a:t>retv</a:t>
            </a:r>
            <a:r>
              <a:rPr lang="en-US" sz="2000" dirty="0">
                <a:latin typeface="Nunito Sans" panose="020B0604020202020204" charset="0"/>
              </a:rPr>
              <a:t>;</a:t>
            </a:r>
          </a:p>
          <a:p>
            <a:r>
              <a:rPr lang="en-US" sz="2000" dirty="0">
                <a:latin typeface="Nunito Sans" panose="020B0604020202020204" charset="0"/>
              </a:rPr>
              <a:t>    // Iterating the character from</a:t>
            </a:r>
          </a:p>
          <a:p>
            <a:r>
              <a:rPr lang="en-US" sz="2000" dirty="0">
                <a:latin typeface="Nunito Sans" panose="020B0604020202020204" charset="0"/>
              </a:rPr>
              <a:t>    // the end</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90308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charset="0"/>
              </a:rPr>
              <a:t>for (</a:t>
            </a:r>
            <a:r>
              <a:rPr lang="en-US" sz="2000" dirty="0" err="1">
                <a:latin typeface="Nunito Sans" panose="020B0604020202020204" charset="0"/>
              </a:rPr>
              <a:t>int</a:t>
            </a:r>
            <a:r>
              <a:rPr lang="en-US" sz="2000" dirty="0">
                <a:latin typeface="Nunito Sans" panose="020B0604020202020204" charset="0"/>
              </a:rPr>
              <a:t> </a:t>
            </a:r>
            <a:r>
              <a:rPr lang="en-US" sz="2000" dirty="0" err="1">
                <a:latin typeface="Nunito Sans" panose="020B0604020202020204" charset="0"/>
              </a:rPr>
              <a:t>i</a:t>
            </a:r>
            <a:r>
              <a:rPr lang="en-US" sz="2000" dirty="0">
                <a:latin typeface="Nunito Sans" panose="020B0604020202020204" charset="0"/>
              </a:rPr>
              <a:t> = 25; </a:t>
            </a:r>
            <a:r>
              <a:rPr lang="en-US" sz="2000" dirty="0" err="1">
                <a:latin typeface="Nunito Sans" panose="020B0604020202020204" charset="0"/>
              </a:rPr>
              <a:t>i</a:t>
            </a:r>
            <a:r>
              <a:rPr lang="en-US" sz="2000" dirty="0">
                <a:latin typeface="Nunito Sans" panose="020B0604020202020204" charset="0"/>
              </a:rPr>
              <a:t> &gt;= 0; </a:t>
            </a:r>
            <a:r>
              <a:rPr lang="en-US" sz="2000" dirty="0" err="1">
                <a:latin typeface="Nunito Sans" panose="020B0604020202020204" charset="0"/>
              </a:rPr>
              <a:t>i</a:t>
            </a:r>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vector&lt;</a:t>
            </a:r>
            <a:r>
              <a:rPr lang="en-US" sz="2000" dirty="0" err="1">
                <a:latin typeface="Nunito Sans" panose="020B0604020202020204" charset="0"/>
              </a:rPr>
              <a:t>int</a:t>
            </a:r>
            <a:r>
              <a:rPr lang="en-US" sz="2000" dirty="0">
                <a:latin typeface="Nunito Sans" panose="020B0604020202020204" charset="0"/>
              </a:rPr>
              <a:t>&gt; v = </a:t>
            </a:r>
            <a:r>
              <a:rPr lang="en-US" sz="2000" dirty="0" err="1">
                <a:latin typeface="Nunito Sans" panose="020B0604020202020204" charset="0"/>
              </a:rPr>
              <a:t>convChar</a:t>
            </a:r>
            <a:r>
              <a:rPr lang="en-US" sz="2000" dirty="0">
                <a:latin typeface="Nunito Sans" panose="020B0604020202020204" charset="0"/>
              </a:rPr>
              <a:t>[</a:t>
            </a:r>
            <a:r>
              <a:rPr lang="en-US" sz="2000" dirty="0" err="1">
                <a:latin typeface="Nunito Sans" panose="020B0604020202020204" charset="0"/>
              </a:rPr>
              <a:t>i</a:t>
            </a:r>
            <a:r>
              <a:rPr lang="en-US" sz="2000" dirty="0">
                <a:latin typeface="Nunito Sans" panose="020B0604020202020204" charset="0"/>
              </a:rPr>
              <a:t>];</a:t>
            </a:r>
          </a:p>
          <a:p>
            <a:r>
              <a:rPr lang="en-US" sz="2000" dirty="0">
                <a:latin typeface="Nunito Sans" panose="020B0604020202020204" charset="0"/>
              </a:rPr>
              <a:t>        if (</a:t>
            </a:r>
            <a:r>
              <a:rPr lang="en-US" sz="2000" dirty="0" err="1">
                <a:latin typeface="Nunito Sans" panose="020B0604020202020204" charset="0"/>
              </a:rPr>
              <a:t>v.size</a:t>
            </a:r>
            <a:r>
              <a:rPr lang="en-US" sz="2000" dirty="0">
                <a:latin typeface="Nunito Sans" panose="020B0604020202020204" charset="0"/>
              </a:rPr>
              <a:t>() == 0)</a:t>
            </a:r>
          </a:p>
          <a:p>
            <a:r>
              <a:rPr lang="en-US" sz="2000" dirty="0">
                <a:latin typeface="Nunito Sans" panose="020B0604020202020204" charset="0"/>
              </a:rPr>
              <a:t>            continue;</a:t>
            </a:r>
          </a:p>
          <a:p>
            <a:r>
              <a:rPr lang="en-US" sz="2000" dirty="0">
                <a:latin typeface="Nunito Sans" panose="020B0604020202020204" charset="0"/>
              </a:rPr>
              <a:t>        // Increment the number of</a:t>
            </a:r>
          </a:p>
          <a:p>
            <a:r>
              <a:rPr lang="en-US" sz="2000" dirty="0">
                <a:latin typeface="Nunito Sans" panose="020B0604020202020204" charset="0"/>
              </a:rPr>
              <a:t>        // operations</a:t>
            </a:r>
          </a:p>
          <a:p>
            <a:r>
              <a:rPr lang="en-US" sz="2000" dirty="0">
                <a:latin typeface="Nunito Sans" panose="020B0604020202020204" charset="0"/>
              </a:rPr>
              <a:t>        ret++;</a:t>
            </a:r>
          </a:p>
          <a:p>
            <a:r>
              <a:rPr lang="en-US" sz="2000" dirty="0">
                <a:latin typeface="Nunito Sans" panose="020B0604020202020204" charset="0"/>
              </a:rPr>
              <a:t>        vector&lt;</a:t>
            </a:r>
            <a:r>
              <a:rPr lang="en-US" sz="2000" dirty="0" err="1">
                <a:latin typeface="Nunito Sans" panose="020B0604020202020204" charset="0"/>
              </a:rPr>
              <a:t>int</a:t>
            </a:r>
            <a:r>
              <a:rPr lang="en-US" sz="2000" dirty="0">
                <a:latin typeface="Nunito Sans" panose="020B0604020202020204" charset="0"/>
              </a:rPr>
              <a:t>&gt; v1 = str1array[</a:t>
            </a:r>
            <a:r>
              <a:rPr lang="en-US" sz="2000" dirty="0" err="1">
                <a:latin typeface="Nunito Sans" panose="020B0604020202020204" charset="0"/>
              </a:rPr>
              <a:t>i</a:t>
            </a:r>
            <a:r>
              <a:rPr lang="en-US" sz="2000" dirty="0">
                <a:latin typeface="Nunito Sans" panose="020B0604020202020204" charset="0"/>
              </a:rPr>
              <a:t>];</a:t>
            </a:r>
          </a:p>
          <a:p>
            <a:r>
              <a:rPr lang="en-US" sz="2000" dirty="0">
                <a:latin typeface="Nunito Sans" panose="020B0604020202020204" charset="0"/>
              </a:rPr>
              <a:t>        // Not possible to convert</a:t>
            </a:r>
          </a:p>
          <a:p>
            <a:r>
              <a:rPr lang="en-US" sz="2000" dirty="0">
                <a:latin typeface="Nunito Sans" panose="020B0604020202020204" charset="0"/>
              </a:rPr>
              <a:t>        if (v1.size() == 0) </a:t>
            </a:r>
          </a:p>
          <a:p>
            <a:r>
              <a:rPr lang="en-US" sz="2000" dirty="0">
                <a:latin typeface="Nunito Sans" panose="020B0604020202020204" charset="0"/>
              </a:rPr>
              <a:t>        {</a:t>
            </a:r>
          </a:p>
          <a:p>
            <a:r>
              <a:rPr lang="en-US" sz="2000" dirty="0">
                <a:latin typeface="Nunito Sans" panose="020B0604020202020204" charset="0"/>
              </a:rPr>
              <a:t>            </a:t>
            </a:r>
            <a:r>
              <a:rPr lang="en-US" sz="2000" dirty="0" err="1">
                <a:latin typeface="Nunito Sans" panose="020B0604020202020204" charset="0"/>
              </a:rPr>
              <a:t>cout</a:t>
            </a:r>
            <a:r>
              <a:rPr lang="en-US" sz="2000" dirty="0">
                <a:latin typeface="Nunito Sans" panose="020B0604020202020204" charset="0"/>
              </a:rPr>
              <a:t> &lt;&lt; -1 &lt;&lt; </a:t>
            </a:r>
            <a:r>
              <a:rPr lang="en-US" sz="2000" dirty="0" err="1">
                <a:latin typeface="Nunito Sans" panose="020B0604020202020204" charset="0"/>
              </a:rPr>
              <a:t>endl</a:t>
            </a:r>
            <a:r>
              <a:rPr lang="en-US" sz="2000" dirty="0">
                <a:latin typeface="Nunito Sans" panose="020B0604020202020204" charset="0"/>
              </a:rPr>
              <a:t>;</a:t>
            </a:r>
          </a:p>
          <a:p>
            <a:r>
              <a:rPr lang="en-US" sz="2000" dirty="0">
                <a:latin typeface="Nunito Sans" panose="020B0604020202020204" charset="0"/>
              </a:rPr>
              <a:t>            return;</a:t>
            </a:r>
          </a:p>
          <a:p>
            <a:r>
              <a:rPr lang="en-US" sz="2000" dirty="0">
                <a:latin typeface="Nunito Sans" panose="020B0604020202020204" charset="0"/>
              </a:rPr>
              <a:t>        }</a:t>
            </a:r>
          </a:p>
          <a:p>
            <a:r>
              <a:rPr lang="en-US" sz="2000" dirty="0">
                <a:latin typeface="Nunito Sans" panose="020B0604020202020204" charset="0"/>
              </a:rPr>
              <a:t>        // to check whether the final</a:t>
            </a:r>
          </a:p>
          <a:p>
            <a:r>
              <a:rPr lang="en-US" sz="2000" dirty="0">
                <a:latin typeface="Nunito Sans" panose="020B0604020202020204" charset="0"/>
              </a:rPr>
              <a:t>        // element has been added</a:t>
            </a:r>
          </a:p>
          <a:p>
            <a:r>
              <a:rPr lang="en-US" sz="2000" dirty="0">
                <a:latin typeface="Nunito Sans" panose="020B0604020202020204" charset="0"/>
              </a:rPr>
              <a:t>        // in set S or not.</a:t>
            </a:r>
          </a:p>
          <a:p>
            <a:r>
              <a:rPr lang="en-US" sz="2000" dirty="0">
                <a:latin typeface="Nunito Sans" panose="020B0604020202020204" charset="0"/>
              </a:rPr>
              <a:t>        bool </a:t>
            </a:r>
            <a:r>
              <a:rPr lang="en-US" sz="2000" dirty="0" err="1">
                <a:latin typeface="Nunito Sans" panose="020B0604020202020204" charset="0"/>
              </a:rPr>
              <a:t>isScompleted</a:t>
            </a:r>
            <a:r>
              <a:rPr lang="en-US" sz="2000" dirty="0">
                <a:latin typeface="Nunito Sans" panose="020B0604020202020204" charset="0"/>
              </a:rPr>
              <a:t> = false;</a:t>
            </a:r>
          </a:p>
          <a:p>
            <a:r>
              <a:rPr lang="en-US" sz="2000" dirty="0">
                <a:latin typeface="Nunito Sans" panose="020B0604020202020204" charset="0"/>
              </a:rPr>
              <a:t>        for (</a:t>
            </a:r>
            <a:r>
              <a:rPr lang="en-US" sz="2000" dirty="0" err="1">
                <a:latin typeface="Nunito Sans" panose="020B0604020202020204" charset="0"/>
              </a:rPr>
              <a:t>int</a:t>
            </a:r>
            <a:r>
              <a:rPr lang="en-US" sz="2000" dirty="0">
                <a:latin typeface="Nunito Sans" panose="020B0604020202020204" charset="0"/>
              </a:rPr>
              <a:t> j = 0; j &lt; v1.size(); </a:t>
            </a:r>
            <a:r>
              <a:rPr lang="en-US" sz="2000" dirty="0" err="1">
                <a:latin typeface="Nunito Sans" panose="020B0604020202020204" charset="0"/>
              </a:rPr>
              <a:t>j++</a:t>
            </a:r>
            <a:r>
              <a:rPr lang="en-US" sz="2000" dirty="0">
                <a:latin typeface="Nunito Sans" panose="020B0604020202020204" charset="0"/>
              </a:rPr>
              <a:t>) </a:t>
            </a:r>
          </a:p>
          <a:p>
            <a:r>
              <a:rPr lang="en-US" sz="2000" dirty="0">
                <a:latin typeface="Nunito Sans" panose="020B0604020202020204" charset="0"/>
              </a:rPr>
              <a:t>        {</a:t>
            </a:r>
          </a:p>
          <a:p>
            <a:br>
              <a:rPr lang="en-US" sz="2000" dirty="0">
                <a:latin typeface="Nunito Sans" panose="020B0604020202020204" charset="0"/>
              </a:rPr>
            </a:br>
            <a:r>
              <a:rPr lang="en-US" sz="2000" dirty="0">
                <a:latin typeface="Nunito Sans" panose="020B0604020202020204" charset="0"/>
              </a:rPr>
              <a:t>            // Check if v1[j] is present</a:t>
            </a:r>
          </a:p>
          <a:p>
            <a:r>
              <a:rPr lang="en-US" sz="2000" dirty="0">
                <a:latin typeface="Nunito Sans" panose="020B0604020202020204" charset="0"/>
              </a:rPr>
              <a:t>            // in </a:t>
            </a:r>
            <a:r>
              <a:rPr lang="en-US" sz="2000" dirty="0" err="1">
                <a:latin typeface="Nunito Sans" panose="020B0604020202020204" charset="0"/>
              </a:rPr>
              <a:t>hashmap</a:t>
            </a:r>
            <a:r>
              <a:rPr lang="en-US" sz="2000" dirty="0">
                <a:latin typeface="Nunito Sans" panose="020B0604020202020204" charset="0"/>
              </a:rPr>
              <a:t> or not</a:t>
            </a:r>
          </a:p>
          <a:p>
            <a:endParaRPr lang="en-US" sz="2000" dirty="0">
              <a:latin typeface="Nunito Sans" panose="020B0604020202020204"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905861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3"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charset="0"/>
              </a:rPr>
              <a:t>if (</a:t>
            </a:r>
            <a:r>
              <a:rPr lang="en-US" sz="2000" dirty="0" err="1">
                <a:latin typeface="Nunito Sans" panose="020B0604020202020204" charset="0"/>
              </a:rPr>
              <a:t>convertMap.find</a:t>
            </a:r>
            <a:r>
              <a:rPr lang="en-US" sz="2000" dirty="0">
                <a:latin typeface="Nunito Sans" panose="020B0604020202020204" charset="0"/>
              </a:rPr>
              <a:t>(v1[j])</a:t>
            </a:r>
          </a:p>
          <a:p>
            <a:r>
              <a:rPr lang="en-US" sz="2000" dirty="0">
                <a:latin typeface="Nunito Sans" panose="020B0604020202020204" charset="0"/>
              </a:rPr>
              <a:t>                != </a:t>
            </a:r>
            <a:r>
              <a:rPr lang="en-US" sz="2000" dirty="0" err="1">
                <a:latin typeface="Nunito Sans" panose="020B0604020202020204" charset="0"/>
              </a:rPr>
              <a:t>convertMap.end</a:t>
            </a:r>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char a = </a:t>
            </a:r>
            <a:r>
              <a:rPr lang="en-US" sz="2000" dirty="0" err="1">
                <a:latin typeface="Nunito Sans" panose="020B0604020202020204" charset="0"/>
              </a:rPr>
              <a:t>convertMap</a:t>
            </a:r>
            <a:r>
              <a:rPr lang="en-US" sz="2000" dirty="0">
                <a:latin typeface="Nunito Sans" panose="020B0604020202020204" charset="0"/>
              </a:rPr>
              <a:t>[v1[j]];</a:t>
            </a:r>
          </a:p>
          <a:p>
            <a:r>
              <a:rPr lang="en-US" sz="2000" dirty="0">
                <a:latin typeface="Nunito Sans" panose="020B0604020202020204" charset="0"/>
              </a:rPr>
              <a:t>                // Already converted then</a:t>
            </a:r>
          </a:p>
          <a:p>
            <a:r>
              <a:rPr lang="en-US" sz="2000" dirty="0">
                <a:latin typeface="Nunito Sans" panose="020B0604020202020204" charset="0"/>
              </a:rPr>
              <a:t>                // then continue</a:t>
            </a:r>
          </a:p>
          <a:p>
            <a:r>
              <a:rPr lang="en-US" sz="2000" dirty="0">
                <a:latin typeface="Nunito Sans" panose="020B0604020202020204" charset="0"/>
              </a:rPr>
              <a:t>                if (a &gt; </a:t>
            </a:r>
            <a:r>
              <a:rPr lang="en-US" sz="2000" dirty="0" err="1">
                <a:latin typeface="Nunito Sans" panose="020B0604020202020204" charset="0"/>
              </a:rPr>
              <a:t>i</a:t>
            </a:r>
            <a:r>
              <a:rPr lang="en-US" sz="2000" dirty="0">
                <a:latin typeface="Nunito Sans" panose="020B0604020202020204" charset="0"/>
              </a:rPr>
              <a:t> + 'a')</a:t>
            </a:r>
          </a:p>
          <a:p>
            <a:r>
              <a:rPr lang="en-US" sz="2000" dirty="0">
                <a:latin typeface="Nunito Sans" panose="020B0604020202020204" charset="0"/>
              </a:rPr>
              <a:t>                    continue;</a:t>
            </a:r>
          </a:p>
          <a:p>
            <a:r>
              <a:rPr lang="en-US" sz="2000" dirty="0">
                <a:latin typeface="Nunito Sans" panose="020B0604020202020204" charset="0"/>
              </a:rPr>
              <a:t>                else </a:t>
            </a:r>
          </a:p>
          <a:p>
            <a:r>
              <a:rPr lang="en-US" sz="2000" dirty="0">
                <a:latin typeface="Nunito Sans" panose="020B0604020202020204" charset="0"/>
              </a:rPr>
              <a:t>                {</a:t>
            </a:r>
          </a:p>
          <a:p>
            <a:r>
              <a:rPr lang="en-US" sz="2000" dirty="0">
                <a:latin typeface="Nunito Sans" panose="020B0604020202020204" charset="0"/>
              </a:rPr>
              <a:t>                    </a:t>
            </a:r>
            <a:r>
              <a:rPr lang="en-US" sz="2000" dirty="0" err="1">
                <a:latin typeface="Nunito Sans" panose="020B0604020202020204" charset="0"/>
              </a:rPr>
              <a:t>v.push_back</a:t>
            </a:r>
            <a:r>
              <a:rPr lang="en-US" sz="2000" dirty="0">
                <a:latin typeface="Nunito Sans" panose="020B0604020202020204" charset="0"/>
              </a:rPr>
              <a:t>(v1[j]);</a:t>
            </a:r>
          </a:p>
          <a:p>
            <a:r>
              <a:rPr lang="en-US" sz="2000" dirty="0">
                <a:latin typeface="Nunito Sans" panose="020B0604020202020204" charset="0"/>
              </a:rPr>
              <a:t>                    </a:t>
            </a:r>
            <a:r>
              <a:rPr lang="en-US" sz="2000" dirty="0" err="1">
                <a:latin typeface="Nunito Sans" panose="020B0604020202020204" charset="0"/>
              </a:rPr>
              <a:t>isScompleted</a:t>
            </a:r>
            <a:r>
              <a:rPr lang="en-US" sz="2000" dirty="0">
                <a:latin typeface="Nunito Sans" panose="020B0604020202020204" charset="0"/>
              </a:rPr>
              <a:t> = true;</a:t>
            </a:r>
          </a:p>
          <a:p>
            <a:r>
              <a:rPr lang="en-US" sz="2000" dirty="0">
                <a:latin typeface="Nunito Sans" panose="020B0604020202020204" charset="0"/>
              </a:rPr>
              <a:t>                    </a:t>
            </a:r>
            <a:r>
              <a:rPr lang="en-US" sz="2000" dirty="0" err="1">
                <a:latin typeface="Nunito Sans" panose="020B0604020202020204" charset="0"/>
              </a:rPr>
              <a:t>retv.push_back</a:t>
            </a:r>
            <a:r>
              <a:rPr lang="en-US" sz="2000" dirty="0">
                <a:latin typeface="Nunito Sans" panose="020B0604020202020204" charset="0"/>
              </a:rPr>
              <a:t>(v);</a:t>
            </a:r>
          </a:p>
          <a:p>
            <a:r>
              <a:rPr lang="en-US" sz="2000" dirty="0">
                <a:latin typeface="Nunito Sans" panose="020B0604020202020204" charset="0"/>
              </a:rPr>
              <a:t>                    break;</a:t>
            </a:r>
          </a:p>
          <a:p>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else </a:t>
            </a:r>
          </a:p>
          <a:p>
            <a:r>
              <a:rPr lang="en-US" sz="2000" dirty="0">
                <a:latin typeface="Nunito Sans" panose="020B0604020202020204" charset="0"/>
              </a:rPr>
              <a:t>            {</a:t>
            </a:r>
          </a:p>
          <a:p>
            <a:r>
              <a:rPr lang="en-US" sz="2000" dirty="0">
                <a:latin typeface="Nunito Sans" panose="020B0604020202020204" charset="0"/>
              </a:rPr>
              <a:t>                </a:t>
            </a:r>
            <a:r>
              <a:rPr lang="en-US" sz="2000" dirty="0" err="1">
                <a:latin typeface="Nunito Sans" panose="020B0604020202020204" charset="0"/>
              </a:rPr>
              <a:t>v.push_back</a:t>
            </a:r>
            <a:r>
              <a:rPr lang="en-US" sz="2000" dirty="0">
                <a:latin typeface="Nunito Sans" panose="020B0604020202020204" charset="0"/>
              </a:rPr>
              <a:t>(v1[j]);</a:t>
            </a:r>
          </a:p>
          <a:p>
            <a:r>
              <a:rPr lang="en-US" sz="2000" dirty="0">
                <a:latin typeface="Nunito Sans" panose="020B0604020202020204" charset="0"/>
              </a:rPr>
              <a:t>                </a:t>
            </a:r>
            <a:r>
              <a:rPr lang="en-US" sz="2000" dirty="0" err="1">
                <a:latin typeface="Nunito Sans" panose="020B0604020202020204" charset="0"/>
              </a:rPr>
              <a:t>isScompleted</a:t>
            </a:r>
            <a:r>
              <a:rPr lang="en-US" sz="2000" dirty="0">
                <a:latin typeface="Nunito Sans" panose="020B0604020202020204" charset="0"/>
              </a:rPr>
              <a:t> = true;</a:t>
            </a:r>
          </a:p>
          <a:p>
            <a:r>
              <a:rPr lang="en-US" sz="2000" dirty="0">
                <a:latin typeface="Nunito Sans" panose="020B0604020202020204" charset="0"/>
              </a:rPr>
              <a:t>                </a:t>
            </a:r>
            <a:r>
              <a:rPr lang="en-US" sz="2000" dirty="0" err="1">
                <a:latin typeface="Nunito Sans" panose="020B0604020202020204" charset="0"/>
              </a:rPr>
              <a:t>retv.push_back</a:t>
            </a:r>
            <a:r>
              <a:rPr lang="en-US" sz="2000" dirty="0">
                <a:latin typeface="Nunito Sans" panose="020B0604020202020204" charset="0"/>
              </a:rPr>
              <a:t>(v);</a:t>
            </a:r>
          </a:p>
          <a:p>
            <a:endParaRPr lang="en-US" sz="2000" dirty="0">
              <a:latin typeface="Nunito Sans" panose="020B0604020202020204"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879443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3"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charset="0"/>
              </a:rPr>
              <a:t>}</a:t>
            </a:r>
          </a:p>
          <a:p>
            <a:r>
              <a:rPr lang="en-US" sz="2000" dirty="0">
                <a:latin typeface="Nunito Sans" panose="020B0604020202020204" charset="0"/>
              </a:rPr>
              <a:t>        }</a:t>
            </a:r>
          </a:p>
          <a:p>
            <a:r>
              <a:rPr lang="en-US" sz="2000" dirty="0">
                <a:latin typeface="Nunito Sans" panose="020B0604020202020204" charset="0"/>
              </a:rPr>
              <a:t>        // Not possible to convert</a:t>
            </a:r>
          </a:p>
          <a:p>
            <a:r>
              <a:rPr lang="en-US" sz="2000" dirty="0">
                <a:latin typeface="Nunito Sans" panose="020B0604020202020204" charset="0"/>
              </a:rPr>
              <a:t>        if (!</a:t>
            </a:r>
            <a:r>
              <a:rPr lang="en-US" sz="2000" dirty="0" err="1">
                <a:latin typeface="Nunito Sans" panose="020B0604020202020204" charset="0"/>
              </a:rPr>
              <a:t>isScompleted</a:t>
            </a:r>
            <a:r>
              <a:rPr lang="en-US" sz="2000" dirty="0">
                <a:latin typeface="Nunito Sans" panose="020B0604020202020204" charset="0"/>
              </a:rPr>
              <a:t>) </a:t>
            </a:r>
          </a:p>
          <a:p>
            <a:r>
              <a:rPr lang="en-US" sz="2000" dirty="0">
                <a:latin typeface="Nunito Sans" panose="020B0604020202020204" charset="0"/>
              </a:rPr>
              <a:t>        {</a:t>
            </a:r>
          </a:p>
          <a:p>
            <a:r>
              <a:rPr lang="en-US" sz="2000" dirty="0">
                <a:latin typeface="Nunito Sans" panose="020B0604020202020204" charset="0"/>
              </a:rPr>
              <a:t>            </a:t>
            </a:r>
            <a:r>
              <a:rPr lang="en-US" sz="2000" dirty="0" err="1">
                <a:latin typeface="Nunito Sans" panose="020B0604020202020204" charset="0"/>
              </a:rPr>
              <a:t>cout</a:t>
            </a:r>
            <a:r>
              <a:rPr lang="en-US" sz="2000" dirty="0">
                <a:latin typeface="Nunito Sans" panose="020B0604020202020204" charset="0"/>
              </a:rPr>
              <a:t> &lt;&lt; -1 &lt;&lt; </a:t>
            </a:r>
            <a:r>
              <a:rPr lang="en-US" sz="2000" dirty="0" err="1">
                <a:latin typeface="Nunito Sans" panose="020B0604020202020204" charset="0"/>
              </a:rPr>
              <a:t>endl</a:t>
            </a:r>
            <a:r>
              <a:rPr lang="en-US" sz="2000" dirty="0">
                <a:latin typeface="Nunito Sans" panose="020B0604020202020204" charset="0"/>
              </a:rPr>
              <a:t>;</a:t>
            </a:r>
          </a:p>
          <a:p>
            <a:r>
              <a:rPr lang="en-US" sz="2000" dirty="0">
                <a:latin typeface="Nunito Sans" panose="020B0604020202020204" charset="0"/>
              </a:rPr>
              <a:t>            return;</a:t>
            </a:r>
          </a:p>
          <a:p>
            <a:r>
              <a:rPr lang="en-US" sz="2000" dirty="0">
                <a:latin typeface="Nunito Sans" panose="020B0604020202020204" charset="0"/>
              </a:rPr>
              <a:t>        }</a:t>
            </a:r>
          </a:p>
          <a:p>
            <a:r>
              <a:rPr lang="en-US" sz="2000" dirty="0">
                <a:latin typeface="Nunito Sans" panose="020B0604020202020204" charset="0"/>
              </a:rPr>
              <a:t>    }</a:t>
            </a:r>
          </a:p>
          <a:p>
            <a:br>
              <a:rPr lang="en-US" sz="2000" dirty="0">
                <a:latin typeface="Nunito Sans" panose="020B0604020202020204" charset="0"/>
              </a:rPr>
            </a:br>
            <a:r>
              <a:rPr lang="en-US" sz="2000" dirty="0">
                <a:latin typeface="Nunito Sans" panose="020B0604020202020204" charset="0"/>
              </a:rPr>
              <a:t>    // Print the result</a:t>
            </a:r>
          </a:p>
          <a:p>
            <a:r>
              <a:rPr lang="en-US" sz="2000" dirty="0">
                <a:latin typeface="Nunito Sans" panose="020B0604020202020204" charset="0"/>
              </a:rPr>
              <a:t>    </a:t>
            </a:r>
            <a:r>
              <a:rPr lang="en-US" sz="2000" dirty="0" err="1">
                <a:latin typeface="Nunito Sans" panose="020B0604020202020204" charset="0"/>
              </a:rPr>
              <a:t>cout</a:t>
            </a:r>
            <a:r>
              <a:rPr lang="en-US" sz="2000" dirty="0">
                <a:latin typeface="Nunito Sans" panose="020B0604020202020204" charset="0"/>
              </a:rPr>
              <a:t> &lt;&lt; ret &lt;&lt; </a:t>
            </a:r>
            <a:r>
              <a:rPr lang="en-US" sz="2000" dirty="0" err="1">
                <a:latin typeface="Nunito Sans" panose="020B0604020202020204" charset="0"/>
              </a:rPr>
              <a:t>endl</a:t>
            </a:r>
            <a:r>
              <a:rPr lang="en-US" sz="2000" dirty="0">
                <a:latin typeface="Nunito Sans" panose="020B0604020202020204" charset="0"/>
              </a:rPr>
              <a:t>;</a:t>
            </a:r>
          </a:p>
          <a:p>
            <a:r>
              <a:rPr lang="en-US" sz="2000" dirty="0">
                <a:latin typeface="Nunito Sans" panose="020B0604020202020204" charset="0"/>
              </a:rPr>
              <a:t>}</a:t>
            </a:r>
          </a:p>
          <a:p>
            <a:br>
              <a:rPr lang="en-US" sz="2000" dirty="0">
                <a:latin typeface="Nunito Sans" panose="020B0604020202020204" charset="0"/>
              </a:rPr>
            </a:br>
            <a:endParaRPr lang="en-US" sz="2000" dirty="0">
              <a:latin typeface="Nunito Sans" panose="020B0604020202020204" charset="0"/>
            </a:endParaRPr>
          </a:p>
          <a:p>
            <a:endParaRPr lang="en-US" sz="2000" dirty="0">
              <a:latin typeface="Nunito Sans" panose="020B0604020202020204"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567154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3"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err="1">
                <a:latin typeface="Nunito Sans" panose="020B0604020202020204" charset="0"/>
              </a:rPr>
              <a:t>int</a:t>
            </a:r>
            <a:r>
              <a:rPr lang="en-US" sz="2000" dirty="0">
                <a:latin typeface="Nunito Sans" panose="020B0604020202020204" charset="0"/>
              </a:rPr>
              <a:t> main()</a:t>
            </a:r>
          </a:p>
          <a:p>
            <a:r>
              <a:rPr lang="en-US" sz="2000" dirty="0">
                <a:latin typeface="Nunito Sans" panose="020B0604020202020204" charset="0"/>
              </a:rPr>
              <a:t>{</a:t>
            </a:r>
          </a:p>
          <a:p>
            <a:r>
              <a:rPr lang="en-US" sz="2000" dirty="0">
                <a:latin typeface="Nunito Sans" panose="020B0604020202020204" charset="0"/>
              </a:rPr>
              <a:t>    </a:t>
            </a:r>
            <a:r>
              <a:rPr lang="en-US" sz="2000" dirty="0" err="1">
                <a:latin typeface="Nunito Sans" panose="020B0604020202020204" charset="0"/>
              </a:rPr>
              <a:t>int</a:t>
            </a:r>
            <a:r>
              <a:rPr lang="en-US" sz="2000" dirty="0">
                <a:latin typeface="Nunito Sans" panose="020B0604020202020204" charset="0"/>
              </a:rPr>
              <a:t> N;</a:t>
            </a:r>
          </a:p>
          <a:p>
            <a:r>
              <a:rPr lang="en-US" sz="2000" dirty="0">
                <a:latin typeface="Nunito Sans" panose="020B0604020202020204" charset="0"/>
              </a:rPr>
              <a:t>    string A, B;</a:t>
            </a:r>
          </a:p>
          <a:p>
            <a:r>
              <a:rPr lang="en-US" sz="2000" dirty="0">
                <a:latin typeface="Nunito Sans" panose="020B0604020202020204" charset="0"/>
              </a:rPr>
              <a:t>    // Read the input values</a:t>
            </a:r>
          </a:p>
          <a:p>
            <a:r>
              <a:rPr lang="en-US" sz="2000" dirty="0">
                <a:latin typeface="Nunito Sans" panose="020B0604020202020204" charset="0"/>
              </a:rPr>
              <a:t>    </a:t>
            </a:r>
            <a:r>
              <a:rPr lang="en-US" sz="2000" dirty="0" err="1">
                <a:latin typeface="Nunito Sans" panose="020B0604020202020204" charset="0"/>
              </a:rPr>
              <a:t>cin</a:t>
            </a:r>
            <a:r>
              <a:rPr lang="en-US" sz="2000" dirty="0">
                <a:latin typeface="Nunito Sans" panose="020B0604020202020204" charset="0"/>
              </a:rPr>
              <a:t> &gt;&gt; N;</a:t>
            </a:r>
          </a:p>
          <a:p>
            <a:r>
              <a:rPr lang="en-US" sz="2000" dirty="0">
                <a:latin typeface="Nunito Sans" panose="020B0604020202020204" charset="0"/>
              </a:rPr>
              <a:t>    </a:t>
            </a:r>
            <a:r>
              <a:rPr lang="en-US" sz="2000" dirty="0" err="1">
                <a:latin typeface="Nunito Sans" panose="020B0604020202020204" charset="0"/>
              </a:rPr>
              <a:t>cin</a:t>
            </a:r>
            <a:r>
              <a:rPr lang="en-US" sz="2000" dirty="0">
                <a:latin typeface="Nunito Sans" panose="020B0604020202020204" charset="0"/>
              </a:rPr>
              <a:t> &gt;&gt; A;</a:t>
            </a:r>
          </a:p>
          <a:p>
            <a:r>
              <a:rPr lang="en-US" sz="2000" dirty="0">
                <a:latin typeface="Nunito Sans" panose="020B0604020202020204" charset="0"/>
              </a:rPr>
              <a:t>    </a:t>
            </a:r>
            <a:r>
              <a:rPr lang="en-US" sz="2000" dirty="0" err="1">
                <a:latin typeface="Nunito Sans" panose="020B0604020202020204" charset="0"/>
              </a:rPr>
              <a:t>cin</a:t>
            </a:r>
            <a:r>
              <a:rPr lang="en-US" sz="2000" dirty="0">
                <a:latin typeface="Nunito Sans" panose="020B0604020202020204" charset="0"/>
              </a:rPr>
              <a:t> &gt;&gt; B;</a:t>
            </a:r>
          </a:p>
          <a:p>
            <a:r>
              <a:rPr lang="en-US" sz="2000" dirty="0">
                <a:latin typeface="Nunito Sans" panose="020B0604020202020204" charset="0"/>
              </a:rPr>
              <a:t>    </a:t>
            </a:r>
            <a:r>
              <a:rPr lang="en-US" sz="2000" dirty="0" err="1">
                <a:latin typeface="Nunito Sans" panose="020B0604020202020204" charset="0"/>
              </a:rPr>
              <a:t>transformString</a:t>
            </a:r>
            <a:r>
              <a:rPr lang="en-US" sz="2000" dirty="0">
                <a:latin typeface="Nunito Sans" panose="020B0604020202020204" charset="0"/>
              </a:rPr>
              <a:t>(A, B);</a:t>
            </a:r>
          </a:p>
          <a:p>
            <a:r>
              <a:rPr lang="en-US" sz="2000" dirty="0">
                <a:latin typeface="Nunito Sans" panose="020B0604020202020204" charset="0"/>
              </a:rPr>
              <a:t>    return 0;</a:t>
            </a:r>
          </a:p>
          <a:p>
            <a:r>
              <a:rPr lang="en-US" sz="2000" dirty="0">
                <a:latin typeface="Nunito Sans" panose="020B0604020202020204" charset="0"/>
              </a:rPr>
              <a:t>}</a:t>
            </a:r>
          </a:p>
          <a:p>
            <a:endParaRPr lang="en-US" sz="2000" dirty="0">
              <a:latin typeface="Nunito Sans" panose="020B0604020202020204"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79794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import </a:t>
            </a:r>
            <a:r>
              <a:rPr lang="en-US" sz="2000" b="1" dirty="0" err="1">
                <a:solidFill>
                  <a:schemeClr val="bg1"/>
                </a:solidFill>
                <a:latin typeface="Nunito Sans" panose="020B0604020202020204" charset="0"/>
                <a:cs typeface="Courier New" panose="02070309020205020404" pitchFamily="49" charset="0"/>
              </a:rPr>
              <a:t>java.util.ArrayList</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import </a:t>
            </a:r>
            <a:r>
              <a:rPr lang="en-US" sz="2000" b="1" dirty="0" err="1">
                <a:solidFill>
                  <a:schemeClr val="bg1"/>
                </a:solidFill>
                <a:latin typeface="Nunito Sans" panose="020B0604020202020204" charset="0"/>
                <a:cs typeface="Courier New" panose="02070309020205020404" pitchFamily="49" charset="0"/>
              </a:rPr>
              <a:t>java.util.HashMap</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import </a:t>
            </a:r>
            <a:r>
              <a:rPr lang="en-US" sz="2000" b="1" dirty="0" err="1">
                <a:solidFill>
                  <a:schemeClr val="bg1"/>
                </a:solidFill>
                <a:latin typeface="Nunito Sans" panose="020B0604020202020204" charset="0"/>
                <a:cs typeface="Courier New" panose="02070309020205020404" pitchFamily="49" charset="0"/>
              </a:rPr>
              <a:t>java.util.List</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import </a:t>
            </a:r>
            <a:r>
              <a:rPr lang="en-US" sz="2000" b="1" dirty="0" err="1">
                <a:solidFill>
                  <a:schemeClr val="bg1"/>
                </a:solidFill>
                <a:latin typeface="Nunito Sans" panose="020B0604020202020204" charset="0"/>
                <a:cs typeface="Courier New" panose="02070309020205020404" pitchFamily="49" charset="0"/>
              </a:rPr>
              <a:t>java.util.Map</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import </a:t>
            </a:r>
            <a:r>
              <a:rPr lang="en-US" sz="2000" b="1" dirty="0" err="1">
                <a:solidFill>
                  <a:schemeClr val="bg1"/>
                </a:solidFill>
                <a:latin typeface="Nunito Sans" panose="020B0604020202020204" charset="0"/>
                <a:cs typeface="Courier New" panose="02070309020205020404" pitchFamily="49" charset="0"/>
              </a:rPr>
              <a:t>java.util.Scanner</a:t>
            </a:r>
            <a:r>
              <a:rPr lang="en-US" sz="2000" b="1" dirty="0">
                <a:solidFill>
                  <a:schemeClr val="bg1"/>
                </a:solidFill>
                <a:latin typeface="Nunito Sans" panose="020B0604020202020204" charset="0"/>
                <a:cs typeface="Courier New" panose="02070309020205020404" pitchFamily="49" charset="0"/>
              </a:rPr>
              <a:t>;</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public class Main {</a:t>
            </a:r>
          </a:p>
          <a:p>
            <a:r>
              <a:rPr lang="en-US" sz="2000" b="1" dirty="0">
                <a:solidFill>
                  <a:schemeClr val="bg1"/>
                </a:solidFill>
                <a:latin typeface="Nunito Sans" panose="020B0604020202020204" charset="0"/>
                <a:cs typeface="Courier New" panose="02070309020205020404" pitchFamily="49" charset="0"/>
              </a:rPr>
              <a:t>    public static void </a:t>
            </a:r>
            <a:r>
              <a:rPr lang="en-US" sz="2000" b="1" dirty="0" err="1">
                <a:solidFill>
                  <a:schemeClr val="bg1"/>
                </a:solidFill>
                <a:latin typeface="Nunito Sans" panose="020B0604020202020204" charset="0"/>
                <a:cs typeface="Courier New" panose="02070309020205020404" pitchFamily="49" charset="0"/>
              </a:rPr>
              <a:t>transformString</a:t>
            </a:r>
            <a:r>
              <a:rPr lang="en-US" sz="2000" b="1" dirty="0">
                <a:solidFill>
                  <a:schemeClr val="bg1"/>
                </a:solidFill>
                <a:latin typeface="Nunito Sans" panose="020B0604020202020204" charset="0"/>
                <a:cs typeface="Courier New" panose="02070309020205020404" pitchFamily="49" charset="0"/>
              </a:rPr>
              <a:t>(String str1, String str2)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N = str1.length();</a:t>
            </a:r>
          </a:p>
          <a:p>
            <a:r>
              <a:rPr lang="en-US" sz="2000" b="1" dirty="0">
                <a:solidFill>
                  <a:schemeClr val="bg1"/>
                </a:solidFill>
                <a:latin typeface="Nunito Sans" panose="020B0604020202020204" charset="0"/>
                <a:cs typeface="Courier New" panose="02070309020205020404" pitchFamily="49" charset="0"/>
              </a:rPr>
              <a:t>        List&lt;Integer&gt;[]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 = new </a:t>
            </a:r>
            <a:r>
              <a:rPr lang="en-US" sz="2000" b="1" dirty="0" err="1">
                <a:solidFill>
                  <a:schemeClr val="bg1"/>
                </a:solidFill>
                <a:latin typeface="Nunito Sans" panose="020B0604020202020204" charset="0"/>
                <a:cs typeface="Courier New" panose="02070309020205020404" pitchFamily="49" charset="0"/>
              </a:rPr>
              <a:t>ArrayList</a:t>
            </a:r>
            <a:r>
              <a:rPr lang="en-US" sz="2000" b="1" dirty="0">
                <a:solidFill>
                  <a:schemeClr val="bg1"/>
                </a:solidFill>
                <a:latin typeface="Nunito Sans" panose="020B0604020202020204" charset="0"/>
                <a:cs typeface="Courier New" panose="02070309020205020404" pitchFamily="49" charset="0"/>
              </a:rPr>
              <a:t>[26];</a:t>
            </a:r>
          </a:p>
          <a:p>
            <a:r>
              <a:rPr lang="en-US" sz="2000" b="1" dirty="0">
                <a:solidFill>
                  <a:schemeClr val="bg1"/>
                </a:solidFill>
                <a:latin typeface="Nunito Sans" panose="020B0604020202020204" charset="0"/>
                <a:cs typeface="Courier New" panose="02070309020205020404" pitchFamily="49" charset="0"/>
              </a:rPr>
              <a:t>        List&lt;Integer&gt;[] str1array = new </a:t>
            </a:r>
            <a:r>
              <a:rPr lang="en-US" sz="2000" b="1" dirty="0" err="1">
                <a:solidFill>
                  <a:schemeClr val="bg1"/>
                </a:solidFill>
                <a:latin typeface="Nunito Sans" panose="020B0604020202020204" charset="0"/>
                <a:cs typeface="Courier New" panose="02070309020205020404" pitchFamily="49" charset="0"/>
              </a:rPr>
              <a:t>ArrayList</a:t>
            </a:r>
            <a:r>
              <a:rPr lang="en-US" sz="2000" b="1" dirty="0">
                <a:solidFill>
                  <a:schemeClr val="bg1"/>
                </a:solidFill>
                <a:latin typeface="Nunito Sans" panose="020B0604020202020204" charset="0"/>
                <a:cs typeface="Courier New" panose="02070309020205020404" pitchFamily="49" charset="0"/>
              </a:rPr>
              <a:t>[26];</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Initialize both arrays</a:t>
            </a: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0;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26;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new </a:t>
            </a:r>
            <a:r>
              <a:rPr lang="en-US" sz="2000" b="1" dirty="0" err="1">
                <a:solidFill>
                  <a:schemeClr val="bg1"/>
                </a:solidFill>
                <a:latin typeface="Nunito Sans" panose="020B0604020202020204" charset="0"/>
                <a:cs typeface="Courier New" panose="02070309020205020404" pitchFamily="49" charset="0"/>
              </a:rPr>
              <a:t>ArrayList</a:t>
            </a:r>
            <a:r>
              <a:rPr lang="en-US" sz="2000" b="1" dirty="0">
                <a:solidFill>
                  <a:schemeClr val="bg1"/>
                </a:solidFill>
                <a:latin typeface="Nunito Sans" panose="020B0604020202020204" charset="0"/>
                <a:cs typeface="Courier New" panose="02070309020205020404" pitchFamily="49" charset="0"/>
              </a:rPr>
              <a:t>&lt;&gt;();</a:t>
            </a:r>
          </a:p>
          <a:p>
            <a:r>
              <a:rPr lang="en-US" sz="2000" b="1" dirty="0">
                <a:solidFill>
                  <a:schemeClr val="bg1"/>
                </a:solidFill>
                <a:latin typeface="Nunito Sans" panose="020B0604020202020204" charset="0"/>
                <a:cs typeface="Courier New" panose="02070309020205020404" pitchFamily="49" charset="0"/>
              </a:rPr>
              <a:t>            str1array[</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new </a:t>
            </a:r>
            <a:r>
              <a:rPr lang="en-US" sz="2000" b="1" dirty="0" err="1">
                <a:solidFill>
                  <a:schemeClr val="bg1"/>
                </a:solidFill>
                <a:latin typeface="Nunito Sans" panose="020B0604020202020204" charset="0"/>
                <a:cs typeface="Courier New" panose="02070309020205020404" pitchFamily="49" charset="0"/>
              </a:rPr>
              <a:t>ArrayList</a:t>
            </a:r>
            <a:r>
              <a:rPr lang="en-US" sz="2000" b="1" dirty="0">
                <a:solidFill>
                  <a:schemeClr val="bg1"/>
                </a:solidFill>
                <a:latin typeface="Nunito Sans" panose="020B0604020202020204" charset="0"/>
                <a:cs typeface="Courier New" panose="02070309020205020404" pitchFamily="49" charset="0"/>
              </a:rPr>
              <a:t>&lt;&gt;();</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Stores the index of character</a:t>
            </a:r>
          </a:p>
          <a:p>
            <a:r>
              <a:rPr lang="en-US" sz="2000" b="1" dirty="0">
                <a:solidFill>
                  <a:schemeClr val="bg1"/>
                </a:solidFill>
                <a:latin typeface="Nunito Sans" panose="020B0604020202020204" charset="0"/>
                <a:cs typeface="Courier New" panose="02070309020205020404" pitchFamily="49" charset="0"/>
              </a:rPr>
              <a:t>        Map&lt;Integer, Character&gt;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 = new </a:t>
            </a:r>
            <a:r>
              <a:rPr lang="en-US" sz="2000" b="1" dirty="0" err="1">
                <a:solidFill>
                  <a:schemeClr val="bg1"/>
                </a:solidFill>
                <a:latin typeface="Nunito Sans" panose="020B0604020202020204" charset="0"/>
                <a:cs typeface="Courier New" panose="02070309020205020404" pitchFamily="49" charset="0"/>
              </a:rPr>
              <a:t>HashMap</a:t>
            </a:r>
            <a:r>
              <a:rPr lang="en-US" sz="2000" b="1" dirty="0">
                <a:solidFill>
                  <a:schemeClr val="bg1"/>
                </a:solidFill>
                <a:latin typeface="Nunito Sans" panose="020B0604020202020204" charset="0"/>
                <a:cs typeface="Courier New" panose="02070309020205020404" pitchFamily="49" charset="0"/>
              </a:rPr>
              <a:t>&lt;&gt;();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80023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 Filling str1array,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 and </a:t>
            </a:r>
            <a:r>
              <a:rPr lang="en-US" sz="2000" b="1" dirty="0" err="1">
                <a:solidFill>
                  <a:schemeClr val="bg1"/>
                </a:solidFill>
                <a:latin typeface="Nunito Sans" panose="020B0604020202020204" charset="0"/>
                <a:cs typeface="Courier New" panose="02070309020205020404" pitchFamily="49" charset="0"/>
              </a:rPr>
              <a:t>hashmap</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0;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N;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str1array[str1.charAt(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'a'].add(</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0;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N;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 Not possible to convert</a:t>
            </a:r>
          </a:p>
          <a:p>
            <a:r>
              <a:rPr lang="en-US" sz="2000" b="1" dirty="0">
                <a:solidFill>
                  <a:schemeClr val="bg1"/>
                </a:solidFill>
                <a:latin typeface="Nunito Sans" panose="020B0604020202020204" charset="0"/>
                <a:cs typeface="Courier New" panose="02070309020205020404" pitchFamily="49" charset="0"/>
              </a:rPr>
              <a:t>            if (str1.charAt(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str2.charAt(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System.out.println</a:t>
            </a:r>
            <a:r>
              <a:rPr lang="en-US" sz="2000" b="1" dirty="0">
                <a:solidFill>
                  <a:schemeClr val="bg1"/>
                </a:solidFill>
                <a:latin typeface="Nunito Sans" panose="020B0604020202020204" charset="0"/>
                <a:cs typeface="Courier New" panose="02070309020205020404" pitchFamily="49" charset="0"/>
              </a:rPr>
              <a:t>(-1);</a:t>
            </a:r>
          </a:p>
          <a:p>
            <a:r>
              <a:rPr lang="en-US" sz="2000" b="1" dirty="0">
                <a:solidFill>
                  <a:schemeClr val="bg1"/>
                </a:solidFill>
                <a:latin typeface="Nunito Sans" panose="020B0604020202020204" charset="0"/>
                <a:cs typeface="Courier New" panose="02070309020205020404" pitchFamily="49" charset="0"/>
              </a:rPr>
              <a:t>                return;</a:t>
            </a:r>
          </a:p>
          <a:p>
            <a:r>
              <a:rPr lang="en-US" sz="2000" b="1" dirty="0">
                <a:solidFill>
                  <a:schemeClr val="bg1"/>
                </a:solidFill>
                <a:latin typeface="Nunito Sans" panose="020B0604020202020204" charset="0"/>
                <a:cs typeface="Courier New" panose="02070309020205020404" pitchFamily="49" charset="0"/>
              </a:rPr>
              <a:t>            } else if (str1.charAt(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str2.charAt(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continue;</a:t>
            </a:r>
          </a:p>
          <a:p>
            <a:r>
              <a:rPr lang="en-US" sz="2000" b="1" dirty="0">
                <a:solidFill>
                  <a:schemeClr val="bg1"/>
                </a:solidFill>
                <a:latin typeface="Nunito Sans" panose="020B0604020202020204" charset="0"/>
                <a:cs typeface="Courier New" panose="02070309020205020404" pitchFamily="49" charset="0"/>
              </a:rPr>
              <a:t>            } else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[str2.charAt(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'a'].add(</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convertMap.put</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str2.charAt(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Calculate result</a:t>
            </a:r>
          </a:p>
          <a:p>
            <a:r>
              <a:rPr lang="en-US" sz="2000" b="1" dirty="0">
                <a:solidFill>
                  <a:schemeClr val="bg1"/>
                </a:solidFill>
                <a:latin typeface="Nunito Sans" panose="020B0604020202020204" charset="0"/>
                <a:cs typeface="Courier New" panose="02070309020205020404" pitchFamily="49" charset="0"/>
              </a:rPr>
              <a:t>        // Initializing return values</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ret = 0;</a:t>
            </a:r>
          </a:p>
          <a:p>
            <a:r>
              <a:rPr lang="en-US" sz="2000" b="1" dirty="0">
                <a:solidFill>
                  <a:schemeClr val="bg1"/>
                </a:solidFill>
                <a:latin typeface="Nunito Sans" panose="020B0604020202020204" charset="0"/>
                <a:cs typeface="Courier New" panose="02070309020205020404" pitchFamily="49" charset="0"/>
              </a:rPr>
              <a:t>        List&lt;List&lt;Integer&gt;&gt; </a:t>
            </a:r>
            <a:r>
              <a:rPr lang="en-US" sz="2000" b="1" dirty="0" err="1">
                <a:solidFill>
                  <a:schemeClr val="bg1"/>
                </a:solidFill>
                <a:latin typeface="Nunito Sans" panose="020B0604020202020204" charset="0"/>
                <a:cs typeface="Courier New" panose="02070309020205020404" pitchFamily="49" charset="0"/>
              </a:rPr>
              <a:t>retv</a:t>
            </a:r>
            <a:r>
              <a:rPr lang="en-US" sz="2000" b="1" dirty="0">
                <a:solidFill>
                  <a:schemeClr val="bg1"/>
                </a:solidFill>
                <a:latin typeface="Nunito Sans" panose="020B0604020202020204" charset="0"/>
                <a:cs typeface="Courier New" panose="02070309020205020404" pitchFamily="49" charset="0"/>
              </a:rPr>
              <a:t> = new </a:t>
            </a:r>
            <a:r>
              <a:rPr lang="en-US" sz="2000" b="1" dirty="0" err="1">
                <a:solidFill>
                  <a:schemeClr val="bg1"/>
                </a:solidFill>
                <a:latin typeface="Nunito Sans" panose="020B0604020202020204" charset="0"/>
                <a:cs typeface="Courier New" panose="02070309020205020404" pitchFamily="49" charset="0"/>
              </a:rPr>
              <a:t>ArrayList</a:t>
            </a:r>
            <a:r>
              <a:rPr lang="en-US" sz="2000" b="1" dirty="0">
                <a:solidFill>
                  <a:schemeClr val="bg1"/>
                </a:solidFill>
                <a:latin typeface="Nunito Sans" panose="020B0604020202020204" charset="0"/>
                <a:cs typeface="Courier New" panose="02070309020205020404" pitchFamily="49" charset="0"/>
              </a:rPr>
              <a:t>&lt;&gt;();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314048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 Iterating the character from the end</a:t>
            </a: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25;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&gt;= 0;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List&lt;Integer&gt; v =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if (</a:t>
            </a:r>
            <a:r>
              <a:rPr lang="en-US" sz="2000" b="1" dirty="0" err="1">
                <a:solidFill>
                  <a:schemeClr val="bg1"/>
                </a:solidFill>
                <a:latin typeface="Nunito Sans" panose="020B0604020202020204" charset="0"/>
                <a:cs typeface="Courier New" panose="02070309020205020404" pitchFamily="49" charset="0"/>
              </a:rPr>
              <a:t>v.size</a:t>
            </a:r>
            <a:r>
              <a:rPr lang="en-US" sz="2000" b="1" dirty="0">
                <a:solidFill>
                  <a:schemeClr val="bg1"/>
                </a:solidFill>
                <a:latin typeface="Nunito Sans" panose="020B0604020202020204" charset="0"/>
                <a:cs typeface="Courier New" panose="02070309020205020404" pitchFamily="49" charset="0"/>
              </a:rPr>
              <a:t>() == 0)</a:t>
            </a:r>
          </a:p>
          <a:p>
            <a:r>
              <a:rPr lang="en-US" sz="2000" b="1" dirty="0">
                <a:solidFill>
                  <a:schemeClr val="bg1"/>
                </a:solidFill>
                <a:latin typeface="Nunito Sans" panose="020B0604020202020204" charset="0"/>
                <a:cs typeface="Courier New" panose="02070309020205020404" pitchFamily="49" charset="0"/>
              </a:rPr>
              <a:t>                continue;</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Increment the number of operations</a:t>
            </a:r>
          </a:p>
          <a:p>
            <a:r>
              <a:rPr lang="en-US" sz="2000" b="1" dirty="0">
                <a:solidFill>
                  <a:schemeClr val="bg1"/>
                </a:solidFill>
                <a:latin typeface="Nunito Sans" panose="020B0604020202020204" charset="0"/>
                <a:cs typeface="Courier New" panose="02070309020205020404" pitchFamily="49" charset="0"/>
              </a:rPr>
              <a:t>            ret++;</a:t>
            </a:r>
          </a:p>
          <a:p>
            <a:r>
              <a:rPr lang="en-US" sz="2000" b="1" dirty="0">
                <a:solidFill>
                  <a:schemeClr val="bg1"/>
                </a:solidFill>
                <a:latin typeface="Nunito Sans" panose="020B0604020202020204" charset="0"/>
                <a:cs typeface="Courier New" panose="02070309020205020404" pitchFamily="49" charset="0"/>
              </a:rPr>
              <a:t>            List&lt;Integer&gt; v1 = str1array[</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Not possible to convert</a:t>
            </a:r>
          </a:p>
          <a:p>
            <a:r>
              <a:rPr lang="en-US" sz="2000" b="1" dirty="0">
                <a:solidFill>
                  <a:schemeClr val="bg1"/>
                </a:solidFill>
                <a:latin typeface="Nunito Sans" panose="020B0604020202020204" charset="0"/>
                <a:cs typeface="Courier New" panose="02070309020205020404" pitchFamily="49" charset="0"/>
              </a:rPr>
              <a:t>            if (v1.size() == 0)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System.out.println</a:t>
            </a:r>
            <a:r>
              <a:rPr lang="en-US" sz="2000" b="1" dirty="0">
                <a:solidFill>
                  <a:schemeClr val="bg1"/>
                </a:solidFill>
                <a:latin typeface="Nunito Sans" panose="020B0604020202020204" charset="0"/>
                <a:cs typeface="Courier New" panose="02070309020205020404" pitchFamily="49" charset="0"/>
              </a:rPr>
              <a:t>(-1);</a:t>
            </a:r>
          </a:p>
          <a:p>
            <a:r>
              <a:rPr lang="en-US" sz="2000" b="1" dirty="0">
                <a:solidFill>
                  <a:schemeClr val="bg1"/>
                </a:solidFill>
                <a:latin typeface="Nunito Sans" panose="020B0604020202020204" charset="0"/>
                <a:cs typeface="Courier New" panose="02070309020205020404" pitchFamily="49" charset="0"/>
              </a:rPr>
              <a:t>                return;</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to check whether the final element has been added in set S or not.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boolean</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false;</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512654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for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j = 0; j &lt; v1.size(); </a:t>
            </a:r>
            <a:r>
              <a:rPr lang="en-US" sz="2000" b="1" dirty="0" err="1">
                <a:solidFill>
                  <a:schemeClr val="bg1"/>
                </a:solidFill>
                <a:latin typeface="Nunito Sans" panose="020B0604020202020204" charset="0"/>
                <a:cs typeface="Courier New" panose="02070309020205020404" pitchFamily="49" charset="0"/>
              </a:rPr>
              <a:t>j++</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 Check if v1[j] is present in </a:t>
            </a:r>
            <a:r>
              <a:rPr lang="en-US" sz="2000" b="1" dirty="0" err="1">
                <a:solidFill>
                  <a:schemeClr val="bg1"/>
                </a:solidFill>
                <a:latin typeface="Nunito Sans" panose="020B0604020202020204" charset="0"/>
                <a:cs typeface="Courier New" panose="02070309020205020404" pitchFamily="49" charset="0"/>
              </a:rPr>
              <a:t>hashmap</a:t>
            </a:r>
            <a:r>
              <a:rPr lang="en-US" sz="2000" b="1" dirty="0">
                <a:solidFill>
                  <a:schemeClr val="bg1"/>
                </a:solidFill>
                <a:latin typeface="Nunito Sans" panose="020B0604020202020204" charset="0"/>
                <a:cs typeface="Courier New" panose="02070309020205020404" pitchFamily="49" charset="0"/>
              </a:rPr>
              <a:t> or not</a:t>
            </a:r>
          </a:p>
          <a:p>
            <a:r>
              <a:rPr lang="en-US" sz="2000" b="1" dirty="0">
                <a:solidFill>
                  <a:schemeClr val="bg1"/>
                </a:solidFill>
                <a:latin typeface="Nunito Sans" panose="020B0604020202020204" charset="0"/>
                <a:cs typeface="Courier New" panose="02070309020205020404" pitchFamily="49" charset="0"/>
              </a:rPr>
              <a:t>                if (</a:t>
            </a:r>
            <a:r>
              <a:rPr lang="en-US" sz="2000" b="1" dirty="0" err="1">
                <a:solidFill>
                  <a:schemeClr val="bg1"/>
                </a:solidFill>
                <a:latin typeface="Nunito Sans" panose="020B0604020202020204" charset="0"/>
                <a:cs typeface="Courier New" panose="02070309020205020404" pitchFamily="49" charset="0"/>
              </a:rPr>
              <a:t>convertMap.containsKey</a:t>
            </a:r>
            <a:r>
              <a:rPr lang="en-US" sz="2000" b="1" dirty="0">
                <a:solidFill>
                  <a:schemeClr val="bg1"/>
                </a:solidFill>
                <a:latin typeface="Nunito Sans" panose="020B0604020202020204" charset="0"/>
                <a:cs typeface="Courier New" panose="02070309020205020404" pitchFamily="49" charset="0"/>
              </a:rPr>
              <a:t>(v1.get(j))) {</a:t>
            </a:r>
          </a:p>
          <a:p>
            <a:r>
              <a:rPr lang="en-US" sz="2000" b="1" dirty="0">
                <a:solidFill>
                  <a:schemeClr val="bg1"/>
                </a:solidFill>
                <a:latin typeface="Nunito Sans" panose="020B0604020202020204" charset="0"/>
                <a:cs typeface="Courier New" panose="02070309020205020404" pitchFamily="49" charset="0"/>
              </a:rPr>
              <a:t>                    char a = </a:t>
            </a:r>
            <a:r>
              <a:rPr lang="en-US" sz="2000" b="1" dirty="0" err="1">
                <a:solidFill>
                  <a:schemeClr val="bg1"/>
                </a:solidFill>
                <a:latin typeface="Nunito Sans" panose="020B0604020202020204" charset="0"/>
                <a:cs typeface="Courier New" panose="02070309020205020404" pitchFamily="49" charset="0"/>
              </a:rPr>
              <a:t>convertMap.get</a:t>
            </a:r>
            <a:r>
              <a:rPr lang="en-US" sz="2000" b="1" dirty="0">
                <a:solidFill>
                  <a:schemeClr val="bg1"/>
                </a:solidFill>
                <a:latin typeface="Nunito Sans" panose="020B0604020202020204" charset="0"/>
                <a:cs typeface="Courier New" panose="02070309020205020404" pitchFamily="49" charset="0"/>
              </a:rPr>
              <a:t>(v1.get(j));</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Already converted then continue</a:t>
            </a:r>
          </a:p>
          <a:p>
            <a:r>
              <a:rPr lang="en-US" sz="2000" b="1" dirty="0">
                <a:solidFill>
                  <a:schemeClr val="bg1"/>
                </a:solidFill>
                <a:latin typeface="Nunito Sans" panose="020B0604020202020204" charset="0"/>
                <a:cs typeface="Courier New" panose="02070309020205020404" pitchFamily="49" charset="0"/>
              </a:rPr>
              <a:t>                    if (a &gt;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a:t>
            </a:r>
          </a:p>
          <a:p>
            <a:r>
              <a:rPr lang="en-US" sz="2000" b="1" dirty="0">
                <a:solidFill>
                  <a:schemeClr val="bg1"/>
                </a:solidFill>
                <a:latin typeface="Nunito Sans" panose="020B0604020202020204" charset="0"/>
                <a:cs typeface="Courier New" panose="02070309020205020404" pitchFamily="49" charset="0"/>
              </a:rPr>
              <a:t>                        continue;</a:t>
            </a:r>
          </a:p>
          <a:p>
            <a:r>
              <a:rPr lang="en-US" sz="2000" b="1" dirty="0">
                <a:solidFill>
                  <a:schemeClr val="bg1"/>
                </a:solidFill>
                <a:latin typeface="Nunito Sans" panose="020B0604020202020204" charset="0"/>
                <a:cs typeface="Courier New" panose="02070309020205020404" pitchFamily="49" charset="0"/>
              </a:rPr>
              <a:t>                    else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v.add</a:t>
            </a:r>
            <a:r>
              <a:rPr lang="en-US" sz="2000" b="1" dirty="0">
                <a:solidFill>
                  <a:schemeClr val="bg1"/>
                </a:solidFill>
                <a:latin typeface="Nunito Sans" panose="020B0604020202020204" charset="0"/>
                <a:cs typeface="Courier New" panose="02070309020205020404" pitchFamily="49" charset="0"/>
              </a:rPr>
              <a:t>(v1.get(j));</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true;</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retv.add</a:t>
            </a:r>
            <a:r>
              <a:rPr lang="en-US" sz="2000" b="1" dirty="0">
                <a:solidFill>
                  <a:schemeClr val="bg1"/>
                </a:solidFill>
                <a:latin typeface="Nunito Sans" panose="020B0604020202020204" charset="0"/>
                <a:cs typeface="Courier New" panose="02070309020205020404" pitchFamily="49" charset="0"/>
              </a:rPr>
              <a:t>(v);</a:t>
            </a:r>
          </a:p>
          <a:p>
            <a:r>
              <a:rPr lang="en-US" sz="2000" b="1" dirty="0">
                <a:solidFill>
                  <a:schemeClr val="bg1"/>
                </a:solidFill>
                <a:latin typeface="Nunito Sans" panose="020B0604020202020204" charset="0"/>
                <a:cs typeface="Courier New" panose="02070309020205020404" pitchFamily="49" charset="0"/>
              </a:rPr>
              <a:t>                        break;</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 else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v.add</a:t>
            </a:r>
            <a:r>
              <a:rPr lang="en-US" sz="2000" b="1" dirty="0">
                <a:solidFill>
                  <a:schemeClr val="bg1"/>
                </a:solidFill>
                <a:latin typeface="Nunito Sans" panose="020B0604020202020204" charset="0"/>
                <a:cs typeface="Courier New" panose="02070309020205020404" pitchFamily="49" charset="0"/>
              </a:rPr>
              <a:t>(v1.get(j));</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true;</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retv.add</a:t>
            </a:r>
            <a:r>
              <a:rPr lang="en-US" sz="2000" b="1" dirty="0">
                <a:solidFill>
                  <a:schemeClr val="bg1"/>
                </a:solidFill>
                <a:latin typeface="Nunito Sans" panose="020B0604020202020204" charset="0"/>
                <a:cs typeface="Courier New" panose="02070309020205020404" pitchFamily="49" charset="0"/>
              </a:rPr>
              <a:t>(v);</a:t>
            </a:r>
          </a:p>
          <a:p>
            <a:r>
              <a:rPr lang="en-US" sz="2000" b="1" dirty="0">
                <a:solidFill>
                  <a:schemeClr val="bg1"/>
                </a:solidFill>
                <a:latin typeface="Nunito Sans" panose="020B0604020202020204" charset="0"/>
                <a:cs typeface="Courier New" panose="02070309020205020404" pitchFamily="49" charset="0"/>
              </a:rPr>
              <a:t>                    break;</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38744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 Not possible to convert</a:t>
            </a:r>
          </a:p>
          <a:p>
            <a:r>
              <a:rPr lang="en-US" sz="2000" b="1" dirty="0">
                <a:solidFill>
                  <a:schemeClr val="bg1"/>
                </a:solidFill>
                <a:latin typeface="Nunito Sans" panose="020B0604020202020204" charset="0"/>
                <a:cs typeface="Courier New" panose="02070309020205020404" pitchFamily="49" charset="0"/>
              </a:rPr>
              <a:t>            if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System.out.println</a:t>
            </a:r>
            <a:r>
              <a:rPr lang="en-US" sz="2000" b="1" dirty="0">
                <a:solidFill>
                  <a:schemeClr val="bg1"/>
                </a:solidFill>
                <a:latin typeface="Nunito Sans" panose="020B0604020202020204" charset="0"/>
                <a:cs typeface="Courier New" panose="02070309020205020404" pitchFamily="49" charset="0"/>
              </a:rPr>
              <a:t>(-1);</a:t>
            </a:r>
          </a:p>
          <a:p>
            <a:r>
              <a:rPr lang="en-US" sz="2000" b="1" dirty="0">
                <a:solidFill>
                  <a:schemeClr val="bg1"/>
                </a:solidFill>
                <a:latin typeface="Nunito Sans" panose="020B0604020202020204" charset="0"/>
                <a:cs typeface="Courier New" panose="02070309020205020404" pitchFamily="49" charset="0"/>
              </a:rPr>
              <a:t>                return;</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Print the result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System.out.println</a:t>
            </a:r>
            <a:r>
              <a:rPr lang="en-US" sz="2000" b="1" dirty="0">
                <a:solidFill>
                  <a:schemeClr val="bg1"/>
                </a:solidFill>
                <a:latin typeface="Nunito Sans" panose="020B0604020202020204" charset="0"/>
                <a:cs typeface="Courier New" panose="02070309020205020404" pitchFamily="49" charset="0"/>
              </a:rPr>
              <a:t>(ret);</a:t>
            </a:r>
          </a:p>
          <a:p>
            <a:r>
              <a:rPr lang="en-US" sz="2000" b="1" dirty="0">
                <a:solidFill>
                  <a:schemeClr val="bg1"/>
                </a:solidFill>
                <a:latin typeface="Nunito Sans" panose="020B0604020202020204" charset="0"/>
                <a:cs typeface="Courier New" panose="02070309020205020404" pitchFamily="49" charset="0"/>
              </a:rPr>
              <a:t>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public static void main(String[] </a:t>
            </a:r>
            <a:r>
              <a:rPr lang="en-US" sz="2000" b="1" dirty="0" err="1">
                <a:solidFill>
                  <a:schemeClr val="bg1"/>
                </a:solidFill>
                <a:latin typeface="Nunito Sans" panose="020B0604020202020204" charset="0"/>
                <a:cs typeface="Courier New" panose="02070309020205020404" pitchFamily="49" charset="0"/>
              </a:rPr>
              <a:t>args</a:t>
            </a:r>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        Scanner </a:t>
            </a:r>
            <a:r>
              <a:rPr lang="en-US" sz="2000" b="1" dirty="0" err="1">
                <a:solidFill>
                  <a:schemeClr val="bg1"/>
                </a:solidFill>
                <a:latin typeface="Nunito Sans" panose="020B0604020202020204" charset="0"/>
                <a:cs typeface="Courier New" panose="02070309020205020404" pitchFamily="49" charset="0"/>
              </a:rPr>
              <a:t>scanner</a:t>
            </a:r>
            <a:r>
              <a:rPr lang="en-US" sz="2000" b="1" dirty="0">
                <a:solidFill>
                  <a:schemeClr val="bg1"/>
                </a:solidFill>
                <a:latin typeface="Nunito Sans" panose="020B0604020202020204" charset="0"/>
                <a:cs typeface="Courier New" panose="02070309020205020404" pitchFamily="49" charset="0"/>
              </a:rPr>
              <a:t> = new Scanner(System.in);</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 N = </a:t>
            </a:r>
            <a:r>
              <a:rPr lang="en-US" sz="2000" b="1" dirty="0" err="1">
                <a:solidFill>
                  <a:schemeClr val="bg1"/>
                </a:solidFill>
                <a:latin typeface="Nunito Sans" panose="020B0604020202020204" charset="0"/>
                <a:cs typeface="Courier New" panose="02070309020205020404" pitchFamily="49" charset="0"/>
              </a:rPr>
              <a:t>scanner.nextInt</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String A = </a:t>
            </a:r>
            <a:r>
              <a:rPr lang="en-US" sz="2000" b="1" dirty="0" err="1">
                <a:solidFill>
                  <a:schemeClr val="bg1"/>
                </a:solidFill>
                <a:latin typeface="Nunito Sans" panose="020B0604020202020204" charset="0"/>
                <a:cs typeface="Courier New" panose="02070309020205020404" pitchFamily="49" charset="0"/>
              </a:rPr>
              <a:t>scanner.next</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String B = </a:t>
            </a:r>
            <a:r>
              <a:rPr lang="en-US" sz="2000" b="1" dirty="0" err="1">
                <a:solidFill>
                  <a:schemeClr val="bg1"/>
                </a:solidFill>
                <a:latin typeface="Nunito Sans" panose="020B0604020202020204" charset="0"/>
                <a:cs typeface="Courier New" panose="02070309020205020404" pitchFamily="49" charset="0"/>
              </a:rPr>
              <a:t>scanner.next</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transformString</a:t>
            </a:r>
            <a:r>
              <a:rPr lang="en-US" sz="2000" b="1" dirty="0">
                <a:solidFill>
                  <a:schemeClr val="bg1"/>
                </a:solidFill>
                <a:latin typeface="Nunito Sans" panose="020B0604020202020204" charset="0"/>
                <a:cs typeface="Courier New" panose="02070309020205020404" pitchFamily="49" charset="0"/>
              </a:rPr>
              <a:t>(A, B);</a:t>
            </a:r>
          </a:p>
          <a:p>
            <a:r>
              <a:rPr lang="en-US" sz="2000" b="1" dirty="0">
                <a:solidFill>
                  <a:schemeClr val="bg1"/>
                </a:solidFill>
                <a:latin typeface="Nunito Sans" panose="020B0604020202020204" charset="0"/>
                <a:cs typeface="Courier New" panose="02070309020205020404" pitchFamily="49" charset="0"/>
              </a:rPr>
              <a:t>    }</a:t>
            </a:r>
          </a:p>
          <a:p>
            <a:r>
              <a:rPr lang="en-US" sz="2000" b="1" dirty="0">
                <a:solidFill>
                  <a:schemeClr val="bg1"/>
                </a:solidFill>
                <a:latin typeface="Nunito Sans" panose="020B0604020202020204" charset="0"/>
                <a:cs typeface="Courier New" panose="02070309020205020404" pitchFamily="49" charset="0"/>
              </a:rPr>
              <a:t>}</a:t>
            </a:r>
          </a:p>
          <a:p>
            <a:endParaRPr lang="en-US" sz="2000" b="1" dirty="0">
              <a:solidFill>
                <a:schemeClr val="bg1"/>
              </a:solidFill>
              <a:latin typeface="Nunito Sans" panose="020B060402020202020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73639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err="1">
                <a:solidFill>
                  <a:schemeClr val="bg1"/>
                </a:solidFill>
                <a:latin typeface="Nunito Sans" panose="020B0604020202020204" charset="0"/>
                <a:cs typeface="Courier New" panose="02070309020205020404" pitchFamily="49" charset="0"/>
              </a:rPr>
              <a:t>def</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transformString</a:t>
            </a:r>
            <a:r>
              <a:rPr lang="en-US" sz="2000" b="1" dirty="0">
                <a:solidFill>
                  <a:schemeClr val="bg1"/>
                </a:solidFill>
                <a:latin typeface="Nunito Sans" panose="020B0604020202020204" charset="0"/>
                <a:cs typeface="Courier New" panose="02070309020205020404" pitchFamily="49" charset="0"/>
              </a:rPr>
              <a:t>(str1, str2):</a:t>
            </a:r>
          </a:p>
          <a:p>
            <a:r>
              <a:rPr lang="en-US" sz="2000" b="1" dirty="0">
                <a:solidFill>
                  <a:schemeClr val="bg1"/>
                </a:solidFill>
                <a:latin typeface="Nunito Sans" panose="020B0604020202020204" charset="0"/>
                <a:cs typeface="Courier New" panose="02070309020205020404" pitchFamily="49" charset="0"/>
              </a:rPr>
              <a:t>    N = </a:t>
            </a:r>
            <a:r>
              <a:rPr lang="en-US" sz="2000" b="1" dirty="0" err="1">
                <a:solidFill>
                  <a:schemeClr val="bg1"/>
                </a:solidFill>
                <a:latin typeface="Nunito Sans" panose="020B0604020202020204" charset="0"/>
                <a:cs typeface="Courier New" panose="02070309020205020404" pitchFamily="49" charset="0"/>
              </a:rPr>
              <a:t>len</a:t>
            </a:r>
            <a:r>
              <a:rPr lang="en-US" sz="2000" b="1" dirty="0">
                <a:solidFill>
                  <a:schemeClr val="bg1"/>
                </a:solidFill>
                <a:latin typeface="Nunito Sans" panose="020B0604020202020204" charset="0"/>
                <a:cs typeface="Courier New" panose="02070309020205020404" pitchFamily="49" charset="0"/>
              </a:rPr>
              <a:t>(str1)</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 = [[] for _ in range(26)]</a:t>
            </a:r>
          </a:p>
          <a:p>
            <a:r>
              <a:rPr lang="en-US" sz="2000" b="1" dirty="0">
                <a:solidFill>
                  <a:schemeClr val="bg1"/>
                </a:solidFill>
                <a:latin typeface="Nunito Sans" panose="020B0604020202020204" charset="0"/>
                <a:cs typeface="Courier New" panose="02070309020205020404" pitchFamily="49" charset="0"/>
              </a:rPr>
              <a:t>    str1array = [[] for _ in range(26)]</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Initialize both arrays</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 =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Filling str1array,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 and </a:t>
            </a:r>
            <a:r>
              <a:rPr lang="en-US" sz="2000" b="1" dirty="0" err="1">
                <a:solidFill>
                  <a:schemeClr val="bg1"/>
                </a:solidFill>
                <a:latin typeface="Nunito Sans" panose="020B0604020202020204" charset="0"/>
                <a:cs typeface="Courier New" panose="02070309020205020404" pitchFamily="49" charset="0"/>
              </a:rPr>
              <a:t>hashmap</a:t>
            </a:r>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in range(N):</a:t>
            </a:r>
          </a:p>
          <a:p>
            <a:r>
              <a:rPr lang="en-US" sz="2000" b="1" dirty="0">
                <a:solidFill>
                  <a:schemeClr val="bg1"/>
                </a:solidFill>
                <a:latin typeface="Nunito Sans" panose="020B0604020202020204" charset="0"/>
                <a:cs typeface="Courier New" panose="02070309020205020404" pitchFamily="49" charset="0"/>
              </a:rPr>
              <a:t>        str1array[</a:t>
            </a:r>
            <a:r>
              <a:rPr lang="en-US" sz="2000" b="1" dirty="0" err="1">
                <a:solidFill>
                  <a:schemeClr val="bg1"/>
                </a:solidFill>
                <a:latin typeface="Nunito Sans" panose="020B0604020202020204" charset="0"/>
                <a:cs typeface="Courier New" panose="02070309020205020404" pitchFamily="49" charset="0"/>
              </a:rPr>
              <a:t>ord</a:t>
            </a:r>
            <a:r>
              <a:rPr lang="en-US" sz="2000" b="1" dirty="0">
                <a:solidFill>
                  <a:schemeClr val="bg1"/>
                </a:solidFill>
                <a:latin typeface="Nunito Sans" panose="020B0604020202020204" charset="0"/>
                <a:cs typeface="Courier New" panose="02070309020205020404" pitchFamily="49" charset="0"/>
              </a:rPr>
              <a:t>(str1[</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t>
            </a:r>
            <a:r>
              <a:rPr lang="en-US" sz="2000" b="1" dirty="0" err="1">
                <a:solidFill>
                  <a:schemeClr val="bg1"/>
                </a:solidFill>
                <a:latin typeface="Nunito Sans" panose="020B0604020202020204" charset="0"/>
                <a:cs typeface="Courier New" panose="02070309020205020404" pitchFamily="49" charset="0"/>
              </a:rPr>
              <a:t>ord</a:t>
            </a:r>
            <a:r>
              <a:rPr lang="en-US" sz="2000" b="1" dirty="0">
                <a:solidFill>
                  <a:schemeClr val="bg1"/>
                </a:solidFill>
                <a:latin typeface="Nunito Sans" panose="020B0604020202020204" charset="0"/>
                <a:cs typeface="Courier New" panose="02070309020205020404" pitchFamily="49" charset="0"/>
              </a:rPr>
              <a:t>('a')].append(</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in range(N):</a:t>
            </a:r>
          </a:p>
          <a:p>
            <a:r>
              <a:rPr lang="en-US" sz="2000" b="1" dirty="0">
                <a:solidFill>
                  <a:schemeClr val="bg1"/>
                </a:solidFill>
                <a:latin typeface="Nunito Sans" panose="020B0604020202020204" charset="0"/>
                <a:cs typeface="Courier New" panose="02070309020205020404" pitchFamily="49" charset="0"/>
              </a:rPr>
              <a:t>        # Not possible to convert</a:t>
            </a:r>
          </a:p>
          <a:p>
            <a:r>
              <a:rPr lang="en-US" sz="2000" b="1" dirty="0">
                <a:solidFill>
                  <a:schemeClr val="bg1"/>
                </a:solidFill>
                <a:latin typeface="Nunito Sans" panose="020B0604020202020204" charset="0"/>
                <a:cs typeface="Courier New" panose="02070309020205020404" pitchFamily="49" charset="0"/>
              </a:rPr>
              <a:t>        if str1[</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&lt; str2[</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print(-1)</a:t>
            </a:r>
          </a:p>
          <a:p>
            <a:r>
              <a:rPr lang="en-US" sz="2000" b="1" dirty="0">
                <a:solidFill>
                  <a:schemeClr val="bg1"/>
                </a:solidFill>
                <a:latin typeface="Nunito Sans" panose="020B0604020202020204" charset="0"/>
                <a:cs typeface="Courier New" panose="02070309020205020404" pitchFamily="49" charset="0"/>
              </a:rPr>
              <a:t>            return</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elif</a:t>
            </a:r>
            <a:r>
              <a:rPr lang="en-US" sz="2000" b="1" dirty="0">
                <a:solidFill>
                  <a:schemeClr val="bg1"/>
                </a:solidFill>
                <a:latin typeface="Nunito Sans" panose="020B0604020202020204" charset="0"/>
                <a:cs typeface="Courier New" panose="02070309020205020404" pitchFamily="49" charset="0"/>
              </a:rPr>
              <a:t> str1[</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str2[</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continue</a:t>
            </a:r>
          </a:p>
          <a:p>
            <a:r>
              <a:rPr lang="en-US" sz="2000" b="1" dirty="0">
                <a:solidFill>
                  <a:schemeClr val="bg1"/>
                </a:solidFill>
                <a:latin typeface="Nunito Sans" panose="020B0604020202020204" charset="0"/>
                <a:cs typeface="Courier New" panose="02070309020205020404" pitchFamily="49" charset="0"/>
              </a:rPr>
              <a:t>        else:</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ord</a:t>
            </a:r>
            <a:r>
              <a:rPr lang="en-US" sz="2000" b="1" dirty="0">
                <a:solidFill>
                  <a:schemeClr val="bg1"/>
                </a:solidFill>
                <a:latin typeface="Nunito Sans" panose="020B0604020202020204" charset="0"/>
                <a:cs typeface="Courier New" panose="02070309020205020404" pitchFamily="49" charset="0"/>
              </a:rPr>
              <a:t>(str2[</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t>
            </a:r>
            <a:r>
              <a:rPr lang="en-US" sz="2000" b="1" dirty="0" err="1">
                <a:solidFill>
                  <a:schemeClr val="bg1"/>
                </a:solidFill>
                <a:latin typeface="Nunito Sans" panose="020B0604020202020204" charset="0"/>
                <a:cs typeface="Courier New" panose="02070309020205020404" pitchFamily="49" charset="0"/>
              </a:rPr>
              <a:t>ord</a:t>
            </a:r>
            <a:r>
              <a:rPr lang="en-US" sz="2000" b="1" dirty="0">
                <a:solidFill>
                  <a:schemeClr val="bg1"/>
                </a:solidFill>
                <a:latin typeface="Nunito Sans" panose="020B0604020202020204" charset="0"/>
                <a:cs typeface="Courier New" panose="02070309020205020404" pitchFamily="49" charset="0"/>
              </a:rPr>
              <a:t>('a')].append(</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str2[</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84423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 Calculate result</a:t>
            </a:r>
          </a:p>
          <a:p>
            <a:r>
              <a:rPr lang="en-US" sz="2000" b="1" dirty="0">
                <a:solidFill>
                  <a:schemeClr val="bg1"/>
                </a:solidFill>
                <a:latin typeface="Nunito Sans" panose="020B0604020202020204" charset="0"/>
                <a:cs typeface="Courier New" panose="02070309020205020404" pitchFamily="49" charset="0"/>
              </a:rPr>
              <a:t>    # Initializing return values</a:t>
            </a:r>
          </a:p>
          <a:p>
            <a:r>
              <a:rPr lang="en-US" sz="2000" b="1" dirty="0">
                <a:solidFill>
                  <a:schemeClr val="bg1"/>
                </a:solidFill>
                <a:latin typeface="Nunito Sans" panose="020B0604020202020204" charset="0"/>
                <a:cs typeface="Courier New" panose="02070309020205020404" pitchFamily="49" charset="0"/>
              </a:rPr>
              <a:t>    ret = 0</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retv</a:t>
            </a:r>
            <a:r>
              <a:rPr lang="en-US" sz="2000" b="1" dirty="0">
                <a:solidFill>
                  <a:schemeClr val="bg1"/>
                </a:solidFill>
                <a:latin typeface="Nunito Sans" panose="020B0604020202020204" charset="0"/>
                <a:cs typeface="Courier New" panose="02070309020205020404" pitchFamily="49" charset="0"/>
              </a:rPr>
              <a:t> = []</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Iterating the character from the end</a:t>
            </a:r>
          </a:p>
          <a:p>
            <a:r>
              <a:rPr lang="en-US" sz="2000" b="1" dirty="0">
                <a:solidFill>
                  <a:schemeClr val="bg1"/>
                </a:solidFill>
                <a:latin typeface="Nunito Sans" panose="020B0604020202020204" charset="0"/>
                <a:cs typeface="Courier New" panose="02070309020205020404" pitchFamily="49" charset="0"/>
              </a:rPr>
              <a:t>    for </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in range(25, -1, -1):</a:t>
            </a:r>
          </a:p>
          <a:p>
            <a:r>
              <a:rPr lang="en-US" sz="2000" b="1" dirty="0">
                <a:solidFill>
                  <a:schemeClr val="bg1"/>
                </a:solidFill>
                <a:latin typeface="Nunito Sans" panose="020B0604020202020204" charset="0"/>
                <a:cs typeface="Courier New" panose="02070309020205020404" pitchFamily="49" charset="0"/>
              </a:rPr>
              <a:t>        v = </a:t>
            </a:r>
            <a:r>
              <a:rPr lang="en-US" sz="2000" b="1" dirty="0" err="1">
                <a:solidFill>
                  <a:schemeClr val="bg1"/>
                </a:solidFill>
                <a:latin typeface="Nunito Sans" panose="020B0604020202020204" charset="0"/>
                <a:cs typeface="Courier New" panose="02070309020205020404" pitchFamily="49" charset="0"/>
              </a:rPr>
              <a:t>convChar</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if </a:t>
            </a:r>
            <a:r>
              <a:rPr lang="en-US" sz="2000" b="1" dirty="0" err="1">
                <a:solidFill>
                  <a:schemeClr val="bg1"/>
                </a:solidFill>
                <a:latin typeface="Nunito Sans" panose="020B0604020202020204" charset="0"/>
                <a:cs typeface="Courier New" panose="02070309020205020404" pitchFamily="49" charset="0"/>
              </a:rPr>
              <a:t>len</a:t>
            </a:r>
            <a:r>
              <a:rPr lang="en-US" sz="2000" b="1" dirty="0">
                <a:solidFill>
                  <a:schemeClr val="bg1"/>
                </a:solidFill>
                <a:latin typeface="Nunito Sans" panose="020B0604020202020204" charset="0"/>
                <a:cs typeface="Courier New" panose="02070309020205020404" pitchFamily="49" charset="0"/>
              </a:rPr>
              <a:t>(v) == 0:</a:t>
            </a:r>
          </a:p>
          <a:p>
            <a:r>
              <a:rPr lang="en-US" sz="2000" b="1" dirty="0">
                <a:solidFill>
                  <a:schemeClr val="bg1"/>
                </a:solidFill>
                <a:latin typeface="Nunito Sans" panose="020B0604020202020204" charset="0"/>
                <a:cs typeface="Courier New" panose="02070309020205020404" pitchFamily="49" charset="0"/>
              </a:rPr>
              <a:t>            continue</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Increment the number of operations</a:t>
            </a:r>
          </a:p>
          <a:p>
            <a:r>
              <a:rPr lang="en-US" sz="2000" b="1" dirty="0">
                <a:solidFill>
                  <a:schemeClr val="bg1"/>
                </a:solidFill>
                <a:latin typeface="Nunito Sans" panose="020B0604020202020204" charset="0"/>
                <a:cs typeface="Courier New" panose="02070309020205020404" pitchFamily="49" charset="0"/>
              </a:rPr>
              <a:t>        ret += 1</a:t>
            </a:r>
          </a:p>
          <a:p>
            <a:r>
              <a:rPr lang="en-US" sz="2000" b="1" dirty="0">
                <a:solidFill>
                  <a:schemeClr val="bg1"/>
                </a:solidFill>
                <a:latin typeface="Nunito Sans" panose="020B0604020202020204" charset="0"/>
                <a:cs typeface="Courier New" panose="02070309020205020404" pitchFamily="49" charset="0"/>
              </a:rPr>
              <a:t>        v1 = str1array[</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Not possible to convert</a:t>
            </a:r>
          </a:p>
          <a:p>
            <a:r>
              <a:rPr lang="en-US" sz="2000" b="1" dirty="0">
                <a:solidFill>
                  <a:schemeClr val="bg1"/>
                </a:solidFill>
                <a:latin typeface="Nunito Sans" panose="020B0604020202020204" charset="0"/>
                <a:cs typeface="Courier New" panose="02070309020205020404" pitchFamily="49" charset="0"/>
              </a:rPr>
              <a:t>        if </a:t>
            </a:r>
            <a:r>
              <a:rPr lang="en-US" sz="2000" b="1" dirty="0" err="1">
                <a:solidFill>
                  <a:schemeClr val="bg1"/>
                </a:solidFill>
                <a:latin typeface="Nunito Sans" panose="020B0604020202020204" charset="0"/>
                <a:cs typeface="Courier New" panose="02070309020205020404" pitchFamily="49" charset="0"/>
              </a:rPr>
              <a:t>len</a:t>
            </a:r>
            <a:r>
              <a:rPr lang="en-US" sz="2000" b="1" dirty="0">
                <a:solidFill>
                  <a:schemeClr val="bg1"/>
                </a:solidFill>
                <a:latin typeface="Nunito Sans" panose="020B0604020202020204" charset="0"/>
                <a:cs typeface="Courier New" panose="02070309020205020404" pitchFamily="49" charset="0"/>
              </a:rPr>
              <a:t>(v1) == 0:</a:t>
            </a:r>
          </a:p>
          <a:p>
            <a:r>
              <a:rPr lang="en-US" sz="2000" b="1" dirty="0">
                <a:solidFill>
                  <a:schemeClr val="bg1"/>
                </a:solidFill>
                <a:latin typeface="Nunito Sans" panose="020B0604020202020204" charset="0"/>
                <a:cs typeface="Courier New" panose="02070309020205020404" pitchFamily="49" charset="0"/>
              </a:rPr>
              <a:t>            print(-1)</a:t>
            </a:r>
          </a:p>
          <a:p>
            <a:r>
              <a:rPr lang="en-US" sz="2000" b="1" dirty="0">
                <a:solidFill>
                  <a:schemeClr val="bg1"/>
                </a:solidFill>
                <a:latin typeface="Nunito Sans" panose="020B0604020202020204" charset="0"/>
                <a:cs typeface="Courier New" panose="02070309020205020404" pitchFamily="49" charset="0"/>
              </a:rPr>
              <a:t>            return</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to check whether the final element has been added in set S or not.</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False</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91240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for j in range(</a:t>
            </a:r>
            <a:r>
              <a:rPr lang="en-US" sz="2000" b="1" dirty="0" err="1">
                <a:solidFill>
                  <a:schemeClr val="bg1"/>
                </a:solidFill>
                <a:latin typeface="Nunito Sans" panose="020B0604020202020204" charset="0"/>
                <a:cs typeface="Courier New" panose="02070309020205020404" pitchFamily="49" charset="0"/>
              </a:rPr>
              <a:t>len</a:t>
            </a:r>
            <a:r>
              <a:rPr lang="en-US" sz="2000" b="1" dirty="0">
                <a:solidFill>
                  <a:schemeClr val="bg1"/>
                </a:solidFill>
                <a:latin typeface="Nunito Sans" panose="020B0604020202020204" charset="0"/>
                <a:cs typeface="Courier New" panose="02070309020205020404" pitchFamily="49" charset="0"/>
              </a:rPr>
              <a:t>(v1)):</a:t>
            </a:r>
          </a:p>
          <a:p>
            <a:r>
              <a:rPr lang="en-US" sz="2000" b="1" dirty="0">
                <a:solidFill>
                  <a:schemeClr val="bg1"/>
                </a:solidFill>
                <a:latin typeface="Nunito Sans" panose="020B0604020202020204" charset="0"/>
                <a:cs typeface="Courier New" panose="02070309020205020404" pitchFamily="49" charset="0"/>
              </a:rPr>
              <a:t>            # Check if v1[j] is present in </a:t>
            </a:r>
            <a:r>
              <a:rPr lang="en-US" sz="2000" b="1" dirty="0" err="1">
                <a:solidFill>
                  <a:schemeClr val="bg1"/>
                </a:solidFill>
                <a:latin typeface="Nunito Sans" panose="020B0604020202020204" charset="0"/>
                <a:cs typeface="Courier New" panose="02070309020205020404" pitchFamily="49" charset="0"/>
              </a:rPr>
              <a:t>hashmap</a:t>
            </a:r>
            <a:r>
              <a:rPr lang="en-US" sz="2000" b="1" dirty="0">
                <a:solidFill>
                  <a:schemeClr val="bg1"/>
                </a:solidFill>
                <a:latin typeface="Nunito Sans" panose="020B0604020202020204" charset="0"/>
                <a:cs typeface="Courier New" panose="02070309020205020404" pitchFamily="49" charset="0"/>
              </a:rPr>
              <a:t> or not</a:t>
            </a:r>
          </a:p>
          <a:p>
            <a:r>
              <a:rPr lang="en-US" sz="2000" b="1" dirty="0">
                <a:solidFill>
                  <a:schemeClr val="bg1"/>
                </a:solidFill>
                <a:latin typeface="Nunito Sans" panose="020B0604020202020204" charset="0"/>
                <a:cs typeface="Courier New" panose="02070309020205020404" pitchFamily="49" charset="0"/>
              </a:rPr>
              <a:t>            if v1[j] in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a = </a:t>
            </a:r>
            <a:r>
              <a:rPr lang="en-US" sz="2000" b="1" dirty="0" err="1">
                <a:solidFill>
                  <a:schemeClr val="bg1"/>
                </a:solidFill>
                <a:latin typeface="Nunito Sans" panose="020B0604020202020204" charset="0"/>
                <a:cs typeface="Courier New" panose="02070309020205020404" pitchFamily="49" charset="0"/>
              </a:rPr>
              <a:t>convertMap</a:t>
            </a:r>
            <a:r>
              <a:rPr lang="en-US" sz="2000" b="1" dirty="0">
                <a:solidFill>
                  <a:schemeClr val="bg1"/>
                </a:solidFill>
                <a:latin typeface="Nunito Sans" panose="020B0604020202020204" charset="0"/>
                <a:cs typeface="Courier New" panose="02070309020205020404" pitchFamily="49" charset="0"/>
              </a:rPr>
              <a:t>[v1[j]]</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 Already converted then continue</a:t>
            </a:r>
          </a:p>
          <a:p>
            <a:r>
              <a:rPr lang="en-US" sz="2000" b="1" dirty="0">
                <a:solidFill>
                  <a:schemeClr val="bg1"/>
                </a:solidFill>
                <a:latin typeface="Nunito Sans" panose="020B0604020202020204" charset="0"/>
                <a:cs typeface="Courier New" panose="02070309020205020404" pitchFamily="49" charset="0"/>
              </a:rPr>
              <a:t>                if a &gt; </a:t>
            </a:r>
            <a:r>
              <a:rPr lang="en-US" sz="2000" b="1" dirty="0" err="1">
                <a:solidFill>
                  <a:schemeClr val="bg1"/>
                </a:solidFill>
                <a:latin typeface="Nunito Sans" panose="020B0604020202020204" charset="0"/>
                <a:cs typeface="Courier New" panose="02070309020205020404" pitchFamily="49" charset="0"/>
              </a:rPr>
              <a:t>chr</a:t>
            </a:r>
            <a:r>
              <a:rPr lang="en-US" sz="2000" b="1" dirty="0">
                <a:solidFill>
                  <a:schemeClr val="bg1"/>
                </a:solidFill>
                <a:latin typeface="Nunito Sans" panose="020B0604020202020204" charset="0"/>
                <a:cs typeface="Courier New" panose="02070309020205020404" pitchFamily="49" charset="0"/>
              </a:rPr>
              <a:t>(</a:t>
            </a:r>
            <a:r>
              <a:rPr lang="en-US" sz="2000" b="1" dirty="0" err="1">
                <a:solidFill>
                  <a:schemeClr val="bg1"/>
                </a:solidFill>
                <a:latin typeface="Nunito Sans" panose="020B0604020202020204" charset="0"/>
                <a:cs typeface="Courier New" panose="02070309020205020404" pitchFamily="49" charset="0"/>
              </a:rPr>
              <a:t>i</a:t>
            </a:r>
            <a:r>
              <a:rPr lang="en-US" sz="2000" b="1" dirty="0">
                <a:solidFill>
                  <a:schemeClr val="bg1"/>
                </a:solidFill>
                <a:latin typeface="Nunito Sans" panose="020B0604020202020204" charset="0"/>
                <a:cs typeface="Courier New" panose="02070309020205020404" pitchFamily="49" charset="0"/>
              </a:rPr>
              <a:t> + </a:t>
            </a:r>
            <a:r>
              <a:rPr lang="en-US" sz="2000" b="1" dirty="0" err="1">
                <a:solidFill>
                  <a:schemeClr val="bg1"/>
                </a:solidFill>
                <a:latin typeface="Nunito Sans" panose="020B0604020202020204" charset="0"/>
                <a:cs typeface="Courier New" panose="02070309020205020404" pitchFamily="49" charset="0"/>
              </a:rPr>
              <a:t>ord</a:t>
            </a:r>
            <a:r>
              <a:rPr lang="en-US" sz="2000" b="1" dirty="0">
                <a:solidFill>
                  <a:schemeClr val="bg1"/>
                </a:solidFill>
                <a:latin typeface="Nunito Sans" panose="020B0604020202020204" charset="0"/>
                <a:cs typeface="Courier New" panose="02070309020205020404" pitchFamily="49" charset="0"/>
              </a:rPr>
              <a:t>('a')):</a:t>
            </a:r>
          </a:p>
          <a:p>
            <a:r>
              <a:rPr lang="en-US" sz="2000" b="1" dirty="0">
                <a:solidFill>
                  <a:schemeClr val="bg1"/>
                </a:solidFill>
                <a:latin typeface="Nunito Sans" panose="020B0604020202020204" charset="0"/>
                <a:cs typeface="Courier New" panose="02070309020205020404" pitchFamily="49" charset="0"/>
              </a:rPr>
              <a:t>                    continue</a:t>
            </a:r>
          </a:p>
          <a:p>
            <a:r>
              <a:rPr lang="en-US" sz="2000" b="1" dirty="0">
                <a:solidFill>
                  <a:schemeClr val="bg1"/>
                </a:solidFill>
                <a:latin typeface="Nunito Sans" panose="020B0604020202020204" charset="0"/>
                <a:cs typeface="Courier New" panose="02070309020205020404" pitchFamily="49" charset="0"/>
              </a:rPr>
              <a:t>                else:</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v.append</a:t>
            </a:r>
            <a:r>
              <a:rPr lang="en-US" sz="2000" b="1" dirty="0">
                <a:solidFill>
                  <a:schemeClr val="bg1"/>
                </a:solidFill>
                <a:latin typeface="Nunito Sans" panose="020B0604020202020204" charset="0"/>
                <a:cs typeface="Courier New" panose="02070309020205020404" pitchFamily="49" charset="0"/>
              </a:rPr>
              <a:t>(v1[j])</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True</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retv.append</a:t>
            </a:r>
            <a:r>
              <a:rPr lang="en-US" sz="2000" b="1" dirty="0">
                <a:solidFill>
                  <a:schemeClr val="bg1"/>
                </a:solidFill>
                <a:latin typeface="Nunito Sans" panose="020B0604020202020204" charset="0"/>
                <a:cs typeface="Courier New" panose="02070309020205020404" pitchFamily="49" charset="0"/>
              </a:rPr>
              <a:t>(v)</a:t>
            </a:r>
          </a:p>
          <a:p>
            <a:r>
              <a:rPr lang="en-US" sz="2000" b="1" dirty="0">
                <a:solidFill>
                  <a:schemeClr val="bg1"/>
                </a:solidFill>
                <a:latin typeface="Nunito Sans" panose="020B0604020202020204" charset="0"/>
                <a:cs typeface="Courier New" panose="02070309020205020404" pitchFamily="49" charset="0"/>
              </a:rPr>
              <a:t>                    break</a:t>
            </a:r>
          </a:p>
          <a:p>
            <a:r>
              <a:rPr lang="en-US" sz="2000" b="1" dirty="0">
                <a:solidFill>
                  <a:schemeClr val="bg1"/>
                </a:solidFill>
                <a:latin typeface="Nunito Sans" panose="020B0604020202020204" charset="0"/>
                <a:cs typeface="Courier New" panose="02070309020205020404" pitchFamily="49" charset="0"/>
              </a:rPr>
              <a:t>            else:</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v.append</a:t>
            </a:r>
            <a:r>
              <a:rPr lang="en-US" sz="2000" b="1" dirty="0">
                <a:solidFill>
                  <a:schemeClr val="bg1"/>
                </a:solidFill>
                <a:latin typeface="Nunito Sans" panose="020B0604020202020204" charset="0"/>
                <a:cs typeface="Courier New" panose="02070309020205020404" pitchFamily="49" charset="0"/>
              </a:rPr>
              <a:t>(v1[j])</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 = True</a:t>
            </a:r>
          </a:p>
          <a:p>
            <a:r>
              <a:rPr lang="en-US" sz="2000" b="1" dirty="0">
                <a:solidFill>
                  <a:schemeClr val="bg1"/>
                </a:solidFill>
                <a:latin typeface="Nunito Sans" panose="020B0604020202020204" charset="0"/>
                <a:cs typeface="Courier New" panose="02070309020205020404" pitchFamily="49" charset="0"/>
              </a:rPr>
              <a:t>                </a:t>
            </a:r>
            <a:r>
              <a:rPr lang="en-US" sz="2000" b="1" dirty="0" err="1">
                <a:solidFill>
                  <a:schemeClr val="bg1"/>
                </a:solidFill>
                <a:latin typeface="Nunito Sans" panose="020B0604020202020204" charset="0"/>
                <a:cs typeface="Courier New" panose="02070309020205020404" pitchFamily="49" charset="0"/>
              </a:rPr>
              <a:t>retv.append</a:t>
            </a:r>
            <a:r>
              <a:rPr lang="en-US" sz="2000" b="1" dirty="0">
                <a:solidFill>
                  <a:schemeClr val="bg1"/>
                </a:solidFill>
                <a:latin typeface="Nunito Sans" panose="020B0604020202020204" charset="0"/>
                <a:cs typeface="Courier New" panose="02070309020205020404" pitchFamily="49" charset="0"/>
              </a:rPr>
              <a:t>(v)</a:t>
            </a:r>
          </a:p>
          <a:p>
            <a:r>
              <a:rPr lang="en-US" sz="2000" b="1" dirty="0">
                <a:solidFill>
                  <a:schemeClr val="bg1"/>
                </a:solidFill>
                <a:latin typeface="Nunito Sans" panose="020B0604020202020204" charset="0"/>
                <a:cs typeface="Courier New" panose="02070309020205020404" pitchFamily="49" charset="0"/>
              </a:rPr>
              <a:t>                break</a:t>
            </a:r>
          </a:p>
          <a:p>
            <a:r>
              <a:rPr lang="en-US" sz="2000" b="1" dirty="0">
                <a:solidFill>
                  <a:schemeClr val="bg1"/>
                </a:solidFill>
                <a:latin typeface="Nunito Sans" panose="020B0604020202020204" charset="0"/>
                <a:cs typeface="Courier New" panose="02070309020205020404" pitchFamily="49" charset="0"/>
              </a:rPr>
              <a:t>        # Not possible to convert</a:t>
            </a:r>
          </a:p>
          <a:p>
            <a:r>
              <a:rPr lang="en-US" sz="2000" b="1" dirty="0">
                <a:solidFill>
                  <a:schemeClr val="bg1"/>
                </a:solidFill>
                <a:latin typeface="Nunito Sans" panose="020B0604020202020204" charset="0"/>
                <a:cs typeface="Courier New" panose="02070309020205020404" pitchFamily="49" charset="0"/>
              </a:rPr>
              <a:t>        if not </a:t>
            </a:r>
            <a:r>
              <a:rPr lang="en-US" sz="2000" b="1" dirty="0" err="1">
                <a:solidFill>
                  <a:schemeClr val="bg1"/>
                </a:solidFill>
                <a:latin typeface="Nunito Sans" panose="020B0604020202020204" charset="0"/>
                <a:cs typeface="Courier New" panose="02070309020205020404" pitchFamily="49" charset="0"/>
              </a:rPr>
              <a:t>isScompleted</a:t>
            </a:r>
            <a:r>
              <a:rPr lang="en-US" sz="2000" b="1" dirty="0">
                <a:solidFill>
                  <a:schemeClr val="bg1"/>
                </a:solidFill>
                <a:latin typeface="Nunito Sans" panose="020B0604020202020204" charset="0"/>
                <a:cs typeface="Courier New" panose="02070309020205020404" pitchFamily="49" charset="0"/>
              </a:rPr>
              <a:t>:</a:t>
            </a:r>
          </a:p>
          <a:p>
            <a:r>
              <a:rPr lang="en-US" sz="2000" b="1" dirty="0">
                <a:solidFill>
                  <a:schemeClr val="bg1"/>
                </a:solidFill>
                <a:latin typeface="Nunito Sans" panose="020B0604020202020204" charset="0"/>
                <a:cs typeface="Courier New" panose="02070309020205020404" pitchFamily="49" charset="0"/>
              </a:rPr>
              <a:t>            print(-1)</a:t>
            </a:r>
          </a:p>
          <a:p>
            <a:r>
              <a:rPr lang="en-US" sz="2000" b="1" dirty="0">
                <a:solidFill>
                  <a:schemeClr val="bg1"/>
                </a:solidFill>
                <a:latin typeface="Nunito Sans" panose="020B0604020202020204" charset="0"/>
                <a:cs typeface="Courier New" panose="02070309020205020404" pitchFamily="49" charset="0"/>
              </a:rPr>
              <a:t>            return</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5924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anose="020B0604020202020204" charset="0"/>
                <a:cs typeface="Courier New" panose="02070309020205020404" pitchFamily="49" charset="0"/>
              </a:rPr>
              <a:t># Print the result</a:t>
            </a:r>
          </a:p>
          <a:p>
            <a:r>
              <a:rPr lang="en-US" sz="2000" b="1" dirty="0">
                <a:solidFill>
                  <a:schemeClr val="bg1"/>
                </a:solidFill>
                <a:latin typeface="Nunito Sans" panose="020B0604020202020204" charset="0"/>
                <a:cs typeface="Courier New" panose="02070309020205020404" pitchFamily="49" charset="0"/>
              </a:rPr>
              <a:t>    print(ret)</a:t>
            </a:r>
          </a:p>
          <a:p>
            <a:endParaRPr lang="en-US" sz="2000" b="1" dirty="0">
              <a:solidFill>
                <a:schemeClr val="bg1"/>
              </a:solidFill>
              <a:latin typeface="Nunito Sans" panose="020B0604020202020204" charset="0"/>
              <a:cs typeface="Courier New" panose="02070309020205020404" pitchFamily="49" charset="0"/>
            </a:endParaRPr>
          </a:p>
          <a:p>
            <a:r>
              <a:rPr lang="en-US" sz="2000" b="1" dirty="0">
                <a:solidFill>
                  <a:schemeClr val="bg1"/>
                </a:solidFill>
                <a:latin typeface="Nunito Sans" panose="020B0604020202020204" charset="0"/>
                <a:cs typeface="Courier New" panose="02070309020205020404" pitchFamily="49" charset="0"/>
              </a:rPr>
              <a:t># Read the input values</a:t>
            </a:r>
          </a:p>
          <a:p>
            <a:r>
              <a:rPr lang="en-US" sz="2000" b="1" dirty="0">
                <a:solidFill>
                  <a:schemeClr val="bg1"/>
                </a:solidFill>
                <a:latin typeface="Nunito Sans" panose="020B0604020202020204" charset="0"/>
                <a:cs typeface="Courier New" panose="02070309020205020404" pitchFamily="49" charset="0"/>
              </a:rPr>
              <a:t>N = </a:t>
            </a:r>
            <a:r>
              <a:rPr lang="en-US" sz="2000" b="1" dirty="0" err="1">
                <a:solidFill>
                  <a:schemeClr val="bg1"/>
                </a:solidFill>
                <a:latin typeface="Nunito Sans" panose="020B0604020202020204" charset="0"/>
                <a:cs typeface="Courier New" panose="02070309020205020404" pitchFamily="49" charset="0"/>
              </a:rPr>
              <a:t>int</a:t>
            </a:r>
            <a:r>
              <a:rPr lang="en-US" sz="2000" b="1" dirty="0">
                <a:solidFill>
                  <a:schemeClr val="bg1"/>
                </a:solidFill>
                <a:latin typeface="Nunito Sans" panose="020B0604020202020204" charset="0"/>
                <a:cs typeface="Courier New" panose="02070309020205020404" pitchFamily="49" charset="0"/>
              </a:rPr>
              <a:t>(input())</a:t>
            </a:r>
          </a:p>
          <a:p>
            <a:r>
              <a:rPr lang="en-US" sz="2000" b="1" dirty="0">
                <a:solidFill>
                  <a:schemeClr val="bg1"/>
                </a:solidFill>
                <a:latin typeface="Nunito Sans" panose="020B0604020202020204" charset="0"/>
                <a:cs typeface="Courier New" panose="02070309020205020404" pitchFamily="49" charset="0"/>
              </a:rPr>
              <a:t>A = input()</a:t>
            </a:r>
          </a:p>
          <a:p>
            <a:r>
              <a:rPr lang="en-US" sz="2000" b="1" dirty="0">
                <a:solidFill>
                  <a:schemeClr val="bg1"/>
                </a:solidFill>
                <a:latin typeface="Nunito Sans" panose="020B0604020202020204" charset="0"/>
                <a:cs typeface="Courier New" panose="02070309020205020404" pitchFamily="49" charset="0"/>
              </a:rPr>
              <a:t>B = input()</a:t>
            </a:r>
          </a:p>
          <a:p>
            <a:r>
              <a:rPr lang="en-US" sz="2000" b="1" dirty="0" err="1">
                <a:solidFill>
                  <a:schemeClr val="bg1"/>
                </a:solidFill>
                <a:latin typeface="Nunito Sans" panose="020B0604020202020204" charset="0"/>
                <a:cs typeface="Courier New" panose="02070309020205020404" pitchFamily="49" charset="0"/>
              </a:rPr>
              <a:t>transformString</a:t>
            </a:r>
            <a:r>
              <a:rPr lang="en-US" sz="2000" b="1" dirty="0">
                <a:solidFill>
                  <a:schemeClr val="bg1"/>
                </a:solidFill>
                <a:latin typeface="Nunito Sans" panose="020B0604020202020204" charset="0"/>
                <a:cs typeface="Courier New" panose="02070309020205020404" pitchFamily="49" charset="0"/>
              </a:rPr>
              <a:t>(A, B)</a:t>
            </a:r>
          </a:p>
          <a:p>
            <a:endParaRPr lang="en-US" sz="2000" b="1" dirty="0">
              <a:solidFill>
                <a:schemeClr val="bg1"/>
              </a:solidFill>
              <a:latin typeface="Nunito Sans" panose="020B0604020202020204"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6397528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553085"/>
          </a:xfrm>
          <a:prstGeom prst="rect">
            <a:avLst/>
          </a:prstGeom>
          <a:noFill/>
        </p:spPr>
        <p:txBody>
          <a:bodyPr wrap="square" rtlCol="0">
            <a:spAutoFit/>
          </a:bodyPr>
          <a:lstStyle/>
          <a:p>
            <a:pPr algn="r"/>
            <a:r>
              <a:rPr lang="en-US" sz="3000" b="1" dirty="0">
                <a:solidFill>
                  <a:schemeClr val="bg1"/>
                </a:solidFill>
                <a:latin typeface="Nunito Sans" pitchFamily="2" charset="0"/>
                <a:sym typeface="+mn-ea"/>
              </a:rPr>
              <a:t>question 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TextBox 14"/>
          <p:cNvSpPr txBox="1"/>
          <p:nvPr/>
        </p:nvSpPr>
        <p:spPr>
          <a:xfrm>
            <a:off x="193675" y="884555"/>
            <a:ext cx="11602720" cy="5478423"/>
          </a:xfrm>
          <a:prstGeom prst="rect">
            <a:avLst/>
          </a:prstGeom>
          <a:noFill/>
        </p:spPr>
        <p:txBody>
          <a:bodyPr wrap="square" rtlCol="0">
            <a:spAutoFit/>
          </a:bodyPr>
          <a:lstStyle/>
          <a:p>
            <a:r>
              <a:rPr lang="en-US" sz="2500" dirty="0">
                <a:latin typeface="Nunito Sans" panose="00000500000000000000" pitchFamily="2" charset="0"/>
                <a:sym typeface="+mn-ea"/>
              </a:rPr>
              <a:t>A boy enters a stationery shop. There are N number of pencils and M number of erasers available in the shop. But the boy's mother insists that he can buy only P number of pencils and E number of erasers. The task here is to find the number of ways the boy can choose 'P' pencils and 'E' erasers from the available N and M pencils &amp; erasers respectively.</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Note:</a:t>
            </a:r>
          </a:p>
          <a:p>
            <a:r>
              <a:rPr lang="en-US" sz="2500" dirty="0">
                <a:latin typeface="Nunito Sans" panose="00000500000000000000" pitchFamily="2" charset="0"/>
                <a:sym typeface="+mn-ea"/>
              </a:rPr>
              <a:t>The boy can choose in any order.</a:t>
            </a:r>
          </a:p>
          <a:p>
            <a:r>
              <a:rPr lang="en-US" sz="2500" dirty="0">
                <a:latin typeface="Nunito Sans" panose="00000500000000000000" pitchFamily="2" charset="0"/>
                <a:sym typeface="+mn-ea"/>
              </a:rPr>
              <a:t>N-number of pencils available in the shop</a:t>
            </a:r>
          </a:p>
          <a:p>
            <a:r>
              <a:rPr lang="en-US" sz="2500" dirty="0">
                <a:latin typeface="Nunito Sans" panose="00000500000000000000" pitchFamily="2" charset="0"/>
                <a:sym typeface="+mn-ea"/>
              </a:rPr>
              <a:t>M-number of erasers available in the shop</a:t>
            </a:r>
          </a:p>
          <a:p>
            <a:r>
              <a:rPr lang="en-US" sz="2500" dirty="0">
                <a:latin typeface="Nunito Sans" panose="00000500000000000000" pitchFamily="2" charset="0"/>
                <a:sym typeface="+mn-ea"/>
              </a:rPr>
              <a:t>P-number of pencils he can choose to buy from N</a:t>
            </a:r>
          </a:p>
          <a:p>
            <a:r>
              <a:rPr lang="en-US" sz="2500" dirty="0">
                <a:latin typeface="Nunito Sans" panose="00000500000000000000" pitchFamily="2" charset="0"/>
                <a:sym typeface="+mn-ea"/>
              </a:rPr>
              <a:t>E-number of erasers he can choose to buy from M</a:t>
            </a:r>
          </a:p>
          <a:p>
            <a:endParaRPr lang="en-US" sz="2500" dirty="0">
              <a:latin typeface="Nunito Sans" panose="00000500000000000000" pitchFamily="2" charset="0"/>
              <a:sym typeface="+mn-ea"/>
            </a:endParaRPr>
          </a:p>
          <a:p>
            <a:r>
              <a:rPr lang="en-US" sz="2500" b="1" dirty="0">
                <a:latin typeface="Nunito Sans" pitchFamily="2" charset="0"/>
                <a:sym typeface="+mn-ea"/>
              </a:rPr>
              <a:t>Example 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553085"/>
          </a:xfrm>
          <a:prstGeom prst="rect">
            <a:avLst/>
          </a:prstGeom>
          <a:noFill/>
        </p:spPr>
        <p:txBody>
          <a:bodyPr wrap="square" rtlCol="0">
            <a:spAutoFit/>
          </a:bodyPr>
          <a:lstStyle/>
          <a:p>
            <a:pPr algn="r"/>
            <a:r>
              <a:rPr lang="en-US" sz="3000" b="1" dirty="0">
                <a:solidFill>
                  <a:schemeClr val="bg1"/>
                </a:solidFill>
                <a:latin typeface="Nunito Sans" pitchFamily="2" charset="0"/>
                <a:sym typeface="+mn-ea"/>
              </a:rPr>
              <a:t>question 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TextBox 14"/>
          <p:cNvSpPr txBox="1"/>
          <p:nvPr/>
        </p:nvSpPr>
        <p:spPr>
          <a:xfrm>
            <a:off x="193675" y="884555"/>
            <a:ext cx="11602720" cy="5862320"/>
          </a:xfrm>
          <a:prstGeom prst="rect">
            <a:avLst/>
          </a:prstGeom>
          <a:noFill/>
        </p:spPr>
        <p:txBody>
          <a:bodyPr wrap="square" rtlCol="0">
            <a:spAutoFit/>
          </a:bodyPr>
          <a:lstStyle/>
          <a:p>
            <a:r>
              <a:rPr lang="en-US" sz="2500" dirty="0">
                <a:latin typeface="Nunito Sans" pitchFamily="2" charset="0"/>
                <a:sym typeface="+mn-ea"/>
              </a:rPr>
              <a:t>I</a:t>
            </a:r>
            <a:r>
              <a:rPr lang="en-US" sz="2500" b="1" dirty="0">
                <a:latin typeface="Nunito Sans" pitchFamily="2" charset="0"/>
                <a:sym typeface="+mn-ea"/>
              </a:rPr>
              <a:t>nput:</a:t>
            </a:r>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3 Value of N M</a:t>
            </a:r>
          </a:p>
          <a:p>
            <a:r>
              <a:rPr lang="en-US" sz="2500" dirty="0">
                <a:latin typeface="Nunito Sans" panose="00000500000000000000" pitchFamily="2" charset="0"/>
                <a:sym typeface="+mn-ea"/>
              </a:rPr>
              <a:t>1 Value of M W</a:t>
            </a:r>
          </a:p>
          <a:p>
            <a:r>
              <a:rPr lang="en-US" sz="2500" dirty="0">
                <a:latin typeface="Nunito Sans" panose="00000500000000000000" pitchFamily="2" charset="0"/>
                <a:sym typeface="+mn-ea"/>
              </a:rPr>
              <a:t>2 Value of P X</a:t>
            </a:r>
          </a:p>
          <a:p>
            <a:r>
              <a:rPr lang="en-US" sz="2500" dirty="0">
                <a:latin typeface="Nunito Sans" panose="00000500000000000000" pitchFamily="2" charset="0"/>
                <a:sym typeface="+mn-ea"/>
              </a:rPr>
              <a:t>1 Value of E Y</a:t>
            </a:r>
          </a:p>
          <a:p>
            <a:endParaRPr lang="en-US" sz="2500" dirty="0">
              <a:latin typeface="Nunito Sans" panose="00000500000000000000" pitchFamily="2" charset="0"/>
              <a:sym typeface="+mn-ea"/>
            </a:endParaRPr>
          </a:p>
          <a:p>
            <a:r>
              <a:rPr lang="en-US" sz="2500" b="1" dirty="0">
                <a:latin typeface="Nunito Sans" pitchFamily="2" charset="0"/>
                <a:sym typeface="+mn-ea"/>
              </a:rPr>
              <a:t>Output:</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3           Number of ways we can choose</a:t>
            </a:r>
          </a:p>
          <a:p>
            <a:endParaRPr lang="en-US" sz="2500" dirty="0">
              <a:latin typeface="Nunito Sans" panose="00000500000000000000" pitchFamily="2" charset="0"/>
              <a:sym typeface="+mn-ea"/>
            </a:endParaRPr>
          </a:p>
          <a:p>
            <a:r>
              <a:rPr lang="en-US" sz="2500" b="1" dirty="0">
                <a:latin typeface="Nunito Sans" pitchFamily="2" charset="0"/>
                <a:sym typeface="+mn-ea"/>
              </a:rPr>
              <a:t>Explanation 1</a:t>
            </a:r>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From the input given above</a:t>
            </a:r>
          </a:p>
          <a:p>
            <a:r>
              <a:rPr lang="en-US" sz="2500" dirty="0">
                <a:latin typeface="Nunito Sans" panose="00000500000000000000" pitchFamily="2" charset="0"/>
                <a:sym typeface="+mn-ea"/>
              </a:rPr>
              <a:t>1st way of selecting:</a:t>
            </a:r>
          </a:p>
          <a:p>
            <a:r>
              <a:rPr lang="en-US" sz="2500" dirty="0">
                <a:latin typeface="Nunito Sans" panose="00000500000000000000" pitchFamily="2" charset="0"/>
                <a:sym typeface="+mn-ea"/>
              </a:rPr>
              <a:t>Select 1st and 2nd pencils, 1 eraser</a:t>
            </a:r>
          </a:p>
          <a:p>
            <a:r>
              <a:rPr lang="en-US" sz="2500" dirty="0">
                <a:latin typeface="Nunito Sans" panose="00000500000000000000" pitchFamily="2" charset="0"/>
                <a:sym typeface="+mn-ea"/>
              </a:rPr>
              <a:t>2nd way of selecting: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361632" y="0"/>
            <a:ext cx="11468735" cy="707886"/>
          </a:xfrm>
          <a:prstGeom prst="rect">
            <a:avLst/>
          </a:prstGeom>
          <a:noFill/>
        </p:spPr>
        <p:txBody>
          <a:bodyPr wrap="square" rtlCol="0">
            <a:spAutoFit/>
          </a:bodyPr>
          <a:lstStyle/>
          <a:p>
            <a:pPr algn="r"/>
            <a:r>
              <a:rPr lang="en-US" sz="4000" b="1" dirty="0">
                <a:solidFill>
                  <a:schemeClr val="bg1"/>
                </a:solidFill>
                <a:latin typeface="Nunito Sans" pitchFamily="2" charset="0"/>
                <a:sym typeface="+mn-ea"/>
              </a:rPr>
              <a:t>question 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TextBox 14"/>
          <p:cNvSpPr txBox="1"/>
          <p:nvPr/>
        </p:nvSpPr>
        <p:spPr>
          <a:xfrm>
            <a:off x="127000" y="995680"/>
            <a:ext cx="11967845" cy="5862320"/>
          </a:xfrm>
          <a:prstGeom prst="rect">
            <a:avLst/>
          </a:prstGeom>
          <a:noFill/>
        </p:spPr>
        <p:txBody>
          <a:bodyPr wrap="square" rtlCol="0">
            <a:spAutoFit/>
          </a:bodyPr>
          <a:lstStyle/>
          <a:p>
            <a:r>
              <a:rPr lang="en-US" sz="2500" dirty="0">
                <a:latin typeface="Nunito Sans" panose="00000500000000000000" pitchFamily="2" charset="0"/>
                <a:sym typeface="+mn-ea"/>
              </a:rPr>
              <a:t>Select 2nd and 3rd pencils, 1 eraser</a:t>
            </a:r>
          </a:p>
          <a:p>
            <a:r>
              <a:rPr lang="en-US" sz="2500" dirty="0">
                <a:latin typeface="Nunito Sans" panose="00000500000000000000" pitchFamily="2" charset="0"/>
                <a:sym typeface="+mn-ea"/>
              </a:rPr>
              <a:t>1st way of selecting:</a:t>
            </a:r>
          </a:p>
          <a:p>
            <a:r>
              <a:rPr lang="en-US" sz="2500" dirty="0">
                <a:latin typeface="Nunito Sans" panose="00000500000000000000" pitchFamily="2" charset="0"/>
                <a:sym typeface="+mn-ea"/>
              </a:rPr>
              <a:t>Select 1st and 3rd pencils, 1 eraser</a:t>
            </a:r>
          </a:p>
          <a:p>
            <a:r>
              <a:rPr lang="en-US" sz="2500" dirty="0">
                <a:latin typeface="Nunito Sans" panose="00000500000000000000" pitchFamily="2" charset="0"/>
                <a:sym typeface="+mn-ea"/>
              </a:rPr>
              <a:t>The Possible number of ways selecting 2 pencils and 1 eraser is 3</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Hence the output is 3.</a:t>
            </a:r>
          </a:p>
          <a:p>
            <a:endParaRPr lang="en-US" sz="2500" dirty="0">
              <a:latin typeface="Nunito Sans" panose="00000500000000000000" pitchFamily="2" charset="0"/>
              <a:sym typeface="+mn-ea"/>
            </a:endParaRPr>
          </a:p>
          <a:p>
            <a:r>
              <a:rPr lang="en-US" sz="2500" b="1" dirty="0">
                <a:latin typeface="Nunito Sans" pitchFamily="2" charset="0"/>
                <a:sym typeface="+mn-ea"/>
              </a:rPr>
              <a:t>Example 2</a:t>
            </a:r>
          </a:p>
          <a:p>
            <a:r>
              <a:rPr lang="en-US" sz="2500" dirty="0">
                <a:latin typeface="Nunito Sans" pitchFamily="2" charset="0"/>
                <a:sym typeface="+mn-ea"/>
              </a:rPr>
              <a:t>I</a:t>
            </a:r>
            <a:r>
              <a:rPr lang="en-US" sz="2500" b="1" dirty="0">
                <a:latin typeface="Nunito Sans" pitchFamily="2" charset="0"/>
                <a:sym typeface="+mn-ea"/>
              </a:rPr>
              <a:t>nput:</a:t>
            </a:r>
          </a:p>
          <a:p>
            <a:r>
              <a:rPr lang="en-US" sz="2500" dirty="0">
                <a:latin typeface="Nunito Sans" panose="00000500000000000000" pitchFamily="2" charset="0"/>
                <a:sym typeface="+mn-ea"/>
              </a:rPr>
              <a:t>5-&gt;Value of N</a:t>
            </a:r>
          </a:p>
          <a:p>
            <a:r>
              <a:rPr lang="en-US" sz="2500" dirty="0">
                <a:latin typeface="Nunito Sans" panose="00000500000000000000" pitchFamily="2" charset="0"/>
                <a:sym typeface="+mn-ea"/>
              </a:rPr>
              <a:t>3-&gt;Value of M</a:t>
            </a:r>
          </a:p>
          <a:p>
            <a:r>
              <a:rPr lang="en-US" sz="2500" dirty="0">
                <a:latin typeface="Nunito Sans" panose="00000500000000000000" pitchFamily="2" charset="0"/>
                <a:sym typeface="+mn-ea"/>
              </a:rPr>
              <a:t>5-&gt;Value of P</a:t>
            </a:r>
          </a:p>
          <a:p>
            <a:r>
              <a:rPr lang="en-US" sz="2500" dirty="0">
                <a:latin typeface="Nunito Sans" panose="00000500000000000000" pitchFamily="2" charset="0"/>
                <a:sym typeface="+mn-ea"/>
              </a:rPr>
              <a:t>3-&gt;Value of E</a:t>
            </a:r>
          </a:p>
          <a:p>
            <a:endParaRPr lang="en-US" sz="2500" dirty="0">
              <a:latin typeface="Nunito Sans" panose="00000500000000000000" pitchFamily="2" charset="0"/>
              <a:sym typeface="+mn-ea"/>
            </a:endParaRPr>
          </a:p>
          <a:p>
            <a:r>
              <a:rPr lang="en-US" sz="2500" b="1" dirty="0">
                <a:latin typeface="Nunito Sans" pitchFamily="2" charset="0"/>
                <a:sym typeface="+mn-ea"/>
              </a:rPr>
              <a:t>Output: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553085"/>
          </a:xfrm>
          <a:prstGeom prst="rect">
            <a:avLst/>
          </a:prstGeom>
          <a:noFill/>
        </p:spPr>
        <p:txBody>
          <a:bodyPr wrap="square" rtlCol="0">
            <a:spAutoFit/>
          </a:bodyPr>
          <a:lstStyle/>
          <a:p>
            <a:pPr algn="r"/>
            <a:r>
              <a:rPr lang="en-US" sz="3000" b="1" dirty="0">
                <a:solidFill>
                  <a:schemeClr val="bg1"/>
                </a:solidFill>
                <a:latin typeface="Nunito Sans" pitchFamily="2" charset="0"/>
                <a:sym typeface="+mn-ea"/>
              </a:rPr>
              <a:t>question 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TextBox 14"/>
          <p:cNvSpPr txBox="1"/>
          <p:nvPr/>
        </p:nvSpPr>
        <p:spPr>
          <a:xfrm>
            <a:off x="127000" y="995680"/>
            <a:ext cx="11967845" cy="5862320"/>
          </a:xfrm>
          <a:prstGeom prst="rect">
            <a:avLst/>
          </a:prstGeom>
          <a:noFill/>
        </p:spPr>
        <p:txBody>
          <a:bodyPr wrap="square" rtlCol="0">
            <a:spAutoFit/>
          </a:bodyPr>
          <a:lstStyle/>
          <a:p>
            <a:r>
              <a:rPr lang="en-US" sz="2500" dirty="0">
                <a:latin typeface="Nunito Sans" panose="00000500000000000000" pitchFamily="2" charset="0"/>
                <a:sym typeface="+mn-ea"/>
              </a:rPr>
              <a:t>-&gt;.Number of ways we can choose</a:t>
            </a:r>
          </a:p>
          <a:p>
            <a:endParaRPr lang="en-US" sz="2500" dirty="0">
              <a:latin typeface="Nunito Sans" panose="00000500000000000000" pitchFamily="2" charset="0"/>
              <a:sym typeface="+mn-ea"/>
            </a:endParaRPr>
          </a:p>
          <a:p>
            <a:r>
              <a:rPr lang="en-US" sz="2500" b="1" dirty="0">
                <a:latin typeface="Nunito Sans" pitchFamily="2" charset="0"/>
                <a:sym typeface="+mn-ea"/>
              </a:rPr>
              <a:t>Explanation 2</a:t>
            </a:r>
          </a:p>
          <a:p>
            <a:r>
              <a:rPr lang="en-US" sz="2500" dirty="0">
                <a:latin typeface="Nunito Sans" panose="00000500000000000000" pitchFamily="2" charset="0"/>
                <a:sym typeface="+mn-ea"/>
              </a:rPr>
              <a:t>From the input given above:</a:t>
            </a:r>
          </a:p>
          <a:p>
            <a:r>
              <a:rPr lang="en-US" sz="2500" dirty="0">
                <a:latin typeface="Nunito Sans" panose="00000500000000000000" pitchFamily="2" charset="0"/>
                <a:sym typeface="+mn-ea"/>
              </a:rPr>
              <a:t>1st way of selecting:</a:t>
            </a:r>
          </a:p>
          <a:p>
            <a:r>
              <a:rPr lang="en-US" sz="2500" dirty="0">
                <a:latin typeface="Nunito Sans" panose="00000500000000000000" pitchFamily="2" charset="0"/>
                <a:sym typeface="+mn-ea"/>
              </a:rPr>
              <a:t>Select 1,2,3,4,5 Pencils and 1,2,3 erasers</a:t>
            </a:r>
          </a:p>
          <a:p>
            <a:r>
              <a:rPr lang="en-US" sz="2500" dirty="0">
                <a:latin typeface="Nunito Sans" panose="00000500000000000000" pitchFamily="2" charset="0"/>
                <a:sym typeface="+mn-ea"/>
              </a:rPr>
              <a:t>There is only one possible way of selecting 5 pencils and 3</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Hence, the output is 1.</a:t>
            </a:r>
          </a:p>
          <a:p>
            <a:endParaRPr lang="en-US" sz="2500" dirty="0">
              <a:latin typeface="Nunito Sans" panose="00000500000000000000" pitchFamily="2" charset="0"/>
              <a:sym typeface="+mn-ea"/>
            </a:endParaRPr>
          </a:p>
          <a:p>
            <a:r>
              <a:rPr lang="en-US" sz="2500" b="1" dirty="0">
                <a:latin typeface="Nunito Sans" pitchFamily="2" charset="0"/>
                <a:sym typeface="+mn-ea"/>
              </a:rPr>
              <a:t>Constarins:</a:t>
            </a:r>
          </a:p>
          <a:p>
            <a:r>
              <a:rPr lang="en-US" sz="2500" dirty="0">
                <a:latin typeface="Nunito Sans" panose="00000500000000000000" pitchFamily="2" charset="0"/>
                <a:sym typeface="+mn-ea"/>
              </a:rPr>
              <a:t>0&lt;N&lt;&lt;=50</a:t>
            </a:r>
          </a:p>
          <a:p>
            <a:r>
              <a:rPr lang="en-US" sz="2500" dirty="0">
                <a:latin typeface="Nunito Sans" panose="00000500000000000000" pitchFamily="2" charset="0"/>
                <a:sym typeface="+mn-ea"/>
              </a:rPr>
              <a:t>0&lt;M&lt;=50</a:t>
            </a:r>
          </a:p>
          <a:p>
            <a:r>
              <a:rPr lang="en-US" sz="2500" dirty="0">
                <a:latin typeface="Nunito Sans" panose="00000500000000000000" pitchFamily="2" charset="0"/>
                <a:sym typeface="+mn-ea"/>
              </a:rPr>
              <a:t>0&lt;=P&lt;=50</a:t>
            </a:r>
          </a:p>
          <a:p>
            <a:r>
              <a:rPr lang="en-US" sz="2500" dirty="0">
                <a:latin typeface="Nunito Sans" panose="00000500000000000000" pitchFamily="2" charset="0"/>
                <a:sym typeface="+mn-ea"/>
              </a:rPr>
              <a:t>0&lt;=E&lt;=50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553085"/>
          </a:xfrm>
          <a:prstGeom prst="rect">
            <a:avLst/>
          </a:prstGeom>
          <a:noFill/>
        </p:spPr>
        <p:txBody>
          <a:bodyPr wrap="square" rtlCol="0">
            <a:spAutoFit/>
          </a:bodyPr>
          <a:lstStyle/>
          <a:p>
            <a:pPr algn="r"/>
            <a:r>
              <a:rPr lang="en-US" sz="3000" b="1" dirty="0">
                <a:solidFill>
                  <a:schemeClr val="bg1"/>
                </a:solidFill>
                <a:latin typeface="Nunito Sans" pitchFamily="2" charset="0"/>
                <a:sym typeface="+mn-ea"/>
              </a:rPr>
              <a:t>question 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TextBox 14"/>
          <p:cNvSpPr txBox="1"/>
          <p:nvPr/>
        </p:nvSpPr>
        <p:spPr>
          <a:xfrm>
            <a:off x="127000" y="995680"/>
            <a:ext cx="11967845" cy="4707890"/>
          </a:xfrm>
          <a:prstGeom prst="rect">
            <a:avLst/>
          </a:prstGeom>
          <a:noFill/>
        </p:spPr>
        <p:txBody>
          <a:bodyPr wrap="square" rtlCol="0">
            <a:spAutoFit/>
          </a:bodyPr>
          <a:lstStyle/>
          <a:p>
            <a:r>
              <a:rPr lang="en-US" sz="2500" dirty="0">
                <a:latin typeface="Nunito Sans" pitchFamily="2" charset="0"/>
                <a:sym typeface="+mn-ea"/>
              </a:rPr>
              <a:t>T</a:t>
            </a:r>
            <a:r>
              <a:rPr lang="en-US" sz="2500" b="1" dirty="0">
                <a:latin typeface="Nunito Sans" pitchFamily="2" charset="0"/>
                <a:sym typeface="+mn-ea"/>
              </a:rPr>
              <a:t>he Input format for testing</a:t>
            </a:r>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The candidate has to write the code to accept 4 input(s).</a:t>
            </a:r>
          </a:p>
          <a:p>
            <a:r>
              <a:rPr lang="en-US" sz="2500" dirty="0">
                <a:latin typeface="Nunito Sans" panose="00000500000000000000" pitchFamily="2" charset="0"/>
                <a:sym typeface="+mn-ea"/>
              </a:rPr>
              <a:t>First Input - Accept value for N(Positive integer number)</a:t>
            </a:r>
          </a:p>
          <a:p>
            <a:r>
              <a:rPr lang="en-US" sz="2500" dirty="0">
                <a:latin typeface="Nunito Sans" panose="00000500000000000000" pitchFamily="2" charset="0"/>
                <a:sym typeface="+mn-ea"/>
              </a:rPr>
              <a:t>Second Input-Accept value for M(Positive integer number)</a:t>
            </a:r>
          </a:p>
          <a:p>
            <a:r>
              <a:rPr lang="en-US" sz="2500" dirty="0">
                <a:latin typeface="Nunito Sans" panose="00000500000000000000" pitchFamily="2" charset="0"/>
                <a:sym typeface="+mn-ea"/>
              </a:rPr>
              <a:t>Third input Accept value for P(Positive integer number)</a:t>
            </a:r>
          </a:p>
          <a:p>
            <a:r>
              <a:rPr lang="en-US" sz="2500" dirty="0">
                <a:latin typeface="Nunito Sans" panose="00000500000000000000" pitchFamily="2" charset="0"/>
                <a:sym typeface="+mn-ea"/>
              </a:rPr>
              <a:t>Fourth input Accept value for E(Positive integer number) </a:t>
            </a:r>
          </a:p>
          <a:p>
            <a:endParaRPr lang="en-US" sz="2500" dirty="0">
              <a:latin typeface="Nunito Sans" panose="00000500000000000000" pitchFamily="2" charset="0"/>
              <a:sym typeface="+mn-ea"/>
            </a:endParaRPr>
          </a:p>
          <a:p>
            <a:r>
              <a:rPr lang="en-US" sz="2500" b="1" dirty="0">
                <a:latin typeface="Nunito Sans" pitchFamily="2" charset="0"/>
                <a:sym typeface="+mn-ea"/>
              </a:rPr>
              <a:t>The Output format for testing</a:t>
            </a:r>
          </a:p>
          <a:p>
            <a:r>
              <a:rPr lang="en-US" sz="2500" dirty="0">
                <a:latin typeface="Nunito Sans" panose="00000500000000000000" pitchFamily="2" charset="0"/>
                <a:sym typeface="+mn-ea"/>
              </a:rPr>
              <a:t>The output should be a positive integer number or print the message (if any) given in the problem statement</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(Check the output in Example 1, Example 2)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 Function to calculate the factorial of a number</a:t>
            </a:r>
          </a:p>
          <a:p>
            <a:r>
              <a:rPr lang="en-US" sz="2000" b="1" dirty="0">
                <a:solidFill>
                  <a:schemeClr val="bg1"/>
                </a:solidFill>
                <a:latin typeface="Nunito Sans" pitchFamily="2" charset="0"/>
                <a:cs typeface="Courier New" panose="02070309020205020404" pitchFamily="49" charset="0"/>
              </a:rPr>
              <a:t>int factorial(int 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fact = 1;</a:t>
            </a:r>
          </a:p>
          <a:p>
            <a:r>
              <a:rPr lang="en-US" sz="2000" b="1" dirty="0">
                <a:solidFill>
                  <a:schemeClr val="bg1"/>
                </a:solidFill>
                <a:latin typeface="Nunito Sans" pitchFamily="2" charset="0"/>
                <a:cs typeface="Courier New" panose="02070309020205020404" pitchFamily="49" charset="0"/>
              </a:rPr>
              <a:t>    for (int i = 1;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fact *=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fact;</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Function to calculate the number of ways to choose 'P' pencils and 'E' erasers</a:t>
            </a:r>
          </a:p>
          <a:p>
            <a:r>
              <a:rPr lang="en-US" sz="2000" b="1" dirty="0">
                <a:solidFill>
                  <a:schemeClr val="bg1"/>
                </a:solidFill>
                <a:latin typeface="Nunito Sans" pitchFamily="2" charset="0"/>
                <a:cs typeface="Courier New" panose="02070309020205020404" pitchFamily="49" charset="0"/>
              </a:rPr>
              <a:t>int countWaysToChoose(int N, int M, int P, int E)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 Calculate the number of ways to choose 'P' pencils</a:t>
            </a:r>
          </a:p>
          <a:p>
            <a:r>
              <a:rPr lang="en-US" sz="2000" b="1" dirty="0">
                <a:solidFill>
                  <a:schemeClr val="bg1"/>
                </a:solidFill>
                <a:latin typeface="Nunito Sans" pitchFamily="2" charset="0"/>
                <a:cs typeface="Courier New" panose="02070309020205020404" pitchFamily="49" charset="0"/>
              </a:rPr>
              <a:t>    int waysToChoosePencils = factorial(N) / (factorial(P) * factorial(N - P));</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 Calculate the number of ways to choose 'E' erasers</a:t>
            </a:r>
          </a:p>
          <a:p>
            <a:r>
              <a:rPr lang="en-US" sz="2000" b="1" dirty="0">
                <a:solidFill>
                  <a:schemeClr val="bg1"/>
                </a:solidFill>
                <a:latin typeface="Nunito Sans" pitchFamily="2" charset="0"/>
                <a:cs typeface="Courier New" panose="02070309020205020404" pitchFamily="49" charset="0"/>
              </a:rPr>
              <a:t>    int waysToChooseErasers = factorial(M) / (factorial(E) * factorial(M - E));</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Calculate the total number of 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totalWays = waysToChoosePencils * waysToChooseErasers;</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totalWays;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int main()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N, M, P, 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scanf("%d %d %d %d", &amp;N, &amp;M, &amp;P, &amp;E);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ways = countWaysToChoose(N, M, P, 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printf("%d\n", 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0;</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 Function to calculate the factorial of a number</a:t>
            </a:r>
          </a:p>
          <a:p>
            <a:r>
              <a:rPr lang="en-US" sz="2000" b="1" dirty="0">
                <a:solidFill>
                  <a:schemeClr val="bg1"/>
                </a:solidFill>
                <a:latin typeface="Nunito Sans" pitchFamily="2" charset="0"/>
                <a:cs typeface="Courier New" panose="02070309020205020404" pitchFamily="49" charset="0"/>
              </a:rPr>
              <a:t>int factorial(int 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fact = 1;</a:t>
            </a:r>
          </a:p>
          <a:p>
            <a:r>
              <a:rPr lang="en-US" sz="2000" b="1" dirty="0">
                <a:solidFill>
                  <a:schemeClr val="bg1"/>
                </a:solidFill>
                <a:latin typeface="Nunito Sans" pitchFamily="2" charset="0"/>
                <a:cs typeface="Courier New" panose="02070309020205020404" pitchFamily="49" charset="0"/>
              </a:rPr>
              <a:t>    for (int i = 1;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fact *=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fact;</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Function to calculate the number of ways to choose 'P' pencils and 'E' erasers</a:t>
            </a:r>
          </a:p>
          <a:p>
            <a:r>
              <a:rPr lang="en-US" sz="2000" b="1" dirty="0">
                <a:solidFill>
                  <a:schemeClr val="bg1"/>
                </a:solidFill>
                <a:latin typeface="Nunito Sans" pitchFamily="2" charset="0"/>
                <a:cs typeface="Courier New" panose="02070309020205020404" pitchFamily="49" charset="0"/>
              </a:rPr>
              <a:t>int countWaysToChoose(int N, int M, int P, int E)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 Calculate the number of ways to choose 'P' pencils</a:t>
            </a:r>
          </a:p>
          <a:p>
            <a:r>
              <a:rPr lang="en-US" sz="2000" b="1" dirty="0">
                <a:solidFill>
                  <a:schemeClr val="bg1"/>
                </a:solidFill>
                <a:latin typeface="Nunito Sans" pitchFamily="2" charset="0"/>
                <a:cs typeface="Courier New" panose="02070309020205020404" pitchFamily="49" charset="0"/>
              </a:rPr>
              <a:t>    int waysToChoosePencils = factorial(N) / (factorial(P) * factorial(N - P));</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 Calculate the number of ways to choose 'E' erasers</a:t>
            </a:r>
          </a:p>
          <a:p>
            <a:r>
              <a:rPr lang="en-US" sz="2000" b="1" dirty="0">
                <a:solidFill>
                  <a:schemeClr val="bg1"/>
                </a:solidFill>
                <a:latin typeface="Nunito Sans" pitchFamily="2" charset="0"/>
                <a:cs typeface="Courier New" panose="02070309020205020404" pitchFamily="49" charset="0"/>
              </a:rPr>
              <a:t>    int waysToChooseErasers = factorial(M) / (factorial(E) * factorial(M - E));</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 Calculate the total number of ways</a:t>
            </a:r>
          </a:p>
          <a:p>
            <a:r>
              <a:rPr lang="en-US" sz="2000" b="1" dirty="0">
                <a:solidFill>
                  <a:schemeClr val="bg1"/>
                </a:solidFill>
                <a:latin typeface="Nunito Sans" pitchFamily="2" charset="0"/>
                <a:cs typeface="Courier New" panose="02070309020205020404" pitchFamily="49" charset="0"/>
              </a:rPr>
              <a:t>    int totalWays = waysToChoosePencils * waysToChooseErasers;</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return totalWays;</a:t>
            </a:r>
          </a:p>
          <a:p>
            <a:r>
              <a:rPr lang="en-US" sz="2000" b="1" dirty="0">
                <a:solidFill>
                  <a:schemeClr val="bg1"/>
                </a:solidFill>
                <a:latin typeface="Nunito Sans" pitchFamily="2" charset="0"/>
                <a:cs typeface="Courier New" panose="02070309020205020404" pitchFamily="49" charset="0"/>
              </a:rPr>
              <a:t>}</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 M, P, E;</a:t>
            </a:r>
          </a:p>
          <a:p>
            <a:r>
              <a:rPr lang="en-US" sz="2000" b="1" dirty="0">
                <a:solidFill>
                  <a:schemeClr val="bg1"/>
                </a:solidFill>
                <a:latin typeface="Nunito Sans" pitchFamily="2" charset="0"/>
                <a:cs typeface="Courier New" panose="02070309020205020404" pitchFamily="49" charset="0"/>
              </a:rPr>
              <a:t>    cin &gt;&gt; N &gt;&gt; M &gt;&gt; P &gt;&gt; E;</a:t>
            </a:r>
          </a:p>
          <a:p>
            <a:r>
              <a:rPr lang="en-US" sz="2000" b="1" dirty="0">
                <a:solidFill>
                  <a:schemeClr val="bg1"/>
                </a:solidFill>
                <a:latin typeface="Nunito Sans" pitchFamily="2" charset="0"/>
                <a:cs typeface="Courier New" panose="02070309020205020404" pitchFamily="49" charset="0"/>
              </a:rPr>
              <a:t>    int ways = countWaysToChoose(N, M, P, E);</a:t>
            </a:r>
          </a:p>
          <a:p>
            <a:r>
              <a:rPr lang="en-US" sz="2000" b="1" dirty="0">
                <a:solidFill>
                  <a:schemeClr val="bg1"/>
                </a:solidFill>
                <a:latin typeface="Nunito Sans" pitchFamily="2" charset="0"/>
                <a:cs typeface="Courier New" panose="02070309020205020404" pitchFamily="49" charset="0"/>
              </a:rPr>
              <a:t>    cout &lt;&lt; ways;</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E));</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 Calculate the total number of 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totalWays = waysToChoosePencils * waysToChooseErasers;</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totalWays;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int main()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N, M, P, 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cin &gt;&gt; N &gt;&gt; M &gt;&gt; P &gt;&gt; 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ways = countWaysToChoose(N, M, P, 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cout &lt;&lt; 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0;</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 Function to calculate the factorial of a number</a:t>
            </a:r>
          </a:p>
          <a:p>
            <a:r>
              <a:rPr lang="en-US" sz="2000" b="1" dirty="0">
                <a:solidFill>
                  <a:schemeClr val="bg1"/>
                </a:solidFill>
                <a:latin typeface="Nunito Sans" pitchFamily="2" charset="0"/>
                <a:cs typeface="Courier New" panose="02070309020205020404" pitchFamily="49" charset="0"/>
              </a:rPr>
              <a:t>    public static int factorial(int n)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fact = 1;</a:t>
            </a:r>
          </a:p>
          <a:p>
            <a:r>
              <a:rPr lang="en-US" sz="2000" b="1" dirty="0">
                <a:solidFill>
                  <a:schemeClr val="bg1"/>
                </a:solidFill>
                <a:latin typeface="Nunito Sans" pitchFamily="2" charset="0"/>
                <a:cs typeface="Courier New" panose="02070309020205020404" pitchFamily="49" charset="0"/>
              </a:rPr>
              <a:t>        for (int i = 1;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fact *=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fact;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Function to calculate the number of ways to choose 'P' pencils and 'E' erasers</a:t>
            </a:r>
          </a:p>
          <a:p>
            <a:r>
              <a:rPr lang="en-US" sz="2000" b="1" dirty="0">
                <a:solidFill>
                  <a:schemeClr val="bg1"/>
                </a:solidFill>
                <a:latin typeface="Nunito Sans" pitchFamily="2" charset="0"/>
                <a:cs typeface="Courier New" panose="02070309020205020404" pitchFamily="49" charset="0"/>
              </a:rPr>
              <a:t>    public static int countWaysToChoose(int N, int M, int P, int 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Calculate the number of ways to choose 'P' pencils</a:t>
            </a:r>
          </a:p>
          <a:p>
            <a:r>
              <a:rPr lang="en-US" sz="2000" b="1" dirty="0">
                <a:solidFill>
                  <a:schemeClr val="bg1"/>
                </a:solidFill>
                <a:latin typeface="Nunito Sans" pitchFamily="2" charset="0"/>
                <a:cs typeface="Courier New" panose="02070309020205020404" pitchFamily="49" charset="0"/>
              </a:rPr>
              <a:t>        int waysToChoosePencils = factorial(N) / (factorial(P) * factorial(N - P));</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 Calculate the number of ways to choose 'E' erasers</a:t>
            </a:r>
          </a:p>
          <a:p>
            <a:r>
              <a:rPr lang="en-US" sz="20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int waysToChooseErasers = factorial(M) / (factorial(E) * factorial(M - E));</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 Calculate the total number of 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totalWays = waysToChoosePencils * waysToChooseErasers;</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totalWays;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public static void main(String[] args)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Scanner scanner = new Scanner(System.in);</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N = scanner.nextInt();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M = scanner.nextInt();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P = scanner.nextInt();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E = scanner.nextInt();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ways = countWaysToChoose(N, M, P, 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System.out.println(ways);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Function to calculate the factorial of a number</a:t>
            </a:r>
          </a:p>
          <a:p>
            <a:r>
              <a:rPr lang="en-US" sz="2000" b="1" dirty="0">
                <a:solidFill>
                  <a:schemeClr val="bg1"/>
                </a:solidFill>
                <a:latin typeface="Nunito Sans" pitchFamily="2" charset="0"/>
                <a:cs typeface="Courier New" panose="02070309020205020404" pitchFamily="49" charset="0"/>
              </a:rPr>
              <a:t>def factorial(n):</a:t>
            </a:r>
          </a:p>
          <a:p>
            <a:r>
              <a:rPr lang="en-US" sz="2000" b="1" dirty="0">
                <a:solidFill>
                  <a:schemeClr val="bg1"/>
                </a:solidFill>
                <a:latin typeface="Nunito Sans" pitchFamily="2" charset="0"/>
                <a:cs typeface="Courier New" panose="02070309020205020404" pitchFamily="49" charset="0"/>
              </a:rPr>
              <a:t>    fact = 1</a:t>
            </a:r>
          </a:p>
          <a:p>
            <a:r>
              <a:rPr lang="en-US" sz="2000" b="1" dirty="0">
                <a:solidFill>
                  <a:schemeClr val="bg1"/>
                </a:solidFill>
                <a:latin typeface="Nunito Sans" pitchFamily="2" charset="0"/>
                <a:cs typeface="Courier New" panose="02070309020205020404" pitchFamily="49" charset="0"/>
              </a:rPr>
              <a:t>    for i in range(1, n+1):</a:t>
            </a:r>
          </a:p>
          <a:p>
            <a:r>
              <a:rPr lang="en-US" sz="2000" b="1" dirty="0">
                <a:solidFill>
                  <a:schemeClr val="bg1"/>
                </a:solidFill>
                <a:latin typeface="Nunito Sans" pitchFamily="2" charset="0"/>
                <a:cs typeface="Courier New" panose="02070309020205020404" pitchFamily="49" charset="0"/>
              </a:rPr>
              <a:t>        fact *= i</a:t>
            </a:r>
          </a:p>
          <a:p>
            <a:r>
              <a:rPr lang="en-US" sz="2000" b="1" dirty="0">
                <a:solidFill>
                  <a:schemeClr val="bg1"/>
                </a:solidFill>
                <a:latin typeface="Nunito Sans" pitchFamily="2" charset="0"/>
                <a:cs typeface="Courier New" panose="02070309020205020404" pitchFamily="49" charset="0"/>
              </a:rPr>
              <a:t>    return fact</a:t>
            </a:r>
          </a:p>
          <a:p>
            <a:r>
              <a:rPr lang="en-US" sz="2000" b="1" dirty="0">
                <a:solidFill>
                  <a:schemeClr val="bg1"/>
                </a:solidFill>
                <a:latin typeface="Nunito Sans" pitchFamily="2" charset="0"/>
                <a:cs typeface="Courier New" panose="02070309020205020404" pitchFamily="49" charset="0"/>
              </a:rPr>
              <a:t># Function to calculate the number of ways to choose 'P' pencils and 'E' erasers</a:t>
            </a:r>
          </a:p>
          <a:p>
            <a:r>
              <a:rPr lang="en-US" sz="2000" b="1" dirty="0">
                <a:solidFill>
                  <a:schemeClr val="bg1"/>
                </a:solidFill>
                <a:latin typeface="Nunito Sans" pitchFamily="2" charset="0"/>
                <a:cs typeface="Courier New" panose="02070309020205020404" pitchFamily="49" charset="0"/>
              </a:rPr>
              <a:t>def countWaysToChoose(N, M, P, E):</a:t>
            </a:r>
          </a:p>
          <a:p>
            <a:r>
              <a:rPr lang="en-US" sz="2000" b="1" dirty="0">
                <a:solidFill>
                  <a:schemeClr val="bg1"/>
                </a:solidFill>
                <a:latin typeface="Nunito Sans" pitchFamily="2" charset="0"/>
                <a:cs typeface="Courier New" panose="02070309020205020404" pitchFamily="49" charset="0"/>
              </a:rPr>
              <a:t>    # Calculate the number of ways to choose 'P' pencils</a:t>
            </a:r>
          </a:p>
          <a:p>
            <a:r>
              <a:rPr lang="en-US" sz="2000" b="1" dirty="0">
                <a:solidFill>
                  <a:schemeClr val="bg1"/>
                </a:solidFill>
                <a:latin typeface="Nunito Sans" pitchFamily="2" charset="0"/>
                <a:cs typeface="Courier New" panose="02070309020205020404" pitchFamily="49" charset="0"/>
              </a:rPr>
              <a:t>    waysToChoosePencils = factorial(N) // (factorial(P) * factorial(N - P))</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 Calculate the number of ways to choose 'E' erasers</a:t>
            </a:r>
          </a:p>
          <a:p>
            <a:r>
              <a:rPr lang="en-US" sz="2000" b="1" dirty="0">
                <a:solidFill>
                  <a:schemeClr val="bg1"/>
                </a:solidFill>
                <a:latin typeface="Nunito Sans" pitchFamily="2" charset="0"/>
                <a:cs typeface="Courier New" panose="02070309020205020404" pitchFamily="49" charset="0"/>
              </a:rPr>
              <a:t>    waysToChooseErasers = factorial(M) // (factorial(E) * factorial(M - E))</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 Calculate the total number of ways</a:t>
            </a:r>
          </a:p>
          <a:p>
            <a:r>
              <a:rPr lang="en-US" sz="2000" b="1" dirty="0">
                <a:solidFill>
                  <a:schemeClr val="bg1"/>
                </a:solidFill>
                <a:latin typeface="Nunito Sans" pitchFamily="2" charset="0"/>
                <a:cs typeface="Courier New" panose="02070309020205020404" pitchFamily="49" charset="0"/>
              </a:rPr>
              <a:t>    totalWays = waysToChoosePencils * waysToChooseErasers</a:t>
            </a:r>
          </a:p>
          <a:p>
            <a:r>
              <a:rPr lang="en-US" sz="2000" b="1" dirty="0">
                <a:solidFill>
                  <a:schemeClr val="bg1"/>
                </a:solidFill>
                <a:latin typeface="Nunito Sans" pitchFamily="2" charset="0"/>
                <a:cs typeface="Courier New" panose="02070309020205020404" pitchFamily="49" charset="0"/>
              </a:rPr>
              <a:t>    return totalWays</a:t>
            </a:r>
          </a:p>
          <a:p>
            <a:r>
              <a:rPr lang="en-US" sz="2000" b="1" dirty="0">
                <a:solidFill>
                  <a:schemeClr val="bg1"/>
                </a:solidFill>
                <a:latin typeface="Nunito Sans" pitchFamily="2" charset="0"/>
                <a:cs typeface="Courier New" panose="02070309020205020404" pitchFamily="49" charset="0"/>
              </a:rPr>
              <a:t># Main function</a:t>
            </a:r>
          </a:p>
          <a:p>
            <a:r>
              <a:rPr lang="en-US" sz="2000" b="1" dirty="0">
                <a:solidFill>
                  <a:schemeClr val="bg1"/>
                </a:solidFill>
                <a:latin typeface="Nunito Sans" pitchFamily="2" charset="0"/>
                <a:cs typeface="Courier New" panose="02070309020205020404" pitchFamily="49" charset="0"/>
              </a:rPr>
              <a:t>def main():</a:t>
            </a:r>
          </a:p>
          <a:p>
            <a:r>
              <a:rPr lang="en-US" sz="2000" b="1" dirty="0">
                <a:solidFill>
                  <a:schemeClr val="bg1"/>
                </a:solidFill>
                <a:latin typeface="Nunito Sans" pitchFamily="2" charset="0"/>
                <a:cs typeface="Courier New" panose="02070309020205020404" pitchFamily="49" charset="0"/>
              </a:rPr>
              <a:t>    N = int(input())</a:t>
            </a:r>
          </a:p>
          <a:p>
            <a:r>
              <a:rPr lang="en-US" sz="2000" b="1" dirty="0">
                <a:solidFill>
                  <a:schemeClr val="bg1"/>
                </a:solidFill>
                <a:latin typeface="Nunito Sans" pitchFamily="2" charset="0"/>
                <a:cs typeface="Courier New" panose="02070309020205020404" pitchFamily="49" charset="0"/>
              </a:rPr>
              <a:t>    M = int(input())</a:t>
            </a:r>
          </a:p>
          <a:p>
            <a:r>
              <a:rPr lang="en-US" sz="20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P = int(input())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E = int(input())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ways = countWaysToChoose(N, M, P, 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print(ways)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Call the main function</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main()</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783590"/>
          </a:xfrm>
          <a:prstGeom prst="rect">
            <a:avLst/>
          </a:prstGeom>
          <a:noFill/>
        </p:spPr>
        <p:txBody>
          <a:bodyPr wrap="square" rtlCol="0">
            <a:spAutoFit/>
          </a:bodyPr>
          <a:lstStyle/>
          <a:p>
            <a:pPr algn="r"/>
            <a:r>
              <a:rPr lang="en-IN" altLang="en-US" sz="4500" b="1" dirty="0">
                <a:solidFill>
                  <a:schemeClr val="bg1"/>
                </a:solidFill>
                <a:latin typeface="Nunito Sans" pitchFamily="2" charset="0"/>
                <a:sym typeface="+mn-ea"/>
              </a:rPr>
              <a:t>question 3</a:t>
            </a:r>
            <a:r>
              <a:rPr lang="en-US" sz="4500" b="1" dirty="0">
                <a:solidFill>
                  <a:schemeClr val="bg1"/>
                </a:solidFill>
                <a:latin typeface="Nunito Sans" pitchFamily="2" charset="0"/>
                <a:sym typeface="+mn-ea"/>
              </a:rPr>
              <a:t> </a:t>
            </a:r>
          </a:p>
        </p:txBody>
      </p:sp>
      <p:sp>
        <p:nvSpPr>
          <p:cNvPr id="18" name="TextBox 17"/>
          <p:cNvSpPr txBox="1"/>
          <p:nvPr/>
        </p:nvSpPr>
        <p:spPr>
          <a:xfrm>
            <a:off x="531405" y="995616"/>
            <a:ext cx="10950806" cy="5622693"/>
          </a:xfrm>
          <a:prstGeom prst="rect">
            <a:avLst/>
          </a:prstGeom>
          <a:noFill/>
        </p:spPr>
        <p:txBody>
          <a:bodyPr wrap="square" rtlCol="0">
            <a:spAutoFit/>
          </a:bodyPr>
          <a:lstStyle/>
          <a:p>
            <a:r>
              <a:rPr lang="en-US" sz="2500" dirty="0">
                <a:latin typeface="Nunito Sans" pitchFamily="2" charset="0"/>
              </a:rPr>
              <a:t>Question: 3</a:t>
            </a:r>
          </a:p>
          <a:p>
            <a:pPr>
              <a:lnSpc>
                <a:spcPct val="150000"/>
              </a:lnSpc>
            </a:pPr>
            <a:r>
              <a:rPr lang="en-US" sz="2500" dirty="0">
                <a:latin typeface="Nunito Sans" pitchFamily="2" charset="0"/>
              </a:rPr>
              <a:t>One day Bob is playing Zombie World video game.  </a:t>
            </a:r>
          </a:p>
          <a:p>
            <a:pPr>
              <a:lnSpc>
                <a:spcPct val="150000"/>
              </a:lnSpc>
            </a:pPr>
            <a:r>
              <a:rPr lang="en-US" sz="2500" dirty="0">
                <a:latin typeface="Nunito Sans" pitchFamily="2" charset="0"/>
              </a:rPr>
              <a:t> In Zombie World game each round will contain N zombies and each zombie's energy is Zi (where 1&lt;=</a:t>
            </a:r>
            <a:r>
              <a:rPr lang="en-US" sz="2500" dirty="0" err="1">
                <a:latin typeface="Nunito Sans" pitchFamily="2" charset="0"/>
              </a:rPr>
              <a:t>i</a:t>
            </a:r>
            <a:r>
              <a:rPr lang="en-US" sz="2500" dirty="0">
                <a:latin typeface="Nunito Sans" pitchFamily="2" charset="0"/>
              </a:rPr>
              <a:t>&lt;=N). Bob will start the round with B energy. In order to move to the next level Bob need to kill all the N zombie's but Bob can select any one among N Zombie's. If energy of Bob (B) is less than Zombie energy (Zi) then Bob will die and lose the round else Bob will won, during the fighting with zombie, Bob will lose his energy by (Zi%2)+(Zi/2). At any point of game Bob will play optimally. Now your task is to find out whether Bob can reach to the next level or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783590"/>
          </a:xfrm>
          <a:prstGeom prst="rect">
            <a:avLst/>
          </a:prstGeom>
          <a:noFill/>
        </p:spPr>
        <p:txBody>
          <a:bodyPr wrap="square" rtlCol="0">
            <a:spAutoFit/>
          </a:bodyPr>
          <a:lstStyle/>
          <a:p>
            <a:pPr algn="r"/>
            <a:r>
              <a:rPr lang="en-IN" altLang="en-US" sz="4500" b="1" dirty="0">
                <a:solidFill>
                  <a:schemeClr val="bg1"/>
                </a:solidFill>
                <a:latin typeface="Nunito Sans" pitchFamily="2" charset="0"/>
                <a:sym typeface="+mn-ea"/>
              </a:rPr>
              <a:t>question 3</a:t>
            </a:r>
            <a:r>
              <a:rPr lang="en-US" sz="4500" b="1" dirty="0">
                <a:solidFill>
                  <a:schemeClr val="bg1"/>
                </a:solidFill>
                <a:latin typeface="Nunito Sans" pitchFamily="2" charset="0"/>
                <a:sym typeface="+mn-ea"/>
              </a:rPr>
              <a:t> </a:t>
            </a:r>
          </a:p>
        </p:txBody>
      </p:sp>
      <p:sp>
        <p:nvSpPr>
          <p:cNvPr id="18" name="TextBox 17"/>
          <p:cNvSpPr txBox="1"/>
          <p:nvPr/>
        </p:nvSpPr>
        <p:spPr>
          <a:xfrm>
            <a:off x="531405" y="995616"/>
            <a:ext cx="10950806" cy="5815053"/>
          </a:xfrm>
          <a:prstGeom prst="rect">
            <a:avLst/>
          </a:prstGeom>
          <a:noFill/>
        </p:spPr>
        <p:txBody>
          <a:bodyPr wrap="square" rtlCol="0">
            <a:spAutoFit/>
          </a:bodyPr>
          <a:lstStyle/>
          <a:p>
            <a:pPr>
              <a:lnSpc>
                <a:spcPct val="150000"/>
              </a:lnSpc>
            </a:pPr>
            <a:r>
              <a:rPr lang="en-US" sz="2500" dirty="0" err="1">
                <a:latin typeface="Nunito Sans" panose="00000500000000000000" pitchFamily="2" charset="0"/>
              </a:rPr>
              <a:t>not.Input</a:t>
            </a:r>
            <a:r>
              <a:rPr lang="en-US" sz="2500" dirty="0">
                <a:latin typeface="Nunito Sans" panose="00000500000000000000" pitchFamily="2" charset="0"/>
              </a:rPr>
              <a:t> </a:t>
            </a:r>
            <a:r>
              <a:rPr lang="en-US" sz="2500" dirty="0" err="1">
                <a:latin typeface="Nunito Sans" panose="00000500000000000000" pitchFamily="2" charset="0"/>
              </a:rPr>
              <a:t>FormatThe</a:t>
            </a:r>
            <a:r>
              <a:rPr lang="en-US" sz="2500" dirty="0">
                <a:latin typeface="Nunito Sans" panose="00000500000000000000" pitchFamily="2" charset="0"/>
              </a:rPr>
              <a:t> first line of input contain B and N, where B is the energy of Bob and N is the number of </a:t>
            </a:r>
            <a:r>
              <a:rPr lang="en-US" sz="2500" dirty="0" err="1">
                <a:latin typeface="Nunito Sans" panose="00000500000000000000" pitchFamily="2" charset="0"/>
              </a:rPr>
              <a:t>ZombiesThe</a:t>
            </a:r>
            <a:r>
              <a:rPr lang="en-US" sz="2500" dirty="0">
                <a:latin typeface="Nunito Sans" panose="00000500000000000000" pitchFamily="2" charset="0"/>
              </a:rPr>
              <a:t> second line of input contain Zi, where Zi is a list containing energy of zombies separated by </a:t>
            </a:r>
            <a:r>
              <a:rPr lang="en-US" sz="2500" dirty="0" err="1">
                <a:latin typeface="Nunito Sans" panose="00000500000000000000" pitchFamily="2" charset="0"/>
              </a:rPr>
              <a:t>spaceOutput</a:t>
            </a:r>
            <a:r>
              <a:rPr lang="en-US" sz="2500" dirty="0">
                <a:latin typeface="Nunito Sans" panose="00000500000000000000" pitchFamily="2" charset="0"/>
              </a:rPr>
              <a:t> </a:t>
            </a:r>
            <a:r>
              <a:rPr lang="en-US" sz="2500" dirty="0" err="1">
                <a:latin typeface="Nunito Sans" panose="00000500000000000000" pitchFamily="2" charset="0"/>
              </a:rPr>
              <a:t>FormatPrint</a:t>
            </a:r>
            <a:r>
              <a:rPr lang="en-US" sz="2500" dirty="0">
                <a:latin typeface="Nunito Sans" panose="00000500000000000000" pitchFamily="2" charset="0"/>
              </a:rPr>
              <a:t> "YES" or "NO" depending upon whether Bob can reach the next level or not. Constraints 1&lt;=N&lt;=10^41&lt;=B&lt;=10^91&lt;=Zi&lt;=10^5</a:t>
            </a:r>
          </a:p>
          <a:p>
            <a:pPr>
              <a:lnSpc>
                <a:spcPct val="150000"/>
              </a:lnSpc>
            </a:pPr>
            <a:r>
              <a:rPr lang="en-US" sz="2500" dirty="0">
                <a:latin typeface="Nunito Sans" panose="00000500000000000000" pitchFamily="2" charset="0"/>
              </a:rPr>
              <a:t>Sample Test Case :</a:t>
            </a:r>
          </a:p>
          <a:p>
            <a:pPr>
              <a:lnSpc>
                <a:spcPct val="150000"/>
              </a:lnSpc>
            </a:pPr>
            <a:r>
              <a:rPr lang="en-US" sz="2500" dirty="0">
                <a:latin typeface="Nunito Sans" panose="00000500000000000000" pitchFamily="2" charset="0"/>
              </a:rPr>
              <a:t>Input: 35 3</a:t>
            </a:r>
          </a:p>
          <a:p>
            <a:pPr>
              <a:lnSpc>
                <a:spcPct val="150000"/>
              </a:lnSpc>
            </a:pPr>
            <a:r>
              <a:rPr lang="en-US" sz="2500" dirty="0">
                <a:latin typeface="Nunito Sans" panose="00000500000000000000" pitchFamily="2" charset="0"/>
              </a:rPr>
              <a:t>           5 9 6</a:t>
            </a:r>
          </a:p>
          <a:p>
            <a:pPr>
              <a:lnSpc>
                <a:spcPct val="150000"/>
              </a:lnSpc>
            </a:pPr>
            <a:r>
              <a:rPr lang="en-US" sz="2500" dirty="0">
                <a:latin typeface="Nunito Sans" panose="00000500000000000000" pitchFamily="2" charset="0"/>
              </a:rPr>
              <a:t>Output: YES</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3"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#include&lt;stdio.h&gt;</a:t>
            </a:r>
          </a:p>
          <a:p>
            <a:r>
              <a:rPr lang="en-US" sz="2000" b="1" dirty="0">
                <a:solidFill>
                  <a:schemeClr val="bg1"/>
                </a:solidFill>
                <a:latin typeface="Nunito Sans" pitchFamily="2" charset="0"/>
                <a:cs typeface="Courier New" panose="02070309020205020404" pitchFamily="49" charset="0"/>
              </a:rPr>
              <a:t>void swap(int* </a:t>
            </a:r>
            <a:r>
              <a:rPr lang="en-US" sz="2000" b="1" dirty="0" err="1">
                <a:solidFill>
                  <a:schemeClr val="bg1"/>
                </a:solidFill>
                <a:latin typeface="Nunito Sans" pitchFamily="2" charset="0"/>
                <a:cs typeface="Courier New" panose="02070309020205020404" pitchFamily="49" charset="0"/>
              </a:rPr>
              <a:t>xp</a:t>
            </a:r>
            <a:r>
              <a:rPr lang="en-US" sz="2000" b="1" dirty="0">
                <a:solidFill>
                  <a:schemeClr val="bg1"/>
                </a:solidFill>
                <a:latin typeface="Nunito Sans" pitchFamily="2" charset="0"/>
                <a:cs typeface="Courier New" panose="02070309020205020404" pitchFamily="49" charset="0"/>
              </a:rPr>
              <a:t>, int* </a:t>
            </a:r>
            <a:r>
              <a:rPr lang="en-US" sz="2000" b="1" dirty="0" err="1">
                <a:solidFill>
                  <a:schemeClr val="bg1"/>
                </a:solidFill>
                <a:latin typeface="Nunito Sans" pitchFamily="2" charset="0"/>
                <a:cs typeface="Courier New" panose="02070309020205020404" pitchFamily="49" charset="0"/>
              </a:rPr>
              <a:t>yp</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temp = *</a:t>
            </a:r>
            <a:r>
              <a:rPr lang="en-US" sz="2000" b="1" dirty="0" err="1">
                <a:solidFill>
                  <a:schemeClr val="bg1"/>
                </a:solidFill>
                <a:latin typeface="Nunito Sans" pitchFamily="2" charset="0"/>
                <a:cs typeface="Courier New" panose="02070309020205020404" pitchFamily="49" charset="0"/>
              </a:rPr>
              <a:t>xp</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xp</a:t>
            </a:r>
            <a:r>
              <a:rPr lang="en-US" sz="2000" b="1" dirty="0">
                <a:solidFill>
                  <a:schemeClr val="bg1"/>
                </a:solidFill>
                <a:latin typeface="Nunito Sans" pitchFamily="2" charset="0"/>
                <a:cs typeface="Courier New" panose="02070309020205020404" pitchFamily="49" charset="0"/>
              </a:rPr>
              <a:t> = *</a:t>
            </a:r>
            <a:r>
              <a:rPr lang="en-US" sz="2000" b="1" dirty="0" err="1">
                <a:solidFill>
                  <a:schemeClr val="bg1"/>
                </a:solidFill>
                <a:latin typeface="Nunito Sans" pitchFamily="2" charset="0"/>
                <a:cs typeface="Courier New" panose="02070309020205020404" pitchFamily="49" charset="0"/>
              </a:rPr>
              <a:t>yp</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yp</a:t>
            </a:r>
            <a:r>
              <a:rPr lang="en-US" sz="2000" b="1" dirty="0">
                <a:solidFill>
                  <a:schemeClr val="bg1"/>
                </a:solidFill>
                <a:latin typeface="Nunito Sans" pitchFamily="2" charset="0"/>
                <a:cs typeface="Courier New" panose="02070309020205020404" pitchFamily="49" charset="0"/>
              </a:rPr>
              <a:t> = temp;</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Function to perform Selection Sort</a:t>
            </a:r>
          </a:p>
          <a:p>
            <a:r>
              <a:rPr lang="en-US" sz="2000" b="1" dirty="0">
                <a:solidFill>
                  <a:schemeClr val="bg1"/>
                </a:solidFill>
                <a:latin typeface="Nunito Sans" pitchFamily="2" charset="0"/>
                <a:cs typeface="Courier New" panose="02070309020205020404" pitchFamily="49" charset="0"/>
              </a:rPr>
              <a:t> void sort(long int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 long int n) {</a:t>
            </a:r>
          </a:p>
          <a:p>
            <a:r>
              <a:rPr lang="en-US" sz="2000" b="1" dirty="0">
                <a:solidFill>
                  <a:schemeClr val="bg1"/>
                </a:solidFill>
                <a:latin typeface="Nunito Sans" pitchFamily="2" charset="0"/>
                <a:cs typeface="Courier New" panose="02070309020205020404" pitchFamily="49" charset="0"/>
              </a:rPr>
              <a:t>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j, </a:t>
            </a:r>
            <a:r>
              <a:rPr lang="en-US" sz="2000" b="1" dirty="0" err="1">
                <a:solidFill>
                  <a:schemeClr val="bg1"/>
                </a:solidFill>
                <a:latin typeface="Nunito Sans" pitchFamily="2" charset="0"/>
                <a:cs typeface="Courier New" panose="02070309020205020404" pitchFamily="49" charset="0"/>
              </a:rPr>
              <a:t>min_idx</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 One by one move boundary of unsorted subarray</a:t>
            </a:r>
          </a:p>
          <a:p>
            <a:r>
              <a:rPr lang="en-US" sz="2000" b="1" dirty="0">
                <a:solidFill>
                  <a:schemeClr val="bg1"/>
                </a:solidFill>
                <a:latin typeface="Nunito Sans" pitchFamily="2" charset="0"/>
                <a:cs typeface="Courier New" panose="02070309020205020404" pitchFamily="49" charset="0"/>
              </a:rPr>
              <a:t>     for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0;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- 1;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Find the minimum element in unsorted array</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min_idx</a:t>
            </a:r>
            <a:r>
              <a:rPr lang="en-US" sz="2000" b="1" dirty="0">
                <a:solidFill>
                  <a:schemeClr val="bg1"/>
                </a:solidFill>
                <a:latin typeface="Nunito Sans" pitchFamily="2" charset="0"/>
                <a:cs typeface="Courier New" panose="02070309020205020404" pitchFamily="49" charset="0"/>
              </a:rPr>
              <a:t> =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for (j =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+ 1; j &lt; n; </a:t>
            </a:r>
            <a:r>
              <a:rPr lang="en-US" sz="2000" b="1" dirty="0" err="1">
                <a:solidFill>
                  <a:schemeClr val="bg1"/>
                </a:solidFill>
                <a:latin typeface="Nunito Sans" pitchFamily="2" charset="0"/>
                <a:cs typeface="Courier New" panose="02070309020205020404" pitchFamily="49" charset="0"/>
              </a:rPr>
              <a:t>j++</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if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[j] &lt;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min_idx</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min_idx</a:t>
            </a:r>
            <a:r>
              <a:rPr lang="en-US" sz="2000" b="1" dirty="0">
                <a:solidFill>
                  <a:schemeClr val="bg1"/>
                </a:solidFill>
                <a:latin typeface="Nunito Sans" pitchFamily="2" charset="0"/>
                <a:cs typeface="Courier New" panose="02070309020205020404" pitchFamily="49" charset="0"/>
              </a:rPr>
              <a:t> = j;</a:t>
            </a:r>
          </a:p>
          <a:p>
            <a:r>
              <a:rPr lang="en-US" sz="2000" b="1" dirty="0">
                <a:solidFill>
                  <a:schemeClr val="bg1"/>
                </a:solidFill>
                <a:latin typeface="Nunito Sans" pitchFamily="2" charset="0"/>
                <a:cs typeface="Courier New" panose="02070309020205020404" pitchFamily="49" charset="0"/>
              </a:rPr>
              <a:t>           // Swap the found minimum element</a:t>
            </a:r>
          </a:p>
          <a:p>
            <a:r>
              <a:rPr lang="en-US" sz="2000" b="1" dirty="0">
                <a:solidFill>
                  <a:schemeClr val="bg1"/>
                </a:solidFill>
                <a:latin typeface="Nunito Sans" pitchFamily="2" charset="0"/>
                <a:cs typeface="Courier New" panose="02070309020205020404" pitchFamily="49" charset="0"/>
              </a:rPr>
              <a:t>         // with the first element</a:t>
            </a:r>
          </a:p>
          <a:p>
            <a:r>
              <a:rPr lang="en-US" sz="2000" b="1" dirty="0">
                <a:solidFill>
                  <a:schemeClr val="bg1"/>
                </a:solidFill>
                <a:latin typeface="Nunito Sans" pitchFamily="2" charset="0"/>
                <a:cs typeface="Courier New" panose="02070309020205020404" pitchFamily="49" charset="0"/>
              </a:rPr>
              <a:t>         swap(&amp;</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min_idx</a:t>
            </a:r>
            <a:r>
              <a:rPr lang="en-US" sz="2000" b="1" dirty="0">
                <a:solidFill>
                  <a:schemeClr val="bg1"/>
                </a:solidFill>
                <a:latin typeface="Nunito Sans" pitchFamily="2" charset="0"/>
                <a:cs typeface="Courier New" panose="02070309020205020404" pitchFamily="49" charset="0"/>
              </a:rPr>
              <a:t>], &amp;</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52600" y="6329800"/>
            <a:ext cx="2356664" cy="2988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int main(){</a:t>
            </a:r>
          </a:p>
          <a:p>
            <a:r>
              <a:rPr lang="en-US" sz="2000" b="1" dirty="0">
                <a:solidFill>
                  <a:schemeClr val="bg1"/>
                </a:solidFill>
                <a:latin typeface="Nunito Sans" pitchFamily="2" charset="0"/>
                <a:cs typeface="Courier New" panose="02070309020205020404" pitchFamily="49" charset="0"/>
              </a:rPr>
              <a:t>    long int </a:t>
            </a:r>
            <a:r>
              <a:rPr lang="en-US" sz="2000" b="1" dirty="0" err="1">
                <a:solidFill>
                  <a:schemeClr val="bg1"/>
                </a:solidFill>
                <a:latin typeface="Nunito Sans" pitchFamily="2" charset="0"/>
                <a:cs typeface="Courier New" panose="02070309020205020404" pitchFamily="49" charset="0"/>
              </a:rPr>
              <a:t>b,n</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scanf</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ld%ld</a:t>
            </a:r>
            <a:r>
              <a:rPr lang="en-US" sz="2000" b="1" dirty="0">
                <a:solidFill>
                  <a:schemeClr val="bg1"/>
                </a:solidFill>
                <a:latin typeface="Nunito Sans" pitchFamily="2" charset="0"/>
                <a:cs typeface="Courier New" panose="02070309020205020404" pitchFamily="49" charset="0"/>
              </a:rPr>
              <a:t>",&amp;</a:t>
            </a:r>
            <a:r>
              <a:rPr lang="en-US" sz="2000" b="1" dirty="0" err="1">
                <a:solidFill>
                  <a:schemeClr val="bg1"/>
                </a:solidFill>
                <a:latin typeface="Nunito Sans" pitchFamily="2" charset="0"/>
                <a:cs typeface="Courier New" panose="02070309020205020404" pitchFamily="49" charset="0"/>
              </a:rPr>
              <a:t>b,&amp;n</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long int z[n];</a:t>
            </a:r>
          </a:p>
          <a:p>
            <a:r>
              <a:rPr lang="en-US" sz="2000" b="1" dirty="0">
                <a:solidFill>
                  <a:schemeClr val="bg1"/>
                </a:solidFill>
                <a:latin typeface="Nunito Sans" pitchFamily="2" charset="0"/>
                <a:cs typeface="Courier New" panose="02070309020205020404" pitchFamily="49" charset="0"/>
              </a:rPr>
              <a:t>    for(long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=0;i&lt;</a:t>
            </a:r>
            <a:r>
              <a:rPr lang="en-US" sz="2000" b="1" dirty="0" err="1">
                <a:solidFill>
                  <a:schemeClr val="bg1"/>
                </a:solidFill>
                <a:latin typeface="Nunito Sans" pitchFamily="2" charset="0"/>
                <a:cs typeface="Courier New" panose="02070309020205020404" pitchFamily="49" charset="0"/>
              </a:rPr>
              <a:t>n;i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scanf</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ld</a:t>
            </a:r>
            <a:r>
              <a:rPr lang="en-US" sz="2000" b="1" dirty="0">
                <a:solidFill>
                  <a:schemeClr val="bg1"/>
                </a:solidFill>
                <a:latin typeface="Nunito Sans" pitchFamily="2" charset="0"/>
                <a:cs typeface="Courier New" panose="02070309020205020404" pitchFamily="49" charset="0"/>
              </a:rPr>
              <a:t>",&amp;z[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sort(z, n);    </a:t>
            </a:r>
          </a:p>
          <a:p>
            <a:r>
              <a:rPr lang="en-US" sz="2000" b="1" dirty="0">
                <a:solidFill>
                  <a:schemeClr val="bg1"/>
                </a:solidFill>
                <a:latin typeface="Nunito Sans" pitchFamily="2" charset="0"/>
                <a:cs typeface="Courier New" panose="02070309020205020404" pitchFamily="49" charset="0"/>
              </a:rPr>
              <a:t>    for(long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=0;i&lt;</a:t>
            </a:r>
            <a:r>
              <a:rPr lang="en-US" sz="2000" b="1" dirty="0" err="1">
                <a:solidFill>
                  <a:schemeClr val="bg1"/>
                </a:solidFill>
                <a:latin typeface="Nunito Sans" pitchFamily="2" charset="0"/>
                <a:cs typeface="Courier New" panose="02070309020205020404" pitchFamily="49" charset="0"/>
              </a:rPr>
              <a:t>n;i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b-=(z[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]%2)+(z[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]/2);</a:t>
            </a:r>
          </a:p>
          <a:p>
            <a:r>
              <a:rPr lang="en-US" sz="2000" b="1" dirty="0">
                <a:solidFill>
                  <a:schemeClr val="bg1"/>
                </a:solidFill>
                <a:latin typeface="Nunito Sans" pitchFamily="2" charset="0"/>
                <a:cs typeface="Courier New" panose="02070309020205020404" pitchFamily="49" charset="0"/>
              </a:rPr>
              <a:t>    if(b&lt;0)</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printf</a:t>
            </a:r>
            <a:r>
              <a:rPr lang="en-US" sz="2000" b="1" dirty="0">
                <a:solidFill>
                  <a:schemeClr val="bg1"/>
                </a:solidFill>
                <a:latin typeface="Nunito Sans" pitchFamily="2" charset="0"/>
                <a:cs typeface="Courier New" panose="02070309020205020404" pitchFamily="49" charset="0"/>
              </a:rPr>
              <a:t>("NO");</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printf</a:t>
            </a:r>
            <a:r>
              <a:rPr lang="en-US" sz="2000" b="1" dirty="0">
                <a:solidFill>
                  <a:schemeClr val="bg1"/>
                </a:solidFill>
                <a:latin typeface="Nunito Sans" pitchFamily="2" charset="0"/>
                <a:cs typeface="Courier New" panose="02070309020205020404" pitchFamily="49" charset="0"/>
              </a:rPr>
              <a:t>("YES");</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3"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&lt;algorithm&gt;</a:t>
            </a:r>
          </a:p>
          <a:p>
            <a:r>
              <a:rPr lang="en-US" sz="2000" b="1" dirty="0">
                <a:solidFill>
                  <a:schemeClr val="bg1"/>
                </a:solidFill>
                <a:latin typeface="Nunito Sans" pitchFamily="2" charset="0"/>
                <a:cs typeface="Courier New" panose="02070309020205020404" pitchFamily="49" charset="0"/>
              </a:rPr>
              <a:t> #include&lt;iostream&gt;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main(){</a:t>
            </a:r>
          </a:p>
          <a:p>
            <a:r>
              <a:rPr lang="en-US" sz="2000" b="1" dirty="0">
                <a:solidFill>
                  <a:schemeClr val="bg1"/>
                </a:solidFill>
                <a:latin typeface="Nunito Sans" pitchFamily="2" charset="0"/>
                <a:cs typeface="Courier New" panose="02070309020205020404" pitchFamily="49" charset="0"/>
              </a:rPr>
              <a:t>    long int </a:t>
            </a:r>
            <a:r>
              <a:rPr lang="en-US" sz="2000" b="1" dirty="0" err="1">
                <a:solidFill>
                  <a:schemeClr val="bg1"/>
                </a:solidFill>
                <a:latin typeface="Nunito Sans" pitchFamily="2" charset="0"/>
                <a:cs typeface="Courier New" panose="02070309020205020404" pitchFamily="49" charset="0"/>
              </a:rPr>
              <a:t>b,n</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cin</a:t>
            </a:r>
            <a:r>
              <a:rPr lang="en-US" sz="2000" b="1" dirty="0">
                <a:solidFill>
                  <a:schemeClr val="bg1"/>
                </a:solidFill>
                <a:latin typeface="Nunito Sans" pitchFamily="2" charset="0"/>
                <a:cs typeface="Courier New" panose="02070309020205020404" pitchFamily="49" charset="0"/>
              </a:rPr>
              <a:t>&gt;&gt;b&gt;&gt;n;</a:t>
            </a:r>
          </a:p>
          <a:p>
            <a:r>
              <a:rPr lang="en-US" sz="2000" b="1" dirty="0">
                <a:solidFill>
                  <a:schemeClr val="bg1"/>
                </a:solidFill>
                <a:latin typeface="Nunito Sans" pitchFamily="2" charset="0"/>
                <a:cs typeface="Courier New" panose="02070309020205020404" pitchFamily="49" charset="0"/>
              </a:rPr>
              <a:t>    long int z[n];</a:t>
            </a:r>
          </a:p>
          <a:p>
            <a:r>
              <a:rPr lang="en-US" sz="2000" b="1" dirty="0">
                <a:solidFill>
                  <a:schemeClr val="bg1"/>
                </a:solidFill>
                <a:latin typeface="Nunito Sans" pitchFamily="2" charset="0"/>
                <a:cs typeface="Courier New" panose="02070309020205020404" pitchFamily="49" charset="0"/>
              </a:rPr>
              <a:t>    for(long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=0;i&lt;</a:t>
            </a:r>
            <a:r>
              <a:rPr lang="en-US" sz="2000" b="1" dirty="0" err="1">
                <a:solidFill>
                  <a:schemeClr val="bg1"/>
                </a:solidFill>
                <a:latin typeface="Nunito Sans" pitchFamily="2" charset="0"/>
                <a:cs typeface="Courier New" panose="02070309020205020404" pitchFamily="49" charset="0"/>
              </a:rPr>
              <a:t>n;i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cin</a:t>
            </a:r>
            <a:r>
              <a:rPr lang="en-US" sz="2000" b="1" dirty="0">
                <a:solidFill>
                  <a:schemeClr val="bg1"/>
                </a:solidFill>
                <a:latin typeface="Nunito Sans" pitchFamily="2" charset="0"/>
                <a:cs typeface="Courier New" panose="02070309020205020404" pitchFamily="49" charset="0"/>
              </a:rPr>
              <a:t>&gt;&gt;z[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sort(z, </a:t>
            </a:r>
            <a:r>
              <a:rPr lang="en-US" sz="2000" b="1" dirty="0" err="1">
                <a:solidFill>
                  <a:schemeClr val="bg1"/>
                </a:solidFill>
                <a:latin typeface="Nunito Sans" pitchFamily="2" charset="0"/>
                <a:cs typeface="Courier New" panose="02070309020205020404" pitchFamily="49" charset="0"/>
              </a:rPr>
              <a:t>z+n</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for(long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=0;i&lt;</a:t>
            </a:r>
            <a:r>
              <a:rPr lang="en-US" sz="2000" b="1" dirty="0" err="1">
                <a:solidFill>
                  <a:schemeClr val="bg1"/>
                </a:solidFill>
                <a:latin typeface="Nunito Sans" pitchFamily="2" charset="0"/>
                <a:cs typeface="Courier New" panose="02070309020205020404" pitchFamily="49" charset="0"/>
              </a:rPr>
              <a:t>n;i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b-=(z[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]%2)+(z[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]/2);</a:t>
            </a:r>
          </a:p>
          <a:p>
            <a:r>
              <a:rPr lang="en-US" sz="2000" b="1" dirty="0">
                <a:solidFill>
                  <a:schemeClr val="bg1"/>
                </a:solidFill>
                <a:latin typeface="Nunito Sans" pitchFamily="2" charset="0"/>
                <a:cs typeface="Courier New" panose="02070309020205020404" pitchFamily="49" charset="0"/>
              </a:rPr>
              <a:t>    if(b&lt;0)</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cout</a:t>
            </a:r>
            <a:r>
              <a:rPr lang="en-US" sz="2000" b="1" dirty="0">
                <a:solidFill>
                  <a:schemeClr val="bg1"/>
                </a:solidFill>
                <a:latin typeface="Nunito Sans" pitchFamily="2" charset="0"/>
                <a:cs typeface="Courier New" panose="02070309020205020404" pitchFamily="49" charset="0"/>
              </a:rPr>
              <a:t>&lt;&lt;"NO";</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cout</a:t>
            </a:r>
            <a:r>
              <a:rPr lang="en-US" sz="2000" b="1" dirty="0">
                <a:solidFill>
                  <a:schemeClr val="bg1"/>
                </a:solidFill>
                <a:latin typeface="Nunito Sans" pitchFamily="2" charset="0"/>
                <a:cs typeface="Courier New" panose="02070309020205020404" pitchFamily="49" charset="0"/>
              </a:rPr>
              <a:t>&lt;&lt;"YES";</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a:t>
            </a:r>
            <a:r>
              <a:rPr lang="en-US" sz="2000" b="1" dirty="0" err="1">
                <a:solidFill>
                  <a:schemeClr val="bg1"/>
                </a:solidFill>
                <a:latin typeface="Nunito Sans" pitchFamily="2" charset="0"/>
                <a:cs typeface="Courier New" panose="02070309020205020404" pitchFamily="49" charset="0"/>
              </a:rPr>
              <a:t>java.util.Scanner</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import </a:t>
            </a:r>
            <a:r>
              <a:rPr lang="en-US" sz="2000" b="1" dirty="0" err="1">
                <a:solidFill>
                  <a:schemeClr val="bg1"/>
                </a:solidFill>
                <a:latin typeface="Nunito Sans" pitchFamily="2" charset="0"/>
                <a:cs typeface="Courier New" panose="02070309020205020404" pitchFamily="49" charset="0"/>
              </a:rPr>
              <a:t>java.util.Arrays</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class Main{</a:t>
            </a:r>
          </a:p>
          <a:p>
            <a:r>
              <a:rPr lang="en-US" sz="2000" b="1" dirty="0">
                <a:solidFill>
                  <a:schemeClr val="bg1"/>
                </a:solidFill>
                <a:latin typeface="Nunito Sans" pitchFamily="2" charset="0"/>
                <a:cs typeface="Courier New" panose="02070309020205020404" pitchFamily="49" charset="0"/>
              </a:rPr>
              <a:t>  public static void main(String </a:t>
            </a:r>
            <a:r>
              <a:rPr lang="en-US" sz="2000" b="1" dirty="0" err="1">
                <a:solidFill>
                  <a:schemeClr val="bg1"/>
                </a:solidFill>
                <a:latin typeface="Nunito Sans" pitchFamily="2" charset="0"/>
                <a:cs typeface="Courier New" panose="02070309020205020404" pitchFamily="49" charset="0"/>
              </a:rPr>
              <a:t>args</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a:t>
            </a:r>
            <a:r>
              <a:rPr lang="en-US" sz="2000" b="1" dirty="0" err="1">
                <a:solidFill>
                  <a:schemeClr val="bg1"/>
                </a:solidFill>
                <a:latin typeface="Nunito Sans" pitchFamily="2" charset="0"/>
                <a:cs typeface="Courier New" panose="02070309020205020404" pitchFamily="49" charset="0"/>
              </a:rPr>
              <a:t>sc</a:t>
            </a:r>
            <a:r>
              <a:rPr lang="en-US" sz="2000" b="1" dirty="0">
                <a:solidFill>
                  <a:schemeClr val="bg1"/>
                </a:solidFill>
                <a:latin typeface="Nunito Sans" pitchFamily="2" charset="0"/>
                <a:cs typeface="Courier New" panose="02070309020205020404" pitchFamily="49" charset="0"/>
              </a:rPr>
              <a:t> = new Scanner(System.in);</a:t>
            </a:r>
          </a:p>
          <a:p>
            <a:r>
              <a:rPr lang="en-US" sz="2000" b="1" dirty="0">
                <a:solidFill>
                  <a:schemeClr val="bg1"/>
                </a:solidFill>
                <a:latin typeface="Nunito Sans" pitchFamily="2" charset="0"/>
                <a:cs typeface="Courier New" panose="02070309020205020404" pitchFamily="49" charset="0"/>
              </a:rPr>
              <a:t>    long b;</a:t>
            </a:r>
          </a:p>
          <a:p>
            <a:r>
              <a:rPr lang="en-US" sz="2000" b="1" dirty="0">
                <a:solidFill>
                  <a:schemeClr val="bg1"/>
                </a:solidFill>
                <a:latin typeface="Nunito Sans" pitchFamily="2" charset="0"/>
                <a:cs typeface="Courier New" panose="02070309020205020404" pitchFamily="49" charset="0"/>
              </a:rPr>
              <a:t>    b = </a:t>
            </a:r>
            <a:r>
              <a:rPr lang="en-US" sz="2000" b="1" dirty="0" err="1">
                <a:solidFill>
                  <a:schemeClr val="bg1"/>
                </a:solidFill>
                <a:latin typeface="Nunito Sans" pitchFamily="2" charset="0"/>
                <a:cs typeface="Courier New" panose="02070309020205020404" pitchFamily="49" charset="0"/>
              </a:rPr>
              <a:t>sc.nextLong</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 = </a:t>
            </a:r>
            <a:r>
              <a:rPr lang="en-US" sz="2000" b="1" dirty="0" err="1">
                <a:solidFill>
                  <a:schemeClr val="bg1"/>
                </a:solidFill>
                <a:latin typeface="Nunito Sans" pitchFamily="2" charset="0"/>
                <a:cs typeface="Courier New" panose="02070309020205020404" pitchFamily="49" charset="0"/>
              </a:rPr>
              <a:t>sc.nextInt</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long z[]= new long[n];</a:t>
            </a:r>
          </a:p>
          <a:p>
            <a:r>
              <a:rPr lang="en-US" sz="2000" b="1" dirty="0">
                <a:solidFill>
                  <a:schemeClr val="bg1"/>
                </a:solidFill>
                <a:latin typeface="Nunito Sans" pitchFamily="2" charset="0"/>
                <a:cs typeface="Courier New" panose="02070309020205020404" pitchFamily="49" charset="0"/>
              </a:rPr>
              <a:t>    for(int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=0;i&lt;</a:t>
            </a:r>
            <a:r>
              <a:rPr lang="en-US" sz="2000" b="1" dirty="0" err="1">
                <a:solidFill>
                  <a:schemeClr val="bg1"/>
                </a:solidFill>
                <a:latin typeface="Nunito Sans" pitchFamily="2" charset="0"/>
                <a:cs typeface="Courier New" panose="02070309020205020404" pitchFamily="49" charset="0"/>
              </a:rPr>
              <a:t>n;i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sc.nextLong</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Arrays.sort</a:t>
            </a:r>
            <a:r>
              <a:rPr lang="en-US" sz="2000" b="1" dirty="0">
                <a:solidFill>
                  <a:schemeClr val="bg1"/>
                </a:solidFill>
                <a:latin typeface="Nunito Sans" pitchFamily="2" charset="0"/>
                <a:cs typeface="Courier New" panose="02070309020205020404" pitchFamily="49" charset="0"/>
              </a:rPr>
              <a:t>(z);</a:t>
            </a:r>
          </a:p>
          <a:p>
            <a:r>
              <a:rPr lang="en-US" sz="2000" b="1" dirty="0">
                <a:solidFill>
                  <a:schemeClr val="bg1"/>
                </a:solidFill>
                <a:latin typeface="Nunito Sans" pitchFamily="2" charset="0"/>
                <a:cs typeface="Courier New" panose="02070309020205020404" pitchFamily="49" charset="0"/>
              </a:rPr>
              <a:t>    for(int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=0;i&lt;</a:t>
            </a:r>
            <a:r>
              <a:rPr lang="en-US" sz="2000" b="1" dirty="0" err="1">
                <a:solidFill>
                  <a:schemeClr val="bg1"/>
                </a:solidFill>
                <a:latin typeface="Nunito Sans" pitchFamily="2" charset="0"/>
                <a:cs typeface="Courier New" panose="02070309020205020404" pitchFamily="49" charset="0"/>
              </a:rPr>
              <a:t>n;i</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b-=(z[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]%2)+(z[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]/2);</a:t>
            </a:r>
          </a:p>
          <a:p>
            <a:r>
              <a:rPr lang="en-US" sz="2000" b="1" dirty="0">
                <a:solidFill>
                  <a:schemeClr val="bg1"/>
                </a:solidFill>
                <a:latin typeface="Nunito Sans" pitchFamily="2" charset="0"/>
                <a:cs typeface="Courier New" panose="02070309020205020404" pitchFamily="49" charset="0"/>
              </a:rPr>
              <a:t>    if(b&lt;0)</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System.out.print</a:t>
            </a:r>
            <a:r>
              <a:rPr lang="en-US" sz="2000" b="1" dirty="0">
                <a:solidFill>
                  <a:schemeClr val="bg1"/>
                </a:solidFill>
                <a:latin typeface="Nunito Sans" pitchFamily="2" charset="0"/>
                <a:cs typeface="Courier New" panose="02070309020205020404" pitchFamily="49" charset="0"/>
              </a:rPr>
              <a:t>("NO");</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System.out.print</a:t>
            </a:r>
            <a:r>
              <a:rPr lang="en-US" sz="2000" b="1" dirty="0">
                <a:solidFill>
                  <a:schemeClr val="bg1"/>
                </a:solidFill>
                <a:latin typeface="Nunito Sans" pitchFamily="2" charset="0"/>
                <a:cs typeface="Courier New" panose="02070309020205020404" pitchFamily="49" charset="0"/>
              </a:rPr>
              <a:t>("YES");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b ,n= [int(x) for x in input().split()]</a:t>
            </a:r>
          </a:p>
          <a:p>
            <a:r>
              <a:rPr lang="en-US" sz="2000" b="1" dirty="0">
                <a:solidFill>
                  <a:schemeClr val="bg1"/>
                </a:solidFill>
                <a:latin typeface="Nunito Sans" pitchFamily="2" charset="0"/>
                <a:cs typeface="Courier New" panose="02070309020205020404" pitchFamily="49" charset="0"/>
              </a:rPr>
              <a:t>z = [int(x) for x in input().split()]</a:t>
            </a:r>
          </a:p>
          <a:p>
            <a:r>
              <a:rPr lang="en-US" sz="2000" b="1" dirty="0" err="1">
                <a:solidFill>
                  <a:schemeClr val="bg1"/>
                </a:solidFill>
                <a:latin typeface="Nunito Sans" pitchFamily="2" charset="0"/>
                <a:cs typeface="Courier New" panose="02070309020205020404" pitchFamily="49" charset="0"/>
              </a:rPr>
              <a:t>z.sort</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for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in range(n):</a:t>
            </a:r>
          </a:p>
          <a:p>
            <a:r>
              <a:rPr lang="en-US" sz="2000" b="1" dirty="0">
                <a:solidFill>
                  <a:schemeClr val="bg1"/>
                </a:solidFill>
                <a:latin typeface="Nunito Sans" pitchFamily="2" charset="0"/>
                <a:cs typeface="Courier New" panose="02070309020205020404" pitchFamily="49" charset="0"/>
              </a:rPr>
              <a:t>    b-=(z[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]%2)+(z[</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]/2)</a:t>
            </a:r>
          </a:p>
          <a:p>
            <a:r>
              <a:rPr lang="en-US" sz="2000" b="1" dirty="0">
                <a:solidFill>
                  <a:schemeClr val="bg1"/>
                </a:solidFill>
                <a:latin typeface="Nunito Sans" pitchFamily="2" charset="0"/>
                <a:cs typeface="Courier New" panose="02070309020205020404" pitchFamily="49" charset="0"/>
              </a:rPr>
              <a:t>if(b&lt;0):</a:t>
            </a:r>
          </a:p>
          <a:p>
            <a:r>
              <a:rPr lang="en-US" sz="2000" b="1" dirty="0">
                <a:solidFill>
                  <a:schemeClr val="bg1"/>
                </a:solidFill>
                <a:latin typeface="Nunito Sans" pitchFamily="2" charset="0"/>
                <a:cs typeface="Courier New" panose="02070309020205020404" pitchFamily="49" charset="0"/>
              </a:rPr>
              <a:t>  print("NO")</a:t>
            </a:r>
          </a:p>
          <a:p>
            <a:r>
              <a:rPr lang="en-US" sz="2000" b="1" dirty="0">
                <a:solidFill>
                  <a:schemeClr val="bg1"/>
                </a:solidFill>
                <a:latin typeface="Nunito Sans" pitchFamily="2" charset="0"/>
                <a:cs typeface="Courier New" panose="02070309020205020404" pitchFamily="49" charset="0"/>
              </a:rPr>
              <a:t>else:</a:t>
            </a:r>
          </a:p>
          <a:p>
            <a:r>
              <a:rPr lang="en-US" sz="2000" b="1" dirty="0">
                <a:solidFill>
                  <a:schemeClr val="bg1"/>
                </a:solidFill>
                <a:latin typeface="Nunito Sans" pitchFamily="2" charset="0"/>
                <a:cs typeface="Courier New" panose="02070309020205020404" pitchFamily="49" charset="0"/>
              </a:rPr>
              <a:t>  print("YES")</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9652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4400" b="1" dirty="0">
                <a:solidFill>
                  <a:schemeClr val="bg1"/>
                </a:solidFill>
                <a:latin typeface="Nunito Sans" pitchFamily="2" charset="0"/>
                <a:sym typeface="+mn-ea"/>
              </a:rPr>
              <a:t>                                                           question 4</a:t>
            </a:r>
            <a:endParaRPr lang="en-IN" altLang="en-US" sz="4400" dirty="0">
              <a:latin typeface="Nunito Sans" pitchFamily="2" charset="0"/>
            </a:endParaRPr>
          </a:p>
        </p:txBody>
      </p:sp>
      <p:sp>
        <p:nvSpPr>
          <p:cNvPr id="2" name="Text Box 1"/>
          <p:cNvSpPr txBox="1"/>
          <p:nvPr/>
        </p:nvSpPr>
        <p:spPr>
          <a:xfrm>
            <a:off x="212090" y="1381760"/>
            <a:ext cx="11282045" cy="645160"/>
          </a:xfrm>
          <a:prstGeom prst="rect">
            <a:avLst/>
          </a:prstGeom>
          <a:noFill/>
        </p:spPr>
        <p:txBody>
          <a:bodyPr wrap="square" rtlCol="0" anchor="t">
            <a:spAutoFit/>
          </a:bodyPr>
          <a:lstStyle/>
          <a:p>
            <a:endParaRPr lang="en-US" dirty="0">
              <a:latin typeface="Sans Serif Collection" panose="020B0502040504020204" charset="0"/>
              <a:cs typeface="Sans Serif Collection" panose="020B0502040504020204" charset="0"/>
            </a:endParaRPr>
          </a:p>
          <a:p>
            <a:endParaRPr lang="en-IN" altLang="en-US">
              <a:latin typeface="Sans Serif Collection" panose="020B0502040504020204" charset="0"/>
              <a:cs typeface="Sans Serif Collection" panose="020B0502040504020204" charset="0"/>
            </a:endParaRPr>
          </a:p>
        </p:txBody>
      </p:sp>
      <p:sp>
        <p:nvSpPr>
          <p:cNvPr id="3" name="Text Box 2"/>
          <p:cNvSpPr txBox="1"/>
          <p:nvPr/>
        </p:nvSpPr>
        <p:spPr>
          <a:xfrm>
            <a:off x="211455" y="902335"/>
            <a:ext cx="11777980" cy="5478423"/>
          </a:xfrm>
          <a:prstGeom prst="rect">
            <a:avLst/>
          </a:prstGeom>
          <a:noFill/>
        </p:spPr>
        <p:txBody>
          <a:bodyPr wrap="square" rtlCol="0" anchor="t">
            <a:spAutoFit/>
          </a:bodyPr>
          <a:lstStyle/>
          <a:p>
            <a:r>
              <a:rPr lang="en-IN" altLang="en-US" dirty="0">
                <a:latin typeface="Nunito Sans" pitchFamily="2" charset="0"/>
                <a:sym typeface="+mn-ea"/>
              </a:rPr>
              <a:t> </a:t>
            </a:r>
            <a:r>
              <a:rPr lang="en-IN" altLang="en-US" sz="2500" dirty="0">
                <a:latin typeface="Nunito Sans" panose="00000500000000000000" pitchFamily="2" charset="0"/>
                <a:sym typeface="+mn-ea"/>
              </a:rPr>
              <a:t>Alice and Bob are batch mates and Alice got placed in a well-reputed product-based company and his friend Bob is demanding a pizza party from him. Alice is ready for giving party and he ordered N pizzas from the nearest restaurant. Now pizzas can have at most K different flavors (It is not necessary that there should be one pizza of each flavor), numbered from 1 to K such that ⅈ^th pizza can have Ai flavor (1 &lt;= Ai &lt;=k).</a:t>
            </a:r>
          </a:p>
          <a:p>
            <a:r>
              <a:rPr lang="en-IN" altLang="en-US" sz="2500" dirty="0">
                <a:latin typeface="Nunito Sans" panose="00000500000000000000" pitchFamily="2" charset="0"/>
                <a:sym typeface="+mn-ea"/>
              </a:rPr>
              <a:t>Bob is on dieting, and he can only eat pizza of at most k-1 flavors but he can eat as many pizzas of ith flavor and he wanted to choose maximum possible pizzas which are in contiguous sequence to one another such that all pizzas in sequence has atmost k-1 flavors.</a:t>
            </a:r>
          </a:p>
          <a:p>
            <a:endParaRPr lang="en-IN" altLang="en-US" sz="2500" dirty="0">
              <a:latin typeface="Nunito Sans" panose="00000500000000000000" pitchFamily="2" charset="0"/>
              <a:sym typeface="+mn-ea"/>
            </a:endParaRPr>
          </a:p>
          <a:p>
            <a:r>
              <a:rPr lang="en-IN" altLang="en-US" sz="2500" dirty="0">
                <a:latin typeface="Nunito Sans" panose="00000500000000000000" pitchFamily="2" charset="0"/>
                <a:sym typeface="+mn-ea"/>
              </a:rPr>
              <a:t>For example</a:t>
            </a:r>
          </a:p>
          <a:p>
            <a:pPr marL="457200" indent="-457200">
              <a:buAutoNum type="arabicPlain" startAt="6"/>
            </a:pPr>
            <a:r>
              <a:rPr lang="en-IN" altLang="en-US" sz="2500" dirty="0">
                <a:latin typeface="Nunito Sans" panose="00000500000000000000" pitchFamily="2" charset="0"/>
                <a:sym typeface="+mn-ea"/>
              </a:rPr>
              <a:t>2            -&gt; here 6 is the number pizzas of and 2 is number of distinct </a:t>
            </a:r>
            <a:r>
              <a:rPr lang="en-IN" altLang="en-US" sz="2500" dirty="0" err="1">
                <a:latin typeface="Nunito Sans" panose="00000500000000000000" pitchFamily="2" charset="0"/>
                <a:sym typeface="+mn-ea"/>
              </a:rPr>
              <a:t>flavors</a:t>
            </a:r>
            <a:endParaRPr lang="en-IN" altLang="en-US" sz="2500" dirty="0">
              <a:latin typeface="Nunito Sans" panose="00000500000000000000" pitchFamily="2" charset="0"/>
              <a:sym typeface="+mn-ea"/>
            </a:endParaRPr>
          </a:p>
          <a:p>
            <a:r>
              <a:rPr lang="en-US" sz="2400" dirty="0">
                <a:latin typeface="Nunito Sans" panose="020B0604020202020204" charset="0"/>
              </a:rPr>
              <a:t>1 1 1 2 2 1   -&gt; </a:t>
            </a:r>
            <a:r>
              <a:rPr lang="en-US" sz="2400" dirty="0" err="1">
                <a:latin typeface="Nunito Sans" panose="020B0604020202020204" charset="0"/>
              </a:rPr>
              <a:t>ith</a:t>
            </a:r>
            <a:r>
              <a:rPr lang="en-US" sz="2400" dirty="0">
                <a:latin typeface="Nunito Sans" panose="020B0604020202020204" charset="0"/>
              </a:rPr>
              <a:t> pizza has flavor </a:t>
            </a:r>
            <a:r>
              <a:rPr lang="en-US" sz="2400" dirty="0" err="1">
                <a:latin typeface="Nunito Sans" panose="020B0604020202020204" charset="0"/>
              </a:rPr>
              <a:t>ai</a:t>
            </a:r>
            <a:endParaRPr lang="en-IN" altLang="en-US" sz="2400" dirty="0">
              <a:latin typeface="Nunito Sans" panose="020B0604020202020204" charset="0"/>
              <a:sym typeface="+mn-ea"/>
            </a:endParaRPr>
          </a:p>
        </p:txBody>
      </p:sp>
      <p:pic>
        <p:nvPicPr>
          <p:cNvPr id="4" name="Picture 3">
            <a:extLst>
              <a:ext uri="{FF2B5EF4-FFF2-40B4-BE49-F238E27FC236}">
                <a16:creationId xmlns:a16="http://schemas.microsoft.com/office/drawing/2014/main" id="{7CA2263F-AC6F-17EC-0418-3E3402595F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9652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4400" b="1" dirty="0">
                <a:solidFill>
                  <a:schemeClr val="bg1"/>
                </a:solidFill>
                <a:latin typeface="Nunito Sans" pitchFamily="2" charset="0"/>
                <a:sym typeface="+mn-ea"/>
              </a:rPr>
              <a:t>                                                           question 4</a:t>
            </a:r>
            <a:endParaRPr lang="en-IN" altLang="en-US" sz="4400" dirty="0">
              <a:latin typeface="Nunito Sans" pitchFamily="2" charset="0"/>
            </a:endParaRPr>
          </a:p>
        </p:txBody>
      </p:sp>
      <p:sp>
        <p:nvSpPr>
          <p:cNvPr id="2" name="Text Box 1"/>
          <p:cNvSpPr txBox="1"/>
          <p:nvPr/>
        </p:nvSpPr>
        <p:spPr>
          <a:xfrm>
            <a:off x="212090" y="1381760"/>
            <a:ext cx="11282045" cy="645160"/>
          </a:xfrm>
          <a:prstGeom prst="rect">
            <a:avLst/>
          </a:prstGeom>
          <a:noFill/>
        </p:spPr>
        <p:txBody>
          <a:bodyPr wrap="square" rtlCol="0" anchor="t">
            <a:spAutoFit/>
          </a:bodyPr>
          <a:lstStyle/>
          <a:p>
            <a:endParaRPr lang="en-US" dirty="0">
              <a:latin typeface="Sans Serif Collection" panose="020B0502040504020204" charset="0"/>
              <a:cs typeface="Sans Serif Collection" panose="020B0502040504020204" charset="0"/>
            </a:endParaRPr>
          </a:p>
          <a:p>
            <a:endParaRPr lang="en-IN" altLang="en-US">
              <a:latin typeface="Sans Serif Collection" panose="020B0502040504020204" charset="0"/>
              <a:cs typeface="Sans Serif Collection" panose="020B0502040504020204" charset="0"/>
            </a:endParaRPr>
          </a:p>
        </p:txBody>
      </p:sp>
      <p:sp>
        <p:nvSpPr>
          <p:cNvPr id="3" name="Text Box 2"/>
          <p:cNvSpPr txBox="1"/>
          <p:nvPr/>
        </p:nvSpPr>
        <p:spPr>
          <a:xfrm>
            <a:off x="211455" y="902335"/>
            <a:ext cx="11777980" cy="4324261"/>
          </a:xfrm>
          <a:prstGeom prst="rect">
            <a:avLst/>
          </a:prstGeom>
          <a:noFill/>
        </p:spPr>
        <p:txBody>
          <a:bodyPr wrap="square" rtlCol="0" anchor="t">
            <a:spAutoFit/>
          </a:bodyPr>
          <a:lstStyle/>
          <a:p>
            <a:r>
              <a:rPr lang="en-IN" altLang="en-US" sz="2500" b="1" dirty="0">
                <a:latin typeface="Nunito Sans" panose="00000500000000000000" pitchFamily="2" charset="0"/>
                <a:sym typeface="+mn-ea"/>
              </a:rPr>
              <a:t>Example 1: </a:t>
            </a:r>
          </a:p>
          <a:p>
            <a:r>
              <a:rPr lang="en-IN" altLang="en-US" sz="2500" b="1" dirty="0">
                <a:latin typeface="Nunito Sans" panose="00000500000000000000" pitchFamily="2" charset="0"/>
                <a:sym typeface="+mn-ea"/>
              </a:rPr>
              <a:t>Input</a:t>
            </a:r>
            <a:r>
              <a:rPr lang="en-IN" altLang="en-US" sz="2500" dirty="0">
                <a:latin typeface="Nunito Sans" panose="00000500000000000000" pitchFamily="2" charset="0"/>
                <a:sym typeface="+mn-ea"/>
              </a:rPr>
              <a:t> </a:t>
            </a:r>
          </a:p>
          <a:p>
            <a:r>
              <a:rPr lang="en-IN" altLang="en-US" sz="2500" dirty="0">
                <a:latin typeface="Nunito Sans" panose="00000500000000000000" pitchFamily="2" charset="0"/>
                <a:sym typeface="+mn-ea"/>
              </a:rPr>
              <a:t>6 2            -&gt; Size of input Array and K distinct flavors</a:t>
            </a:r>
          </a:p>
          <a:p>
            <a:r>
              <a:rPr lang="en-IN" altLang="en-US" sz="2500" dirty="0">
                <a:latin typeface="Nunito Sans" panose="00000500000000000000" pitchFamily="2" charset="0"/>
                <a:sym typeface="+mn-ea"/>
              </a:rPr>
              <a:t>1 1 1 2 2 1  -&gt; input array (N Different pizza flavors )</a:t>
            </a:r>
          </a:p>
          <a:p>
            <a:endParaRPr lang="en-IN" altLang="en-US" sz="2500" dirty="0">
              <a:latin typeface="Nunito Sans" panose="00000500000000000000" pitchFamily="2" charset="0"/>
              <a:sym typeface="+mn-ea"/>
            </a:endParaRPr>
          </a:p>
          <a:p>
            <a:r>
              <a:rPr lang="en-IN" altLang="en-US" sz="2500" b="1" dirty="0">
                <a:latin typeface="Nunito Sans" pitchFamily="2" charset="0"/>
                <a:sym typeface="+mn-ea"/>
              </a:rPr>
              <a:t>Output</a:t>
            </a:r>
            <a:r>
              <a:rPr lang="en-IN" altLang="en-US" sz="2500" dirty="0">
                <a:latin typeface="Nunito Sans" panose="00000500000000000000" pitchFamily="2" charset="0"/>
                <a:sym typeface="+mn-ea"/>
              </a:rPr>
              <a:t> </a:t>
            </a:r>
          </a:p>
          <a:p>
            <a:r>
              <a:rPr lang="en-IN" altLang="en-US" sz="2500" dirty="0">
                <a:latin typeface="Nunito Sans" panose="00000500000000000000" pitchFamily="2" charset="0"/>
                <a:sym typeface="+mn-ea"/>
              </a:rPr>
              <a:t>3</a:t>
            </a:r>
          </a:p>
          <a:p>
            <a:endParaRPr lang="en-IN" altLang="en-US" sz="2500" dirty="0">
              <a:latin typeface="Nunito Sans" panose="00000500000000000000" pitchFamily="2" charset="0"/>
              <a:sym typeface="+mn-ea"/>
            </a:endParaRPr>
          </a:p>
          <a:p>
            <a:r>
              <a:rPr lang="en-IN" altLang="en-US" sz="2500" b="1" dirty="0">
                <a:latin typeface="Nunito Sans" pitchFamily="2" charset="0"/>
                <a:sym typeface="+mn-ea"/>
              </a:rPr>
              <a:t>Explanation</a:t>
            </a:r>
          </a:p>
          <a:p>
            <a:r>
              <a:rPr lang="en-IN" altLang="en-US" sz="2500" dirty="0">
                <a:latin typeface="Nunito Sans" pitchFamily="2" charset="0"/>
                <a:sym typeface="+mn-ea"/>
              </a:rPr>
              <a:t>Maximum length subarray with at most k-1 distinct flavors is 3 and sub array is 1 1 1</a:t>
            </a:r>
          </a:p>
        </p:txBody>
      </p:sp>
      <p:pic>
        <p:nvPicPr>
          <p:cNvPr id="4" name="Picture 3">
            <a:extLst>
              <a:ext uri="{FF2B5EF4-FFF2-40B4-BE49-F238E27FC236}">
                <a16:creationId xmlns:a16="http://schemas.microsoft.com/office/drawing/2014/main" id="{F0BC9F5D-78A7-E19B-0543-8D35930048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9652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4400" b="1" dirty="0">
                <a:solidFill>
                  <a:schemeClr val="bg1"/>
                </a:solidFill>
                <a:latin typeface="Nunito Sans" pitchFamily="2" charset="0"/>
                <a:sym typeface="+mn-ea"/>
              </a:rPr>
              <a:t>                                                        question 4</a:t>
            </a:r>
            <a:endParaRPr lang="en-IN" altLang="en-US" sz="4400" dirty="0">
              <a:latin typeface="Nunito Sans" pitchFamily="2" charset="0"/>
            </a:endParaRPr>
          </a:p>
        </p:txBody>
      </p:sp>
      <p:sp>
        <p:nvSpPr>
          <p:cNvPr id="2" name="Text Box 1"/>
          <p:cNvSpPr txBox="1"/>
          <p:nvPr/>
        </p:nvSpPr>
        <p:spPr>
          <a:xfrm>
            <a:off x="212090" y="1381760"/>
            <a:ext cx="11282045" cy="645160"/>
          </a:xfrm>
          <a:prstGeom prst="rect">
            <a:avLst/>
          </a:prstGeom>
          <a:noFill/>
        </p:spPr>
        <p:txBody>
          <a:bodyPr wrap="square" rtlCol="0" anchor="t">
            <a:spAutoFit/>
          </a:bodyPr>
          <a:lstStyle/>
          <a:p>
            <a:endParaRPr lang="en-US" dirty="0">
              <a:latin typeface="Sans Serif Collection" panose="020B0502040504020204" charset="0"/>
              <a:cs typeface="Sans Serif Collection" panose="020B0502040504020204" charset="0"/>
            </a:endParaRPr>
          </a:p>
          <a:p>
            <a:endParaRPr lang="en-IN" altLang="en-US">
              <a:latin typeface="Sans Serif Collection" panose="020B0502040504020204" charset="0"/>
              <a:cs typeface="Sans Serif Collection" panose="020B0502040504020204" charset="0"/>
            </a:endParaRPr>
          </a:p>
        </p:txBody>
      </p:sp>
      <p:sp>
        <p:nvSpPr>
          <p:cNvPr id="3" name="Text Box 2"/>
          <p:cNvSpPr txBox="1"/>
          <p:nvPr/>
        </p:nvSpPr>
        <p:spPr>
          <a:xfrm>
            <a:off x="211455" y="902335"/>
            <a:ext cx="11777980" cy="5569585"/>
          </a:xfrm>
          <a:prstGeom prst="rect">
            <a:avLst/>
          </a:prstGeom>
          <a:noFill/>
        </p:spPr>
        <p:txBody>
          <a:bodyPr wrap="square" rtlCol="0" anchor="t">
            <a:spAutoFit/>
          </a:bodyPr>
          <a:lstStyle/>
          <a:p>
            <a:r>
              <a:rPr lang="en-IN" altLang="en-US" sz="2500" b="1" dirty="0">
                <a:latin typeface="Nunito Sans" pitchFamily="2" charset="0"/>
                <a:sym typeface="+mn-ea"/>
              </a:rPr>
              <a:t>Example 2:</a:t>
            </a:r>
          </a:p>
          <a:p>
            <a:endParaRPr lang="en-IN" altLang="en-US" sz="2500" dirty="0">
              <a:latin typeface="Nunito Sans" pitchFamily="2" charset="0"/>
              <a:sym typeface="+mn-ea"/>
            </a:endParaRPr>
          </a:p>
          <a:p>
            <a:r>
              <a:rPr lang="en-IN" altLang="en-US" sz="2500" b="1" dirty="0">
                <a:latin typeface="Nunito Sans" pitchFamily="2" charset="0"/>
                <a:sym typeface="+mn-ea"/>
              </a:rPr>
              <a:t>Input:</a:t>
            </a:r>
          </a:p>
          <a:p>
            <a:r>
              <a:rPr lang="en-IN" altLang="en-US" sz="2500" dirty="0">
                <a:latin typeface="Nunito Sans" panose="00000500000000000000" pitchFamily="2" charset="0"/>
                <a:sym typeface="+mn-ea"/>
              </a:rPr>
              <a:t>5 3 -&gt; Size of inputs Arrays and K distinct flavors</a:t>
            </a:r>
          </a:p>
          <a:p>
            <a:r>
              <a:rPr lang="en-IN" altLang="en-US" sz="2500" dirty="0">
                <a:latin typeface="Nunito Sans" panose="00000500000000000000" pitchFamily="2" charset="0"/>
                <a:sym typeface="+mn-ea"/>
              </a:rPr>
              <a:t>1 1 2 2 1 -&gt; input array (N Different Pizza Flavors)</a:t>
            </a:r>
          </a:p>
          <a:p>
            <a:endParaRPr lang="en-IN" altLang="en-US" sz="2500" dirty="0">
              <a:latin typeface="Nunito Sans" panose="00000500000000000000" pitchFamily="2" charset="0"/>
              <a:sym typeface="+mn-ea"/>
            </a:endParaRPr>
          </a:p>
          <a:p>
            <a:r>
              <a:rPr lang="en-IN" altLang="en-US" sz="2500" b="1" dirty="0">
                <a:latin typeface="Nunito Sans" pitchFamily="2" charset="0"/>
                <a:sym typeface="+mn-ea"/>
              </a:rPr>
              <a:t>Output</a:t>
            </a:r>
          </a:p>
          <a:p>
            <a:r>
              <a:rPr lang="en-IN" altLang="en-US" sz="2500" dirty="0">
                <a:latin typeface="Nunito Sans" panose="00000500000000000000" pitchFamily="2" charset="0"/>
                <a:sym typeface="+mn-ea"/>
              </a:rPr>
              <a:t>5</a:t>
            </a:r>
          </a:p>
          <a:p>
            <a:endParaRPr lang="en-IN" altLang="en-US" sz="2500" dirty="0">
              <a:latin typeface="Nunito Sans" panose="00000500000000000000" pitchFamily="2" charset="0"/>
              <a:sym typeface="+mn-ea"/>
            </a:endParaRPr>
          </a:p>
          <a:p>
            <a:r>
              <a:rPr lang="en-IN" altLang="en-US" sz="2500" dirty="0">
                <a:latin typeface="Nunito Sans" panose="00000500000000000000" pitchFamily="2" charset="0"/>
                <a:sym typeface="+mn-ea"/>
              </a:rPr>
              <a:t>E</a:t>
            </a:r>
            <a:r>
              <a:rPr lang="en-IN" altLang="en-US" sz="2500" b="1" dirty="0">
                <a:latin typeface="Nunito Sans" pitchFamily="2" charset="0"/>
                <a:sym typeface="+mn-ea"/>
              </a:rPr>
              <a:t>xplanation</a:t>
            </a:r>
          </a:p>
          <a:p>
            <a:r>
              <a:rPr lang="en-IN" altLang="en-US" sz="2500" dirty="0">
                <a:latin typeface="Nunito Sans" pitchFamily="2" charset="0"/>
                <a:sym typeface="+mn-ea"/>
              </a:rPr>
              <a:t>Since N pizza in total has only 2 flavors so bob can eat all pizza so maximum length of subarray with at most k-1 distinct flavors is 5</a:t>
            </a:r>
          </a:p>
          <a:p>
            <a:endParaRPr lang="en-IN" altLang="en-US" sz="2800" dirty="0">
              <a:latin typeface="Nunito Sans" panose="00000500000000000000" pitchFamily="2" charset="0"/>
              <a:sym typeface="+mn-ea"/>
            </a:endParaRPr>
          </a:p>
          <a:p>
            <a:endParaRPr lang="en-IN" altLang="en-US" sz="2800" dirty="0">
              <a:latin typeface="Nunito Sans" panose="00000500000000000000" pitchFamily="2" charset="0"/>
              <a:sym typeface="+mn-ea"/>
            </a:endParaRPr>
          </a:p>
        </p:txBody>
      </p:sp>
      <p:pic>
        <p:nvPicPr>
          <p:cNvPr id="4" name="Picture 3">
            <a:extLst>
              <a:ext uri="{FF2B5EF4-FFF2-40B4-BE49-F238E27FC236}">
                <a16:creationId xmlns:a16="http://schemas.microsoft.com/office/drawing/2014/main" id="{728E0D3B-4026-D77D-6CAF-1D136E9F03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9652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4400" b="1" dirty="0">
                <a:solidFill>
                  <a:schemeClr val="bg1"/>
                </a:solidFill>
                <a:latin typeface="Nunito Sans" pitchFamily="2" charset="0"/>
                <a:sym typeface="+mn-ea"/>
              </a:rPr>
              <a:t>                                                        question 4</a:t>
            </a:r>
            <a:endParaRPr lang="en-IN" altLang="en-US" sz="4400" dirty="0">
              <a:latin typeface="Nunito Sans" pitchFamily="2" charset="0"/>
            </a:endParaRPr>
          </a:p>
        </p:txBody>
      </p:sp>
      <p:sp>
        <p:nvSpPr>
          <p:cNvPr id="2" name="Text Box 1"/>
          <p:cNvSpPr txBox="1"/>
          <p:nvPr/>
        </p:nvSpPr>
        <p:spPr>
          <a:xfrm>
            <a:off x="212090" y="1381760"/>
            <a:ext cx="11282045" cy="645160"/>
          </a:xfrm>
          <a:prstGeom prst="rect">
            <a:avLst/>
          </a:prstGeom>
          <a:noFill/>
        </p:spPr>
        <p:txBody>
          <a:bodyPr wrap="square" rtlCol="0" anchor="t">
            <a:spAutoFit/>
          </a:bodyPr>
          <a:lstStyle/>
          <a:p>
            <a:endParaRPr lang="en-US" dirty="0">
              <a:latin typeface="Sans Serif Collection" panose="020B0502040504020204" charset="0"/>
              <a:cs typeface="Sans Serif Collection" panose="020B0502040504020204" charset="0"/>
            </a:endParaRPr>
          </a:p>
          <a:p>
            <a:endParaRPr lang="en-IN" altLang="en-US">
              <a:latin typeface="Sans Serif Collection" panose="020B0502040504020204" charset="0"/>
              <a:cs typeface="Sans Serif Collection" panose="020B0502040504020204" charset="0"/>
            </a:endParaRPr>
          </a:p>
        </p:txBody>
      </p:sp>
      <p:sp>
        <p:nvSpPr>
          <p:cNvPr id="3" name="Text Box 2"/>
          <p:cNvSpPr txBox="1"/>
          <p:nvPr/>
        </p:nvSpPr>
        <p:spPr>
          <a:xfrm>
            <a:off x="211455" y="902335"/>
            <a:ext cx="11777980" cy="5477510"/>
          </a:xfrm>
          <a:prstGeom prst="rect">
            <a:avLst/>
          </a:prstGeom>
          <a:noFill/>
        </p:spPr>
        <p:txBody>
          <a:bodyPr wrap="square" rtlCol="0" anchor="t">
            <a:spAutoFit/>
          </a:bodyPr>
          <a:lstStyle/>
          <a:p>
            <a:r>
              <a:rPr lang="en-IN" altLang="en-US" sz="2500" b="1" dirty="0">
                <a:latin typeface="Nunito Sans" pitchFamily="2" charset="0"/>
                <a:sym typeface="+mn-ea"/>
              </a:rPr>
              <a:t>Constraints</a:t>
            </a:r>
          </a:p>
          <a:p>
            <a:r>
              <a:rPr lang="en-IN" altLang="en-US" sz="2500" dirty="0">
                <a:latin typeface="Nunito Sans" panose="00000500000000000000" pitchFamily="2" charset="0"/>
                <a:sym typeface="+mn-ea"/>
              </a:rPr>
              <a:t>1&lt;N&lt;100000&gt;Size of Array</a:t>
            </a:r>
          </a:p>
          <a:p>
            <a:r>
              <a:rPr lang="en-IN" altLang="en-US" sz="2500" dirty="0">
                <a:latin typeface="Nunito Sans" panose="00000500000000000000" pitchFamily="2" charset="0"/>
                <a:sym typeface="+mn-ea"/>
              </a:rPr>
              <a:t>2&lt;K&lt;100000&gt; Number of different flavors</a:t>
            </a:r>
          </a:p>
          <a:p>
            <a:r>
              <a:rPr lang="en-IN" altLang="en-US" sz="2500" dirty="0">
                <a:latin typeface="Nunito Sans" panose="00000500000000000000" pitchFamily="2" charset="0"/>
                <a:sym typeface="+mn-ea"/>
              </a:rPr>
              <a:t>1&lt;A[i]&lt;100000&gt; Value of ith flavor 0 base indexing</a:t>
            </a:r>
          </a:p>
          <a:p>
            <a:endParaRPr lang="en-IN" altLang="en-US" sz="2500" dirty="0">
              <a:latin typeface="Nunito Sans" panose="00000500000000000000" pitchFamily="2" charset="0"/>
              <a:sym typeface="+mn-ea"/>
            </a:endParaRPr>
          </a:p>
          <a:p>
            <a:r>
              <a:rPr lang="en-IN" altLang="en-US" sz="2500" b="1" dirty="0">
                <a:latin typeface="Nunito Sans" pitchFamily="2" charset="0"/>
                <a:sym typeface="+mn-ea"/>
              </a:rPr>
              <a:t>The Input format for testing</a:t>
            </a:r>
            <a:endParaRPr lang="en-IN" altLang="en-US" sz="2500" dirty="0">
              <a:latin typeface="Nunito Sans" panose="00000500000000000000" pitchFamily="2" charset="0"/>
              <a:sym typeface="+mn-ea"/>
            </a:endParaRPr>
          </a:p>
          <a:p>
            <a:r>
              <a:rPr lang="en-IN" altLang="en-US" sz="2500" dirty="0">
                <a:latin typeface="Nunito Sans" panose="00000500000000000000" pitchFamily="2" charset="0"/>
                <a:sym typeface="+mn-ea"/>
              </a:rPr>
              <a:t>The candidate has to write the code to accept 2 inputs.</a:t>
            </a:r>
          </a:p>
          <a:p>
            <a:r>
              <a:rPr lang="en-IN" altLang="en-US" sz="2500" dirty="0">
                <a:latin typeface="Nunito Sans" panose="00000500000000000000" pitchFamily="2" charset="0"/>
                <a:sym typeface="+mn-ea"/>
              </a:rPr>
              <a:t>First Input: It will contain two integer N and K</a:t>
            </a:r>
          </a:p>
          <a:p>
            <a:r>
              <a:rPr lang="en-IN" altLang="en-US" sz="2500" dirty="0">
                <a:latin typeface="Nunito Sans" panose="00000500000000000000" pitchFamily="2" charset="0"/>
                <a:sym typeface="+mn-ea"/>
              </a:rPr>
              <a:t>Second Input: It will contain a N integer separated by space.</a:t>
            </a:r>
          </a:p>
          <a:p>
            <a:endParaRPr lang="en-IN" altLang="en-US" sz="2500" dirty="0">
              <a:latin typeface="Nunito Sans" panose="00000500000000000000" pitchFamily="2" charset="0"/>
              <a:sym typeface="+mn-ea"/>
            </a:endParaRPr>
          </a:p>
          <a:p>
            <a:r>
              <a:rPr lang="en-IN" altLang="en-US" sz="2500" b="1" dirty="0">
                <a:latin typeface="Nunito Sans" pitchFamily="2" charset="0"/>
                <a:sym typeface="+mn-ea"/>
              </a:rPr>
              <a:t>Output format for testing</a:t>
            </a:r>
          </a:p>
          <a:p>
            <a:r>
              <a:rPr lang="en-IN" altLang="en-US" sz="2500" dirty="0">
                <a:latin typeface="Nunito Sans" panose="00000500000000000000" pitchFamily="2" charset="0"/>
                <a:sym typeface="+mn-ea"/>
              </a:rPr>
              <a:t>The output will contain a single line containing an integer denoting maximum possible length of subarray.</a:t>
            </a:r>
          </a:p>
          <a:p>
            <a:endParaRPr lang="en-IN" altLang="en-US" sz="2500" dirty="0">
              <a:latin typeface="Nunito Sans" panose="00000500000000000000" pitchFamily="2" charset="0"/>
              <a:sym typeface="+mn-ea"/>
            </a:endParaRPr>
          </a:p>
        </p:txBody>
      </p:sp>
      <p:pic>
        <p:nvPicPr>
          <p:cNvPr id="4" name="Picture 3">
            <a:extLst>
              <a:ext uri="{FF2B5EF4-FFF2-40B4-BE49-F238E27FC236}">
                <a16:creationId xmlns:a16="http://schemas.microsoft.com/office/drawing/2014/main" id="{2A915272-23F9-9252-865B-55B561A055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13074"/>
            <a:ext cx="2356664" cy="2988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9652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4400" b="1" dirty="0">
                <a:solidFill>
                  <a:schemeClr val="bg1"/>
                </a:solidFill>
                <a:latin typeface="Nunito Sans" pitchFamily="2" charset="0"/>
                <a:sym typeface="+mn-ea"/>
              </a:rPr>
              <a:t>                                                           question 4</a:t>
            </a:r>
            <a:endParaRPr lang="en-IN" altLang="en-US" sz="4400" dirty="0">
              <a:latin typeface="Nunito Sans" pitchFamily="2" charset="0"/>
            </a:endParaRPr>
          </a:p>
        </p:txBody>
      </p:sp>
      <p:sp>
        <p:nvSpPr>
          <p:cNvPr id="2" name="Text Box 1"/>
          <p:cNvSpPr txBox="1"/>
          <p:nvPr/>
        </p:nvSpPr>
        <p:spPr>
          <a:xfrm>
            <a:off x="212090" y="1381760"/>
            <a:ext cx="11282045" cy="645160"/>
          </a:xfrm>
          <a:prstGeom prst="rect">
            <a:avLst/>
          </a:prstGeom>
          <a:noFill/>
        </p:spPr>
        <p:txBody>
          <a:bodyPr wrap="square" rtlCol="0" anchor="t">
            <a:spAutoFit/>
          </a:bodyPr>
          <a:lstStyle/>
          <a:p>
            <a:endParaRPr lang="en-US" dirty="0">
              <a:latin typeface="Sans Serif Collection" panose="020B0502040504020204" charset="0"/>
              <a:cs typeface="Sans Serif Collection" panose="020B0502040504020204" charset="0"/>
            </a:endParaRPr>
          </a:p>
          <a:p>
            <a:endParaRPr lang="en-IN" altLang="en-US">
              <a:latin typeface="Sans Serif Collection" panose="020B0502040504020204" charset="0"/>
              <a:cs typeface="Sans Serif Collection" panose="020B0502040504020204" charset="0"/>
            </a:endParaRPr>
          </a:p>
        </p:txBody>
      </p:sp>
      <p:sp>
        <p:nvSpPr>
          <p:cNvPr id="3" name="Text Box 2"/>
          <p:cNvSpPr txBox="1"/>
          <p:nvPr/>
        </p:nvSpPr>
        <p:spPr>
          <a:xfrm>
            <a:off x="211455" y="902335"/>
            <a:ext cx="11777980" cy="2784475"/>
          </a:xfrm>
          <a:prstGeom prst="rect">
            <a:avLst/>
          </a:prstGeom>
          <a:noFill/>
        </p:spPr>
        <p:txBody>
          <a:bodyPr wrap="square" rtlCol="0" anchor="t">
            <a:spAutoFit/>
          </a:bodyPr>
          <a:lstStyle/>
          <a:p>
            <a:r>
              <a:rPr lang="en-IN" altLang="en-US" sz="2500" dirty="0">
                <a:latin typeface="Nunito Sans" panose="00000500000000000000" pitchFamily="2" charset="0"/>
                <a:sym typeface="+mn-ea"/>
              </a:rPr>
              <a:t>Additional messages in output will cause the failure of test cases.</a:t>
            </a:r>
          </a:p>
          <a:p>
            <a:endParaRPr lang="en-IN" altLang="en-US" sz="2500" dirty="0">
              <a:latin typeface="Nunito Sans" panose="00000500000000000000" pitchFamily="2" charset="0"/>
              <a:sym typeface="+mn-ea"/>
            </a:endParaRPr>
          </a:p>
          <a:p>
            <a:r>
              <a:rPr lang="en-IN" altLang="en-US" sz="2500" b="1" dirty="0">
                <a:latin typeface="Nunito Sans" panose="00000500000000000000" pitchFamily="2" charset="0"/>
                <a:sym typeface="+mn-ea"/>
              </a:rPr>
              <a:t>Instructions:</a:t>
            </a:r>
          </a:p>
          <a:p>
            <a:endParaRPr lang="en-IN" altLang="en-US" sz="2500" b="1" dirty="0">
              <a:latin typeface="Nunito Sans" panose="00000500000000000000" pitchFamily="2" charset="0"/>
              <a:sym typeface="+mn-ea"/>
            </a:endParaRPr>
          </a:p>
          <a:p>
            <a:r>
              <a:rPr lang="en-IN" altLang="en-US" sz="2500" dirty="0">
                <a:latin typeface="Nunito Sans" pitchFamily="2" charset="0"/>
                <a:sym typeface="+mn-ea"/>
              </a:rPr>
              <a:t>System doesn't allow any kind of hard coded input value/values. Written program code by the candidate will be verified against the inputs which are supplied from the system</a:t>
            </a:r>
          </a:p>
        </p:txBody>
      </p:sp>
      <p:pic>
        <p:nvPicPr>
          <p:cNvPr id="4" name="Picture 3">
            <a:extLst>
              <a:ext uri="{FF2B5EF4-FFF2-40B4-BE49-F238E27FC236}">
                <a16:creationId xmlns:a16="http://schemas.microsoft.com/office/drawing/2014/main" id="{75B78FBD-2674-3911-131E-E39BA4D302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int main() {    </a:t>
            </a:r>
          </a:p>
          <a:p>
            <a:r>
              <a:rPr lang="en-US" sz="2000" b="1" dirty="0">
                <a:solidFill>
                  <a:schemeClr val="bg1"/>
                </a:solidFill>
                <a:latin typeface="Nunito Sans" pitchFamily="2" charset="0"/>
                <a:cs typeface="Courier New" panose="02070309020205020404" pitchFamily="49" charset="0"/>
              </a:rPr>
              <a:t>  int n, k;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scanf</a:t>
            </a:r>
            <a:r>
              <a:rPr lang="en-US" sz="2000" b="1" dirty="0">
                <a:solidFill>
                  <a:schemeClr val="bg1"/>
                </a:solidFill>
                <a:latin typeface="Nunito Sans" pitchFamily="2" charset="0"/>
                <a:cs typeface="Courier New" panose="02070309020205020404" pitchFamily="49" charset="0"/>
              </a:rPr>
              <a:t>("%d %d", &amp;n, &amp;k);    </a:t>
            </a:r>
          </a:p>
          <a:p>
            <a:r>
              <a:rPr lang="en-US" sz="2000" b="1" dirty="0">
                <a:solidFill>
                  <a:schemeClr val="bg1"/>
                </a:solidFill>
                <a:latin typeface="Nunito Sans" pitchFamily="2" charset="0"/>
                <a:cs typeface="Courier New" panose="02070309020205020404" pitchFamily="49" charset="0"/>
              </a:rPr>
              <a:t>  int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[n];    </a:t>
            </a:r>
          </a:p>
          <a:p>
            <a:r>
              <a:rPr lang="en-US" sz="2000" b="1" dirty="0">
                <a:solidFill>
                  <a:schemeClr val="bg1"/>
                </a:solidFill>
                <a:latin typeface="Nunito Sans" pitchFamily="2" charset="0"/>
                <a:cs typeface="Courier New" panose="02070309020205020404" pitchFamily="49" charset="0"/>
              </a:rPr>
              <a:t>  for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0;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scanf</a:t>
            </a:r>
            <a:r>
              <a:rPr lang="en-US" sz="2000" b="1" dirty="0">
                <a:solidFill>
                  <a:schemeClr val="bg1"/>
                </a:solidFill>
                <a:latin typeface="Nunito Sans" pitchFamily="2" charset="0"/>
                <a:cs typeface="Courier New" panose="02070309020205020404" pitchFamily="49" charset="0"/>
              </a:rPr>
              <a:t>("%d", &amp;</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int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 0;    </a:t>
            </a:r>
          </a:p>
          <a:p>
            <a:r>
              <a:rPr lang="en-US" sz="2000" b="1" dirty="0">
                <a:solidFill>
                  <a:schemeClr val="bg1"/>
                </a:solidFill>
                <a:latin typeface="Nunito Sans" pitchFamily="2" charset="0"/>
                <a:cs typeface="Courier New" panose="02070309020205020404" pitchFamily="49" charset="0"/>
              </a:rPr>
              <a:t>  for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0;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int count = 0;        </a:t>
            </a:r>
          </a:p>
          <a:p>
            <a:r>
              <a:rPr lang="en-US" sz="2000" b="1" dirty="0">
                <a:solidFill>
                  <a:schemeClr val="bg1"/>
                </a:solidFill>
                <a:latin typeface="Nunito Sans" pitchFamily="2" charset="0"/>
                <a:cs typeface="Courier New" panose="02070309020205020404" pitchFamily="49" charset="0"/>
              </a:rPr>
              <a:t>       while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&amp;&amp;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k - 1) {            </a:t>
            </a:r>
          </a:p>
          <a:p>
            <a:r>
              <a:rPr lang="en-US" sz="2000" b="1" dirty="0">
                <a:solidFill>
                  <a:schemeClr val="bg1"/>
                </a:solidFill>
                <a:latin typeface="Nunito Sans" pitchFamily="2" charset="0"/>
                <a:cs typeface="Courier New" panose="02070309020205020404" pitchFamily="49" charset="0"/>
              </a:rPr>
              <a:t>             count++;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 (count &gt;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 count :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printf</a:t>
            </a:r>
            <a:r>
              <a:rPr lang="en-US" sz="2000" b="1" dirty="0">
                <a:solidFill>
                  <a:schemeClr val="bg1"/>
                </a:solidFill>
                <a:latin typeface="Nunito Sans" pitchFamily="2" charset="0"/>
                <a:cs typeface="Courier New" panose="02070309020205020404" pitchFamily="49" charset="0"/>
              </a:rPr>
              <a:t>("%d\n",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643290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main() {    </a:t>
            </a:r>
          </a:p>
          <a:p>
            <a:r>
              <a:rPr lang="en-US" sz="2000" b="1" dirty="0">
                <a:solidFill>
                  <a:schemeClr val="bg1"/>
                </a:solidFill>
                <a:latin typeface="Nunito Sans" pitchFamily="2" charset="0"/>
                <a:cs typeface="Courier New" panose="02070309020205020404" pitchFamily="49" charset="0"/>
              </a:rPr>
              <a:t>    int n, k;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cin</a:t>
            </a:r>
            <a:r>
              <a:rPr lang="en-US" sz="2000" b="1" dirty="0">
                <a:solidFill>
                  <a:schemeClr val="bg1"/>
                </a:solidFill>
                <a:latin typeface="Nunito Sans" pitchFamily="2" charset="0"/>
                <a:cs typeface="Courier New" panose="02070309020205020404" pitchFamily="49" charset="0"/>
              </a:rPr>
              <a:t> &gt;&gt; n &gt;&gt; k;    </a:t>
            </a:r>
          </a:p>
          <a:p>
            <a:r>
              <a:rPr lang="en-US" sz="2000" b="1" dirty="0">
                <a:solidFill>
                  <a:schemeClr val="bg1"/>
                </a:solidFill>
                <a:latin typeface="Nunito Sans" pitchFamily="2" charset="0"/>
                <a:cs typeface="Courier New" panose="02070309020205020404" pitchFamily="49" charset="0"/>
              </a:rPr>
              <a:t>    int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[n];        </a:t>
            </a:r>
          </a:p>
          <a:p>
            <a:r>
              <a:rPr lang="en-US" sz="2000" b="1" dirty="0">
                <a:solidFill>
                  <a:schemeClr val="bg1"/>
                </a:solidFill>
                <a:latin typeface="Nunito Sans" pitchFamily="2" charset="0"/>
                <a:cs typeface="Courier New" panose="02070309020205020404" pitchFamily="49" charset="0"/>
              </a:rPr>
              <a:t>    for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0;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cin</a:t>
            </a:r>
            <a:r>
              <a:rPr lang="en-US" sz="2000" b="1" dirty="0">
                <a:solidFill>
                  <a:schemeClr val="bg1"/>
                </a:solidFill>
                <a:latin typeface="Nunito Sans" pitchFamily="2" charset="0"/>
                <a:cs typeface="Courier New" panose="02070309020205020404" pitchFamily="49" charset="0"/>
              </a:rPr>
              <a:t> &gt;&gt;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int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 0;    </a:t>
            </a:r>
          </a:p>
          <a:p>
            <a:r>
              <a:rPr lang="en-US" sz="2000" b="1" dirty="0">
                <a:solidFill>
                  <a:schemeClr val="bg1"/>
                </a:solidFill>
                <a:latin typeface="Nunito Sans" pitchFamily="2" charset="0"/>
                <a:cs typeface="Courier New" panose="02070309020205020404" pitchFamily="49" charset="0"/>
              </a:rPr>
              <a:t>    for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0;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int count = 0;        </a:t>
            </a:r>
          </a:p>
          <a:p>
            <a:r>
              <a:rPr lang="en-US" sz="2000" b="1" dirty="0">
                <a:solidFill>
                  <a:schemeClr val="bg1"/>
                </a:solidFill>
                <a:latin typeface="Nunito Sans" pitchFamily="2" charset="0"/>
                <a:cs typeface="Courier New" panose="02070309020205020404" pitchFamily="49" charset="0"/>
              </a:rPr>
              <a:t>            while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&amp;&amp;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k - 1) {           </a:t>
            </a:r>
          </a:p>
          <a:p>
            <a:r>
              <a:rPr lang="en-US" sz="2000" b="1" dirty="0">
                <a:solidFill>
                  <a:schemeClr val="bg1"/>
                </a:solidFill>
                <a:latin typeface="Nunito Sans" pitchFamily="2" charset="0"/>
                <a:cs typeface="Courier New" panose="02070309020205020404" pitchFamily="49" charset="0"/>
              </a:rPr>
              <a:t>                    count++;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 (count &gt;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 count :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cout</a:t>
            </a:r>
            <a:r>
              <a:rPr lang="en-US" sz="2000" b="1" dirty="0">
                <a:solidFill>
                  <a:schemeClr val="bg1"/>
                </a:solidFill>
                <a:latin typeface="Nunito Sans" pitchFamily="2" charset="0"/>
                <a:cs typeface="Courier New" panose="02070309020205020404" pitchFamily="49" charset="0"/>
              </a:rPr>
              <a:t> &lt;&lt;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&lt;&lt; </a:t>
            </a:r>
            <a:r>
              <a:rPr lang="en-US" sz="2000" b="1" dirty="0" err="1">
                <a:solidFill>
                  <a:schemeClr val="bg1"/>
                </a:solidFill>
                <a:latin typeface="Nunito Sans" pitchFamily="2" charset="0"/>
                <a:cs typeface="Courier New" panose="02070309020205020404" pitchFamily="49" charset="0"/>
              </a:rPr>
              <a:t>endl</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3" name="Picture 2">
            <a:extLst>
              <a:ext uri="{FF2B5EF4-FFF2-40B4-BE49-F238E27FC236}">
                <a16:creationId xmlns:a16="http://schemas.microsoft.com/office/drawing/2014/main" id="{4FBC2EF6-9031-DBB7-597A-8FA2A03B8B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a:t>
            </a:r>
            <a:r>
              <a:rPr lang="en-US" sz="2000" b="1" dirty="0" err="1">
                <a:solidFill>
                  <a:schemeClr val="bg1"/>
                </a:solidFill>
                <a:latin typeface="Nunito Sans" pitchFamily="2" charset="0"/>
                <a:cs typeface="Courier New" panose="02070309020205020404" pitchFamily="49" charset="0"/>
              </a:rPr>
              <a:t>java.util.Scanner</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    public static void main(String[] </a:t>
            </a:r>
            <a:r>
              <a:rPr lang="en-US" sz="2000" b="1" dirty="0" err="1">
                <a:solidFill>
                  <a:schemeClr val="bg1"/>
                </a:solidFill>
                <a:latin typeface="Nunito Sans" pitchFamily="2" charset="0"/>
                <a:cs typeface="Courier New" panose="02070309020205020404" pitchFamily="49" charset="0"/>
              </a:rPr>
              <a:t>args</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a:t>
            </a:r>
            <a:r>
              <a:rPr lang="en-US" sz="2000" b="1" dirty="0" err="1">
                <a:solidFill>
                  <a:schemeClr val="bg1"/>
                </a:solidFill>
                <a:latin typeface="Nunito Sans" pitchFamily="2" charset="0"/>
                <a:cs typeface="Courier New" panose="02070309020205020404" pitchFamily="49" charset="0"/>
              </a:rPr>
              <a:t>scanner</a:t>
            </a:r>
            <a:r>
              <a:rPr lang="en-US" sz="2000" b="1" dirty="0">
                <a:solidFill>
                  <a:schemeClr val="bg1"/>
                </a:solidFill>
                <a:latin typeface="Nunito Sans" pitchFamily="2" charset="0"/>
                <a:cs typeface="Courier New" panose="02070309020205020404" pitchFamily="49" charset="0"/>
              </a:rPr>
              <a:t> = new Scanner(System.in);        </a:t>
            </a:r>
          </a:p>
          <a:p>
            <a:r>
              <a:rPr lang="en-US" sz="2000" b="1" dirty="0">
                <a:solidFill>
                  <a:schemeClr val="bg1"/>
                </a:solidFill>
                <a:latin typeface="Nunito Sans" pitchFamily="2" charset="0"/>
                <a:cs typeface="Courier New" panose="02070309020205020404" pitchFamily="49" charset="0"/>
              </a:rPr>
              <a:t>         int n = </a:t>
            </a:r>
            <a:r>
              <a:rPr lang="en-US" sz="2000" b="1" dirty="0" err="1">
                <a:solidFill>
                  <a:schemeClr val="bg1"/>
                </a:solidFill>
                <a:latin typeface="Nunito Sans" pitchFamily="2" charset="0"/>
                <a:cs typeface="Courier New" panose="02070309020205020404" pitchFamily="49" charset="0"/>
              </a:rPr>
              <a:t>scanner.nextInt</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k = </a:t>
            </a:r>
            <a:r>
              <a:rPr lang="en-US" sz="2000" b="1" dirty="0" err="1">
                <a:solidFill>
                  <a:schemeClr val="bg1"/>
                </a:solidFill>
                <a:latin typeface="Nunito Sans" pitchFamily="2" charset="0"/>
                <a:cs typeface="Courier New" panose="02070309020205020404" pitchFamily="49" charset="0"/>
              </a:rPr>
              <a:t>scanner.nextInt</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 = new int[n];</a:t>
            </a:r>
          </a:p>
          <a:p>
            <a:r>
              <a:rPr lang="en-US" sz="2000" b="1" dirty="0">
                <a:solidFill>
                  <a:schemeClr val="bg1"/>
                </a:solidFill>
                <a:latin typeface="Nunito Sans" pitchFamily="2" charset="0"/>
                <a:cs typeface="Courier New" panose="02070309020205020404" pitchFamily="49" charset="0"/>
              </a:rPr>
              <a:t>        for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0;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a:t>
            </a:r>
            <a:r>
              <a:rPr lang="en-US" sz="2000" b="1" dirty="0" err="1">
                <a:solidFill>
                  <a:schemeClr val="bg1"/>
                </a:solidFill>
                <a:latin typeface="Nunito Sans" pitchFamily="2" charset="0"/>
                <a:cs typeface="Courier New" panose="02070309020205020404" pitchFamily="49" charset="0"/>
              </a:rPr>
              <a:t>scanner.nextInt</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 0;</a:t>
            </a:r>
          </a:p>
          <a:p>
            <a:r>
              <a:rPr lang="en-US" sz="2000" b="1" dirty="0">
                <a:solidFill>
                  <a:schemeClr val="bg1"/>
                </a:solidFill>
                <a:latin typeface="Nunito Sans" pitchFamily="2" charset="0"/>
                <a:cs typeface="Courier New" panose="02070309020205020404" pitchFamily="49" charset="0"/>
              </a:rPr>
              <a:t>        for (int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 0;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count = 0;</a:t>
            </a:r>
          </a:p>
          <a:p>
            <a:r>
              <a:rPr lang="en-US" sz="2000" b="1" dirty="0">
                <a:solidFill>
                  <a:schemeClr val="bg1"/>
                </a:solidFill>
                <a:latin typeface="Nunito Sans" pitchFamily="2" charset="0"/>
                <a:cs typeface="Courier New" panose="02070309020205020404" pitchFamily="49" charset="0"/>
              </a:rPr>
              <a:t>            while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n &amp;&amp;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&lt;= k - 1) {</a:t>
            </a:r>
          </a:p>
          <a:p>
            <a:r>
              <a:rPr lang="en-US" sz="2000" b="1" dirty="0">
                <a:solidFill>
                  <a:schemeClr val="bg1"/>
                </a:solidFill>
                <a:latin typeface="Nunito Sans" pitchFamily="2" charset="0"/>
                <a:cs typeface="Courier New" panose="02070309020205020404" pitchFamily="49" charset="0"/>
              </a:rPr>
              <a:t>                count++;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 </a:t>
            </a:r>
            <a:r>
              <a:rPr lang="en-US" sz="2000" b="1" dirty="0" err="1">
                <a:solidFill>
                  <a:schemeClr val="bg1"/>
                </a:solidFill>
                <a:latin typeface="Nunito Sans" pitchFamily="2" charset="0"/>
                <a:cs typeface="Courier New" panose="02070309020205020404" pitchFamily="49" charset="0"/>
              </a:rPr>
              <a:t>Math.max</a:t>
            </a:r>
            <a:r>
              <a:rPr lang="en-US" sz="2000" b="1" dirty="0">
                <a:solidFill>
                  <a:schemeClr val="bg1"/>
                </a:solidFill>
                <a:latin typeface="Nunito Sans" pitchFamily="2" charset="0"/>
                <a:cs typeface="Courier New" panose="02070309020205020404" pitchFamily="49" charset="0"/>
              </a:rPr>
              <a:t>(count,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System.out.println</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scanner.close</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err="1">
                <a:solidFill>
                  <a:schemeClr val="bg1"/>
                </a:solidFill>
                <a:latin typeface="Nunito Sans" pitchFamily="2" charset="0"/>
                <a:cs typeface="Courier New" panose="02070309020205020404" pitchFamily="49" charset="0"/>
              </a:rPr>
              <a:t>n,k</a:t>
            </a:r>
            <a:r>
              <a:rPr lang="en-US" sz="2000" b="1" dirty="0">
                <a:solidFill>
                  <a:schemeClr val="bg1"/>
                </a:solidFill>
                <a:latin typeface="Nunito Sans" pitchFamily="2" charset="0"/>
                <a:cs typeface="Courier New" panose="02070309020205020404" pitchFamily="49" charset="0"/>
              </a:rPr>
              <a:t>=map(</a:t>
            </a:r>
            <a:r>
              <a:rPr lang="en-US" sz="2000" b="1" dirty="0" err="1">
                <a:solidFill>
                  <a:schemeClr val="bg1"/>
                </a:solidFill>
                <a:latin typeface="Nunito Sans" pitchFamily="2" charset="0"/>
                <a:cs typeface="Courier New" panose="02070309020205020404" pitchFamily="49" charset="0"/>
              </a:rPr>
              <a:t>int,input</a:t>
            </a:r>
            <a:r>
              <a:rPr lang="en-US" sz="2000" b="1" dirty="0">
                <a:solidFill>
                  <a:schemeClr val="bg1"/>
                </a:solidFill>
                <a:latin typeface="Nunito Sans" pitchFamily="2" charset="0"/>
                <a:cs typeface="Courier New" panose="02070309020205020404" pitchFamily="49" charset="0"/>
              </a:rPr>
              <a:t>().split())</a:t>
            </a:r>
          </a:p>
          <a:p>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=list(map(</a:t>
            </a:r>
            <a:r>
              <a:rPr lang="en-US" sz="2000" b="1" dirty="0" err="1">
                <a:solidFill>
                  <a:schemeClr val="bg1"/>
                </a:solidFill>
                <a:latin typeface="Nunito Sans" pitchFamily="2" charset="0"/>
                <a:cs typeface="Courier New" panose="02070309020205020404" pitchFamily="49" charset="0"/>
              </a:rPr>
              <a:t>int,input</a:t>
            </a:r>
            <a:r>
              <a:rPr lang="en-US" sz="2000" b="1" dirty="0">
                <a:solidFill>
                  <a:schemeClr val="bg1"/>
                </a:solidFill>
                <a:latin typeface="Nunito Sans" pitchFamily="2" charset="0"/>
                <a:cs typeface="Courier New" panose="02070309020205020404" pitchFamily="49" charset="0"/>
              </a:rPr>
              <a:t>().split()))</a:t>
            </a:r>
          </a:p>
          <a:p>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=0</a:t>
            </a:r>
          </a:p>
          <a:p>
            <a:r>
              <a:rPr lang="en-US" sz="2000" b="1" dirty="0">
                <a:solidFill>
                  <a:schemeClr val="bg1"/>
                </a:solidFill>
                <a:latin typeface="Nunito Sans" pitchFamily="2" charset="0"/>
                <a:cs typeface="Courier New" panose="02070309020205020404" pitchFamily="49" charset="0"/>
              </a:rPr>
              <a:t>for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 in range(n):</a:t>
            </a:r>
          </a:p>
          <a:p>
            <a:r>
              <a:rPr lang="en-US" sz="2000" b="1" dirty="0">
                <a:solidFill>
                  <a:schemeClr val="bg1"/>
                </a:solidFill>
                <a:latin typeface="Nunito Sans" pitchFamily="2" charset="0"/>
                <a:cs typeface="Courier New" panose="02070309020205020404" pitchFamily="49" charset="0"/>
              </a:rPr>
              <a:t>    count=0</a:t>
            </a:r>
          </a:p>
          <a:p>
            <a:r>
              <a:rPr lang="en-US" sz="2000" b="1" dirty="0">
                <a:solidFill>
                  <a:schemeClr val="bg1"/>
                </a:solidFill>
                <a:latin typeface="Nunito Sans" pitchFamily="2" charset="0"/>
                <a:cs typeface="Courier New" panose="02070309020205020404" pitchFamily="49" charset="0"/>
              </a:rPr>
              <a:t>    while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&lt;n and </a:t>
            </a:r>
            <a:r>
              <a:rPr lang="en-US" sz="2000" b="1" dirty="0" err="1">
                <a:solidFill>
                  <a:schemeClr val="bg1"/>
                </a:solidFill>
                <a:latin typeface="Nunito Sans" pitchFamily="2" charset="0"/>
                <a:cs typeface="Courier New" panose="02070309020205020404" pitchFamily="49" charset="0"/>
              </a:rPr>
              <a:t>arr</a:t>
            </a:r>
            <a:r>
              <a:rPr lang="en-US" sz="2000" b="1" dirty="0">
                <a:solidFill>
                  <a:schemeClr val="bg1"/>
                </a:solidFill>
                <a:latin typeface="Nunito Sans" pitchFamily="2" charset="0"/>
                <a:cs typeface="Courier New" panose="02070309020205020404" pitchFamily="49" charset="0"/>
              </a:rPr>
              <a:t>[</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]&lt;=k-1:</a:t>
            </a:r>
          </a:p>
          <a:p>
            <a:r>
              <a:rPr lang="en-US" sz="2000" b="1" dirty="0">
                <a:solidFill>
                  <a:schemeClr val="bg1"/>
                </a:solidFill>
                <a:latin typeface="Nunito Sans" pitchFamily="2" charset="0"/>
                <a:cs typeface="Courier New" panose="02070309020205020404" pitchFamily="49" charset="0"/>
              </a:rPr>
              <a:t>        count+=1</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i</a:t>
            </a:r>
            <a:r>
              <a:rPr lang="en-US" sz="2000" b="1" dirty="0">
                <a:solidFill>
                  <a:schemeClr val="bg1"/>
                </a:solidFill>
                <a:latin typeface="Nunito Sans" pitchFamily="2" charset="0"/>
                <a:cs typeface="Courier New" panose="02070309020205020404" pitchFamily="49" charset="0"/>
              </a:rPr>
              <a:t>+=1</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=max(</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 count)</a:t>
            </a:r>
          </a:p>
          <a:p>
            <a:r>
              <a:rPr lang="en-US" sz="2000" b="1" dirty="0">
                <a:solidFill>
                  <a:schemeClr val="bg1"/>
                </a:solidFill>
                <a:latin typeface="Nunito Sans" pitchFamily="2" charset="0"/>
                <a:cs typeface="Courier New" panose="02070309020205020404" pitchFamily="49" charset="0"/>
              </a:rPr>
              <a:t>print(</a:t>
            </a:r>
            <a:r>
              <a:rPr lang="en-US" sz="2000" b="1" dirty="0" err="1">
                <a:solidFill>
                  <a:schemeClr val="bg1"/>
                </a:solidFill>
                <a:latin typeface="Nunito Sans" pitchFamily="2" charset="0"/>
                <a:cs typeface="Courier New" panose="02070309020205020404" pitchFamily="49" charset="0"/>
              </a:rPr>
              <a:t>maxcount</a:t>
            </a:r>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5</a:t>
            </a:r>
            <a:endParaRPr lang="en-US" sz="4800" b="1" dirty="0">
              <a:solidFill>
                <a:schemeClr val="bg1"/>
              </a:solidFill>
              <a:latin typeface="Nunito Sans" pitchFamily="2" charset="0"/>
              <a:sym typeface="+mn-ea"/>
            </a:endParaRPr>
          </a:p>
        </p:txBody>
      </p:sp>
      <p:sp>
        <p:nvSpPr>
          <p:cNvPr id="18" name="TextBox 17"/>
          <p:cNvSpPr txBox="1"/>
          <p:nvPr/>
        </p:nvSpPr>
        <p:spPr>
          <a:xfrm>
            <a:off x="193675" y="960755"/>
            <a:ext cx="11809095" cy="5478423"/>
          </a:xfrm>
          <a:prstGeom prst="rect">
            <a:avLst/>
          </a:prstGeom>
          <a:noFill/>
        </p:spPr>
        <p:txBody>
          <a:bodyPr wrap="square" rtlCol="0">
            <a:spAutoFit/>
          </a:bodyPr>
          <a:lstStyle/>
          <a:p>
            <a:r>
              <a:rPr lang="en-IN" altLang="en-US" sz="2500" dirty="0">
                <a:latin typeface="Nunito Sans" panose="00000500000000000000" pitchFamily="2" charset="0"/>
              </a:rPr>
              <a:t> Alice had to go to play with his friends. But his brother is not leaving. So, he thought to ask a question so that in the mean time he can go. So , the problem is as follows: He will be given numbers n,m and k. Calculate T. (T = (nm)/k) His brother has to find the three coordinates of the XY plane (2D points) such that the area of the triangle formed by those points should be equal to T. If there is any solution print YES. else NO.</a:t>
            </a:r>
          </a:p>
          <a:p>
            <a:endParaRPr lang="en-IN" altLang="en-US" sz="2500" dirty="0">
              <a:latin typeface="Nunito Sans" panose="00000500000000000000" pitchFamily="2" charset="0"/>
            </a:endParaRPr>
          </a:p>
          <a:p>
            <a:r>
              <a:rPr lang="en-IN" altLang="en-US" sz="2500" dirty="0">
                <a:latin typeface="Nunito Sans" panose="00000500000000000000" pitchFamily="2" charset="0"/>
              </a:rPr>
              <a:t>NOTE: 1≤ x1,y1, x2,y2, x3, y3 ≤ 109</a:t>
            </a:r>
          </a:p>
          <a:p>
            <a:endParaRPr lang="en-IN" altLang="en-US" sz="2500" dirty="0">
              <a:latin typeface="Nunito Sans" panose="00000500000000000000" pitchFamily="2" charset="0"/>
            </a:endParaRPr>
          </a:p>
          <a:p>
            <a:r>
              <a:rPr lang="en-IN" altLang="en-US" sz="2500" b="1" dirty="0">
                <a:latin typeface="Nunito Sans" pitchFamily="2" charset="0"/>
              </a:rPr>
              <a:t>Example 1: </a:t>
            </a:r>
          </a:p>
          <a:p>
            <a:endParaRPr lang="en-IN" altLang="en-US" sz="2500" dirty="0">
              <a:latin typeface="Nunito Sans" pitchFamily="2" charset="0"/>
            </a:endParaRPr>
          </a:p>
          <a:p>
            <a:r>
              <a:rPr lang="en-IN" altLang="en-US" sz="2500" b="1" dirty="0">
                <a:latin typeface="Nunito Sans" pitchFamily="2" charset="0"/>
              </a:rPr>
              <a:t>Input: </a:t>
            </a:r>
          </a:p>
          <a:p>
            <a:r>
              <a:rPr lang="en-IN" altLang="en-US" sz="2500" dirty="0">
                <a:latin typeface="Nunito Sans" panose="00000500000000000000" pitchFamily="2" charset="0"/>
              </a:rPr>
              <a:t>4 3 3</a:t>
            </a:r>
          </a:p>
          <a:p>
            <a:endParaRPr lang="en-IN" altLang="en-US" sz="2500" dirty="0">
              <a:latin typeface="Nunito Sans" panose="00000500000000000000" pitchFamily="2"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5</a:t>
            </a:r>
            <a:endParaRPr lang="en-US" sz="4800" b="1" dirty="0">
              <a:solidFill>
                <a:schemeClr val="bg1"/>
              </a:solidFill>
              <a:latin typeface="Nunito Sans" pitchFamily="2" charset="0"/>
              <a:sym typeface="+mn-ea"/>
            </a:endParaRPr>
          </a:p>
        </p:txBody>
      </p:sp>
      <p:sp>
        <p:nvSpPr>
          <p:cNvPr id="18" name="TextBox 17"/>
          <p:cNvSpPr txBox="1"/>
          <p:nvPr/>
        </p:nvSpPr>
        <p:spPr>
          <a:xfrm>
            <a:off x="193675" y="960755"/>
            <a:ext cx="11809095" cy="5477510"/>
          </a:xfrm>
          <a:prstGeom prst="rect">
            <a:avLst/>
          </a:prstGeom>
          <a:noFill/>
        </p:spPr>
        <p:txBody>
          <a:bodyPr wrap="square" rtlCol="0">
            <a:spAutoFit/>
          </a:bodyPr>
          <a:lstStyle/>
          <a:p>
            <a:r>
              <a:rPr lang="en-IN" altLang="en-US" sz="2500" dirty="0">
                <a:latin typeface="Nunito Sans" pitchFamily="2" charset="0"/>
              </a:rPr>
              <a:t> </a:t>
            </a:r>
            <a:r>
              <a:rPr lang="en-IN" altLang="en-US" sz="2500" b="1" dirty="0">
                <a:latin typeface="Nunito Sans" pitchFamily="2" charset="0"/>
              </a:rPr>
              <a:t>Output: </a:t>
            </a:r>
          </a:p>
          <a:p>
            <a:r>
              <a:rPr lang="en-IN" altLang="en-US" sz="2500" dirty="0">
                <a:latin typeface="Nunito Sans" panose="00000500000000000000" pitchFamily="2" charset="0"/>
              </a:rPr>
              <a:t>YES</a:t>
            </a:r>
          </a:p>
          <a:p>
            <a:endParaRPr lang="en-IN" altLang="en-US" sz="2500" dirty="0">
              <a:latin typeface="Nunito Sans" panose="00000500000000000000" pitchFamily="2" charset="0"/>
            </a:endParaRPr>
          </a:p>
          <a:p>
            <a:r>
              <a:rPr lang="en-IN" altLang="en-US" sz="2500" b="1" dirty="0">
                <a:latin typeface="Nunito Sans" pitchFamily="2" charset="0"/>
              </a:rPr>
              <a:t>Explanation:</a:t>
            </a:r>
          </a:p>
          <a:p>
            <a:r>
              <a:rPr lang="en-IN" altLang="en-US" sz="2500" dirty="0">
                <a:latin typeface="Nunito Sans" panose="00000500000000000000" pitchFamily="2" charset="0"/>
              </a:rPr>
              <a:t>One possible way is (1,0), (2,3) and (4,1) are the</a:t>
            </a:r>
          </a:p>
          <a:p>
            <a:r>
              <a:rPr lang="en-IN" altLang="en-US" sz="2500" dirty="0">
                <a:latin typeface="Nunito Sans" panose="00000500000000000000" pitchFamily="2" charset="0"/>
              </a:rPr>
              <a:t>points where there area is equal to T.</a:t>
            </a:r>
          </a:p>
          <a:p>
            <a:endParaRPr lang="en-IN" altLang="en-US" sz="2500" dirty="0">
              <a:latin typeface="Nunito Sans" panose="00000500000000000000" pitchFamily="2" charset="0"/>
            </a:endParaRPr>
          </a:p>
          <a:p>
            <a:r>
              <a:rPr lang="en-IN" altLang="en-US" sz="2500" b="1" dirty="0">
                <a:latin typeface="Nunito Sans" pitchFamily="2" charset="0"/>
              </a:rPr>
              <a:t>Example - 2:</a:t>
            </a:r>
          </a:p>
          <a:p>
            <a:endParaRPr lang="en-IN" altLang="en-US" sz="2500" dirty="0">
              <a:latin typeface="Nunito Sans" panose="00000500000000000000" pitchFamily="2" charset="0"/>
            </a:endParaRPr>
          </a:p>
          <a:p>
            <a:r>
              <a:rPr lang="en-IN" altLang="en-US" sz="2500" dirty="0">
                <a:latin typeface="Nunito Sans" panose="00000500000000000000" pitchFamily="2" charset="0"/>
              </a:rPr>
              <a:t>I</a:t>
            </a:r>
            <a:r>
              <a:rPr lang="en-IN" altLang="en-US" sz="2500" b="1" dirty="0">
                <a:latin typeface="Nunito Sans" pitchFamily="2" charset="0"/>
              </a:rPr>
              <a:t>nput:</a:t>
            </a:r>
          </a:p>
          <a:p>
            <a:r>
              <a:rPr lang="en-IN" altLang="en-US" sz="2500" dirty="0">
                <a:latin typeface="Nunito Sans" panose="00000500000000000000" pitchFamily="2" charset="0"/>
              </a:rPr>
              <a:t>4 4 7</a:t>
            </a:r>
          </a:p>
          <a:p>
            <a:endParaRPr lang="en-IN" altLang="en-US" sz="2500" dirty="0">
              <a:latin typeface="Nunito Sans" panose="00000500000000000000" pitchFamily="2" charset="0"/>
            </a:endParaRPr>
          </a:p>
          <a:p>
            <a:r>
              <a:rPr lang="en-IN" altLang="en-US" sz="2500" b="1" dirty="0">
                <a:latin typeface="Nunito Sans" pitchFamily="2" charset="0"/>
              </a:rPr>
              <a:t>Output.</a:t>
            </a:r>
          </a:p>
          <a:p>
            <a:r>
              <a:rPr lang="en-IN" altLang="en-US" sz="2500" dirty="0">
                <a:latin typeface="Nunito Sans" pitchFamily="2" charset="0"/>
              </a:rPr>
              <a:t>NO</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5</a:t>
            </a:r>
            <a:endParaRPr lang="en-US" sz="4800" b="1" dirty="0">
              <a:solidFill>
                <a:schemeClr val="bg1"/>
              </a:solidFill>
              <a:latin typeface="Nunito Sans" pitchFamily="2" charset="0"/>
              <a:sym typeface="+mn-ea"/>
            </a:endParaRPr>
          </a:p>
        </p:txBody>
      </p:sp>
      <p:sp>
        <p:nvSpPr>
          <p:cNvPr id="18" name="TextBox 17"/>
          <p:cNvSpPr txBox="1"/>
          <p:nvPr/>
        </p:nvSpPr>
        <p:spPr>
          <a:xfrm>
            <a:off x="193675" y="960755"/>
            <a:ext cx="11809095" cy="5478423"/>
          </a:xfrm>
          <a:prstGeom prst="rect">
            <a:avLst/>
          </a:prstGeom>
          <a:noFill/>
        </p:spPr>
        <p:txBody>
          <a:bodyPr wrap="square" rtlCol="0">
            <a:spAutoFit/>
          </a:bodyPr>
          <a:lstStyle/>
          <a:p>
            <a:r>
              <a:rPr lang="en-IN" altLang="en-US" sz="2500" b="1" dirty="0">
                <a:latin typeface="Nunito Sans" pitchFamily="2" charset="0"/>
              </a:rPr>
              <a:t>Constraints: </a:t>
            </a:r>
          </a:p>
          <a:p>
            <a:r>
              <a:rPr lang="en-IN" altLang="en-US" sz="2500" dirty="0">
                <a:latin typeface="Nunito Sans" panose="00000500000000000000" pitchFamily="2" charset="0"/>
              </a:rPr>
              <a:t>1 ≤ n,m≤ 109</a:t>
            </a:r>
          </a:p>
          <a:p>
            <a:r>
              <a:rPr lang="en-IN" altLang="en-US" sz="2500" dirty="0">
                <a:latin typeface="Nunito Sans" panose="00000500000000000000" pitchFamily="2" charset="0"/>
              </a:rPr>
              <a:t>2 ≤ k ≤ 109</a:t>
            </a:r>
          </a:p>
          <a:p>
            <a:endParaRPr lang="en-IN" altLang="en-US" sz="2500" dirty="0">
              <a:latin typeface="Nunito Sans" panose="00000500000000000000" pitchFamily="2" charset="0"/>
            </a:endParaRPr>
          </a:p>
          <a:p>
            <a:r>
              <a:rPr lang="en-IN" altLang="en-US" sz="2500" b="1" dirty="0">
                <a:latin typeface="Nunito Sans" pitchFamily="2" charset="0"/>
              </a:rPr>
              <a:t>The input format for testing:</a:t>
            </a:r>
          </a:p>
          <a:p>
            <a:r>
              <a:rPr lang="en-IN" altLang="en-US" sz="2500" dirty="0">
                <a:latin typeface="Nunito Sans" panose="00000500000000000000" pitchFamily="2" charset="0"/>
              </a:rPr>
              <a:t>•The first line represents the n, m and k, each separated by a space.</a:t>
            </a:r>
          </a:p>
          <a:p>
            <a:endParaRPr lang="en-IN" altLang="en-US" sz="2500" dirty="0">
              <a:latin typeface="Nunito Sans" panose="00000500000000000000" pitchFamily="2" charset="0"/>
            </a:endParaRPr>
          </a:p>
          <a:p>
            <a:r>
              <a:rPr lang="en-IN" altLang="en-US" sz="2500" b="1" dirty="0">
                <a:latin typeface="Nunito Sans" pitchFamily="2" charset="0"/>
              </a:rPr>
              <a:t>The Output format for testing:</a:t>
            </a:r>
          </a:p>
          <a:p>
            <a:r>
              <a:rPr lang="en-IN" altLang="en-US" sz="2500" dirty="0">
                <a:latin typeface="Nunito Sans" panose="00000500000000000000" pitchFamily="2" charset="0"/>
              </a:rPr>
              <a:t>•Print YES if there is any solution else NO</a:t>
            </a:r>
          </a:p>
          <a:p>
            <a:endParaRPr lang="en-IN" altLang="en-US" sz="2500" dirty="0">
              <a:latin typeface="Nunito Sans" panose="00000500000000000000" pitchFamily="2" charset="0"/>
            </a:endParaRPr>
          </a:p>
          <a:p>
            <a:r>
              <a:rPr lang="en-IN" altLang="en-US" sz="2500" b="1" dirty="0">
                <a:latin typeface="Nunito Sans" pitchFamily="2" charset="0"/>
              </a:rPr>
              <a:t>Instructions:</a:t>
            </a:r>
          </a:p>
          <a:p>
            <a:r>
              <a:rPr lang="en-IN" altLang="en-US" sz="2500" dirty="0">
                <a:latin typeface="Nunito Sans" panose="00000500000000000000" pitchFamily="2" charset="0"/>
              </a:rPr>
              <a:t>•The system does not allow any kind of hard- coded input value/ values.</a:t>
            </a:r>
          </a:p>
          <a:p>
            <a:r>
              <a:rPr lang="en-IN" altLang="en-US" sz="2500" dirty="0">
                <a:latin typeface="Nunito Sans" panose="00000500000000000000" pitchFamily="2" charset="0"/>
              </a:rPr>
              <a:t>•Written program code by the candidate will be verified against the inputs which are supplied from the system.</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a:t>
            </a:r>
            <a:r>
              <a:rPr lang="en-US" sz="2000" b="1" dirty="0" err="1">
                <a:solidFill>
                  <a:schemeClr val="bg1"/>
                </a:solidFill>
                <a:latin typeface="Nunito Sans" pitchFamily="2" charset="0"/>
                <a:cs typeface="Courier New" panose="02070309020205020404" pitchFamily="49" charset="0"/>
              </a:rPr>
              <a:t>stdio.h</a:t>
            </a:r>
            <a:r>
              <a:rPr lang="en-US" sz="2000" b="1" dirty="0">
                <a:solidFill>
                  <a:schemeClr val="bg1"/>
                </a:solidFill>
                <a:latin typeface="Nunito Sans" pitchFamily="2" charset="0"/>
                <a:cs typeface="Courier New" panose="02070309020205020404" pitchFamily="49" charset="0"/>
              </a:rPr>
              <a:t>&gt;</a:t>
            </a:r>
          </a:p>
          <a:p>
            <a:r>
              <a:rPr lang="en-US" sz="2000" b="1" dirty="0">
                <a:solidFill>
                  <a:schemeClr val="bg1"/>
                </a:solidFill>
                <a:latin typeface="Nunito Sans" pitchFamily="2" charset="0"/>
                <a:cs typeface="Courier New" panose="02070309020205020404" pitchFamily="49" charset="0"/>
              </a:rPr>
              <a:t>#include &lt;</a:t>
            </a:r>
            <a:r>
              <a:rPr lang="en-US" sz="2000" b="1" dirty="0" err="1">
                <a:solidFill>
                  <a:schemeClr val="bg1"/>
                </a:solidFill>
                <a:latin typeface="Nunito Sans" pitchFamily="2" charset="0"/>
                <a:cs typeface="Courier New" panose="02070309020205020404" pitchFamily="49" charset="0"/>
              </a:rPr>
              <a:t>math.h</a:t>
            </a:r>
            <a:r>
              <a:rPr lang="en-US" sz="2000" b="1" dirty="0">
                <a:solidFill>
                  <a:schemeClr val="bg1"/>
                </a:solidFill>
                <a:latin typeface="Nunito Sans" pitchFamily="2" charset="0"/>
                <a:cs typeface="Courier New" panose="02070309020205020404" pitchFamily="49" charset="0"/>
              </a:rPr>
              <a:t>&gt;</a:t>
            </a:r>
          </a:p>
          <a:p>
            <a:r>
              <a:rPr lang="en-US" sz="2000" b="1" dirty="0">
                <a:solidFill>
                  <a:schemeClr val="bg1"/>
                </a:solidFill>
                <a:latin typeface="Nunito Sans" pitchFamily="2" charset="0"/>
                <a:cs typeface="Courier New" panose="02070309020205020404" pitchFamily="49" charset="0"/>
              </a:rPr>
              <a:t>char* </a:t>
            </a:r>
            <a:r>
              <a:rPr lang="en-US" sz="2000" b="1" dirty="0" err="1">
                <a:solidFill>
                  <a:schemeClr val="bg1"/>
                </a:solidFill>
                <a:latin typeface="Nunito Sans" pitchFamily="2" charset="0"/>
                <a:cs typeface="Courier New" panose="02070309020205020404" pitchFamily="49" charset="0"/>
              </a:rPr>
              <a:t>check_triangle_area</a:t>
            </a:r>
            <a:r>
              <a:rPr lang="en-US" sz="2000" b="1" dirty="0">
                <a:solidFill>
                  <a:schemeClr val="bg1"/>
                </a:solidFill>
                <a:latin typeface="Nunito Sans" pitchFamily="2" charset="0"/>
                <a:cs typeface="Courier New" panose="02070309020205020404" pitchFamily="49" charset="0"/>
              </a:rPr>
              <a:t>(int n, int m, int k) {</a:t>
            </a:r>
          </a:p>
          <a:p>
            <a:r>
              <a:rPr lang="en-US" sz="2000" b="1" dirty="0">
                <a:solidFill>
                  <a:schemeClr val="bg1"/>
                </a:solidFill>
                <a:latin typeface="Nunito Sans" pitchFamily="2" charset="0"/>
                <a:cs typeface="Courier New" panose="02070309020205020404" pitchFamily="49" charset="0"/>
              </a:rPr>
              <a:t>    double T = (double)(n * m) / k;</a:t>
            </a:r>
          </a:p>
          <a:p>
            <a:r>
              <a:rPr lang="en-US" sz="2000" b="1" dirty="0">
                <a:solidFill>
                  <a:schemeClr val="bg1"/>
                </a:solidFill>
                <a:latin typeface="Nunito Sans" pitchFamily="2" charset="0"/>
                <a:cs typeface="Courier New" panose="02070309020205020404" pitchFamily="49" charset="0"/>
              </a:rPr>
              <a:t>    for (int x1 = 1; x1 &lt;= n; x1++) {</a:t>
            </a:r>
          </a:p>
          <a:p>
            <a:r>
              <a:rPr lang="en-US" sz="2000" b="1" dirty="0">
                <a:solidFill>
                  <a:schemeClr val="bg1"/>
                </a:solidFill>
                <a:latin typeface="Nunito Sans" pitchFamily="2" charset="0"/>
                <a:cs typeface="Courier New" panose="02070309020205020404" pitchFamily="49" charset="0"/>
              </a:rPr>
              <a:t>        for (int y1 = 0; y1 &lt;= m; y1++) {</a:t>
            </a:r>
          </a:p>
          <a:p>
            <a:r>
              <a:rPr lang="en-US" sz="2000" b="1" dirty="0">
                <a:solidFill>
                  <a:schemeClr val="bg1"/>
                </a:solidFill>
                <a:latin typeface="Nunito Sans" pitchFamily="2" charset="0"/>
                <a:cs typeface="Courier New" panose="02070309020205020404" pitchFamily="49" charset="0"/>
              </a:rPr>
              <a:t>            for (int x2 = 0; x2 &lt;= n; x2++) {</a:t>
            </a:r>
          </a:p>
          <a:p>
            <a:r>
              <a:rPr lang="en-US" sz="2000" b="1" dirty="0">
                <a:solidFill>
                  <a:schemeClr val="bg1"/>
                </a:solidFill>
                <a:latin typeface="Nunito Sans" pitchFamily="2" charset="0"/>
                <a:cs typeface="Courier New" panose="02070309020205020404" pitchFamily="49" charset="0"/>
              </a:rPr>
              <a:t>                for (int y2 = 0; y2 &lt;= m; y2++) {</a:t>
            </a:r>
          </a:p>
          <a:p>
            <a:r>
              <a:rPr lang="en-US" sz="2000" b="1" dirty="0">
                <a:solidFill>
                  <a:schemeClr val="bg1"/>
                </a:solidFill>
                <a:latin typeface="Nunito Sans" pitchFamily="2" charset="0"/>
                <a:cs typeface="Courier New" panose="02070309020205020404" pitchFamily="49" charset="0"/>
              </a:rPr>
              <a:t>                    double area = 0.5 * fabs(x1 * (y2 - y1) + x2 * (y1 - 0) + n * (0 - y2));</a:t>
            </a:r>
          </a:p>
          <a:p>
            <a:r>
              <a:rPr lang="en-US" sz="2000" b="1" dirty="0">
                <a:solidFill>
                  <a:schemeClr val="bg1"/>
                </a:solidFill>
                <a:latin typeface="Nunito Sans" pitchFamily="2" charset="0"/>
                <a:cs typeface="Courier New" panose="02070309020205020404" pitchFamily="49" charset="0"/>
              </a:rPr>
              <a:t>                    if (area == T) {</a:t>
            </a:r>
          </a:p>
          <a:p>
            <a:r>
              <a:rPr lang="en-US" sz="2000" b="1" dirty="0">
                <a:solidFill>
                  <a:schemeClr val="bg1"/>
                </a:solidFill>
                <a:latin typeface="Nunito Sans" pitchFamily="2" charset="0"/>
                <a:cs typeface="Courier New" panose="02070309020205020404" pitchFamily="49" charset="0"/>
              </a:rPr>
              <a:t>                        return "YES";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"NO";</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    int n, m, k;</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scanf</a:t>
            </a:r>
            <a:r>
              <a:rPr lang="en-US" sz="2000" b="1" dirty="0">
                <a:solidFill>
                  <a:schemeClr val="bg1"/>
                </a:solidFill>
                <a:latin typeface="Nunito Sans" pitchFamily="2" charset="0"/>
                <a:cs typeface="Courier New" panose="02070309020205020404" pitchFamily="49" charset="0"/>
              </a:rPr>
              <a:t>("%d %d %d", &amp;n, &amp;m, &amp;k);</a:t>
            </a:r>
          </a:p>
          <a:p>
            <a:r>
              <a:rPr lang="en-US" sz="2000" b="1" dirty="0">
                <a:solidFill>
                  <a:schemeClr val="bg1"/>
                </a:solidFill>
                <a:latin typeface="Nunito Sans" pitchFamily="2" charset="0"/>
                <a:cs typeface="Courier New" panose="02070309020205020404" pitchFamily="49" charset="0"/>
              </a:rPr>
              <a:t>    char* result = </a:t>
            </a:r>
            <a:r>
              <a:rPr lang="en-US" sz="2000" b="1" dirty="0" err="1">
                <a:solidFill>
                  <a:schemeClr val="bg1"/>
                </a:solidFill>
                <a:latin typeface="Nunito Sans" pitchFamily="2" charset="0"/>
                <a:cs typeface="Courier New" panose="02070309020205020404" pitchFamily="49" charset="0"/>
              </a:rPr>
              <a:t>check_triangle_area</a:t>
            </a:r>
            <a:r>
              <a:rPr lang="en-US" sz="2000" b="1" dirty="0">
                <a:solidFill>
                  <a:schemeClr val="bg1"/>
                </a:solidFill>
                <a:latin typeface="Nunito Sans" pitchFamily="2" charset="0"/>
                <a:cs typeface="Courier New" panose="02070309020205020404" pitchFamily="49" charset="0"/>
              </a:rPr>
              <a:t>(n, m, k);</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printf</a:t>
            </a:r>
            <a:r>
              <a:rPr lang="en-US" sz="2000" b="1" dirty="0">
                <a:solidFill>
                  <a:schemeClr val="bg1"/>
                </a:solidFill>
                <a:latin typeface="Nunito Sans" pitchFamily="2" charset="0"/>
                <a:cs typeface="Courier New" panose="02070309020205020404" pitchFamily="49" charset="0"/>
              </a:rPr>
              <a:t>("%s\n", result);</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790161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a:t>
            </a:r>
            <a:r>
              <a:rPr lang="en-US" sz="2000" b="1" dirty="0" err="1">
                <a:solidFill>
                  <a:schemeClr val="bg1"/>
                </a:solidFill>
                <a:latin typeface="Nunito Sans" pitchFamily="2" charset="0"/>
                <a:cs typeface="Courier New" panose="02070309020205020404" pitchFamily="49" charset="0"/>
              </a:rPr>
              <a:t>cmath</a:t>
            </a:r>
            <a:r>
              <a:rPr lang="en-US" sz="2000" b="1" dirty="0">
                <a:solidFill>
                  <a:schemeClr val="bg1"/>
                </a:solidFill>
                <a:latin typeface="Nunito Sans" pitchFamily="2" charset="0"/>
                <a:cs typeface="Courier New" panose="02070309020205020404" pitchFamily="49" charset="0"/>
              </a:rPr>
              <a:t>&gt;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string </a:t>
            </a:r>
            <a:r>
              <a:rPr lang="en-US" sz="2000" b="1" dirty="0" err="1">
                <a:solidFill>
                  <a:schemeClr val="bg1"/>
                </a:solidFill>
                <a:latin typeface="Nunito Sans" pitchFamily="2" charset="0"/>
                <a:cs typeface="Courier New" panose="02070309020205020404" pitchFamily="49" charset="0"/>
              </a:rPr>
              <a:t>check_triangle_area</a:t>
            </a:r>
            <a:r>
              <a:rPr lang="en-US" sz="2000" b="1" dirty="0">
                <a:solidFill>
                  <a:schemeClr val="bg1"/>
                </a:solidFill>
                <a:latin typeface="Nunito Sans" pitchFamily="2" charset="0"/>
                <a:cs typeface="Courier New" panose="02070309020205020404" pitchFamily="49" charset="0"/>
              </a:rPr>
              <a:t>(int n, int m, int k) {</a:t>
            </a:r>
          </a:p>
          <a:p>
            <a:r>
              <a:rPr lang="en-US" sz="2000" b="1" dirty="0">
                <a:solidFill>
                  <a:schemeClr val="bg1"/>
                </a:solidFill>
                <a:latin typeface="Nunito Sans" pitchFamily="2" charset="0"/>
                <a:cs typeface="Courier New" panose="02070309020205020404" pitchFamily="49" charset="0"/>
              </a:rPr>
              <a:t>    double T = </a:t>
            </a:r>
            <a:r>
              <a:rPr lang="en-US" sz="2000" b="1" dirty="0" err="1">
                <a:solidFill>
                  <a:schemeClr val="bg1"/>
                </a:solidFill>
                <a:latin typeface="Nunito Sans" pitchFamily="2" charset="0"/>
                <a:cs typeface="Courier New" panose="02070309020205020404" pitchFamily="49" charset="0"/>
              </a:rPr>
              <a:t>static_cast</a:t>
            </a:r>
            <a:r>
              <a:rPr lang="en-US" sz="2000" b="1" dirty="0">
                <a:solidFill>
                  <a:schemeClr val="bg1"/>
                </a:solidFill>
                <a:latin typeface="Nunito Sans" pitchFamily="2" charset="0"/>
                <a:cs typeface="Courier New" panose="02070309020205020404" pitchFamily="49" charset="0"/>
              </a:rPr>
              <a:t>&lt;double&gt;(n * m) / k;</a:t>
            </a:r>
          </a:p>
          <a:p>
            <a:r>
              <a:rPr lang="en-US" sz="2000" b="1" dirty="0">
                <a:solidFill>
                  <a:schemeClr val="bg1"/>
                </a:solidFill>
                <a:latin typeface="Nunito Sans" pitchFamily="2" charset="0"/>
                <a:cs typeface="Courier New" panose="02070309020205020404" pitchFamily="49" charset="0"/>
              </a:rPr>
              <a:t>    for (int x1 = 1; x1 &lt;= n; x1++) {</a:t>
            </a:r>
          </a:p>
          <a:p>
            <a:r>
              <a:rPr lang="en-US" sz="2000" b="1" dirty="0">
                <a:solidFill>
                  <a:schemeClr val="bg1"/>
                </a:solidFill>
                <a:latin typeface="Nunito Sans" pitchFamily="2" charset="0"/>
                <a:cs typeface="Courier New" panose="02070309020205020404" pitchFamily="49" charset="0"/>
              </a:rPr>
              <a:t>        for (int y1 = 0; y1 &lt;= m; y1++) {</a:t>
            </a:r>
          </a:p>
          <a:p>
            <a:r>
              <a:rPr lang="en-US" sz="2000" b="1" dirty="0">
                <a:solidFill>
                  <a:schemeClr val="bg1"/>
                </a:solidFill>
                <a:latin typeface="Nunito Sans" pitchFamily="2" charset="0"/>
                <a:cs typeface="Courier New" panose="02070309020205020404" pitchFamily="49" charset="0"/>
              </a:rPr>
              <a:t>            for (int x2 = 0; x2 &lt;= n; x2++) {</a:t>
            </a:r>
          </a:p>
          <a:p>
            <a:r>
              <a:rPr lang="en-US" sz="2000" b="1" dirty="0">
                <a:solidFill>
                  <a:schemeClr val="bg1"/>
                </a:solidFill>
                <a:latin typeface="Nunito Sans" pitchFamily="2" charset="0"/>
                <a:cs typeface="Courier New" panose="02070309020205020404" pitchFamily="49" charset="0"/>
              </a:rPr>
              <a:t>                for (int y2 = 0; y2 &lt;= m; y2++) {</a:t>
            </a:r>
          </a:p>
          <a:p>
            <a:r>
              <a:rPr lang="en-US" sz="2000" b="1" dirty="0">
                <a:solidFill>
                  <a:schemeClr val="bg1"/>
                </a:solidFill>
                <a:latin typeface="Nunito Sans" pitchFamily="2" charset="0"/>
                <a:cs typeface="Courier New" panose="02070309020205020404" pitchFamily="49" charset="0"/>
              </a:rPr>
              <a:t>                    double area = 0.5 * abs(x1 * (y2 - y1) + x2 * (y1 - 0) + n * (0 - y2));</a:t>
            </a:r>
          </a:p>
          <a:p>
            <a:r>
              <a:rPr lang="en-US" sz="2000" b="1" dirty="0">
                <a:solidFill>
                  <a:schemeClr val="bg1"/>
                </a:solidFill>
                <a:latin typeface="Nunito Sans" pitchFamily="2" charset="0"/>
                <a:cs typeface="Courier New" panose="02070309020205020404" pitchFamily="49" charset="0"/>
              </a:rPr>
              <a:t>                    if (area == T) {</a:t>
            </a:r>
          </a:p>
          <a:p>
            <a:r>
              <a:rPr lang="en-US" sz="2000" b="1" dirty="0">
                <a:solidFill>
                  <a:schemeClr val="bg1"/>
                </a:solidFill>
                <a:latin typeface="Nunito Sans" pitchFamily="2" charset="0"/>
                <a:cs typeface="Courier New" panose="02070309020205020404" pitchFamily="49" charset="0"/>
              </a:rPr>
              <a:t>                        return "YES";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"NO";</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3"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    int n, m, k;</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cin</a:t>
            </a:r>
            <a:r>
              <a:rPr lang="en-US" sz="2000" b="1" dirty="0">
                <a:solidFill>
                  <a:schemeClr val="bg1"/>
                </a:solidFill>
                <a:latin typeface="Nunito Sans" pitchFamily="2" charset="0"/>
                <a:cs typeface="Courier New" panose="02070309020205020404" pitchFamily="49" charset="0"/>
              </a:rPr>
              <a:t> &gt;&gt; n &gt;&gt; m &gt;&gt; k;</a:t>
            </a:r>
          </a:p>
          <a:p>
            <a:r>
              <a:rPr lang="en-US" sz="2000" b="1" dirty="0">
                <a:solidFill>
                  <a:schemeClr val="bg1"/>
                </a:solidFill>
                <a:latin typeface="Nunito Sans" pitchFamily="2" charset="0"/>
                <a:cs typeface="Courier New" panose="02070309020205020404" pitchFamily="49" charset="0"/>
              </a:rPr>
              <a:t>    string result = </a:t>
            </a:r>
            <a:r>
              <a:rPr lang="en-US" sz="2000" b="1" dirty="0" err="1">
                <a:solidFill>
                  <a:schemeClr val="bg1"/>
                </a:solidFill>
                <a:latin typeface="Nunito Sans" pitchFamily="2" charset="0"/>
                <a:cs typeface="Courier New" panose="02070309020205020404" pitchFamily="49" charset="0"/>
              </a:rPr>
              <a:t>check_triangle_area</a:t>
            </a:r>
            <a:r>
              <a:rPr lang="en-US" sz="2000" b="1" dirty="0">
                <a:solidFill>
                  <a:schemeClr val="bg1"/>
                </a:solidFill>
                <a:latin typeface="Nunito Sans" pitchFamily="2" charset="0"/>
                <a:cs typeface="Courier New" panose="02070309020205020404" pitchFamily="49" charset="0"/>
              </a:rPr>
              <a:t>(n, m, k);</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cout</a:t>
            </a:r>
            <a:r>
              <a:rPr lang="en-US" sz="2000" b="1" dirty="0">
                <a:solidFill>
                  <a:schemeClr val="bg1"/>
                </a:solidFill>
                <a:latin typeface="Nunito Sans" pitchFamily="2" charset="0"/>
                <a:cs typeface="Courier New" panose="02070309020205020404" pitchFamily="49" charset="0"/>
              </a:rPr>
              <a:t> &lt;&lt; result &lt;&lt; </a:t>
            </a:r>
            <a:r>
              <a:rPr lang="en-US" sz="2000" b="1" dirty="0" err="1">
                <a:solidFill>
                  <a:schemeClr val="bg1"/>
                </a:solidFill>
                <a:latin typeface="Nunito Sans" pitchFamily="2" charset="0"/>
                <a:cs typeface="Courier New" panose="02070309020205020404" pitchFamily="49" charset="0"/>
              </a:rPr>
              <a:t>endl</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9097033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a:t>
            </a:r>
            <a:r>
              <a:rPr lang="en-US" sz="2000" b="1" dirty="0" err="1">
                <a:solidFill>
                  <a:schemeClr val="bg1"/>
                </a:solidFill>
                <a:latin typeface="Nunito Sans" pitchFamily="2" charset="0"/>
                <a:cs typeface="Courier New" panose="02070309020205020404" pitchFamily="49" charset="0"/>
              </a:rPr>
              <a:t>java.util.Scanner</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    static String </a:t>
            </a:r>
            <a:r>
              <a:rPr lang="en-US" sz="2000" b="1" dirty="0" err="1">
                <a:solidFill>
                  <a:schemeClr val="bg1"/>
                </a:solidFill>
                <a:latin typeface="Nunito Sans" pitchFamily="2" charset="0"/>
                <a:cs typeface="Courier New" panose="02070309020205020404" pitchFamily="49" charset="0"/>
              </a:rPr>
              <a:t>checkTriangleArea</a:t>
            </a:r>
            <a:r>
              <a:rPr lang="en-US" sz="2000" b="1" dirty="0">
                <a:solidFill>
                  <a:schemeClr val="bg1"/>
                </a:solidFill>
                <a:latin typeface="Nunito Sans" pitchFamily="2" charset="0"/>
                <a:cs typeface="Courier New" panose="02070309020205020404" pitchFamily="49" charset="0"/>
              </a:rPr>
              <a:t>(int n, int m, int k) {</a:t>
            </a:r>
          </a:p>
          <a:p>
            <a:r>
              <a:rPr lang="en-US" sz="2000" b="1" dirty="0">
                <a:solidFill>
                  <a:schemeClr val="bg1"/>
                </a:solidFill>
                <a:latin typeface="Nunito Sans" pitchFamily="2" charset="0"/>
                <a:cs typeface="Courier New" panose="02070309020205020404" pitchFamily="49" charset="0"/>
              </a:rPr>
              <a:t>        double T = (double) (n * m) / k;</a:t>
            </a:r>
          </a:p>
          <a:p>
            <a:r>
              <a:rPr lang="en-US" sz="2000" b="1" dirty="0">
                <a:solidFill>
                  <a:schemeClr val="bg1"/>
                </a:solidFill>
                <a:latin typeface="Nunito Sans" pitchFamily="2" charset="0"/>
                <a:cs typeface="Courier New" panose="02070309020205020404" pitchFamily="49" charset="0"/>
              </a:rPr>
              <a:t>        for (int x1 = 1; x1 &lt;= n; x1++) {</a:t>
            </a:r>
          </a:p>
          <a:p>
            <a:r>
              <a:rPr lang="en-US" sz="2000" b="1" dirty="0">
                <a:solidFill>
                  <a:schemeClr val="bg1"/>
                </a:solidFill>
                <a:latin typeface="Nunito Sans" pitchFamily="2" charset="0"/>
                <a:cs typeface="Courier New" panose="02070309020205020404" pitchFamily="49" charset="0"/>
              </a:rPr>
              <a:t>            for (int y1 = 0; y1 &lt;= m; y1++) {</a:t>
            </a:r>
          </a:p>
          <a:p>
            <a:r>
              <a:rPr lang="en-US" sz="2000" b="1" dirty="0">
                <a:solidFill>
                  <a:schemeClr val="bg1"/>
                </a:solidFill>
                <a:latin typeface="Nunito Sans" pitchFamily="2" charset="0"/>
                <a:cs typeface="Courier New" panose="02070309020205020404" pitchFamily="49" charset="0"/>
              </a:rPr>
              <a:t>                for (int x2 = 0; x2 &lt;= n; x2++) {</a:t>
            </a:r>
          </a:p>
          <a:p>
            <a:r>
              <a:rPr lang="en-US" sz="2000" b="1" dirty="0">
                <a:solidFill>
                  <a:schemeClr val="bg1"/>
                </a:solidFill>
                <a:latin typeface="Nunito Sans" pitchFamily="2" charset="0"/>
                <a:cs typeface="Courier New" panose="02070309020205020404" pitchFamily="49" charset="0"/>
              </a:rPr>
              <a:t>                    for (int y2 = 0; y2 &lt;= m; y2++) {</a:t>
            </a:r>
          </a:p>
          <a:p>
            <a:r>
              <a:rPr lang="en-US" sz="2000" b="1" dirty="0">
                <a:solidFill>
                  <a:schemeClr val="bg1"/>
                </a:solidFill>
                <a:latin typeface="Nunito Sans" pitchFamily="2" charset="0"/>
                <a:cs typeface="Courier New" panose="02070309020205020404" pitchFamily="49" charset="0"/>
              </a:rPr>
              <a:t>                        double area = 0.5 * </a:t>
            </a:r>
            <a:r>
              <a:rPr lang="en-US" sz="2000" b="1" dirty="0" err="1">
                <a:solidFill>
                  <a:schemeClr val="bg1"/>
                </a:solidFill>
                <a:latin typeface="Nunito Sans" pitchFamily="2" charset="0"/>
                <a:cs typeface="Courier New" panose="02070309020205020404" pitchFamily="49" charset="0"/>
              </a:rPr>
              <a:t>Math.abs</a:t>
            </a:r>
            <a:r>
              <a:rPr lang="en-US" sz="2000" b="1" dirty="0">
                <a:solidFill>
                  <a:schemeClr val="bg1"/>
                </a:solidFill>
                <a:latin typeface="Nunito Sans" pitchFamily="2" charset="0"/>
                <a:cs typeface="Courier New" panose="02070309020205020404" pitchFamily="49" charset="0"/>
              </a:rPr>
              <a:t>(x1 * (y2 - y1) + x2 * (y1 - 0) + n * (0 - y2));</a:t>
            </a:r>
          </a:p>
          <a:p>
            <a:r>
              <a:rPr lang="en-US" sz="2000" b="1" dirty="0">
                <a:solidFill>
                  <a:schemeClr val="bg1"/>
                </a:solidFill>
                <a:latin typeface="Nunito Sans" pitchFamily="2" charset="0"/>
                <a:cs typeface="Courier New" panose="02070309020205020404" pitchFamily="49" charset="0"/>
              </a:rPr>
              <a:t>                        if (area == T) {</a:t>
            </a:r>
          </a:p>
          <a:p>
            <a:r>
              <a:rPr lang="en-US" sz="2000" b="1" dirty="0">
                <a:solidFill>
                  <a:schemeClr val="bg1"/>
                </a:solidFill>
                <a:latin typeface="Nunito Sans" pitchFamily="2" charset="0"/>
                <a:cs typeface="Courier New" panose="02070309020205020404" pitchFamily="49" charset="0"/>
              </a:rPr>
              <a:t>                            return "YES";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"NO";</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public static void main(String[] </a:t>
            </a:r>
            <a:r>
              <a:rPr lang="en-US" sz="2000" b="1" dirty="0" err="1">
                <a:solidFill>
                  <a:schemeClr val="bg1"/>
                </a:solidFill>
                <a:latin typeface="Nunito Sans" pitchFamily="2" charset="0"/>
                <a:cs typeface="Courier New" panose="02070309020205020404" pitchFamily="49" charset="0"/>
              </a:rPr>
              <a:t>args</a:t>
            </a:r>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a:t>
            </a:r>
            <a:r>
              <a:rPr lang="en-US" sz="2000" b="1" dirty="0" err="1">
                <a:solidFill>
                  <a:schemeClr val="bg1"/>
                </a:solidFill>
                <a:latin typeface="Nunito Sans" pitchFamily="2" charset="0"/>
                <a:cs typeface="Courier New" panose="02070309020205020404" pitchFamily="49" charset="0"/>
              </a:rPr>
              <a:t>scanner</a:t>
            </a:r>
            <a:r>
              <a:rPr lang="en-US" sz="2000" b="1" dirty="0">
                <a:solidFill>
                  <a:schemeClr val="bg1"/>
                </a:solidFill>
                <a:latin typeface="Nunito Sans" pitchFamily="2" charset="0"/>
                <a:cs typeface="Courier New" panose="02070309020205020404" pitchFamily="49" charset="0"/>
              </a:rPr>
              <a:t> = new Scanner(System.in);</a:t>
            </a:r>
          </a:p>
          <a:p>
            <a:r>
              <a:rPr lang="en-US" sz="2000" b="1" dirty="0">
                <a:solidFill>
                  <a:schemeClr val="bg1"/>
                </a:solidFill>
                <a:latin typeface="Nunito Sans" pitchFamily="2" charset="0"/>
                <a:cs typeface="Courier New" panose="02070309020205020404" pitchFamily="49" charset="0"/>
              </a:rPr>
              <a:t>        long n = </a:t>
            </a:r>
            <a:r>
              <a:rPr lang="en-US" sz="2000" b="1" dirty="0" err="1">
                <a:solidFill>
                  <a:schemeClr val="bg1"/>
                </a:solidFill>
                <a:latin typeface="Nunito Sans" pitchFamily="2" charset="0"/>
                <a:cs typeface="Courier New" panose="02070309020205020404" pitchFamily="49" charset="0"/>
              </a:rPr>
              <a:t>scanner.nextLong</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long m = </a:t>
            </a:r>
            <a:r>
              <a:rPr lang="en-US" sz="2000" b="1" dirty="0" err="1">
                <a:solidFill>
                  <a:schemeClr val="bg1"/>
                </a:solidFill>
                <a:latin typeface="Nunito Sans" pitchFamily="2" charset="0"/>
                <a:cs typeface="Courier New" panose="02070309020205020404" pitchFamily="49" charset="0"/>
              </a:rPr>
              <a:t>scanner.nextLong</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long k = </a:t>
            </a:r>
            <a:r>
              <a:rPr lang="en-US" sz="2000" b="1" dirty="0" err="1">
                <a:solidFill>
                  <a:schemeClr val="bg1"/>
                </a:solidFill>
                <a:latin typeface="Nunito Sans" pitchFamily="2" charset="0"/>
                <a:cs typeface="Courier New" panose="02070309020205020404" pitchFamily="49" charset="0"/>
              </a:rPr>
              <a:t>scanner.nextLong</a:t>
            </a:r>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if (!</a:t>
            </a:r>
            <a:r>
              <a:rPr lang="en-US" sz="2000" b="1" dirty="0" err="1">
                <a:solidFill>
                  <a:schemeClr val="bg1"/>
                </a:solidFill>
                <a:latin typeface="Nunito Sans" pitchFamily="2" charset="0"/>
                <a:cs typeface="Courier New" panose="02070309020205020404" pitchFamily="49" charset="0"/>
              </a:rPr>
              <a:t>isTrianglePossible</a:t>
            </a:r>
            <a:r>
              <a:rPr lang="en-US" sz="2000" b="1" dirty="0">
                <a:solidFill>
                  <a:schemeClr val="bg1"/>
                </a:solidFill>
                <a:latin typeface="Nunito Sans" pitchFamily="2" charset="0"/>
                <a:cs typeface="Courier New" panose="02070309020205020404" pitchFamily="49" charset="0"/>
              </a:rPr>
              <a:t>(n, m, k))</a:t>
            </a:r>
          </a:p>
          <a:p>
            <a:r>
              <a:rPr lang="en-US" sz="2000" b="1" dirty="0">
                <a:solidFill>
                  <a:schemeClr val="bg1"/>
                </a:solidFill>
                <a:latin typeface="Nunito Sans" pitchFamily="2" charset="0"/>
                <a:cs typeface="Courier New" panose="02070309020205020404" pitchFamily="49" charset="0"/>
              </a:rPr>
              <a:t>            </a:t>
            </a:r>
            <a:r>
              <a:rPr lang="en-US" sz="2000" b="1" dirty="0" err="1">
                <a:solidFill>
                  <a:schemeClr val="bg1"/>
                </a:solidFill>
                <a:latin typeface="Nunito Sans" pitchFamily="2" charset="0"/>
                <a:cs typeface="Courier New" panose="02070309020205020404" pitchFamily="49" charset="0"/>
              </a:rPr>
              <a:t>System.out.println</a:t>
            </a:r>
            <a:r>
              <a:rPr lang="en-US" sz="2000" b="1" dirty="0">
                <a:solidFill>
                  <a:schemeClr val="bg1"/>
                </a:solidFill>
                <a:latin typeface="Nunito Sans" pitchFamily="2" charset="0"/>
                <a:cs typeface="Courier New" panose="02070309020205020404" pitchFamily="49" charset="0"/>
              </a:rPr>
              <a:t>("NO");</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9863698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a:t>
            </a:r>
            <a:r>
              <a:rPr lang="en-US" sz="2000" b="1" dirty="0" err="1">
                <a:solidFill>
                  <a:schemeClr val="bg1"/>
                </a:solidFill>
                <a:latin typeface="Nunito Sans" pitchFamily="2" charset="0"/>
                <a:cs typeface="Courier New" panose="02070309020205020404" pitchFamily="49" charset="0"/>
              </a:rPr>
              <a:t>check_triangle_area</a:t>
            </a:r>
            <a:r>
              <a:rPr lang="en-US" sz="2000" b="1" dirty="0">
                <a:solidFill>
                  <a:schemeClr val="bg1"/>
                </a:solidFill>
                <a:latin typeface="Nunito Sans" pitchFamily="2" charset="0"/>
                <a:cs typeface="Courier New" panose="02070309020205020404" pitchFamily="49" charset="0"/>
              </a:rPr>
              <a:t>(n, m, k):</a:t>
            </a:r>
          </a:p>
          <a:p>
            <a:r>
              <a:rPr lang="en-US" sz="2000" b="1" dirty="0">
                <a:solidFill>
                  <a:schemeClr val="bg1"/>
                </a:solidFill>
                <a:latin typeface="Nunito Sans" pitchFamily="2" charset="0"/>
                <a:cs typeface="Courier New" panose="02070309020205020404" pitchFamily="49" charset="0"/>
              </a:rPr>
              <a:t>    T = (n * m) / k</a:t>
            </a:r>
          </a:p>
          <a:p>
            <a:r>
              <a:rPr lang="en-US" sz="2000" b="1" dirty="0">
                <a:solidFill>
                  <a:schemeClr val="bg1"/>
                </a:solidFill>
                <a:latin typeface="Nunito Sans" pitchFamily="2" charset="0"/>
                <a:cs typeface="Courier New" panose="02070309020205020404" pitchFamily="49" charset="0"/>
              </a:rPr>
              <a:t>    for x1 in range(1, n + 1):</a:t>
            </a:r>
          </a:p>
          <a:p>
            <a:r>
              <a:rPr lang="en-US" sz="2000" b="1" dirty="0">
                <a:solidFill>
                  <a:schemeClr val="bg1"/>
                </a:solidFill>
                <a:latin typeface="Nunito Sans" pitchFamily="2" charset="0"/>
                <a:cs typeface="Courier New" panose="02070309020205020404" pitchFamily="49" charset="0"/>
              </a:rPr>
              <a:t>        for y1 in range(m + 1):</a:t>
            </a:r>
          </a:p>
          <a:p>
            <a:r>
              <a:rPr lang="en-US" sz="2000" b="1" dirty="0">
                <a:solidFill>
                  <a:schemeClr val="bg1"/>
                </a:solidFill>
                <a:latin typeface="Nunito Sans" pitchFamily="2" charset="0"/>
                <a:cs typeface="Courier New" panose="02070309020205020404" pitchFamily="49" charset="0"/>
              </a:rPr>
              <a:t>            for x2 in range(n + 1):</a:t>
            </a:r>
          </a:p>
          <a:p>
            <a:r>
              <a:rPr lang="en-US" sz="2000" b="1" dirty="0">
                <a:solidFill>
                  <a:schemeClr val="bg1"/>
                </a:solidFill>
                <a:latin typeface="Nunito Sans" pitchFamily="2" charset="0"/>
                <a:cs typeface="Courier New" panose="02070309020205020404" pitchFamily="49" charset="0"/>
              </a:rPr>
              <a:t>                for y2 in range(m + 1):</a:t>
            </a:r>
          </a:p>
          <a:p>
            <a:r>
              <a:rPr lang="en-US" sz="2000" b="1" dirty="0">
                <a:solidFill>
                  <a:schemeClr val="bg1"/>
                </a:solidFill>
                <a:latin typeface="Nunito Sans" pitchFamily="2" charset="0"/>
                <a:cs typeface="Courier New" panose="02070309020205020404" pitchFamily="49" charset="0"/>
              </a:rPr>
              <a:t>                    area = 0.5 * abs(x1 * (y2 - y1) + x2 * (y1 - 0) + n * (0 - y2))</a:t>
            </a:r>
          </a:p>
          <a:p>
            <a:r>
              <a:rPr lang="en-US" sz="2000" b="1" dirty="0">
                <a:solidFill>
                  <a:schemeClr val="bg1"/>
                </a:solidFill>
                <a:latin typeface="Nunito Sans" pitchFamily="2" charset="0"/>
                <a:cs typeface="Courier New" panose="02070309020205020404" pitchFamily="49" charset="0"/>
              </a:rPr>
              <a:t>                    if area == T:</a:t>
            </a:r>
          </a:p>
          <a:p>
            <a:r>
              <a:rPr lang="en-US" sz="2000" b="1" dirty="0">
                <a:solidFill>
                  <a:schemeClr val="bg1"/>
                </a:solidFill>
                <a:latin typeface="Nunito Sans" pitchFamily="2" charset="0"/>
                <a:cs typeface="Courier New" panose="02070309020205020404" pitchFamily="49" charset="0"/>
              </a:rPr>
              <a:t>                        return "YES“</a:t>
            </a:r>
          </a:p>
          <a:p>
            <a:r>
              <a:rPr lang="en-US" sz="2000" b="1" dirty="0">
                <a:solidFill>
                  <a:schemeClr val="bg1"/>
                </a:solidFill>
                <a:latin typeface="Nunito Sans" pitchFamily="2" charset="0"/>
                <a:cs typeface="Courier New" panose="02070309020205020404" pitchFamily="49" charset="0"/>
              </a:rPr>
              <a:t>    return "NO“</a:t>
            </a:r>
          </a:p>
          <a:p>
            <a:r>
              <a:rPr lang="en-US" sz="2000" b="1" dirty="0">
                <a:solidFill>
                  <a:schemeClr val="bg1"/>
                </a:solidFill>
                <a:latin typeface="Nunito Sans" pitchFamily="2" charset="0"/>
                <a:cs typeface="Courier New" panose="02070309020205020404" pitchFamily="49" charset="0"/>
              </a:rPr>
              <a:t>if _name_ == "_main_":</a:t>
            </a:r>
          </a:p>
          <a:p>
            <a:r>
              <a:rPr lang="en-US" sz="2000" b="1" dirty="0">
                <a:solidFill>
                  <a:schemeClr val="bg1"/>
                </a:solidFill>
                <a:latin typeface="Nunito Sans" pitchFamily="2" charset="0"/>
                <a:cs typeface="Courier New" panose="02070309020205020404" pitchFamily="49" charset="0"/>
              </a:rPr>
              <a:t>    n, m, k = map(int, input().split())</a:t>
            </a:r>
          </a:p>
          <a:p>
            <a:r>
              <a:rPr lang="en-US" sz="2000" b="1" dirty="0">
                <a:solidFill>
                  <a:schemeClr val="bg1"/>
                </a:solidFill>
                <a:latin typeface="Nunito Sans" pitchFamily="2" charset="0"/>
                <a:cs typeface="Courier New" panose="02070309020205020404" pitchFamily="49" charset="0"/>
              </a:rPr>
              <a:t>    result = </a:t>
            </a:r>
            <a:r>
              <a:rPr lang="en-US" sz="2000" b="1" dirty="0" err="1">
                <a:solidFill>
                  <a:schemeClr val="bg1"/>
                </a:solidFill>
                <a:latin typeface="Nunito Sans" pitchFamily="2" charset="0"/>
                <a:cs typeface="Courier New" panose="02070309020205020404" pitchFamily="49" charset="0"/>
              </a:rPr>
              <a:t>check_triangle_area</a:t>
            </a:r>
            <a:r>
              <a:rPr lang="en-US" sz="2000" b="1" dirty="0">
                <a:solidFill>
                  <a:schemeClr val="bg1"/>
                </a:solidFill>
                <a:latin typeface="Nunito Sans" pitchFamily="2" charset="0"/>
                <a:cs typeface="Courier New" panose="02070309020205020404" pitchFamily="49" charset="0"/>
              </a:rPr>
              <a:t>(n, m, k)</a:t>
            </a:r>
          </a:p>
          <a:p>
            <a:r>
              <a:rPr lang="en-US" sz="2000" b="1" dirty="0">
                <a:solidFill>
                  <a:schemeClr val="bg1"/>
                </a:solidFill>
                <a:latin typeface="Nunito Sans" pitchFamily="2" charset="0"/>
                <a:cs typeface="Courier New" panose="02070309020205020404" pitchFamily="49" charset="0"/>
              </a:rPr>
              <a:t>    print(result)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6</a:t>
            </a:r>
            <a:endParaRPr lang="en-US" sz="4800" b="1" dirty="0">
              <a:solidFill>
                <a:schemeClr val="bg1"/>
              </a:solidFill>
              <a:latin typeface="Nunito Sans" pitchFamily="2" charset="0"/>
              <a:sym typeface="+mn-ea"/>
            </a:endParaRPr>
          </a:p>
        </p:txBody>
      </p:sp>
      <p:sp>
        <p:nvSpPr>
          <p:cNvPr id="18" name="TextBox 17"/>
          <p:cNvSpPr txBox="1"/>
          <p:nvPr/>
        </p:nvSpPr>
        <p:spPr>
          <a:xfrm>
            <a:off x="25082" y="900763"/>
            <a:ext cx="11805920" cy="4985980"/>
          </a:xfrm>
          <a:prstGeom prst="rect">
            <a:avLst/>
          </a:prstGeom>
          <a:noFill/>
        </p:spPr>
        <p:txBody>
          <a:bodyPr wrap="square" rtlCol="0">
            <a:spAutoFit/>
          </a:bodyPr>
          <a:lstStyle/>
          <a:p>
            <a:r>
              <a:rPr lang="en-US" sz="2500" i="1" dirty="0">
                <a:solidFill>
                  <a:srgbClr val="000000"/>
                </a:solidFill>
                <a:effectLst/>
                <a:latin typeface="Nunito Sans" pitchFamily="2" charset="0"/>
                <a:ea typeface="Times New Roman" panose="02020603050405020304" pitchFamily="18" charset="0"/>
              </a:rPr>
              <a:t>You have </a:t>
            </a:r>
            <a:r>
              <a:rPr lang="en-US" sz="2500" dirty="0">
                <a:solidFill>
                  <a:srgbClr val="000000"/>
                </a:solidFill>
                <a:effectLst/>
                <a:latin typeface="Nunito Sans" pitchFamily="2" charset="0"/>
                <a:ea typeface="Times New Roman" panose="02020603050405020304" pitchFamily="18" charset="0"/>
              </a:rPr>
              <a:t>given</a:t>
            </a:r>
            <a:r>
              <a:rPr lang="en-US" sz="2500" b="1" dirty="0">
                <a:solidFill>
                  <a:srgbClr val="000000"/>
                </a:solidFill>
                <a:effectLst/>
                <a:latin typeface="Nunito Sans" pitchFamily="2" charset="0"/>
                <a:ea typeface="Times New Roman" panose="02020603050405020304" pitchFamily="18" charset="0"/>
              </a:rPr>
              <a:t> n </a:t>
            </a:r>
            <a:r>
              <a:rPr lang="en-US" sz="2500" dirty="0">
                <a:solidFill>
                  <a:srgbClr val="000000"/>
                </a:solidFill>
                <a:effectLst/>
                <a:latin typeface="Nunito Sans" pitchFamily="2" charset="0"/>
                <a:ea typeface="Times New Roman" panose="02020603050405020304" pitchFamily="18" charset="0"/>
              </a:rPr>
              <a:t>piles in which each pile contains some numbers of stones/coins and you have also given the information about who can made the</a:t>
            </a:r>
            <a:r>
              <a:rPr lang="en-US" sz="2500" b="1" dirty="0">
                <a:solidFill>
                  <a:srgbClr val="000000"/>
                </a:solidFill>
                <a:effectLst/>
                <a:latin typeface="Nunito Sans" pitchFamily="2" charset="0"/>
                <a:ea typeface="Times New Roman" panose="02020603050405020304" pitchFamily="18" charset="0"/>
              </a:rPr>
              <a:t> first move from player 1 and 2</a:t>
            </a:r>
            <a:r>
              <a:rPr lang="en-US" sz="2500" dirty="0">
                <a:solidFill>
                  <a:srgbClr val="000000"/>
                </a:solidFill>
                <a:effectLst/>
                <a:latin typeface="Nunito Sans" pitchFamily="2" charset="0"/>
                <a:ea typeface="Times New Roman" panose="02020603050405020304" pitchFamily="18" charset="0"/>
              </a:rPr>
              <a:t>. In each turn, a player can choose only one pile and remove any number of stones</a:t>
            </a:r>
            <a:r>
              <a:rPr lang="en-US" sz="2500" b="1" dirty="0">
                <a:solidFill>
                  <a:srgbClr val="000000"/>
                </a:solidFill>
                <a:effectLst/>
                <a:latin typeface="Nunito Sans" pitchFamily="2" charset="0"/>
                <a:ea typeface="Times New Roman" panose="02020603050405020304" pitchFamily="18" charset="0"/>
              </a:rPr>
              <a:t> (at least one)</a:t>
            </a:r>
            <a:r>
              <a:rPr lang="en-US" sz="2500" dirty="0">
                <a:solidFill>
                  <a:srgbClr val="000000"/>
                </a:solidFill>
                <a:effectLst/>
                <a:latin typeface="Nunito Sans" pitchFamily="2" charset="0"/>
                <a:ea typeface="Times New Roman" panose="02020603050405020304" pitchFamily="18" charset="0"/>
              </a:rPr>
              <a:t> from that pile. The player who cannot move is considered to lose the game (i.e.,</a:t>
            </a:r>
            <a:r>
              <a:rPr lang="en-US" sz="2500" i="1" dirty="0">
                <a:solidFill>
                  <a:srgbClr val="000000"/>
                </a:solidFill>
                <a:effectLst/>
                <a:latin typeface="Nunito Sans" pitchFamily="2" charset="0"/>
                <a:ea typeface="Times New Roman" panose="02020603050405020304" pitchFamily="18" charset="0"/>
              </a:rPr>
              <a:t> </a:t>
            </a:r>
            <a:r>
              <a:rPr lang="en-US" sz="2500" dirty="0">
                <a:solidFill>
                  <a:srgbClr val="000000"/>
                </a:solidFill>
                <a:effectLst/>
                <a:latin typeface="Nunito Sans" pitchFamily="2" charset="0"/>
                <a:ea typeface="Times New Roman" panose="02020603050405020304" pitchFamily="18" charset="0"/>
              </a:rPr>
              <a:t>one who take the last stone is the winner</a:t>
            </a:r>
            <a:r>
              <a:rPr lang="en-US" sz="2500" i="1" dirty="0">
                <a:solidFill>
                  <a:srgbClr val="000000"/>
                </a:solidFill>
                <a:effectLst/>
                <a:latin typeface="Nunito Sans" pitchFamily="2" charset="0"/>
                <a:ea typeface="Times New Roman" panose="02020603050405020304" pitchFamily="18" charset="0"/>
              </a:rPr>
              <a:t>).</a:t>
            </a:r>
            <a:r>
              <a:rPr lang="en-US" sz="2500" dirty="0">
                <a:solidFill>
                  <a:srgbClr val="000000"/>
                </a:solidFill>
                <a:effectLst/>
                <a:latin typeface="Nunito Sans" pitchFamily="2" charset="0"/>
                <a:ea typeface="Times New Roman" panose="02020603050405020304" pitchFamily="18" charset="0"/>
              </a:rPr>
              <a:t> ”</a:t>
            </a:r>
            <a:endParaRPr lang="en-IN" sz="2500" dirty="0">
              <a:effectLst/>
              <a:latin typeface="Nunito Sans" pitchFamily="2" charset="0"/>
              <a:ea typeface="Times New Roman" panose="02020603050405020304" pitchFamily="18" charset="0"/>
            </a:endParaRPr>
          </a:p>
          <a:p>
            <a:r>
              <a:rPr lang="en-US" sz="2500" dirty="0">
                <a:effectLst/>
                <a:latin typeface="Nunito Sans" pitchFamily="2" charset="0"/>
                <a:ea typeface="Times New Roman" panose="02020603050405020304" pitchFamily="18" charset="0"/>
              </a:rPr>
              <a:t> </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Input Format : </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First line will contain two integers </a:t>
            </a:r>
            <a:r>
              <a:rPr lang="en-US" sz="2500" b="1" dirty="0">
                <a:solidFill>
                  <a:srgbClr val="000000"/>
                </a:solidFill>
                <a:effectLst/>
                <a:latin typeface="Nunito Sans" pitchFamily="2" charset="0"/>
                <a:ea typeface="Times New Roman" panose="02020603050405020304" pitchFamily="18" charset="0"/>
              </a:rPr>
              <a:t>n and t</a:t>
            </a:r>
            <a:r>
              <a:rPr lang="en-US" sz="2500" dirty="0">
                <a:solidFill>
                  <a:srgbClr val="000000"/>
                </a:solidFill>
                <a:effectLst/>
                <a:latin typeface="Nunito Sans" pitchFamily="2" charset="0"/>
                <a:ea typeface="Times New Roman" panose="02020603050405020304" pitchFamily="18" charset="0"/>
              </a:rPr>
              <a:t> - number of piles and who will made the first move first or 2nd player (if t is 1 then 1st player will start game otherwise 2nd player will start the game) </a:t>
            </a:r>
            <a:r>
              <a:rPr lang="en-US" sz="2500" b="1" dirty="0">
                <a:solidFill>
                  <a:srgbClr val="000000"/>
                </a:solidFill>
                <a:effectLst/>
                <a:latin typeface="Nunito Sans" pitchFamily="2" charset="0"/>
                <a:ea typeface="Times New Roman" panose="02020603050405020304" pitchFamily="18" charset="0"/>
              </a:rPr>
              <a:t>(1 &lt;= n &lt;= 10^5, 1 &lt;= t &lt;= 2).</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Second line will contain n space separated integers </a:t>
            </a:r>
            <a:r>
              <a:rPr lang="en-US" sz="2500" b="1" dirty="0">
                <a:solidFill>
                  <a:srgbClr val="000000"/>
                </a:solidFill>
                <a:effectLst/>
                <a:latin typeface="Nunito Sans" pitchFamily="2" charset="0"/>
                <a:ea typeface="Times New Roman" panose="02020603050405020304" pitchFamily="18" charset="0"/>
              </a:rPr>
              <a:t>(1 &lt;= a[</a:t>
            </a:r>
            <a:r>
              <a:rPr lang="en-US" sz="2500" b="1" dirty="0" err="1">
                <a:solidFill>
                  <a:srgbClr val="000000"/>
                </a:solidFill>
                <a:effectLst/>
                <a:latin typeface="Nunito Sans" pitchFamily="2" charset="0"/>
                <a:ea typeface="Times New Roman" panose="02020603050405020304" pitchFamily="18" charset="0"/>
              </a:rPr>
              <a:t>i</a:t>
            </a:r>
            <a:r>
              <a:rPr lang="en-US" sz="2500" b="1" dirty="0">
                <a:solidFill>
                  <a:srgbClr val="000000"/>
                </a:solidFill>
                <a:effectLst/>
                <a:latin typeface="Nunito Sans" pitchFamily="2" charset="0"/>
                <a:ea typeface="Times New Roman" panose="02020603050405020304" pitchFamily="18" charset="0"/>
              </a:rPr>
              <a:t>] &lt;= 100000)</a:t>
            </a:r>
            <a:r>
              <a:rPr lang="en-US" sz="2500" dirty="0">
                <a:solidFill>
                  <a:srgbClr val="000000"/>
                </a:solidFill>
                <a:effectLst/>
                <a:latin typeface="Nunito Sans" pitchFamily="2" charset="0"/>
                <a:ea typeface="Times New Roman" panose="02020603050405020304" pitchFamily="18" charset="0"/>
              </a:rPr>
              <a:t>.</a:t>
            </a:r>
            <a:endParaRPr lang="en-IN" sz="2500" dirty="0">
              <a:effectLst/>
              <a:latin typeface="Nunito Sans" pitchFamily="2" charset="0"/>
              <a:ea typeface="Times New Roman" panose="02020603050405020304" pitchFamily="18" charset="0"/>
            </a:endParaRPr>
          </a:p>
          <a:p>
            <a:r>
              <a:rPr lang="en-US" sz="1800" dirty="0">
                <a:effectLst/>
                <a:latin typeface="Arial" panose="020B0604020202020204" pitchFamily="34"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endParaRPr lang="en-US" sz="2500" dirty="0">
              <a:latin typeface="Nunito Sans" panose="00000500000000000000" pitchFamily="2"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6</a:t>
            </a:r>
            <a:endParaRPr lang="en-US" sz="4800" b="1" dirty="0">
              <a:solidFill>
                <a:schemeClr val="bg1"/>
              </a:solidFill>
              <a:latin typeface="Nunito Sans" pitchFamily="2" charset="0"/>
              <a:sym typeface="+mn-ea"/>
            </a:endParaRPr>
          </a:p>
        </p:txBody>
      </p:sp>
      <p:sp>
        <p:nvSpPr>
          <p:cNvPr id="18" name="TextBox 17"/>
          <p:cNvSpPr txBox="1"/>
          <p:nvPr/>
        </p:nvSpPr>
        <p:spPr>
          <a:xfrm>
            <a:off x="76835" y="1000760"/>
            <a:ext cx="11805920" cy="5863144"/>
          </a:xfrm>
          <a:prstGeom prst="rect">
            <a:avLst/>
          </a:prstGeom>
          <a:noFill/>
        </p:spPr>
        <p:txBody>
          <a:bodyPr wrap="square" rtlCol="0">
            <a:spAutoFit/>
          </a:bodyPr>
          <a:lstStyle/>
          <a:p>
            <a:r>
              <a:rPr lang="en-US" sz="2500" b="1" dirty="0">
                <a:solidFill>
                  <a:srgbClr val="000000"/>
                </a:solidFill>
                <a:effectLst/>
                <a:latin typeface="Nunito Sans" pitchFamily="2" charset="0"/>
                <a:ea typeface="Times New Roman" panose="02020603050405020304" pitchFamily="18" charset="0"/>
              </a:rPr>
              <a:t>Output Format : </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Print 1 if player 1 will win otherwise print 2.</a:t>
            </a:r>
            <a:endParaRPr lang="en-IN" sz="2500" dirty="0">
              <a:effectLst/>
              <a:latin typeface="Nunito Sans" pitchFamily="2" charset="0"/>
              <a:ea typeface="Times New Roman" panose="02020603050405020304" pitchFamily="18" charset="0"/>
            </a:endParaRPr>
          </a:p>
          <a:p>
            <a:r>
              <a:rPr lang="en-US" sz="2500" dirty="0">
                <a:effectLst/>
                <a:latin typeface="Nunito Sans" pitchFamily="2" charset="0"/>
                <a:ea typeface="Times New Roman" panose="02020603050405020304" pitchFamily="18" charset="0"/>
              </a:rPr>
              <a:t> </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Sample Input 1:</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3 1</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3 4 5</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Sample Output 1:</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1</a:t>
            </a:r>
            <a:endParaRPr lang="en-IN" sz="2500" dirty="0">
              <a:effectLst/>
              <a:latin typeface="Nunito Sans" pitchFamily="2" charset="0"/>
              <a:ea typeface="Times New Roman" panose="02020603050405020304" pitchFamily="18" charset="0"/>
            </a:endParaRPr>
          </a:p>
          <a:p>
            <a:r>
              <a:rPr lang="en-US" sz="2500" dirty="0">
                <a:effectLst/>
                <a:latin typeface="Nunito Sans" pitchFamily="2" charset="0"/>
                <a:ea typeface="Times New Roman" panose="02020603050405020304" pitchFamily="18" charset="0"/>
              </a:rPr>
              <a:t> </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Sample Input 2:</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3 2</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3 4 5</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Sample Output 2:</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2</a:t>
            </a:r>
            <a:endParaRPr lang="en-IN" sz="2500" dirty="0">
              <a:effectLst/>
              <a:latin typeface="Nunito Sans" pitchFamily="2" charset="0"/>
              <a:ea typeface="Times New Roman" panose="02020603050405020304" pitchFamily="18" charset="0"/>
            </a:endParaRPr>
          </a:p>
          <a:p>
            <a:endParaRPr lang="en-US" sz="2500" dirty="0">
              <a:latin typeface="Nunito Sans" panose="00000500000000000000" pitchFamily="2"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#include</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err="1">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stdio.h</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#define</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#define</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COMPUTER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#define</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HUMAN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calculateNimSum</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nimsum</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nimsum</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nimsum</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nimsum</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knowWinnerBeforePlaying</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whoseTurn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p>
          <a:p>
            <a:pPr>
              <a:lnSpc>
                <a:spcPts val="1425"/>
              </a:lnSpc>
              <a:spcAft>
                <a:spcPts val="800"/>
              </a:spcAft>
            </a:pPr>
            <a:r>
              <a:rPr lang="en-US" dirty="0">
                <a:solidFill>
                  <a:srgbClr val="DCDCDC"/>
                </a:solidFill>
                <a:latin typeface="Consolas" panose="020B0609020204030204" pitchFamily="49" charset="0"/>
                <a:ea typeface="Calibri" panose="020F0502020204030204" pitchFamily="34"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calculateNimSum</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whoseTurn</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COMPUTER</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"2"</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dirty="0">
                <a:solidFill>
                  <a:srgbClr val="DCDCDC"/>
                </a:solidFill>
                <a:latin typeface="Consolas" panose="020B0609020204030204" pitchFamily="49"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2000" b="1" dirty="0">
                <a:solidFill>
                  <a:schemeClr val="bg1"/>
                </a:solidFill>
                <a:latin typeface="Nunito Sans" pitchFamily="2" charset="0"/>
                <a:cs typeface="Courier New" panose="02070309020205020404" pitchFamily="49" charset="0"/>
              </a:rPr>
              <a:t>    </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whoseTurn</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COMPUTER</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"2"</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scanf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lld</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lld</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&amp;</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&amp;</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turn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scanf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lld</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&amp;</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knowWinnerBeforePlaying</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using</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namespace</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std</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#define</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#define</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COMPUTER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#define</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HUMAN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2</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calculateNimSum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nimsum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knowWinnerBeforePlaying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whoseTurn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calculateNimSum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whoseTurn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COMPUTER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cout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&lt;&lt;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cout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&lt;&lt;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2</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whoseTurn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COMPUTER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cout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&lt;&lt;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2</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cout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&lt;&lt;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signed</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cin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&gt;&gt;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&gt;&gt;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cin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&gt;&gt;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knowWinnerBeforePlaying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java</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util</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Scanner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calculateNimSum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knowWinnerBeforePlaying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whoseTurn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calculateNimSum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whoseTurn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System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out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System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out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"2"</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whoseTurn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System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out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"2"</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System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out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String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args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scanner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nextInt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nextInt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long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nextLong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knowWinnerBeforePlaying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close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def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calculateNimSum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 =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range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 = nimsum ^ 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nimsum</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def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knowWinnerBeforePlaying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whoseTurn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calculateNimSum</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whoseTurn ==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end=</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"2"</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end=</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whoseTurn ==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"2"</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end=</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else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end=</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__name__</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"__main__"</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 =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map</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input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.split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piles =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list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map</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input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.split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knowWinnerBeforePlaying</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piles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turn</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7</a:t>
            </a:r>
            <a:endParaRPr lang="en-US" sz="4800" b="1" dirty="0">
              <a:solidFill>
                <a:schemeClr val="bg1"/>
              </a:solidFill>
              <a:latin typeface="Nunito Sans" pitchFamily="2" charset="0"/>
              <a:sym typeface="+mn-ea"/>
            </a:endParaRPr>
          </a:p>
        </p:txBody>
      </p:sp>
      <p:sp>
        <p:nvSpPr>
          <p:cNvPr id="18" name="TextBox 17"/>
          <p:cNvSpPr txBox="1"/>
          <p:nvPr/>
        </p:nvSpPr>
        <p:spPr>
          <a:xfrm>
            <a:off x="97155" y="945515"/>
            <a:ext cx="11915775" cy="5478423"/>
          </a:xfrm>
          <a:prstGeom prst="rect">
            <a:avLst/>
          </a:prstGeom>
          <a:noFill/>
        </p:spPr>
        <p:txBody>
          <a:bodyPr wrap="square" rtlCol="0">
            <a:spAutoFit/>
          </a:bodyPr>
          <a:lstStyle/>
          <a:p>
            <a:r>
              <a:rPr lang="en-US" sz="2500" dirty="0">
                <a:latin typeface="Nunito Sans" panose="00000500000000000000" pitchFamily="2" charset="0"/>
              </a:rPr>
              <a:t>A man wants to do rock climbing and reach the top of a steep peak. There is 'N' number of Convenient rocks on the mountain which the mountaineer can step onto to reach the peak a little easily. The initial position/rock on which the rock climber is standing currently is denoted as 'I'. From each rock, the person can skip utmost 'X' rocks. The task here is to find the number of ways a mountaineer can climb to reach the peak.</a:t>
            </a:r>
          </a:p>
          <a:p>
            <a:endParaRPr lang="en-US" sz="2500" dirty="0">
              <a:latin typeface="Nunito Sans" panose="00000500000000000000" pitchFamily="2" charset="0"/>
            </a:endParaRPr>
          </a:p>
          <a:p>
            <a:r>
              <a:rPr lang="en-US" sz="2500" b="1" dirty="0">
                <a:latin typeface="Nunito Sans" panose="00000500000000000000" pitchFamily="2" charset="0"/>
              </a:rPr>
              <a:t>Example 1:</a:t>
            </a:r>
          </a:p>
          <a:p>
            <a:r>
              <a:rPr lang="en-US" sz="2500" b="1" dirty="0">
                <a:latin typeface="Nunito Sans" panose="00000500000000000000" pitchFamily="2" charset="0"/>
              </a:rPr>
              <a:t>Input:</a:t>
            </a:r>
          </a:p>
          <a:p>
            <a:r>
              <a:rPr lang="en-US" sz="2500" dirty="0">
                <a:latin typeface="Nunito Sans" panose="00000500000000000000" pitchFamily="2" charset="0"/>
              </a:rPr>
              <a:t>6-&gt; Value of N</a:t>
            </a:r>
          </a:p>
          <a:p>
            <a:r>
              <a:rPr lang="en-US" sz="2500" dirty="0">
                <a:latin typeface="Nunito Sans" panose="00000500000000000000" pitchFamily="2" charset="0"/>
              </a:rPr>
              <a:t>3-&gt; Value of I</a:t>
            </a:r>
          </a:p>
          <a:p>
            <a:r>
              <a:rPr lang="en-US" sz="2500" dirty="0">
                <a:latin typeface="Nunito Sans" panose="00000500000000000000" pitchFamily="2" charset="0"/>
              </a:rPr>
              <a:t>2-&gt; Value of X</a:t>
            </a:r>
          </a:p>
          <a:p>
            <a:r>
              <a:rPr lang="en-US" sz="2500" b="1" dirty="0">
                <a:latin typeface="Nunito Sans" pitchFamily="2" charset="0"/>
              </a:rPr>
              <a:t>Output:</a:t>
            </a:r>
          </a:p>
          <a:p>
            <a:r>
              <a:rPr lang="en-US" sz="2500" dirty="0">
                <a:latin typeface="Nunito Sans" pitchFamily="2" charset="0"/>
              </a:rPr>
              <a:t>3-&gt; Number of ways he can reach the peak</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#include &lt;stdio.h&gt;</a:t>
            </a:r>
          </a:p>
          <a:p>
            <a:r>
              <a:rPr lang="en-US" sz="2000" b="1" dirty="0">
                <a:solidFill>
                  <a:schemeClr val="bg1"/>
                </a:solidFill>
                <a:latin typeface="Nunito Sans" pitchFamily="2" charset="0"/>
                <a:cs typeface="Courier New" panose="02070309020205020404" pitchFamily="49" charset="0"/>
                <a:sym typeface="+mn-ea"/>
              </a:rPr>
              <a:t>int countClimbingWays(int N, int I, int X)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int ways[N + 1];</a:t>
            </a:r>
          </a:p>
          <a:p>
            <a:r>
              <a:rPr lang="en-US" sz="2000" b="1" dirty="0">
                <a:solidFill>
                  <a:schemeClr val="bg1"/>
                </a:solidFill>
                <a:latin typeface="Nunito Sans" pitchFamily="2" charset="0"/>
                <a:cs typeface="Courier New" panose="02070309020205020404" pitchFamily="49" charset="0"/>
                <a:sym typeface="+mn-ea"/>
              </a:rPr>
              <a:t>    ways[I] = 1;</a:t>
            </a:r>
          </a:p>
          <a:p>
            <a:r>
              <a:rPr lang="en-US" sz="2000" b="1" dirty="0">
                <a:solidFill>
                  <a:schemeClr val="bg1"/>
                </a:solidFill>
                <a:latin typeface="Nunito Sans" pitchFamily="2" charset="0"/>
                <a:cs typeface="Courier New" panose="02070309020205020404" pitchFamily="49" charset="0"/>
                <a:sym typeface="+mn-ea"/>
              </a:rPr>
              <a:t>    ways[I - 1] = 1;</a:t>
            </a:r>
          </a:p>
          <a:p>
            <a:r>
              <a:rPr lang="en-US" sz="2000" b="1" dirty="0">
                <a:solidFill>
                  <a:schemeClr val="bg1"/>
                </a:solidFill>
                <a:latin typeface="Nunito Sans" pitchFamily="2" charset="0"/>
                <a:cs typeface="Courier New" panose="02070309020205020404" pitchFamily="49" charset="0"/>
                <a:sym typeface="+mn-ea"/>
              </a:rPr>
              <a:t>    for (int i = I + 1; i &lt;= N; i++)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ways[i] = 0;</a:t>
            </a:r>
          </a:p>
          <a:p>
            <a:r>
              <a:rPr lang="en-US" sz="2000" b="1" dirty="0">
                <a:solidFill>
                  <a:schemeClr val="bg1"/>
                </a:solidFill>
                <a:latin typeface="Nunito Sans" pitchFamily="2" charset="0"/>
                <a:cs typeface="Courier New" panose="02070309020205020404" pitchFamily="49" charset="0"/>
                <a:sym typeface="+mn-ea"/>
              </a:rPr>
              <a:t>        for (int j = 1; j &lt;= X &amp;&amp; i - j &gt;= I; j++)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ways[i] += ways[i - j];</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return ways[N];</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int main()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int N, I, X;</a:t>
            </a:r>
          </a:p>
          <a:p>
            <a:r>
              <a:rPr lang="en-US" sz="2000" b="1" dirty="0">
                <a:solidFill>
                  <a:schemeClr val="bg1"/>
                </a:solidFill>
                <a:latin typeface="Nunito Sans" pitchFamily="2" charset="0"/>
                <a:cs typeface="Courier New" panose="02070309020205020404" pitchFamily="49" charset="0"/>
                <a:sym typeface="+mn-ea"/>
              </a:rPr>
              <a:t>    scanf("%d", &amp;N);</a:t>
            </a:r>
          </a:p>
          <a:p>
            <a:r>
              <a:rPr lang="en-US" sz="2000" b="1" dirty="0">
                <a:solidFill>
                  <a:schemeClr val="bg1"/>
                </a:solidFill>
                <a:latin typeface="Nunito Sans" pitchFamily="2" charset="0"/>
                <a:cs typeface="Courier New" panose="02070309020205020404" pitchFamily="49" charset="0"/>
                <a:sym typeface="+mn-ea"/>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scanf("%d", &amp;I);</a:t>
            </a:r>
          </a:p>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scanf("%d", &amp;X);</a:t>
            </a:r>
          </a:p>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int numWays = countClimbingWays(N, I, X);</a:t>
            </a:r>
          </a:p>
          <a:p>
            <a:r>
              <a:rPr lang="en-US" sz="2000" b="1" dirty="0">
                <a:solidFill>
                  <a:schemeClr val="bg1"/>
                </a:solidFill>
                <a:latin typeface="Nunito Sans" pitchFamily="2" charset="0"/>
                <a:cs typeface="Courier New" panose="02070309020205020404" pitchFamily="49" charset="0"/>
                <a:sym typeface="+mn-ea"/>
              </a:rPr>
              <a:t>    printf("%d\n", numWays);</a:t>
            </a:r>
          </a:p>
          <a:p>
            <a:r>
              <a:rPr lang="en-US" sz="2000" b="1" dirty="0">
                <a:solidFill>
                  <a:schemeClr val="bg1"/>
                </a:solidFill>
                <a:latin typeface="Nunito Sans" pitchFamily="2" charset="0"/>
                <a:cs typeface="Courier New" panose="02070309020205020404" pitchFamily="49" charset="0"/>
                <a:sym typeface="+mn-ea"/>
              </a:rPr>
              <a:t>    return 0;</a:t>
            </a: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#include &lt;iostream&gt;</a:t>
            </a:r>
          </a:p>
          <a:p>
            <a:r>
              <a:rPr lang="en-US" sz="2000" b="1" dirty="0">
                <a:solidFill>
                  <a:schemeClr val="bg1"/>
                </a:solidFill>
                <a:latin typeface="Nunito Sans" pitchFamily="2" charset="0"/>
                <a:cs typeface="Courier New" panose="02070309020205020404" pitchFamily="49" charset="0"/>
                <a:sym typeface="+mn-ea"/>
              </a:rPr>
              <a:t>using namespace std;</a:t>
            </a:r>
          </a:p>
          <a:p>
            <a:r>
              <a:rPr lang="en-US" sz="2000" b="1" dirty="0">
                <a:solidFill>
                  <a:schemeClr val="bg1"/>
                </a:solidFill>
                <a:latin typeface="Nunito Sans" pitchFamily="2" charset="0"/>
                <a:cs typeface="Courier New" panose="02070309020205020404" pitchFamily="49" charset="0"/>
                <a:sym typeface="+mn-ea"/>
              </a:rPr>
              <a:t>int countClimbingWays(int N, int I, int X)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int ways[N + 1];</a:t>
            </a:r>
          </a:p>
          <a:p>
            <a:r>
              <a:rPr lang="en-US" sz="2000" b="1" dirty="0">
                <a:solidFill>
                  <a:schemeClr val="bg1"/>
                </a:solidFill>
                <a:latin typeface="Nunito Sans" pitchFamily="2" charset="0"/>
                <a:cs typeface="Courier New" panose="02070309020205020404" pitchFamily="49" charset="0"/>
                <a:sym typeface="+mn-ea"/>
              </a:rPr>
              <a:t>    ways[I] = 1;</a:t>
            </a:r>
          </a:p>
          <a:p>
            <a:r>
              <a:rPr lang="en-US" sz="2000" b="1" dirty="0">
                <a:solidFill>
                  <a:schemeClr val="bg1"/>
                </a:solidFill>
                <a:latin typeface="Nunito Sans" pitchFamily="2" charset="0"/>
                <a:cs typeface="Courier New" panose="02070309020205020404" pitchFamily="49" charset="0"/>
                <a:sym typeface="+mn-ea"/>
              </a:rPr>
              <a:t>    ways[I - 1] = 1;</a:t>
            </a:r>
          </a:p>
          <a:p>
            <a:r>
              <a:rPr lang="en-US" sz="2000" b="1" dirty="0">
                <a:solidFill>
                  <a:schemeClr val="bg1"/>
                </a:solidFill>
                <a:latin typeface="Nunito Sans" pitchFamily="2" charset="0"/>
                <a:cs typeface="Courier New" panose="02070309020205020404" pitchFamily="49" charset="0"/>
                <a:sym typeface="+mn-ea"/>
              </a:rPr>
              <a:t>    for (int i = I + 1; i &lt;= N; i++)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ways[i] = 0;</a:t>
            </a:r>
          </a:p>
          <a:p>
            <a:r>
              <a:rPr lang="en-US" sz="2000" b="1" dirty="0">
                <a:solidFill>
                  <a:schemeClr val="bg1"/>
                </a:solidFill>
                <a:latin typeface="Nunito Sans" pitchFamily="2" charset="0"/>
                <a:cs typeface="Courier New" panose="02070309020205020404" pitchFamily="49" charset="0"/>
                <a:sym typeface="+mn-ea"/>
              </a:rPr>
              <a:t>        for (int j = 1; j &lt;= X &amp;&amp; i - j &gt;= I; j++)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ways[i] += ways[i - j];</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return ways[N];</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int main()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int N, I, X;</a:t>
            </a:r>
          </a:p>
          <a:p>
            <a:r>
              <a:rPr lang="en-US" sz="2000" b="1" dirty="0">
                <a:solidFill>
                  <a:schemeClr val="bg1"/>
                </a:solidFill>
                <a:latin typeface="Nunito Sans" pitchFamily="2" charset="0"/>
                <a:cs typeface="Courier New" panose="02070309020205020404" pitchFamily="49" charset="0"/>
                <a:sym typeface="+mn-ea"/>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cin &gt;&gt; N;</a:t>
            </a:r>
          </a:p>
          <a:p>
            <a:r>
              <a:rPr lang="en-US" sz="2000" b="1" dirty="0">
                <a:solidFill>
                  <a:schemeClr val="bg1"/>
                </a:solidFill>
                <a:latin typeface="Nunito Sans" pitchFamily="2" charset="0"/>
                <a:cs typeface="Courier New" panose="02070309020205020404" pitchFamily="49" charset="0"/>
                <a:sym typeface="+mn-ea"/>
              </a:rPr>
              <a:t>    cin &gt;&gt; I;</a:t>
            </a:r>
          </a:p>
          <a:p>
            <a:r>
              <a:rPr lang="en-US" sz="2000" b="1" dirty="0">
                <a:solidFill>
                  <a:schemeClr val="bg1"/>
                </a:solidFill>
                <a:latin typeface="Nunito Sans" pitchFamily="2" charset="0"/>
                <a:cs typeface="Courier New" panose="02070309020205020404" pitchFamily="49" charset="0"/>
                <a:sym typeface="+mn-ea"/>
              </a:rPr>
              <a:t>    cin &gt;&gt; X;</a:t>
            </a:r>
          </a:p>
          <a:p>
            <a:r>
              <a:rPr lang="en-US" sz="2000" b="1" dirty="0">
                <a:solidFill>
                  <a:schemeClr val="bg1"/>
                </a:solidFill>
                <a:latin typeface="Nunito Sans" pitchFamily="2" charset="0"/>
                <a:cs typeface="Courier New" panose="02070309020205020404" pitchFamily="49" charset="0"/>
                <a:sym typeface="+mn-ea"/>
              </a:rPr>
              <a:t>    int numWays = countClimbingWays(N, I, X);</a:t>
            </a:r>
          </a:p>
          <a:p>
            <a:r>
              <a:rPr lang="en-US" sz="2000" b="1" dirty="0">
                <a:solidFill>
                  <a:schemeClr val="bg1"/>
                </a:solidFill>
                <a:latin typeface="Nunito Sans" pitchFamily="2" charset="0"/>
                <a:cs typeface="Courier New" panose="02070309020205020404" pitchFamily="49" charset="0"/>
                <a:sym typeface="+mn-ea"/>
              </a:rPr>
              <a:t>    cout &lt;&lt;numWays;</a:t>
            </a:r>
          </a:p>
          <a:p>
            <a:r>
              <a:rPr lang="en-US" sz="2000" b="1" dirty="0">
                <a:solidFill>
                  <a:schemeClr val="bg1"/>
                </a:solidFill>
                <a:latin typeface="Nunito Sans" pitchFamily="2" charset="0"/>
                <a:cs typeface="Courier New" panose="02070309020205020404" pitchFamily="49" charset="0"/>
                <a:sym typeface="+mn-ea"/>
              </a:rPr>
              <a:t>    return 0;</a:t>
            </a: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import java.util.Scanner;</a:t>
            </a:r>
          </a:p>
          <a:p>
            <a:r>
              <a:rPr lang="en-US" sz="2000" b="1" dirty="0">
                <a:solidFill>
                  <a:schemeClr val="bg1"/>
                </a:solidFill>
                <a:latin typeface="Nunito Sans" pitchFamily="2" charset="0"/>
                <a:cs typeface="Courier New" panose="02070309020205020404" pitchFamily="49" charset="0"/>
                <a:sym typeface="+mn-ea"/>
              </a:rPr>
              <a:t>public class Main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public static int countClimbingWays(int N, int I, int X)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int[] ways = new int[N + 1];</a:t>
            </a:r>
          </a:p>
          <a:p>
            <a:r>
              <a:rPr lang="en-US" sz="2000" b="1" dirty="0">
                <a:solidFill>
                  <a:schemeClr val="bg1"/>
                </a:solidFill>
                <a:latin typeface="Nunito Sans" pitchFamily="2" charset="0"/>
                <a:cs typeface="Courier New" panose="02070309020205020404" pitchFamily="49" charset="0"/>
                <a:sym typeface="+mn-ea"/>
              </a:rPr>
              <a:t>        ways[I] = 1;</a:t>
            </a:r>
          </a:p>
          <a:p>
            <a:r>
              <a:rPr lang="en-US" sz="2000" b="1" dirty="0">
                <a:solidFill>
                  <a:schemeClr val="bg1"/>
                </a:solidFill>
                <a:latin typeface="Nunito Sans" pitchFamily="2" charset="0"/>
                <a:cs typeface="Courier New" panose="02070309020205020404" pitchFamily="49" charset="0"/>
                <a:sym typeface="+mn-ea"/>
              </a:rPr>
              <a:t>        ways[I - 1] = 1;</a:t>
            </a:r>
          </a:p>
          <a:p>
            <a:r>
              <a:rPr lang="en-US" sz="2000" b="1" dirty="0">
                <a:solidFill>
                  <a:schemeClr val="bg1"/>
                </a:solidFill>
                <a:latin typeface="Nunito Sans" pitchFamily="2" charset="0"/>
                <a:cs typeface="Courier New" panose="02070309020205020404" pitchFamily="49" charset="0"/>
                <a:sym typeface="+mn-ea"/>
              </a:rPr>
              <a:t>        for (int i = I + 1; i &lt;= N; i++)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ways[i] = 0;</a:t>
            </a:r>
          </a:p>
          <a:p>
            <a:r>
              <a:rPr lang="en-US" sz="2000" b="1" dirty="0">
                <a:solidFill>
                  <a:schemeClr val="bg1"/>
                </a:solidFill>
                <a:latin typeface="Nunito Sans" pitchFamily="2" charset="0"/>
                <a:cs typeface="Courier New" panose="02070309020205020404" pitchFamily="49" charset="0"/>
                <a:sym typeface="+mn-ea"/>
              </a:rPr>
              <a:t>            for (int j = 1; j &lt;= X &amp;&amp; i - j &gt;= I; j++)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ways[i] += ways[i - j];</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return ways[N];</a:t>
            </a:r>
          </a:p>
          <a:p>
            <a:r>
              <a:rPr lang="en-US" sz="2000" b="1" dirty="0">
                <a:solidFill>
                  <a:schemeClr val="bg1"/>
                </a:solidFill>
                <a:latin typeface="Nunito Sans" pitchFamily="2" charset="0"/>
                <a:cs typeface="Courier New" panose="02070309020205020404" pitchFamily="49" charset="0"/>
                <a:sym typeface="+mn-ea"/>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public static void main(String[] args)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Scanner scanner = new Scanner(System.in);</a:t>
            </a:r>
          </a:p>
          <a:p>
            <a:r>
              <a:rPr lang="en-US" sz="2000" b="1" dirty="0">
                <a:solidFill>
                  <a:schemeClr val="bg1"/>
                </a:solidFill>
                <a:latin typeface="Nunito Sans" pitchFamily="2" charset="0"/>
                <a:cs typeface="Courier New" panose="02070309020205020404" pitchFamily="49" charset="0"/>
                <a:sym typeface="+mn-ea"/>
              </a:rPr>
              <a:t>        int N, I, X;</a:t>
            </a:r>
          </a:p>
          <a:p>
            <a:r>
              <a:rPr lang="en-US" sz="2000" b="1" dirty="0">
                <a:solidFill>
                  <a:schemeClr val="bg1"/>
                </a:solidFill>
                <a:latin typeface="Nunito Sans" pitchFamily="2" charset="0"/>
                <a:cs typeface="Courier New" panose="02070309020205020404" pitchFamily="49" charset="0"/>
                <a:sym typeface="+mn-ea"/>
              </a:rPr>
              <a:t>        N = scanner.nextInt();</a:t>
            </a:r>
          </a:p>
          <a:p>
            <a:r>
              <a:rPr lang="en-US" sz="2000" b="1" dirty="0">
                <a:solidFill>
                  <a:schemeClr val="bg1"/>
                </a:solidFill>
                <a:latin typeface="Nunito Sans" pitchFamily="2" charset="0"/>
                <a:cs typeface="Courier New" panose="02070309020205020404" pitchFamily="49" charset="0"/>
                <a:sym typeface="+mn-ea"/>
              </a:rPr>
              <a:t>        I = scanner.nextInt();</a:t>
            </a:r>
          </a:p>
          <a:p>
            <a:r>
              <a:rPr lang="en-US" sz="2000" b="1" dirty="0">
                <a:solidFill>
                  <a:schemeClr val="bg1"/>
                </a:solidFill>
                <a:latin typeface="Nunito Sans" pitchFamily="2" charset="0"/>
                <a:cs typeface="Courier New" panose="02070309020205020404" pitchFamily="49" charset="0"/>
                <a:sym typeface="+mn-ea"/>
              </a:rPr>
              <a:t>        X = scanner.nextInt();</a:t>
            </a:r>
          </a:p>
          <a:p>
            <a:r>
              <a:rPr lang="en-US" sz="2000" b="1" dirty="0">
                <a:solidFill>
                  <a:schemeClr val="bg1"/>
                </a:solidFill>
                <a:latin typeface="Nunito Sans" pitchFamily="2" charset="0"/>
                <a:cs typeface="Courier New" panose="02070309020205020404" pitchFamily="49" charset="0"/>
                <a:sym typeface="+mn-ea"/>
              </a:rPr>
              <a:t>        int numWays = countClimbingWays(N, I, X);</a:t>
            </a:r>
          </a:p>
          <a:p>
            <a:r>
              <a:rPr lang="en-US" sz="2000" b="1" dirty="0">
                <a:solidFill>
                  <a:schemeClr val="bg1"/>
                </a:solidFill>
                <a:latin typeface="Nunito Sans" pitchFamily="2" charset="0"/>
                <a:cs typeface="Courier New" panose="02070309020205020404" pitchFamily="49" charset="0"/>
                <a:sym typeface="+mn-ea"/>
              </a:rPr>
              <a:t>        System.out.println(numWays);</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def countClimbingWays(N, I, X):</a:t>
            </a:r>
          </a:p>
          <a:p>
            <a:r>
              <a:rPr lang="en-US" sz="2000" b="1" dirty="0">
                <a:solidFill>
                  <a:schemeClr val="bg1"/>
                </a:solidFill>
                <a:latin typeface="Nunito Sans" pitchFamily="2" charset="0"/>
                <a:cs typeface="Courier New" panose="02070309020205020404" pitchFamily="49" charset="0"/>
                <a:sym typeface="+mn-ea"/>
              </a:rPr>
              <a:t>    ways = [0] * (N + 1)</a:t>
            </a:r>
          </a:p>
          <a:p>
            <a:r>
              <a:rPr lang="en-US" sz="2000" b="1" dirty="0">
                <a:solidFill>
                  <a:schemeClr val="bg1"/>
                </a:solidFill>
                <a:latin typeface="Nunito Sans" pitchFamily="2" charset="0"/>
                <a:cs typeface="Courier New" panose="02070309020205020404" pitchFamily="49" charset="0"/>
                <a:sym typeface="+mn-ea"/>
              </a:rPr>
              <a:t>    ways[I] = 1</a:t>
            </a:r>
          </a:p>
          <a:p>
            <a:r>
              <a:rPr lang="en-US" sz="2000" b="1" dirty="0">
                <a:solidFill>
                  <a:schemeClr val="bg1"/>
                </a:solidFill>
                <a:latin typeface="Nunito Sans" pitchFamily="2" charset="0"/>
                <a:cs typeface="Courier New" panose="02070309020205020404" pitchFamily="49" charset="0"/>
                <a:sym typeface="+mn-ea"/>
              </a:rPr>
              <a:t>    ways[I - 1] = 1</a:t>
            </a:r>
          </a:p>
          <a:p>
            <a:r>
              <a:rPr lang="en-US" sz="2000" b="1" dirty="0">
                <a:solidFill>
                  <a:schemeClr val="bg1"/>
                </a:solidFill>
                <a:latin typeface="Nunito Sans" pitchFamily="2" charset="0"/>
                <a:cs typeface="Courier New" panose="02070309020205020404" pitchFamily="49" charset="0"/>
                <a:sym typeface="+mn-ea"/>
              </a:rPr>
              <a:t>    for i in range(I + 1, N + 1):</a:t>
            </a:r>
          </a:p>
          <a:p>
            <a:r>
              <a:rPr lang="en-US" sz="2000" b="1" dirty="0">
                <a:solidFill>
                  <a:schemeClr val="bg1"/>
                </a:solidFill>
                <a:latin typeface="Nunito Sans" pitchFamily="2" charset="0"/>
                <a:cs typeface="Courier New" panose="02070309020205020404" pitchFamily="49" charset="0"/>
                <a:sym typeface="+mn-ea"/>
              </a:rPr>
              <a:t>        ways[i] = 0</a:t>
            </a:r>
          </a:p>
          <a:p>
            <a:r>
              <a:rPr lang="en-US" sz="2000" b="1" dirty="0">
                <a:solidFill>
                  <a:schemeClr val="bg1"/>
                </a:solidFill>
                <a:latin typeface="Nunito Sans" pitchFamily="2" charset="0"/>
                <a:cs typeface="Courier New" panose="02070309020205020404" pitchFamily="49" charset="0"/>
                <a:sym typeface="+mn-ea"/>
              </a:rPr>
              <a:t>        for j in range(1, X + 1):</a:t>
            </a:r>
          </a:p>
          <a:p>
            <a:r>
              <a:rPr lang="en-US" sz="2000" b="1" dirty="0">
                <a:solidFill>
                  <a:schemeClr val="bg1"/>
                </a:solidFill>
                <a:latin typeface="Nunito Sans" pitchFamily="2" charset="0"/>
                <a:cs typeface="Courier New" panose="02070309020205020404" pitchFamily="49" charset="0"/>
                <a:sym typeface="+mn-ea"/>
              </a:rPr>
              <a:t>            if i - j &gt;= I:</a:t>
            </a:r>
          </a:p>
          <a:p>
            <a:r>
              <a:rPr lang="en-US" sz="2000" b="1" dirty="0">
                <a:solidFill>
                  <a:schemeClr val="bg1"/>
                </a:solidFill>
                <a:latin typeface="Nunito Sans" pitchFamily="2" charset="0"/>
                <a:cs typeface="Courier New" panose="02070309020205020404" pitchFamily="49" charset="0"/>
                <a:sym typeface="+mn-ea"/>
              </a:rPr>
              <a:t>                ways[i] += ways[i - j]</a:t>
            </a:r>
          </a:p>
          <a:p>
            <a:r>
              <a:rPr lang="en-US" sz="2000" b="1" dirty="0">
                <a:solidFill>
                  <a:schemeClr val="bg1"/>
                </a:solidFill>
                <a:latin typeface="Nunito Sans" pitchFamily="2" charset="0"/>
                <a:cs typeface="Courier New" panose="02070309020205020404" pitchFamily="49" charset="0"/>
                <a:sym typeface="+mn-ea"/>
              </a:rPr>
              <a:t>    return ways[N]</a:t>
            </a:r>
          </a:p>
          <a:p>
            <a:r>
              <a:rPr lang="en-US" sz="2000" b="1" dirty="0">
                <a:solidFill>
                  <a:schemeClr val="bg1"/>
                </a:solidFill>
                <a:latin typeface="Nunito Sans" pitchFamily="2" charset="0"/>
                <a:cs typeface="Courier New" panose="02070309020205020404" pitchFamily="49" charset="0"/>
                <a:sym typeface="+mn-ea"/>
              </a:rPr>
              <a:t>N = int(input())</a:t>
            </a:r>
          </a:p>
          <a:p>
            <a:r>
              <a:rPr lang="en-US" sz="2000" b="1" dirty="0">
                <a:solidFill>
                  <a:schemeClr val="bg1"/>
                </a:solidFill>
                <a:latin typeface="Nunito Sans" pitchFamily="2" charset="0"/>
                <a:cs typeface="Courier New" panose="02070309020205020404" pitchFamily="49" charset="0"/>
                <a:sym typeface="+mn-ea"/>
              </a:rPr>
              <a:t>I = int(input())</a:t>
            </a:r>
          </a:p>
          <a:p>
            <a:r>
              <a:rPr lang="en-US" sz="2000" b="1" dirty="0">
                <a:solidFill>
                  <a:schemeClr val="bg1"/>
                </a:solidFill>
                <a:latin typeface="Nunito Sans" pitchFamily="2" charset="0"/>
                <a:cs typeface="Courier New" panose="02070309020205020404" pitchFamily="49" charset="0"/>
                <a:sym typeface="+mn-ea"/>
              </a:rPr>
              <a:t>X = int(input())</a:t>
            </a:r>
          </a:p>
          <a:p>
            <a:r>
              <a:rPr lang="en-US" sz="2000" b="1" dirty="0">
                <a:solidFill>
                  <a:schemeClr val="bg1"/>
                </a:solidFill>
                <a:latin typeface="Nunito Sans" pitchFamily="2" charset="0"/>
                <a:cs typeface="Courier New" panose="02070309020205020404" pitchFamily="49" charset="0"/>
                <a:sym typeface="+mn-ea"/>
              </a:rPr>
              <a:t>numWays = countClimbingWays(N, I, X)</a:t>
            </a:r>
          </a:p>
          <a:p>
            <a:r>
              <a:rPr lang="en-US" sz="2000" b="1" dirty="0">
                <a:solidFill>
                  <a:schemeClr val="bg1"/>
                </a:solidFill>
                <a:latin typeface="Nunito Sans" pitchFamily="2" charset="0"/>
                <a:cs typeface="Courier New" panose="02070309020205020404" pitchFamily="49" charset="0"/>
                <a:sym typeface="+mn-ea"/>
              </a:rPr>
              <a:t>print(numWays)</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 question 8</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7" name="TextBox 13"/>
          <p:cNvSpPr txBox="1"/>
          <p:nvPr/>
        </p:nvSpPr>
        <p:spPr>
          <a:xfrm>
            <a:off x="118110" y="1059180"/>
            <a:ext cx="11861165" cy="5478423"/>
          </a:xfrm>
          <a:prstGeom prst="rect">
            <a:avLst/>
          </a:prstGeom>
          <a:noFill/>
        </p:spPr>
        <p:txBody>
          <a:bodyPr wrap="square" rtlCol="0">
            <a:spAutoFit/>
          </a:bodyPr>
          <a:lstStyle/>
          <a:p>
            <a:r>
              <a:rPr lang="en-US" sz="2500" dirty="0">
                <a:latin typeface="Nunito Sans" pitchFamily="2" charset="0"/>
              </a:rPr>
              <a:t>An event management company has come up with a unique idea of printing their event tickets. Based on the ticket number combination (str1), the visitor is directed towards a particular class of audience. The task is to</a:t>
            </a:r>
            <a:r>
              <a:rPr lang="en-IN" altLang="en-US" sz="2500" dirty="0">
                <a:latin typeface="Nunito Sans" pitchFamily="2" charset="0"/>
              </a:rPr>
              <a:t> </a:t>
            </a:r>
            <a:r>
              <a:rPr lang="en-US" sz="2500" dirty="0">
                <a:latin typeface="Nunito Sans" panose="00000500000000000000" pitchFamily="2" charset="0"/>
              </a:rPr>
              <a:t>create a program/application to fetch the ticket number based on the following conditions:</a:t>
            </a:r>
          </a:p>
          <a:p>
            <a:endParaRPr lang="en-US" sz="2500" dirty="0">
              <a:latin typeface="Nunito Sans" panose="00000500000000000000" pitchFamily="2" charset="0"/>
            </a:endParaRPr>
          </a:p>
          <a:p>
            <a:r>
              <a:rPr lang="en-US" sz="2500" dirty="0">
                <a:latin typeface="Nunito Sans" panose="00000500000000000000" pitchFamily="2" charset="0"/>
              </a:rPr>
              <a:t>Any occurrences of digits EF and G should be deleted. The characters EF should be in the same format.</a:t>
            </a:r>
          </a:p>
          <a:p>
            <a:endParaRPr lang="en-US" sz="2500" dirty="0">
              <a:latin typeface="Nunito Sans" panose="00000500000000000000" pitchFamily="2" charset="0"/>
            </a:endParaRPr>
          </a:p>
          <a:p>
            <a:r>
              <a:rPr lang="en-US" sz="2500" b="1" dirty="0">
                <a:latin typeface="Nunito Sans" pitchFamily="2" charset="0"/>
              </a:rPr>
              <a:t>Input format</a:t>
            </a:r>
          </a:p>
          <a:p>
            <a:r>
              <a:rPr lang="en-US" sz="2500" dirty="0">
                <a:latin typeface="Nunito Sans" panose="00000500000000000000" pitchFamily="2" charset="0"/>
              </a:rPr>
              <a:t>The candidate has to write the code to accept 1 input(s). First Input -Accept value for str1 which is a string consisting of numbers and uppercase alphabets without any spaces</a:t>
            </a:r>
          </a:p>
          <a:p>
            <a:endParaRPr lang="en-US" sz="2500" dirty="0">
              <a:latin typeface="Nunito Sans" panose="00000500000000000000" pitchFamily="2" charset="0"/>
            </a:endParaRPr>
          </a:p>
          <a:p>
            <a:r>
              <a:rPr lang="en-US" sz="2500" b="1" dirty="0">
                <a:latin typeface="Nunito Sans" pitchFamily="2" charset="0"/>
              </a:rPr>
              <a:t>Output format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 question 8</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7" name="TextBox 13"/>
          <p:cNvSpPr txBox="1"/>
          <p:nvPr/>
        </p:nvSpPr>
        <p:spPr>
          <a:xfrm>
            <a:off x="118110" y="1059180"/>
            <a:ext cx="11861165" cy="5863144"/>
          </a:xfrm>
          <a:prstGeom prst="rect">
            <a:avLst/>
          </a:prstGeom>
          <a:noFill/>
        </p:spPr>
        <p:txBody>
          <a:bodyPr wrap="square" rtlCol="0">
            <a:spAutoFit/>
          </a:bodyPr>
          <a:lstStyle/>
          <a:p>
            <a:r>
              <a:rPr lang="en-US" sz="2500" dirty="0">
                <a:latin typeface="Nunito Sans" panose="00000500000000000000" pitchFamily="2" charset="0"/>
              </a:rPr>
              <a:t>The output should be a string without any spaces (Check the output in Example 1 and Example 2) Additional messages in output will cause the failure of test cases.</a:t>
            </a:r>
          </a:p>
          <a:p>
            <a:endParaRPr lang="en-US" sz="2500" dirty="0">
              <a:latin typeface="Nunito Sans" panose="00000500000000000000" pitchFamily="2" charset="0"/>
            </a:endParaRPr>
          </a:p>
          <a:p>
            <a:r>
              <a:rPr lang="en-US" sz="2500" b="1" dirty="0">
                <a:latin typeface="Nunito Sans" pitchFamily="2" charset="0"/>
              </a:rPr>
              <a:t>Constraints</a:t>
            </a:r>
          </a:p>
          <a:p>
            <a:r>
              <a:rPr lang="en-US" sz="2500" dirty="0">
                <a:latin typeface="Nunito Sans" panose="00000500000000000000" pitchFamily="2" charset="0"/>
              </a:rPr>
              <a:t>Str ((A,Z),(0-9))</a:t>
            </a:r>
          </a:p>
          <a:p>
            <a:r>
              <a:rPr lang="en-US" sz="2500" dirty="0">
                <a:latin typeface="Nunito Sans" panose="00000500000000000000" pitchFamily="2" charset="0"/>
              </a:rPr>
              <a:t>No spaces and special characters allowed.</a:t>
            </a:r>
          </a:p>
          <a:p>
            <a:r>
              <a:rPr lang="en-US" sz="2500" dirty="0">
                <a:latin typeface="Nunito Sans" panose="00000500000000000000" pitchFamily="2" charset="0"/>
              </a:rPr>
              <a:t>Only uppercase alphabets in the input string</a:t>
            </a:r>
          </a:p>
          <a:p>
            <a:endParaRPr lang="en-US" sz="2500" dirty="0">
              <a:latin typeface="Nunito Sans" panose="00000500000000000000" pitchFamily="2" charset="0"/>
            </a:endParaRPr>
          </a:p>
          <a:p>
            <a:r>
              <a:rPr lang="en-US" sz="2500" b="1" dirty="0">
                <a:latin typeface="Nunito Sans" pitchFamily="2" charset="0"/>
              </a:rPr>
              <a:t>Example 1:</a:t>
            </a:r>
            <a:endParaRPr lang="en-US" sz="2500" dirty="0">
              <a:latin typeface="Nunito Sans" pitchFamily="2" charset="0"/>
            </a:endParaRPr>
          </a:p>
          <a:p>
            <a:r>
              <a:rPr lang="en-US" sz="2500" b="1" dirty="0">
                <a:latin typeface="Nunito Sans" pitchFamily="2" charset="0"/>
              </a:rPr>
              <a:t>Input:</a:t>
            </a:r>
            <a:endParaRPr lang="en-US" sz="2500" dirty="0">
              <a:latin typeface="Nunito Sans" panose="00000500000000000000" pitchFamily="2" charset="0"/>
            </a:endParaRPr>
          </a:p>
          <a:p>
            <a:r>
              <a:rPr lang="en-US" sz="2500" dirty="0">
                <a:latin typeface="Nunito Sans" panose="00000500000000000000" pitchFamily="2" charset="0"/>
              </a:rPr>
              <a:t>4523EF58G  -&gt; A value of STR1</a:t>
            </a:r>
          </a:p>
          <a:p>
            <a:r>
              <a:rPr lang="en-US" sz="2500" b="1" dirty="0">
                <a:latin typeface="Nunito Sans" pitchFamily="2" charset="0"/>
              </a:rPr>
              <a:t>Output :</a:t>
            </a:r>
          </a:p>
          <a:p>
            <a:r>
              <a:rPr lang="en-US" sz="2500">
                <a:latin typeface="Nunito Sans" panose="00000500000000000000" pitchFamily="2" charset="0"/>
              </a:rPr>
              <a:t>452358 -&gt; A after removal of characters EF and G</a:t>
            </a:r>
          </a:p>
          <a:p>
            <a:endParaRPr lang="en-US" sz="2500" dirty="0">
              <a:latin typeface="Nunito Sans" panose="00000500000000000000" pitchFamily="2" charset="0"/>
            </a:endParaRPr>
          </a:p>
          <a:p>
            <a:endParaRPr lang="en-US" sz="2500" b="1" dirty="0">
              <a:latin typeface="Nunito Sans" pitchFamily="2"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 question 8</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7" name="TextBox 13"/>
          <p:cNvSpPr txBox="1"/>
          <p:nvPr/>
        </p:nvSpPr>
        <p:spPr>
          <a:xfrm>
            <a:off x="118110" y="1059180"/>
            <a:ext cx="11861165" cy="4708981"/>
          </a:xfrm>
          <a:prstGeom prst="rect">
            <a:avLst/>
          </a:prstGeom>
          <a:noFill/>
        </p:spPr>
        <p:txBody>
          <a:bodyPr wrap="square" rtlCol="0">
            <a:spAutoFit/>
          </a:bodyPr>
          <a:lstStyle/>
          <a:p>
            <a:endParaRPr lang="en-US" sz="2500" dirty="0">
              <a:latin typeface="Nunito Sans" panose="00000500000000000000" pitchFamily="2" charset="0"/>
            </a:endParaRPr>
          </a:p>
          <a:p>
            <a:r>
              <a:rPr lang="en-US" sz="2500" b="1" dirty="0">
                <a:latin typeface="Nunito Sans" pitchFamily="2" charset="0"/>
              </a:rPr>
              <a:t>Example 2: </a:t>
            </a:r>
          </a:p>
          <a:p>
            <a:endParaRPr lang="en-US" sz="2500" dirty="0">
              <a:latin typeface="Nunito Sans" panose="00000500000000000000" pitchFamily="2" charset="0"/>
            </a:endParaRPr>
          </a:p>
          <a:p>
            <a:r>
              <a:rPr lang="en-US" sz="2500" dirty="0">
                <a:latin typeface="Nunito Sans" panose="00000500000000000000" pitchFamily="2" charset="0"/>
              </a:rPr>
              <a:t>I</a:t>
            </a:r>
            <a:r>
              <a:rPr lang="en-US" sz="2500" b="1" dirty="0">
                <a:latin typeface="Nunito Sans" pitchFamily="2" charset="0"/>
              </a:rPr>
              <a:t>nput:</a:t>
            </a:r>
          </a:p>
          <a:p>
            <a:r>
              <a:rPr lang="en-US" sz="2500" dirty="0">
                <a:latin typeface="Nunito Sans" panose="00000500000000000000" pitchFamily="2" charset="0"/>
              </a:rPr>
              <a:t>E12F35G58  -&gt; A value of STR1</a:t>
            </a:r>
          </a:p>
          <a:p>
            <a:endParaRPr lang="en-US" sz="2500" dirty="0">
              <a:latin typeface="Nunito Sans" panose="00000500000000000000" pitchFamily="2" charset="0"/>
            </a:endParaRPr>
          </a:p>
          <a:p>
            <a:r>
              <a:rPr lang="en-US" sz="2500" b="1" dirty="0">
                <a:latin typeface="Nunito Sans" pitchFamily="2" charset="0"/>
              </a:rPr>
              <a:t>Output :</a:t>
            </a:r>
          </a:p>
          <a:p>
            <a:r>
              <a:rPr lang="en-US" sz="2500" dirty="0">
                <a:latin typeface="Nunito Sans" panose="00000500000000000000" pitchFamily="2" charset="0"/>
              </a:rPr>
              <a:t>E12F3558  -&gt; A after removal of characters “G”</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itchFamily="2" charset="0"/>
              </a:rPr>
              <a:t>In the above example, characters E and F are not together So, they won't be deleted. The output will be with only character G removed.</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#include &lt;stdio.h&gt;</a:t>
            </a:r>
          </a:p>
          <a:p>
            <a:r>
              <a:rPr lang="en-US" sz="2000" b="1" dirty="0">
                <a:solidFill>
                  <a:schemeClr val="bg1"/>
                </a:solidFill>
                <a:latin typeface="Nunito Sans" pitchFamily="2" charset="0"/>
                <a:cs typeface="Courier New" panose="02070309020205020404" pitchFamily="49" charset="0"/>
                <a:sym typeface="+mn-ea"/>
              </a:rPr>
              <a:t>#include &lt;stdlib.h&gt;</a:t>
            </a:r>
          </a:p>
          <a:p>
            <a:r>
              <a:rPr lang="en-US" sz="2000" b="1" dirty="0">
                <a:solidFill>
                  <a:schemeClr val="bg1"/>
                </a:solidFill>
                <a:latin typeface="Nunito Sans" pitchFamily="2" charset="0"/>
                <a:cs typeface="Courier New" panose="02070309020205020404" pitchFamily="49" charset="0"/>
                <a:sym typeface="+mn-ea"/>
              </a:rPr>
              <a:t>#include &lt;string.h&gt;</a:t>
            </a:r>
          </a:p>
          <a:p>
            <a:r>
              <a:rPr lang="en-US" sz="2000" b="1" dirty="0">
                <a:solidFill>
                  <a:schemeClr val="bg1"/>
                </a:solidFill>
                <a:latin typeface="Nunito Sans" pitchFamily="2" charset="0"/>
                <a:cs typeface="Courier New" panose="02070309020205020404" pitchFamily="49" charset="0"/>
                <a:sym typeface="+mn-ea"/>
              </a:rPr>
              <a:t>char* removeCharacters(const char* str)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char* result = (char*)malloc(strlen(str) + 1);</a:t>
            </a:r>
          </a:p>
          <a:p>
            <a:r>
              <a:rPr lang="en-US" sz="2000" b="1" dirty="0">
                <a:solidFill>
                  <a:schemeClr val="bg1"/>
                </a:solidFill>
                <a:latin typeface="Nunito Sans" pitchFamily="2" charset="0"/>
                <a:cs typeface="Courier New" panose="02070309020205020404" pitchFamily="49" charset="0"/>
                <a:sym typeface="+mn-ea"/>
              </a:rPr>
              <a:t>    int resultIndex = 0;</a:t>
            </a:r>
          </a:p>
          <a:p>
            <a:r>
              <a:rPr lang="en-US" sz="2000" b="1" dirty="0">
                <a:solidFill>
                  <a:schemeClr val="bg1"/>
                </a:solidFill>
                <a:latin typeface="Nunito Sans" pitchFamily="2" charset="0"/>
                <a:cs typeface="Courier New" panose="02070309020205020404" pitchFamily="49" charset="0"/>
                <a:sym typeface="+mn-ea"/>
              </a:rPr>
              <a:t>    int isEF = 0;</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for (int i = 0; str[i] != '\0'; i++)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if (str[i] == 'E' &amp;&amp; !isEF)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isEF = 1;</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else if (isEF &amp;&amp; str[i] == 'F')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isEF = 0;</a:t>
            </a:r>
          </a:p>
          <a:p>
            <a:r>
              <a:rPr lang="en-US" sz="2000" b="1" dirty="0">
                <a:solidFill>
                  <a:schemeClr val="bg1"/>
                </a:solidFill>
                <a:latin typeface="Nunito Sans" pitchFamily="2" charset="0"/>
                <a:cs typeface="Courier New" panose="02070309020205020404" pitchFamily="49" charset="0"/>
                <a:sym typeface="+mn-ea"/>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else if (str[i] != 'G')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result[resultIndex++] = str[i];</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result[resultIndex] = '\0';</a:t>
            </a:r>
          </a:p>
          <a:p>
            <a:r>
              <a:rPr lang="en-US" sz="2000" b="1" dirty="0">
                <a:solidFill>
                  <a:schemeClr val="bg1"/>
                </a:solidFill>
                <a:latin typeface="Nunito Sans" pitchFamily="2" charset="0"/>
                <a:cs typeface="Courier New" panose="02070309020205020404" pitchFamily="49" charset="0"/>
                <a:sym typeface="+mn-ea"/>
              </a:rPr>
              <a:t>    return result;</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int main()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char ticketNumber[100];</a:t>
            </a:r>
          </a:p>
          <a:p>
            <a:r>
              <a:rPr lang="en-US" sz="2000" b="1" dirty="0">
                <a:solidFill>
                  <a:schemeClr val="bg1"/>
                </a:solidFill>
                <a:latin typeface="Nunito Sans" pitchFamily="2" charset="0"/>
                <a:cs typeface="Courier New" panose="02070309020205020404" pitchFamily="49" charset="0"/>
                <a:sym typeface="+mn-ea"/>
              </a:rPr>
              <a:t>    scanf("%s", ticketNumber);</a:t>
            </a:r>
          </a:p>
          <a:p>
            <a:r>
              <a:rPr lang="en-US" sz="2000" b="1" dirty="0">
                <a:solidFill>
                  <a:schemeClr val="bg1"/>
                </a:solidFill>
                <a:latin typeface="Nunito Sans" pitchFamily="2" charset="0"/>
                <a:cs typeface="Courier New" panose="02070309020205020404" pitchFamily="49" charset="0"/>
                <a:sym typeface="+mn-ea"/>
              </a:rPr>
              <a:t>    char* modifiedTicketNumber = removeCharacters(ticketNumber);</a:t>
            </a:r>
          </a:p>
          <a:p>
            <a:r>
              <a:rPr lang="en-US" sz="2000" b="1" dirty="0">
                <a:solidFill>
                  <a:schemeClr val="bg1"/>
                </a:solidFill>
                <a:latin typeface="Nunito Sans" pitchFamily="2" charset="0"/>
                <a:cs typeface="Courier New" panose="02070309020205020404" pitchFamily="49" charset="0"/>
                <a:sym typeface="+mn-ea"/>
              </a:rPr>
              <a:t>    printf("%s\n", modifiedTicketNumber);</a:t>
            </a:r>
          </a:p>
          <a:p>
            <a:r>
              <a:rPr lang="en-US" sz="2000" b="1" dirty="0">
                <a:solidFill>
                  <a:schemeClr val="bg1"/>
                </a:solidFill>
                <a:latin typeface="Nunito Sans" pitchFamily="2" charset="0"/>
                <a:cs typeface="Courier New" panose="02070309020205020404" pitchFamily="49" charset="0"/>
                <a:sym typeface="+mn-ea"/>
              </a:rPr>
              <a:t>    free(modifiedTicketNumber);</a:t>
            </a:r>
          </a:p>
          <a:p>
            <a:r>
              <a:rPr lang="en-US" sz="2000" b="1" dirty="0">
                <a:solidFill>
                  <a:schemeClr val="bg1"/>
                </a:solidFill>
                <a:latin typeface="Nunito Sans" pitchFamily="2" charset="0"/>
                <a:cs typeface="Courier New" panose="02070309020205020404" pitchFamily="49" charset="0"/>
                <a:sym typeface="+mn-ea"/>
              </a:rPr>
              <a:t>    return 0;</a:t>
            </a:r>
          </a:p>
          <a:p>
            <a:r>
              <a:rPr lang="en-US" sz="2000" b="1" dirty="0">
                <a:solidFill>
                  <a:schemeClr val="bg1"/>
                </a:solidFill>
                <a:latin typeface="Nunito Sans" pitchFamily="2" charset="0"/>
                <a:cs typeface="Courier New" panose="02070309020205020404" pitchFamily="49" charset="0"/>
                <a:sym typeface="+mn-ea"/>
              </a:rPr>
              <a:t>}</a:t>
            </a:r>
          </a:p>
          <a:p>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#include &lt;iostream&gt;</a:t>
            </a:r>
          </a:p>
          <a:p>
            <a:r>
              <a:rPr lang="en-US" sz="2000" b="1" dirty="0">
                <a:solidFill>
                  <a:schemeClr val="bg1"/>
                </a:solidFill>
                <a:latin typeface="Nunito Sans" pitchFamily="2" charset="0"/>
                <a:cs typeface="Courier New" panose="02070309020205020404" pitchFamily="49" charset="0"/>
                <a:sym typeface="+mn-ea"/>
              </a:rPr>
              <a:t>#include &lt;string&gt;</a:t>
            </a:r>
          </a:p>
          <a:p>
            <a:r>
              <a:rPr lang="en-US" sz="2000" b="1" dirty="0">
                <a:solidFill>
                  <a:schemeClr val="bg1"/>
                </a:solidFill>
                <a:latin typeface="Nunito Sans" pitchFamily="2" charset="0"/>
                <a:cs typeface="Courier New" panose="02070309020205020404" pitchFamily="49" charset="0"/>
                <a:sym typeface="+mn-ea"/>
              </a:rPr>
              <a:t>using namespace std;</a:t>
            </a:r>
          </a:p>
          <a:p>
            <a:r>
              <a:rPr lang="en-US" sz="2000" b="1" dirty="0">
                <a:solidFill>
                  <a:schemeClr val="bg1"/>
                </a:solidFill>
                <a:latin typeface="Nunito Sans" pitchFamily="2" charset="0"/>
                <a:cs typeface="Courier New" panose="02070309020205020404" pitchFamily="49" charset="0"/>
                <a:sym typeface="+mn-ea"/>
              </a:rPr>
              <a:t>string removeCharacters(const string&amp; str)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string result;</a:t>
            </a:r>
          </a:p>
          <a:p>
            <a:r>
              <a:rPr lang="en-US" sz="2000" b="1" dirty="0">
                <a:solidFill>
                  <a:schemeClr val="bg1"/>
                </a:solidFill>
                <a:latin typeface="Nunito Sans" pitchFamily="2" charset="0"/>
                <a:cs typeface="Courier New" panose="02070309020205020404" pitchFamily="49" charset="0"/>
                <a:sym typeface="+mn-ea"/>
              </a:rPr>
              <a:t>    bool isEF = false;</a:t>
            </a:r>
          </a:p>
          <a:p>
            <a:r>
              <a:rPr lang="en-US" sz="2000" b="1" dirty="0">
                <a:solidFill>
                  <a:schemeClr val="bg1"/>
                </a:solidFill>
                <a:latin typeface="Nunito Sans" pitchFamily="2" charset="0"/>
                <a:cs typeface="Courier New" panose="02070309020205020404" pitchFamily="49" charset="0"/>
                <a:sym typeface="+mn-ea"/>
              </a:rPr>
              <a:t>    for (char ch : str)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if (ch == 'E' &amp;&amp; !isEF)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isEF = true;</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else if (isEF &amp;&amp; ch == 'F')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isEF = false;</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else if (ch != 'G')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result.push_back(ch);</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return result;</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int main()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string ticketNumber;</a:t>
            </a:r>
          </a:p>
          <a:p>
            <a:r>
              <a:rPr lang="en-US" sz="2000" b="1" dirty="0">
                <a:solidFill>
                  <a:schemeClr val="bg1"/>
                </a:solidFill>
                <a:latin typeface="Nunito Sans" pitchFamily="2" charset="0"/>
                <a:cs typeface="Courier New" panose="02070309020205020404" pitchFamily="49" charset="0"/>
                <a:sym typeface="+mn-ea"/>
              </a:rPr>
              <a:t>    cin &gt;&gt; ticketNumber;</a:t>
            </a:r>
          </a:p>
          <a:p>
            <a:r>
              <a:rPr lang="en-US" sz="2000" b="1" dirty="0">
                <a:solidFill>
                  <a:schemeClr val="bg1"/>
                </a:solidFill>
                <a:latin typeface="Nunito Sans" pitchFamily="2" charset="0"/>
                <a:cs typeface="Courier New" panose="02070309020205020404" pitchFamily="49" charset="0"/>
                <a:sym typeface="+mn-ea"/>
              </a:rPr>
              <a:t>    string modifiedTicketNumber = removeCharacters(ticketNumber);</a:t>
            </a:r>
          </a:p>
          <a:p>
            <a:r>
              <a:rPr lang="en-US" sz="2000" b="1" dirty="0">
                <a:solidFill>
                  <a:schemeClr val="bg1"/>
                </a:solidFill>
                <a:latin typeface="Nunito Sans" pitchFamily="2" charset="0"/>
                <a:cs typeface="Courier New" panose="02070309020205020404" pitchFamily="49" charset="0"/>
                <a:sym typeface="+mn-ea"/>
              </a:rPr>
              <a:t>    cout &lt;&lt; modifiedTicketNumber &lt;&lt; "\n";</a:t>
            </a:r>
          </a:p>
          <a:p>
            <a:r>
              <a:rPr lang="en-US" sz="2000" b="1" dirty="0">
                <a:solidFill>
                  <a:schemeClr val="bg1"/>
                </a:solidFill>
                <a:latin typeface="Nunito Sans" pitchFamily="2" charset="0"/>
                <a:cs typeface="Courier New" panose="02070309020205020404" pitchFamily="49" charset="0"/>
                <a:sym typeface="+mn-ea"/>
              </a:rPr>
              <a:t>    return 0;</a:t>
            </a: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import java.util.Scanner;</a:t>
            </a:r>
          </a:p>
          <a:p>
            <a:r>
              <a:rPr lang="en-US" sz="2000" b="1" dirty="0">
                <a:solidFill>
                  <a:schemeClr val="bg1"/>
                </a:solidFill>
                <a:latin typeface="Nunito Sans" pitchFamily="2" charset="0"/>
                <a:cs typeface="Courier New" panose="02070309020205020404" pitchFamily="49" charset="0"/>
                <a:sym typeface="+mn-ea"/>
              </a:rPr>
              <a:t>public class Main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public static String removeCharacters(String str)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StringBuilder result = new StringBuilder();</a:t>
            </a:r>
          </a:p>
          <a:p>
            <a:r>
              <a:rPr lang="en-US" sz="2000" b="1" dirty="0">
                <a:solidFill>
                  <a:schemeClr val="bg1"/>
                </a:solidFill>
                <a:latin typeface="Nunito Sans" pitchFamily="2" charset="0"/>
                <a:cs typeface="Courier New" panose="02070309020205020404" pitchFamily="49" charset="0"/>
                <a:sym typeface="+mn-ea"/>
              </a:rPr>
              <a:t>        boolean isEF = false;</a:t>
            </a:r>
          </a:p>
          <a:p>
            <a:endParaRPr lang="en-US" sz="2000" b="1" dirty="0">
              <a:solidFill>
                <a:schemeClr val="bg1"/>
              </a:solidFill>
              <a:latin typeface="Nunito Sans" pitchFamily="2" charset="0"/>
              <a:cs typeface="Courier New" panose="02070309020205020404" pitchFamily="49" charset="0"/>
              <a:sym typeface="+mn-ea"/>
            </a:endParaRPr>
          </a:p>
          <a:p>
            <a:r>
              <a:rPr lang="en-US" sz="2000" b="1" dirty="0">
                <a:solidFill>
                  <a:schemeClr val="bg1"/>
                </a:solidFill>
                <a:latin typeface="Nunito Sans" pitchFamily="2" charset="0"/>
                <a:cs typeface="Courier New" panose="02070309020205020404" pitchFamily="49" charset="0"/>
                <a:sym typeface="+mn-ea"/>
              </a:rPr>
              <a:t>        for (char ch : str.toCharArray())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if (ch == 'E' &amp;&amp; !isEF)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isEF = true;</a:t>
            </a:r>
          </a:p>
          <a:p>
            <a:r>
              <a:rPr lang="en-US" sz="2000" b="1" dirty="0">
                <a:solidFill>
                  <a:schemeClr val="bg1"/>
                </a:solidFill>
                <a:latin typeface="Nunito Sans" pitchFamily="2" charset="0"/>
                <a:cs typeface="Courier New" panose="02070309020205020404" pitchFamily="49" charset="0"/>
                <a:sym typeface="+mn-ea"/>
              </a:rPr>
              <a:t>            } </a:t>
            </a:r>
          </a:p>
          <a:p>
            <a:r>
              <a:rPr lang="en-US" sz="2000" b="1" dirty="0">
                <a:solidFill>
                  <a:schemeClr val="bg1"/>
                </a:solidFill>
                <a:latin typeface="Nunito Sans" pitchFamily="2" charset="0"/>
                <a:cs typeface="Courier New" panose="02070309020205020404" pitchFamily="49" charset="0"/>
                <a:sym typeface="+mn-ea"/>
              </a:rPr>
              <a:t>            else if (isEF &amp;&amp; ch == 'F')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isEF = false;</a:t>
            </a:r>
          </a:p>
          <a:p>
            <a:r>
              <a:rPr lang="en-US" sz="2000" b="1" dirty="0">
                <a:solidFill>
                  <a:schemeClr val="bg1"/>
                </a:solidFill>
                <a:latin typeface="Nunito Sans" pitchFamily="2" charset="0"/>
                <a:cs typeface="Courier New" panose="02070309020205020404" pitchFamily="49" charset="0"/>
                <a:sym typeface="+mn-ea"/>
              </a:rPr>
              <a:t>            } </a:t>
            </a:r>
          </a:p>
          <a:p>
            <a:r>
              <a:rPr lang="en-US" sz="2000" b="1" dirty="0">
                <a:solidFill>
                  <a:schemeClr val="bg1"/>
                </a:solidFill>
                <a:latin typeface="Nunito Sans" pitchFamily="2" charset="0"/>
                <a:cs typeface="Courier New" panose="02070309020205020404" pitchFamily="49" charset="0"/>
                <a:sym typeface="+mn-ea"/>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0"/>
            <a:ext cx="533400" cy="6917055"/>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else if (ch != 'G')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result.append(ch);</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return result.toString();</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public static void main(String[] args)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Scanner scanner = new Scanner(System.in);</a:t>
            </a:r>
          </a:p>
          <a:p>
            <a:r>
              <a:rPr lang="en-IN" altLang="en-US" sz="2000" b="1" dirty="0">
                <a:solidFill>
                  <a:schemeClr val="bg1"/>
                </a:solidFill>
                <a:latin typeface="Nunito Sans" pitchFamily="2" charset="0"/>
                <a:cs typeface="Courier New" panose="02070309020205020404" pitchFamily="49" charset="0"/>
                <a:sym typeface="+mn-ea"/>
              </a:rPr>
              <a:t>        String ticketNumber = scanner.nextLine();</a:t>
            </a:r>
          </a:p>
          <a:p>
            <a:r>
              <a:rPr lang="en-IN" altLang="en-US" sz="2000" b="1" dirty="0">
                <a:solidFill>
                  <a:schemeClr val="bg1"/>
                </a:solidFill>
                <a:latin typeface="Nunito Sans" pitchFamily="2" charset="0"/>
                <a:cs typeface="Courier New" panose="02070309020205020404" pitchFamily="49" charset="0"/>
                <a:sym typeface="+mn-ea"/>
              </a:rPr>
              <a:t>        String modifiedTicketNumber = removeCharacters(ticketNumber);</a:t>
            </a:r>
          </a:p>
          <a:p>
            <a:r>
              <a:rPr lang="en-IN" altLang="en-US" sz="2000" b="1" dirty="0">
                <a:solidFill>
                  <a:schemeClr val="bg1"/>
                </a:solidFill>
                <a:latin typeface="Nunito Sans" pitchFamily="2" charset="0"/>
                <a:cs typeface="Courier New" panose="02070309020205020404" pitchFamily="49" charset="0"/>
                <a:sym typeface="+mn-ea"/>
              </a:rPr>
              <a:t>        System.out.println(modifiedTicketNumber);</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def remove_characters(ticket_number):</a:t>
            </a:r>
          </a:p>
          <a:p>
            <a:r>
              <a:rPr lang="en-US" sz="2000" b="1" dirty="0">
                <a:solidFill>
                  <a:schemeClr val="bg1"/>
                </a:solidFill>
                <a:latin typeface="Nunito Sans" pitchFamily="2" charset="0"/>
                <a:cs typeface="Courier New" panose="02070309020205020404" pitchFamily="49" charset="0"/>
                <a:sym typeface="+mn-ea"/>
              </a:rPr>
              <a:t>    result = ""</a:t>
            </a:r>
          </a:p>
          <a:p>
            <a:r>
              <a:rPr lang="en-US" sz="2000" b="1" dirty="0">
                <a:solidFill>
                  <a:schemeClr val="bg1"/>
                </a:solidFill>
                <a:latin typeface="Nunito Sans" pitchFamily="2" charset="0"/>
                <a:cs typeface="Courier New" panose="02070309020205020404" pitchFamily="49" charset="0"/>
                <a:sym typeface="+mn-ea"/>
              </a:rPr>
              <a:t>    is_ef = False</a:t>
            </a:r>
          </a:p>
          <a:p>
            <a:r>
              <a:rPr lang="en-US" sz="2000" b="1" dirty="0">
                <a:solidFill>
                  <a:schemeClr val="bg1"/>
                </a:solidFill>
                <a:latin typeface="Nunito Sans" pitchFamily="2" charset="0"/>
                <a:cs typeface="Courier New" panose="02070309020205020404" pitchFamily="49" charset="0"/>
                <a:sym typeface="+mn-ea"/>
              </a:rPr>
              <a:t>    for ch in ticket_number:</a:t>
            </a:r>
          </a:p>
          <a:p>
            <a:r>
              <a:rPr lang="en-US" sz="2000" b="1" dirty="0">
                <a:solidFill>
                  <a:schemeClr val="bg1"/>
                </a:solidFill>
                <a:latin typeface="Nunito Sans" pitchFamily="2" charset="0"/>
                <a:cs typeface="Courier New" panose="02070309020205020404" pitchFamily="49" charset="0"/>
                <a:sym typeface="+mn-ea"/>
              </a:rPr>
              <a:t>        if ch == 'E' and not is_ef:</a:t>
            </a:r>
          </a:p>
          <a:p>
            <a:r>
              <a:rPr lang="en-US" sz="2000" b="1" dirty="0">
                <a:solidFill>
                  <a:schemeClr val="bg1"/>
                </a:solidFill>
                <a:latin typeface="Nunito Sans" pitchFamily="2" charset="0"/>
                <a:cs typeface="Courier New" panose="02070309020205020404" pitchFamily="49" charset="0"/>
                <a:sym typeface="+mn-ea"/>
              </a:rPr>
              <a:t>            is_ef = True</a:t>
            </a:r>
          </a:p>
          <a:p>
            <a:r>
              <a:rPr lang="en-US" sz="2000" b="1" dirty="0">
                <a:solidFill>
                  <a:schemeClr val="bg1"/>
                </a:solidFill>
                <a:latin typeface="Nunito Sans" pitchFamily="2" charset="0"/>
                <a:cs typeface="Courier New" panose="02070309020205020404" pitchFamily="49" charset="0"/>
                <a:sym typeface="+mn-ea"/>
              </a:rPr>
              <a:t>        elif is_ef and ch == 'F':</a:t>
            </a:r>
          </a:p>
          <a:p>
            <a:r>
              <a:rPr lang="en-US" sz="2000" b="1" dirty="0">
                <a:solidFill>
                  <a:schemeClr val="bg1"/>
                </a:solidFill>
                <a:latin typeface="Nunito Sans" pitchFamily="2" charset="0"/>
                <a:cs typeface="Courier New" panose="02070309020205020404" pitchFamily="49" charset="0"/>
                <a:sym typeface="+mn-ea"/>
              </a:rPr>
              <a:t>            is_ef = False</a:t>
            </a:r>
          </a:p>
          <a:p>
            <a:r>
              <a:rPr lang="en-US" sz="2000" b="1" dirty="0">
                <a:solidFill>
                  <a:schemeClr val="bg1"/>
                </a:solidFill>
                <a:latin typeface="Nunito Sans" pitchFamily="2" charset="0"/>
                <a:cs typeface="Courier New" panose="02070309020205020404" pitchFamily="49" charset="0"/>
                <a:sym typeface="+mn-ea"/>
              </a:rPr>
              <a:t>        elif ch != 'G':</a:t>
            </a:r>
          </a:p>
          <a:p>
            <a:r>
              <a:rPr lang="en-US" sz="2000" b="1" dirty="0">
                <a:solidFill>
                  <a:schemeClr val="bg1"/>
                </a:solidFill>
                <a:latin typeface="Nunito Sans" pitchFamily="2" charset="0"/>
                <a:cs typeface="Courier New" panose="02070309020205020404" pitchFamily="49" charset="0"/>
                <a:sym typeface="+mn-ea"/>
              </a:rPr>
              <a:t>            result += ch</a:t>
            </a:r>
          </a:p>
          <a:p>
            <a:r>
              <a:rPr lang="en-US" sz="2000" b="1" dirty="0">
                <a:solidFill>
                  <a:schemeClr val="bg1"/>
                </a:solidFill>
                <a:latin typeface="Nunito Sans" pitchFamily="2" charset="0"/>
                <a:cs typeface="Courier New" panose="02070309020205020404" pitchFamily="49" charset="0"/>
                <a:sym typeface="+mn-ea"/>
              </a:rPr>
              <a:t>    return result</a:t>
            </a:r>
          </a:p>
          <a:p>
            <a:r>
              <a:rPr lang="en-US" sz="2000" b="1" dirty="0">
                <a:solidFill>
                  <a:schemeClr val="bg1"/>
                </a:solidFill>
                <a:latin typeface="Nunito Sans" pitchFamily="2" charset="0"/>
                <a:cs typeface="Courier New" panose="02070309020205020404" pitchFamily="49" charset="0"/>
                <a:sym typeface="+mn-ea"/>
              </a:rPr>
              <a:t>def main():</a:t>
            </a:r>
          </a:p>
          <a:p>
            <a:r>
              <a:rPr lang="en-US" sz="2000" b="1" dirty="0">
                <a:solidFill>
                  <a:schemeClr val="bg1"/>
                </a:solidFill>
                <a:latin typeface="Nunito Sans" pitchFamily="2" charset="0"/>
                <a:cs typeface="Courier New" panose="02070309020205020404" pitchFamily="49" charset="0"/>
                <a:sym typeface="+mn-ea"/>
              </a:rPr>
              <a:t>    ticket_number = input()</a:t>
            </a:r>
          </a:p>
          <a:p>
            <a:r>
              <a:rPr lang="en-US" sz="2000" b="1" dirty="0">
                <a:solidFill>
                  <a:schemeClr val="bg1"/>
                </a:solidFill>
                <a:latin typeface="Nunito Sans" pitchFamily="2" charset="0"/>
                <a:cs typeface="Courier New" panose="02070309020205020404" pitchFamily="49" charset="0"/>
                <a:sym typeface="+mn-ea"/>
              </a:rPr>
              <a:t>    modified_ticket_number = remove_characters(ticket_number)</a:t>
            </a:r>
          </a:p>
          <a:p>
            <a:r>
              <a:rPr lang="en-US" sz="2000" b="1" dirty="0">
                <a:solidFill>
                  <a:schemeClr val="bg1"/>
                </a:solidFill>
                <a:latin typeface="Nunito Sans" pitchFamily="2" charset="0"/>
                <a:cs typeface="Courier New" panose="02070309020205020404" pitchFamily="49" charset="0"/>
                <a:sym typeface="+mn-ea"/>
              </a:rPr>
              <a:t>    print(modified_ticket_number)</a:t>
            </a:r>
          </a:p>
          <a:p>
            <a:r>
              <a:rPr lang="en-US" sz="2000" b="1" dirty="0">
                <a:solidFill>
                  <a:schemeClr val="bg1"/>
                </a:solidFill>
                <a:latin typeface="Nunito Sans" pitchFamily="2" charset="0"/>
                <a:cs typeface="Courier New" panose="02070309020205020404" pitchFamily="49" charset="0"/>
                <a:sym typeface="+mn-ea"/>
              </a:rPr>
              <a:t>main()</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0"/>
            <a:ext cx="533400" cy="6917055"/>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b="1" dirty="0">
                <a:solidFill>
                  <a:schemeClr val="bg1"/>
                </a:solidFill>
                <a:latin typeface="Nunito Sans" pitchFamily="2" charset="0"/>
                <a:sym typeface="+mn-ea"/>
              </a:rPr>
              <a:t>                                                                                 </a:t>
            </a:r>
            <a:r>
              <a:rPr lang="en-IN" altLang="en-US" sz="4500" b="1" dirty="0">
                <a:solidFill>
                  <a:schemeClr val="bg1"/>
                </a:solidFill>
                <a:latin typeface="Nunito Sans" pitchFamily="2" charset="0"/>
                <a:sym typeface="+mn-ea"/>
              </a:rPr>
              <a:t>question 9</a:t>
            </a:r>
            <a:endParaRPr lang="en-IN" altLang="en-US" sz="4500" dirty="0">
              <a:latin typeface="Nunito Sans" pitchFamily="2" charset="0"/>
            </a:endParaRPr>
          </a:p>
        </p:txBody>
      </p:sp>
      <p:sp>
        <p:nvSpPr>
          <p:cNvPr id="18" name="TextBox 17"/>
          <p:cNvSpPr txBox="1"/>
          <p:nvPr/>
        </p:nvSpPr>
        <p:spPr>
          <a:xfrm>
            <a:off x="241935" y="1011555"/>
            <a:ext cx="11722735" cy="5862320"/>
          </a:xfrm>
          <a:prstGeom prst="rect">
            <a:avLst/>
          </a:prstGeom>
          <a:noFill/>
        </p:spPr>
        <p:txBody>
          <a:bodyPr wrap="square" rtlCol="0">
            <a:spAutoFit/>
          </a:bodyPr>
          <a:lstStyle/>
          <a:p>
            <a:r>
              <a:rPr lang="en-US" sz="2500" dirty="0">
                <a:latin typeface="Nunito Sans" panose="00000500000000000000" pitchFamily="2" charset="0"/>
              </a:rPr>
              <a:t>The person is travelling from place A to place B. He will take 12 hours to reach the destination by roads. As the person starts his journey, he has to note the current time in hours H and minutes M ( non negative integer input ).The task is to find the time left for him to reach the destination (output).If current time (hours or minutes) is a value exceeding 24 hours, the output should be a negative integer value, representing total exceeded hours and minutes (See the Example 3).</a:t>
            </a:r>
          </a:p>
          <a:p>
            <a:endParaRPr lang="en-US" sz="2500" dirty="0">
              <a:latin typeface="Nunito Sans" panose="00000500000000000000" pitchFamily="2" charset="0"/>
            </a:endParaRPr>
          </a:p>
          <a:p>
            <a:r>
              <a:rPr lang="en-US" sz="2500" dirty="0">
                <a:latin typeface="Nunito Sans" panose="00000500000000000000" pitchFamily="2" charset="0"/>
              </a:rPr>
              <a:t>I</a:t>
            </a:r>
            <a:r>
              <a:rPr lang="en-US" sz="2500" b="1" dirty="0">
                <a:latin typeface="Nunito Sans" pitchFamily="2" charset="0"/>
              </a:rPr>
              <a:t>nput forma</a:t>
            </a:r>
            <a:r>
              <a:rPr lang="en-US" sz="2500" dirty="0">
                <a:latin typeface="Nunito Sans" panose="00000500000000000000" pitchFamily="2" charset="0"/>
              </a:rPr>
              <a:t>t</a:t>
            </a:r>
          </a:p>
          <a:p>
            <a:r>
              <a:rPr lang="en-US" sz="2500" dirty="0">
                <a:latin typeface="Nunito Sans" panose="00000500000000000000" pitchFamily="2" charset="0"/>
              </a:rPr>
              <a:t>The candidate has to write the code to accept two inputs separated by a new line.</a:t>
            </a:r>
          </a:p>
          <a:p>
            <a:r>
              <a:rPr lang="en-US" sz="2500" dirty="0">
                <a:latin typeface="Nunito Sans" panose="00000500000000000000" pitchFamily="2" charset="0"/>
              </a:rPr>
              <a:t>First Input Accept value for hours which is H.</a:t>
            </a:r>
          </a:p>
          <a:p>
            <a:r>
              <a:rPr lang="en-US" sz="2500" dirty="0">
                <a:latin typeface="Nunito Sans" panose="00000500000000000000" pitchFamily="2" charset="0"/>
              </a:rPr>
              <a:t>Second Input- Accept value for minutes which is M.</a:t>
            </a:r>
          </a:p>
          <a:p>
            <a:endParaRPr lang="en-US" sz="2500" dirty="0">
              <a:latin typeface="Nunito Sans" panose="00000500000000000000" pitchFamily="2" charset="0"/>
            </a:endParaRPr>
          </a:p>
          <a:p>
            <a:r>
              <a:rPr lang="en-US" sz="2500" b="1" dirty="0">
                <a:latin typeface="Nunito Sans" pitchFamily="2" charset="0"/>
              </a:rPr>
              <a:t>Output format</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b="1" dirty="0">
                <a:solidFill>
                  <a:schemeClr val="bg1"/>
                </a:solidFill>
                <a:latin typeface="Nunito Sans" pitchFamily="2" charset="0"/>
                <a:sym typeface="+mn-ea"/>
              </a:rPr>
              <a:t>                                                                                 </a:t>
            </a:r>
            <a:r>
              <a:rPr lang="en-IN" altLang="en-US" sz="4500" b="1" dirty="0">
                <a:solidFill>
                  <a:schemeClr val="bg1"/>
                </a:solidFill>
                <a:latin typeface="Nunito Sans" pitchFamily="2" charset="0"/>
                <a:sym typeface="+mn-ea"/>
              </a:rPr>
              <a:t>question 9</a:t>
            </a:r>
            <a:endParaRPr lang="en-IN" altLang="en-US" sz="4500" dirty="0">
              <a:latin typeface="Nunito Sans" pitchFamily="2" charset="0"/>
            </a:endParaRPr>
          </a:p>
        </p:txBody>
      </p:sp>
      <p:sp>
        <p:nvSpPr>
          <p:cNvPr id="18" name="TextBox 17"/>
          <p:cNvSpPr txBox="1"/>
          <p:nvPr/>
        </p:nvSpPr>
        <p:spPr>
          <a:xfrm>
            <a:off x="241935" y="1011555"/>
            <a:ext cx="11722735" cy="5863144"/>
          </a:xfrm>
          <a:prstGeom prst="rect">
            <a:avLst/>
          </a:prstGeom>
          <a:noFill/>
        </p:spPr>
        <p:txBody>
          <a:bodyPr wrap="square" rtlCol="0">
            <a:spAutoFit/>
          </a:bodyPr>
          <a:lstStyle/>
          <a:p>
            <a:r>
              <a:rPr lang="en-US" sz="2500" dirty="0">
                <a:latin typeface="Nunito Sans" panose="00000500000000000000" pitchFamily="2" charset="0"/>
              </a:rPr>
              <a:t>The output should be time in 24 hour format (Check the output in Example 1 and 2 above). The hours and minutes should be separated by "::" without any additional space(See the output in examples). </a:t>
            </a:r>
          </a:p>
          <a:p>
            <a:endParaRPr lang="en-US" sz="2500" dirty="0">
              <a:latin typeface="Nunito Sans" panose="00000500000000000000" pitchFamily="2" charset="0"/>
            </a:endParaRPr>
          </a:p>
          <a:p>
            <a:r>
              <a:rPr lang="en-US" sz="2500" dirty="0">
                <a:latin typeface="Nunito Sans" panose="00000500000000000000" pitchFamily="2" charset="0"/>
              </a:rPr>
              <a:t>Additional messages in output will cause the failure of test cases.</a:t>
            </a:r>
          </a:p>
          <a:p>
            <a:r>
              <a:rPr lang="en-US" sz="2500" b="1" dirty="0">
                <a:latin typeface="Nunito Sans" pitchFamily="2" charset="0"/>
              </a:rPr>
              <a:t>Constraints:</a:t>
            </a:r>
          </a:p>
          <a:p>
            <a:r>
              <a:rPr lang="en-US" sz="2500" dirty="0">
                <a:latin typeface="Nunito Sans" panose="00000500000000000000" pitchFamily="2" charset="0"/>
              </a:rPr>
              <a:t>0&lt;H&lt;=100</a:t>
            </a:r>
          </a:p>
          <a:p>
            <a:r>
              <a:rPr lang="en-US" sz="2500" dirty="0">
                <a:latin typeface="Nunito Sans" panose="00000500000000000000" pitchFamily="2" charset="0"/>
              </a:rPr>
              <a:t>0&lt;M&lt;=60</a:t>
            </a:r>
          </a:p>
          <a:p>
            <a:r>
              <a:rPr lang="en-US" sz="2500" b="1" dirty="0">
                <a:latin typeface="Nunito Sans" pitchFamily="2" charset="0"/>
              </a:rPr>
              <a:t>Example 1:</a:t>
            </a:r>
          </a:p>
          <a:p>
            <a:r>
              <a:rPr lang="en-US" sz="2500" dirty="0">
                <a:latin typeface="Nunito Sans" pitchFamily="2" charset="0"/>
              </a:rPr>
              <a:t>I</a:t>
            </a:r>
            <a:r>
              <a:rPr lang="en-US" sz="2500" b="1" dirty="0">
                <a:latin typeface="Nunito Sans" pitchFamily="2" charset="0"/>
              </a:rPr>
              <a:t>nput:</a:t>
            </a:r>
          </a:p>
          <a:p>
            <a:r>
              <a:rPr lang="en-US" sz="2500" dirty="0">
                <a:latin typeface="Nunito Sans" panose="00000500000000000000" pitchFamily="2" charset="0"/>
              </a:rPr>
              <a:t>14         value of H i.e Hours</a:t>
            </a:r>
          </a:p>
          <a:p>
            <a:pPr marL="457200" indent="-457200">
              <a:buAutoNum type="arabicPlain" startAt="20"/>
            </a:pPr>
            <a:r>
              <a:rPr lang="en-US" sz="2500" dirty="0">
                <a:latin typeface="Nunito Sans" panose="00000500000000000000" pitchFamily="2" charset="0"/>
              </a:rPr>
              <a:t>value of M </a:t>
            </a:r>
            <a:r>
              <a:rPr lang="en-US" sz="2500" dirty="0" err="1">
                <a:latin typeface="Nunito Sans" panose="00000500000000000000" pitchFamily="2" charset="0"/>
              </a:rPr>
              <a:t>i.e</a:t>
            </a:r>
            <a:r>
              <a:rPr lang="en-US" sz="2500" dirty="0">
                <a:latin typeface="Nunito Sans" panose="00000500000000000000" pitchFamily="2" charset="0"/>
              </a:rPr>
              <a:t> Minutes</a:t>
            </a:r>
          </a:p>
          <a:p>
            <a:r>
              <a:rPr lang="en-US" sz="2500" b="1" dirty="0">
                <a:latin typeface="Nunito Sans" pitchFamily="2" charset="0"/>
              </a:rPr>
              <a:t>Output:</a:t>
            </a:r>
          </a:p>
          <a:p>
            <a:r>
              <a:rPr lang="en-US" sz="2500" dirty="0">
                <a:latin typeface="Nunito Sans" panose="00000500000000000000" pitchFamily="2" charset="0"/>
              </a:rPr>
              <a:t>09::40      Time left to reach the destination</a:t>
            </a:r>
          </a:p>
          <a:p>
            <a:endParaRPr lang="en-US" sz="2500" dirty="0">
              <a:latin typeface="Nunito Sans" panose="00000500000000000000" pitchFamily="2"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b="1" dirty="0">
                <a:solidFill>
                  <a:schemeClr val="bg1"/>
                </a:solidFill>
                <a:latin typeface="Nunito Sans" pitchFamily="2" charset="0"/>
                <a:sym typeface="+mn-ea"/>
              </a:rPr>
              <a:t>                                                                                 </a:t>
            </a:r>
            <a:r>
              <a:rPr lang="en-IN" altLang="en-US" sz="4500" b="1" dirty="0">
                <a:solidFill>
                  <a:schemeClr val="bg1"/>
                </a:solidFill>
                <a:latin typeface="Nunito Sans" pitchFamily="2" charset="0"/>
                <a:sym typeface="+mn-ea"/>
              </a:rPr>
              <a:t>question 9</a:t>
            </a:r>
            <a:endParaRPr lang="en-IN" altLang="en-US" sz="4500" dirty="0">
              <a:latin typeface="Nunito Sans" pitchFamily="2" charset="0"/>
            </a:endParaRPr>
          </a:p>
        </p:txBody>
      </p:sp>
      <p:sp>
        <p:nvSpPr>
          <p:cNvPr id="18" name="TextBox 17"/>
          <p:cNvSpPr txBox="1"/>
          <p:nvPr/>
        </p:nvSpPr>
        <p:spPr>
          <a:xfrm>
            <a:off x="241935" y="1011555"/>
            <a:ext cx="11722735" cy="5093702"/>
          </a:xfrm>
          <a:prstGeom prst="rect">
            <a:avLst/>
          </a:prstGeom>
          <a:noFill/>
        </p:spPr>
        <p:txBody>
          <a:bodyPr wrap="square" rtlCol="0">
            <a:spAutoFit/>
          </a:bodyPr>
          <a:lstStyle/>
          <a:p>
            <a:r>
              <a:rPr lang="en-US" sz="2500" b="1" dirty="0">
                <a:latin typeface="Nunito Sans" panose="00000500000000000000" pitchFamily="2" charset="0"/>
              </a:rPr>
              <a:t>Example 2:</a:t>
            </a:r>
          </a:p>
          <a:p>
            <a:r>
              <a:rPr lang="en-US" sz="2500" b="1" dirty="0">
                <a:latin typeface="Nunito Sans" panose="00000500000000000000" pitchFamily="2" charset="0"/>
              </a:rPr>
              <a:t>Input:</a:t>
            </a:r>
          </a:p>
          <a:p>
            <a:r>
              <a:rPr lang="en-US" sz="2500" dirty="0">
                <a:latin typeface="Nunito Sans" panose="00000500000000000000" pitchFamily="2" charset="0"/>
              </a:rPr>
              <a:t>1        value of H i.e Hours</a:t>
            </a:r>
          </a:p>
          <a:p>
            <a:r>
              <a:rPr lang="en-US" sz="2500" dirty="0">
                <a:latin typeface="Nunito Sans" panose="00000500000000000000" pitchFamily="2" charset="0"/>
              </a:rPr>
              <a:t>15         value of M i.e Minutes</a:t>
            </a:r>
          </a:p>
          <a:p>
            <a:r>
              <a:rPr lang="en-US" sz="2500" b="1" dirty="0">
                <a:latin typeface="Nunito Sans" pitchFamily="2" charset="0"/>
              </a:rPr>
              <a:t>Output:</a:t>
            </a:r>
          </a:p>
          <a:p>
            <a:r>
              <a:rPr lang="en-US" sz="2500" dirty="0">
                <a:latin typeface="Nunito Sans" pitchFamily="2" charset="0"/>
              </a:rPr>
              <a:t>22::45     Time left to reach the destination</a:t>
            </a:r>
          </a:p>
          <a:p>
            <a:r>
              <a:rPr lang="en-US" sz="2500" b="1" dirty="0">
                <a:latin typeface="Nunito Sans" panose="00000500000000000000" pitchFamily="2" charset="0"/>
              </a:rPr>
              <a:t>Example 3:</a:t>
            </a:r>
          </a:p>
          <a:p>
            <a:r>
              <a:rPr lang="en-US" sz="2500" b="1" dirty="0">
                <a:latin typeface="Nunito Sans" panose="00000500000000000000" pitchFamily="2" charset="0"/>
              </a:rPr>
              <a:t>Input:</a:t>
            </a:r>
            <a:endParaRPr lang="en-US" sz="2500" dirty="0">
              <a:latin typeface="Nunito Sans" panose="00000500000000000000" pitchFamily="2" charset="0"/>
            </a:endParaRPr>
          </a:p>
          <a:p>
            <a:r>
              <a:rPr lang="en-US" sz="2500" dirty="0">
                <a:latin typeface="Nunito Sans" panose="00000500000000000000" pitchFamily="2" charset="0"/>
              </a:rPr>
              <a:t>30        value of H i.e Hours</a:t>
            </a:r>
          </a:p>
          <a:p>
            <a:r>
              <a:rPr lang="en-US" sz="2500" dirty="0">
                <a:latin typeface="Nunito Sans" panose="00000500000000000000" pitchFamily="2" charset="0"/>
              </a:rPr>
              <a:t>5          value of M i.e Minutes</a:t>
            </a:r>
          </a:p>
          <a:p>
            <a:r>
              <a:rPr lang="en-US" sz="2500" b="1" dirty="0">
                <a:latin typeface="Nunito Sans" pitchFamily="2" charset="0"/>
              </a:rPr>
              <a:t>Output:</a:t>
            </a:r>
          </a:p>
          <a:p>
            <a:endParaRPr lang="en-US" sz="2500" dirty="0">
              <a:latin typeface="Nunito Sans" panose="00000500000000000000" pitchFamily="2" charset="0"/>
            </a:endParaRPr>
          </a:p>
          <a:p>
            <a:r>
              <a:rPr lang="en-US" sz="2500" dirty="0">
                <a:latin typeface="Nunito Sans" panose="00000500000000000000" pitchFamily="2" charset="0"/>
              </a:rPr>
              <a:t>-06::-05       Time left to reach the destination</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#include &lt;stdio.h&gt;</a:t>
            </a:r>
          </a:p>
          <a:p>
            <a:r>
              <a:rPr lang="en-US" sz="2000" b="1" dirty="0">
                <a:solidFill>
                  <a:schemeClr val="bg1"/>
                </a:solidFill>
                <a:latin typeface="Nunito Sans" pitchFamily="2" charset="0"/>
                <a:cs typeface="Courier New" panose="02070309020205020404" pitchFamily="49" charset="0"/>
                <a:sym typeface="+mn-ea"/>
              </a:rPr>
              <a:t>int main()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int H, M;</a:t>
            </a:r>
          </a:p>
          <a:p>
            <a:r>
              <a:rPr lang="en-US" sz="2000" b="1" dirty="0">
                <a:solidFill>
                  <a:schemeClr val="bg1"/>
                </a:solidFill>
                <a:latin typeface="Nunito Sans" pitchFamily="2" charset="0"/>
                <a:cs typeface="Courier New" panose="02070309020205020404" pitchFamily="49" charset="0"/>
                <a:sym typeface="+mn-ea"/>
              </a:rPr>
              <a:t>    scanf("%d", &amp;H);</a:t>
            </a:r>
          </a:p>
          <a:p>
            <a:r>
              <a:rPr lang="en-US" sz="2000" b="1" dirty="0">
                <a:solidFill>
                  <a:schemeClr val="bg1"/>
                </a:solidFill>
                <a:latin typeface="Nunito Sans" pitchFamily="2" charset="0"/>
                <a:cs typeface="Courier New" panose="02070309020205020404" pitchFamily="49" charset="0"/>
                <a:sym typeface="+mn-ea"/>
              </a:rPr>
              <a:t>    scanf("%d", &amp;M);</a:t>
            </a:r>
          </a:p>
          <a:p>
            <a:r>
              <a:rPr lang="en-US" sz="2000" b="1" dirty="0">
                <a:solidFill>
                  <a:schemeClr val="bg1"/>
                </a:solidFill>
                <a:latin typeface="Nunito Sans" pitchFamily="2" charset="0"/>
                <a:cs typeface="Courier New" panose="02070309020205020404" pitchFamily="49" charset="0"/>
                <a:sym typeface="+mn-ea"/>
              </a:rPr>
              <a:t>    // Convert hours to minutes</a:t>
            </a:r>
          </a:p>
          <a:p>
            <a:r>
              <a:rPr lang="en-US" sz="2000" b="1" dirty="0">
                <a:solidFill>
                  <a:schemeClr val="bg1"/>
                </a:solidFill>
                <a:latin typeface="Nunito Sans" pitchFamily="2" charset="0"/>
                <a:cs typeface="Courier New" panose="02070309020205020404" pitchFamily="49" charset="0"/>
                <a:sym typeface="+mn-ea"/>
              </a:rPr>
              <a:t>    int currentTotalMinutes = H * 60 + M;</a:t>
            </a:r>
          </a:p>
          <a:p>
            <a:r>
              <a:rPr lang="en-US" sz="2000" b="1" dirty="0">
                <a:solidFill>
                  <a:schemeClr val="bg1"/>
                </a:solidFill>
                <a:latin typeface="Nunito Sans" pitchFamily="2" charset="0"/>
                <a:cs typeface="Courier New" panose="02070309020205020404" pitchFamily="49" charset="0"/>
                <a:sym typeface="+mn-ea"/>
              </a:rPr>
              <a:t>    // Calculate time left in minutes</a:t>
            </a:r>
          </a:p>
          <a:p>
            <a:r>
              <a:rPr lang="en-US" sz="2000" b="1" dirty="0">
                <a:solidFill>
                  <a:schemeClr val="bg1"/>
                </a:solidFill>
                <a:latin typeface="Nunito Sans" pitchFamily="2" charset="0"/>
                <a:cs typeface="Courier New" panose="02070309020205020404" pitchFamily="49" charset="0"/>
                <a:sym typeface="+mn-ea"/>
              </a:rPr>
              <a:t>    int timeLeftMinutes = 24 * 60 - currentTotalMinutes;</a:t>
            </a:r>
          </a:p>
          <a:p>
            <a:r>
              <a:rPr lang="en-US" sz="2000" b="1" dirty="0">
                <a:solidFill>
                  <a:schemeClr val="bg1"/>
                </a:solidFill>
                <a:latin typeface="Nunito Sans" pitchFamily="2" charset="0"/>
                <a:cs typeface="Courier New" panose="02070309020205020404" pitchFamily="49" charset="0"/>
                <a:sym typeface="+mn-ea"/>
              </a:rPr>
              <a:t>    // Convert time left to hours and minutes</a:t>
            </a:r>
          </a:p>
          <a:p>
            <a:r>
              <a:rPr lang="en-US" sz="2000" b="1" dirty="0">
                <a:solidFill>
                  <a:schemeClr val="bg1"/>
                </a:solidFill>
                <a:latin typeface="Nunito Sans" pitchFamily="2" charset="0"/>
                <a:cs typeface="Courier New" panose="02070309020205020404" pitchFamily="49" charset="0"/>
                <a:sym typeface="+mn-ea"/>
              </a:rPr>
              <a:t>    int timeLeftHours = timeLeftMinutes / 60;</a:t>
            </a:r>
          </a:p>
          <a:p>
            <a:r>
              <a:rPr lang="en-US" sz="2000" b="1" dirty="0">
                <a:solidFill>
                  <a:schemeClr val="bg1"/>
                </a:solidFill>
                <a:latin typeface="Nunito Sans" pitchFamily="2" charset="0"/>
                <a:cs typeface="Courier New" panose="02070309020205020404" pitchFamily="49" charset="0"/>
                <a:sym typeface="+mn-ea"/>
              </a:rPr>
              <a:t>    int timeLeftMins = timeLeftMinutes % 60;</a:t>
            </a:r>
          </a:p>
          <a:p>
            <a:r>
              <a:rPr lang="en-US" sz="2000" b="1" dirty="0">
                <a:solidFill>
                  <a:schemeClr val="bg1"/>
                </a:solidFill>
                <a:latin typeface="Nunito Sans" pitchFamily="2" charset="0"/>
                <a:cs typeface="Courier New" panose="02070309020205020404" pitchFamily="49" charset="0"/>
                <a:sym typeface="+mn-ea"/>
              </a:rPr>
              <a:t>    printf("%02d::%02d\n", timeLeftHours, timeLeftMins);</a:t>
            </a:r>
          </a:p>
          <a:p>
            <a:r>
              <a:rPr lang="en-US" sz="2000" b="1" dirty="0">
                <a:solidFill>
                  <a:schemeClr val="bg1"/>
                </a:solidFill>
                <a:latin typeface="Nunito Sans" pitchFamily="2" charset="0"/>
                <a:cs typeface="Courier New" panose="02070309020205020404" pitchFamily="49" charset="0"/>
                <a:sym typeface="+mn-ea"/>
              </a:rPr>
              <a:t>    return 0;</a:t>
            </a: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&lt;bits/stdc++.h&gt;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H, M;</a:t>
            </a:r>
          </a:p>
          <a:p>
            <a:r>
              <a:rPr lang="en-US" sz="2000" b="1" dirty="0">
                <a:solidFill>
                  <a:schemeClr val="bg1"/>
                </a:solidFill>
                <a:latin typeface="Nunito Sans" pitchFamily="2" charset="0"/>
                <a:cs typeface="Courier New" panose="02070309020205020404" pitchFamily="49" charset="0"/>
              </a:rPr>
              <a:t>    cin &gt;&gt; H;</a:t>
            </a:r>
          </a:p>
          <a:p>
            <a:r>
              <a:rPr lang="en-US" sz="2000" b="1" dirty="0">
                <a:solidFill>
                  <a:schemeClr val="bg1"/>
                </a:solidFill>
                <a:latin typeface="Nunito Sans" pitchFamily="2" charset="0"/>
                <a:cs typeface="Courier New" panose="02070309020205020404" pitchFamily="49" charset="0"/>
              </a:rPr>
              <a:t>    cin &gt;&gt; M;</a:t>
            </a:r>
          </a:p>
          <a:p>
            <a:r>
              <a:rPr lang="en-US" sz="2000" b="1" dirty="0">
                <a:solidFill>
                  <a:schemeClr val="bg1"/>
                </a:solidFill>
                <a:latin typeface="Nunito Sans" pitchFamily="2" charset="0"/>
                <a:cs typeface="Courier New" panose="02070309020205020404" pitchFamily="49" charset="0"/>
              </a:rPr>
              <a:t>    // Convert hours to minutes</a:t>
            </a:r>
          </a:p>
          <a:p>
            <a:r>
              <a:rPr lang="en-US" sz="2000" b="1" dirty="0">
                <a:solidFill>
                  <a:schemeClr val="bg1"/>
                </a:solidFill>
                <a:latin typeface="Nunito Sans" pitchFamily="2" charset="0"/>
                <a:cs typeface="Courier New" panose="02070309020205020404" pitchFamily="49" charset="0"/>
              </a:rPr>
              <a:t>    int currentTotalMinutes = H * 60 + M;</a:t>
            </a:r>
          </a:p>
          <a:p>
            <a:r>
              <a:rPr lang="en-US" sz="2000" b="1" dirty="0">
                <a:solidFill>
                  <a:schemeClr val="bg1"/>
                </a:solidFill>
                <a:latin typeface="Nunito Sans" pitchFamily="2" charset="0"/>
                <a:cs typeface="Courier New" panose="02070309020205020404" pitchFamily="49" charset="0"/>
              </a:rPr>
              <a:t>    // Calculate time left in minutes</a:t>
            </a:r>
          </a:p>
          <a:p>
            <a:r>
              <a:rPr lang="en-US" sz="2000" b="1" dirty="0">
                <a:solidFill>
                  <a:schemeClr val="bg1"/>
                </a:solidFill>
                <a:latin typeface="Nunito Sans" pitchFamily="2" charset="0"/>
                <a:cs typeface="Courier New" panose="02070309020205020404" pitchFamily="49" charset="0"/>
              </a:rPr>
              <a:t>    int timeLeftMinutes = 24 * 60 - currentTotalMinutes;</a:t>
            </a:r>
          </a:p>
          <a:p>
            <a:r>
              <a:rPr lang="en-US" sz="2000" b="1" dirty="0">
                <a:solidFill>
                  <a:schemeClr val="bg1"/>
                </a:solidFill>
                <a:latin typeface="Nunito Sans" pitchFamily="2" charset="0"/>
                <a:cs typeface="Courier New" panose="02070309020205020404" pitchFamily="49" charset="0"/>
              </a:rPr>
              <a:t>    // Convert time left to hours and minutes</a:t>
            </a:r>
          </a:p>
          <a:p>
            <a:r>
              <a:rPr lang="en-US" sz="2000" b="1" dirty="0">
                <a:solidFill>
                  <a:schemeClr val="bg1"/>
                </a:solidFill>
                <a:latin typeface="Nunito Sans" pitchFamily="2" charset="0"/>
                <a:cs typeface="Courier New" panose="02070309020205020404" pitchFamily="49" charset="0"/>
              </a:rPr>
              <a:t>    int timeLeftHours = timeLeftMinutes / 60;</a:t>
            </a:r>
          </a:p>
          <a:p>
            <a:r>
              <a:rPr lang="en-US" sz="2000" b="1" dirty="0">
                <a:solidFill>
                  <a:schemeClr val="bg1"/>
                </a:solidFill>
                <a:latin typeface="Nunito Sans" pitchFamily="2" charset="0"/>
                <a:cs typeface="Courier New" panose="02070309020205020404" pitchFamily="49" charset="0"/>
              </a:rPr>
              <a:t>    int timeLeftMins = timeLeftMinutes % 60;</a:t>
            </a:r>
          </a:p>
          <a:p>
            <a:r>
              <a:rPr lang="en-US" sz="2000" b="1" dirty="0">
                <a:solidFill>
                  <a:schemeClr val="bg1"/>
                </a:solidFill>
                <a:latin typeface="Nunito Sans" pitchFamily="2" charset="0"/>
                <a:cs typeface="Courier New" panose="02070309020205020404" pitchFamily="49" charset="0"/>
              </a:rPr>
              <a:t>    cout &lt;&lt; setfill('0') &lt;&lt; setw(2) &lt;&lt; timeLeftHours &lt;&lt; "::"</a:t>
            </a:r>
          </a:p>
          <a:p>
            <a:r>
              <a:rPr lang="en-US" sz="2000" b="1" dirty="0">
                <a:solidFill>
                  <a:schemeClr val="bg1"/>
                </a:solidFill>
                <a:latin typeface="Nunito Sans" pitchFamily="2" charset="0"/>
                <a:cs typeface="Courier New" panose="02070309020205020404" pitchFamily="49" charset="0"/>
              </a:rPr>
              <a:t>              &lt;&lt; setfill('0') &lt;&lt; setw(2) &lt;&lt; timeLeftMins;</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H, M;</a:t>
            </a:r>
          </a:p>
          <a:p>
            <a:r>
              <a:rPr lang="en-US" sz="2000" b="1" dirty="0">
                <a:solidFill>
                  <a:schemeClr val="bg1"/>
                </a:solidFill>
                <a:latin typeface="Nunito Sans" pitchFamily="2" charset="0"/>
                <a:cs typeface="Courier New" panose="02070309020205020404" pitchFamily="49" charset="0"/>
              </a:rPr>
              <a:t>        H = scanner.nextInt();</a:t>
            </a:r>
          </a:p>
          <a:p>
            <a:r>
              <a:rPr lang="en-US" sz="2000" b="1" dirty="0">
                <a:solidFill>
                  <a:schemeClr val="bg1"/>
                </a:solidFill>
                <a:latin typeface="Nunito Sans" pitchFamily="2" charset="0"/>
                <a:cs typeface="Courier New" panose="02070309020205020404" pitchFamily="49" charset="0"/>
              </a:rPr>
              <a:t>        M = scanner.nextInt();</a:t>
            </a:r>
          </a:p>
          <a:p>
            <a:r>
              <a:rPr lang="en-US" sz="2000" b="1" dirty="0">
                <a:solidFill>
                  <a:schemeClr val="bg1"/>
                </a:solidFill>
                <a:latin typeface="Nunito Sans" pitchFamily="2" charset="0"/>
                <a:cs typeface="Courier New" panose="02070309020205020404" pitchFamily="49" charset="0"/>
              </a:rPr>
              <a:t>        // Convert hours to minutes</a:t>
            </a:r>
          </a:p>
          <a:p>
            <a:r>
              <a:rPr lang="en-US" sz="2000" b="1" dirty="0">
                <a:solidFill>
                  <a:schemeClr val="bg1"/>
                </a:solidFill>
                <a:latin typeface="Nunito Sans" pitchFamily="2" charset="0"/>
                <a:cs typeface="Courier New" panose="02070309020205020404" pitchFamily="49" charset="0"/>
              </a:rPr>
              <a:t>        int currentTotalMinutes = H * 60 + M;</a:t>
            </a:r>
          </a:p>
          <a:p>
            <a:r>
              <a:rPr lang="en-US" sz="2000" b="1" dirty="0">
                <a:solidFill>
                  <a:schemeClr val="bg1"/>
                </a:solidFill>
                <a:latin typeface="Nunito Sans" pitchFamily="2" charset="0"/>
                <a:cs typeface="Courier New" panose="02070309020205020404" pitchFamily="49" charset="0"/>
              </a:rPr>
              <a:t>        // Calculate time left in minutes</a:t>
            </a:r>
          </a:p>
          <a:p>
            <a:r>
              <a:rPr lang="en-US" sz="2000" b="1" dirty="0">
                <a:solidFill>
                  <a:schemeClr val="bg1"/>
                </a:solidFill>
                <a:latin typeface="Nunito Sans" pitchFamily="2" charset="0"/>
                <a:cs typeface="Courier New" panose="02070309020205020404" pitchFamily="49" charset="0"/>
              </a:rPr>
              <a:t>        int timeLeftMinutes = 24 * 60 - currentTotalMinutes;</a:t>
            </a:r>
          </a:p>
          <a:p>
            <a:r>
              <a:rPr lang="en-US" sz="2000" b="1" dirty="0">
                <a:solidFill>
                  <a:schemeClr val="bg1"/>
                </a:solidFill>
                <a:latin typeface="Nunito Sans" pitchFamily="2" charset="0"/>
                <a:cs typeface="Courier New" panose="02070309020205020404" pitchFamily="49" charset="0"/>
              </a:rPr>
              <a:t>        // Convert time left to hours and minutes</a:t>
            </a:r>
          </a:p>
          <a:p>
            <a:r>
              <a:rPr lang="en-US" sz="2000" b="1" dirty="0">
                <a:solidFill>
                  <a:schemeClr val="bg1"/>
                </a:solidFill>
                <a:latin typeface="Nunito Sans" pitchFamily="2" charset="0"/>
                <a:cs typeface="Courier New" panose="02070309020205020404" pitchFamily="49" charset="0"/>
              </a:rPr>
              <a:t>        int timeLeftHours = timeLeftMinutes / 60;</a:t>
            </a:r>
          </a:p>
          <a:p>
            <a:r>
              <a:rPr lang="en-US" sz="2000" b="1" dirty="0">
                <a:solidFill>
                  <a:schemeClr val="bg1"/>
                </a:solidFill>
                <a:latin typeface="Nunito Sans" pitchFamily="2" charset="0"/>
                <a:cs typeface="Courier New" panose="02070309020205020404" pitchFamily="49" charset="0"/>
              </a:rPr>
              <a:t>        int timeLeftMins = timeLeftMinutes % 60;</a:t>
            </a:r>
          </a:p>
          <a:p>
            <a:r>
              <a:rPr lang="en-US" sz="2000" b="1" dirty="0">
                <a:solidFill>
                  <a:schemeClr val="bg1"/>
                </a:solidFill>
                <a:latin typeface="Nunito Sans" pitchFamily="2" charset="0"/>
                <a:cs typeface="Courier New" panose="02070309020205020404" pitchFamily="49" charset="0"/>
              </a:rPr>
              <a:t>        System.out.printf("%02d::%02d", timeLeftHours, timeLeftMins);</a:t>
            </a:r>
          </a:p>
          <a:p>
            <a:r>
              <a:rPr lang="en-US" sz="2000" b="1" dirty="0">
                <a:solidFill>
                  <a:schemeClr val="bg1"/>
                </a:solidFill>
                <a:latin typeface="Nunito Sans" pitchFamily="2" charset="0"/>
                <a:cs typeface="Courier New" panose="02070309020205020404" pitchFamily="49" charset="0"/>
              </a:rPr>
              <a:t>        scanner.close();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57784"/>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H = int(input())</a:t>
            </a:r>
          </a:p>
          <a:p>
            <a:r>
              <a:rPr lang="en-US" sz="2000" b="1" dirty="0">
                <a:solidFill>
                  <a:schemeClr val="bg1"/>
                </a:solidFill>
                <a:latin typeface="Nunito Sans" pitchFamily="2" charset="0"/>
                <a:cs typeface="Courier New" panose="02070309020205020404" pitchFamily="49" charset="0"/>
              </a:rPr>
              <a:t>M = int(input())</a:t>
            </a:r>
          </a:p>
          <a:p>
            <a:r>
              <a:rPr lang="en-US" sz="2000" b="1" dirty="0">
                <a:solidFill>
                  <a:schemeClr val="bg1"/>
                </a:solidFill>
                <a:latin typeface="Nunito Sans" pitchFamily="2" charset="0"/>
                <a:cs typeface="Courier New" panose="02070309020205020404" pitchFamily="49" charset="0"/>
              </a:rPr>
              <a:t># Calculate total minutes</a:t>
            </a:r>
          </a:p>
          <a:p>
            <a:r>
              <a:rPr lang="en-US" sz="2000" b="1" dirty="0">
                <a:solidFill>
                  <a:schemeClr val="bg1"/>
                </a:solidFill>
                <a:latin typeface="Nunito Sans" pitchFamily="2" charset="0"/>
                <a:cs typeface="Courier New" panose="02070309020205020404" pitchFamily="49" charset="0"/>
              </a:rPr>
              <a:t>currentTotalMinutes = H * 60 + M</a:t>
            </a:r>
          </a:p>
          <a:p>
            <a:r>
              <a:rPr lang="en-US" sz="2000" b="1" dirty="0">
                <a:solidFill>
                  <a:schemeClr val="bg1"/>
                </a:solidFill>
                <a:latin typeface="Nunito Sans" pitchFamily="2" charset="0"/>
                <a:cs typeface="Courier New" panose="02070309020205020404" pitchFamily="49" charset="0"/>
              </a:rPr>
              <a:t># Check if current time exceeds 24 hours</a:t>
            </a:r>
          </a:p>
          <a:p>
            <a:r>
              <a:rPr lang="en-US" sz="2000" b="1" dirty="0">
                <a:solidFill>
                  <a:schemeClr val="bg1"/>
                </a:solidFill>
                <a:latin typeface="Nunito Sans" pitchFamily="2" charset="0"/>
                <a:cs typeface="Courier New" panose="02070309020205020404" pitchFamily="49" charset="0"/>
              </a:rPr>
              <a:t>if currentTotalMinutes &gt; 24 * 60:</a:t>
            </a:r>
          </a:p>
          <a:p>
            <a:r>
              <a:rPr lang="en-US" sz="2000" b="1" dirty="0">
                <a:solidFill>
                  <a:schemeClr val="bg1"/>
                </a:solidFill>
                <a:latin typeface="Nunito Sans" pitchFamily="2" charset="0"/>
                <a:cs typeface="Courier New" panose="02070309020205020404" pitchFamily="49" charset="0"/>
              </a:rPr>
              <a:t>    timeExceededMinutes = currentTotalMinutes - (24 * 60)</a:t>
            </a:r>
          </a:p>
          <a:p>
            <a:r>
              <a:rPr lang="en-US" sz="2000" b="1" dirty="0">
                <a:solidFill>
                  <a:schemeClr val="bg1"/>
                </a:solidFill>
                <a:latin typeface="Nunito Sans" pitchFamily="2" charset="0"/>
                <a:cs typeface="Courier New" panose="02070309020205020404" pitchFamily="49" charset="0"/>
              </a:rPr>
              <a:t>    timeExceededHours = timeExceededMinutes // 60</a:t>
            </a:r>
          </a:p>
          <a:p>
            <a:r>
              <a:rPr lang="en-US" sz="2000" b="1" dirty="0">
                <a:solidFill>
                  <a:schemeClr val="bg1"/>
                </a:solidFill>
                <a:latin typeface="Nunito Sans" pitchFamily="2" charset="0"/>
                <a:cs typeface="Courier New" panose="02070309020205020404" pitchFamily="49" charset="0"/>
              </a:rPr>
              <a:t>    timeExceededMinutes %= 60</a:t>
            </a:r>
          </a:p>
          <a:p>
            <a:r>
              <a:rPr lang="en-US" sz="2000" b="1" dirty="0">
                <a:solidFill>
                  <a:schemeClr val="bg1"/>
                </a:solidFill>
                <a:latin typeface="Nunito Sans" pitchFamily="2" charset="0"/>
                <a:cs typeface="Courier New" panose="02070309020205020404" pitchFamily="49" charset="0"/>
              </a:rPr>
              <a:t>    print("-{}::-{:02d}".format(timeExceededHours, timeExceededMinutes))</a:t>
            </a:r>
          </a:p>
          <a:p>
            <a:r>
              <a:rPr lang="en-US" sz="2000" b="1" dirty="0">
                <a:solidFill>
                  <a:schemeClr val="bg1"/>
                </a:solidFill>
                <a:latin typeface="Nunito Sans" pitchFamily="2" charset="0"/>
                <a:cs typeface="Courier New" panose="02070309020205020404" pitchFamily="49" charset="0"/>
              </a:rPr>
              <a:t>else:</a:t>
            </a:r>
          </a:p>
          <a:p>
            <a:r>
              <a:rPr lang="en-US" sz="2000" b="1" dirty="0">
                <a:solidFill>
                  <a:schemeClr val="bg1"/>
                </a:solidFill>
                <a:latin typeface="Nunito Sans" pitchFamily="2" charset="0"/>
                <a:cs typeface="Courier New" panose="02070309020205020404" pitchFamily="49" charset="0"/>
              </a:rPr>
              <a:t>    # Calculate time left in minutes</a:t>
            </a:r>
          </a:p>
          <a:p>
            <a:r>
              <a:rPr lang="en-US" sz="2000" b="1" dirty="0">
                <a:solidFill>
                  <a:schemeClr val="bg1"/>
                </a:solidFill>
                <a:latin typeface="Nunito Sans" pitchFamily="2" charset="0"/>
                <a:cs typeface="Courier New" panose="02070309020205020404" pitchFamily="49" charset="0"/>
              </a:rPr>
              <a:t>    timeLeftMinutes = 24 * 60 - currentTotalMinutes</a:t>
            </a:r>
          </a:p>
          <a:p>
            <a:r>
              <a:rPr lang="en-US" sz="2000" b="1" dirty="0">
                <a:solidFill>
                  <a:schemeClr val="bg1"/>
                </a:solidFill>
                <a:latin typeface="Nunito Sans" pitchFamily="2" charset="0"/>
                <a:cs typeface="Courier New" panose="02070309020205020404" pitchFamily="49" charset="0"/>
              </a:rPr>
              <a:t>    # Calculate time left hours and minutes</a:t>
            </a:r>
          </a:p>
          <a:p>
            <a:r>
              <a:rPr lang="en-US" sz="2000" b="1" dirty="0">
                <a:solidFill>
                  <a:schemeClr val="bg1"/>
                </a:solidFill>
                <a:latin typeface="Nunito Sans" pitchFamily="2" charset="0"/>
                <a:cs typeface="Courier New" panose="02070309020205020404" pitchFamily="49" charset="0"/>
              </a:rPr>
              <a:t>    timeLeftHours = timeLeftMinutes // 60</a:t>
            </a:r>
          </a:p>
          <a:p>
            <a:r>
              <a:rPr lang="en-US" sz="2000" b="1" dirty="0">
                <a:solidFill>
                  <a:schemeClr val="bg1"/>
                </a:solidFill>
                <a:latin typeface="Nunito Sans" pitchFamily="2" charset="0"/>
                <a:cs typeface="Courier New" panose="02070309020205020404" pitchFamily="49" charset="0"/>
              </a:rPr>
              <a:t>    timeLeftMinutes %= 60</a:t>
            </a:r>
          </a:p>
          <a:p>
            <a:r>
              <a:rPr lang="en-US" sz="2000" b="1" dirty="0">
                <a:solidFill>
                  <a:schemeClr val="bg1"/>
                </a:solidFill>
                <a:latin typeface="Nunito Sans" pitchFamily="2" charset="0"/>
                <a:cs typeface="Courier New" panose="02070309020205020404" pitchFamily="49" charset="0"/>
              </a:rPr>
              <a:t>    # Format and print the output</a:t>
            </a:r>
          </a:p>
          <a:p>
            <a:r>
              <a:rPr lang="en-US" sz="2000" b="1" dirty="0">
                <a:solidFill>
                  <a:schemeClr val="bg1"/>
                </a:solidFill>
                <a:latin typeface="Nunito Sans" pitchFamily="2" charset="0"/>
                <a:cs typeface="Courier New" panose="02070309020205020404" pitchFamily="49" charset="0"/>
              </a:rPr>
              <a:t>    print("{:02d}::{:02d}".format(timeLeftHours, timeLeftMinutes))</a:t>
            </a:r>
          </a:p>
        </p:txBody>
      </p:sp>
      <p:sp>
        <p:nvSpPr>
          <p:cNvPr id="6" name="Rectangle 3"/>
          <p:cNvSpPr/>
          <p:nvPr/>
        </p:nvSpPr>
        <p:spPr>
          <a:xfrm>
            <a:off x="11430" y="-57784"/>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10</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255270" y="1058545"/>
            <a:ext cx="11406505" cy="5093702"/>
          </a:xfrm>
          <a:prstGeom prst="rect">
            <a:avLst/>
          </a:prstGeom>
          <a:noFill/>
        </p:spPr>
        <p:txBody>
          <a:bodyPr wrap="square" rtlCol="0">
            <a:spAutoFit/>
          </a:bodyPr>
          <a:lstStyle/>
          <a:p>
            <a:r>
              <a:rPr lang="en-US" sz="2500" dirty="0">
                <a:latin typeface="Nunito Sans" panose="00000500000000000000" pitchFamily="2" charset="0"/>
                <a:sym typeface="+mn-ea"/>
              </a:rPr>
              <a:t>A shopkeeper in a nearby town always starts a business ₹0. He never uses the previous days money for transaction. Any item in his shop costs ₹30.There are N number of customers waiting in the queue to buy items. A customer can buy any number of items but worth only ₹30.The customer can transact with shopkeeper only with the denominations ₹30,₹60,₹120.The task here is to find the transaction between the shopkeeper and customer is possible.</a:t>
            </a:r>
          </a:p>
          <a:p>
            <a:r>
              <a:rPr lang="en-US" sz="2500" dirty="0">
                <a:latin typeface="Nunito Sans" panose="00000500000000000000" pitchFamily="2" charset="0"/>
                <a:sym typeface="+mn-ea"/>
              </a:rPr>
              <a:t>The customer should be able to buy the item.</a:t>
            </a:r>
          </a:p>
          <a:p>
            <a:r>
              <a:rPr lang="en-US" sz="2500" dirty="0">
                <a:latin typeface="Nunito Sans" panose="00000500000000000000" pitchFamily="2" charset="0"/>
                <a:sym typeface="+mn-ea"/>
              </a:rPr>
              <a:t>The amount each customer uses for his transaction is given as array elements .</a:t>
            </a:r>
          </a:p>
          <a:p>
            <a:r>
              <a:rPr lang="en-US" sz="2500" dirty="0">
                <a:latin typeface="Nunito Sans" panose="00000500000000000000" pitchFamily="2" charset="0"/>
                <a:sym typeface="+mn-ea"/>
              </a:rPr>
              <a:t>The shopkeeper should be able to return the exact change.</a:t>
            </a:r>
          </a:p>
          <a:p>
            <a:r>
              <a:rPr lang="en-US" sz="2500" dirty="0">
                <a:latin typeface="Nunito Sans" panose="00000500000000000000" pitchFamily="2" charset="0"/>
                <a:sym typeface="+mn-ea"/>
              </a:rPr>
              <a:t>Display ‘Transaction Successful’ on the successful transaction with all the customers in the queue.</a:t>
            </a:r>
          </a:p>
          <a:p>
            <a:r>
              <a:rPr lang="en-US" sz="2500" dirty="0">
                <a:latin typeface="Nunito Sans" panose="00000500000000000000" pitchFamily="2" charset="0"/>
                <a:sym typeface="+mn-ea"/>
              </a:rPr>
              <a:t>Display ‘Transaction failed’ on the unsuccessful transaction with any one customer in the queue.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10</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255270" y="1058545"/>
            <a:ext cx="11406505" cy="4707890"/>
          </a:xfrm>
          <a:prstGeom prst="rect">
            <a:avLst/>
          </a:prstGeom>
          <a:noFill/>
        </p:spPr>
        <p:txBody>
          <a:bodyPr wrap="square" rtlCol="0">
            <a:spAutoFit/>
          </a:bodyPr>
          <a:lstStyle/>
          <a:p>
            <a:r>
              <a:rPr lang="en-US" sz="2500" b="1" dirty="0">
                <a:latin typeface="Nunito Sans" pitchFamily="2" charset="0"/>
                <a:sym typeface="+mn-ea"/>
              </a:rPr>
              <a:t>Example 1</a:t>
            </a:r>
          </a:p>
          <a:p>
            <a:endParaRPr lang="en-US" sz="2500" dirty="0">
              <a:latin typeface="Nunito Sans" pitchFamily="2" charset="0"/>
              <a:sym typeface="+mn-ea"/>
            </a:endParaRPr>
          </a:p>
          <a:p>
            <a:r>
              <a:rPr lang="en-US" sz="2500" b="1" dirty="0">
                <a:latin typeface="Nunito Sans" pitchFamily="2" charset="0"/>
                <a:sym typeface="+mn-ea"/>
              </a:rPr>
              <a:t>Sample Input:</a:t>
            </a:r>
          </a:p>
          <a:p>
            <a:r>
              <a:rPr lang="en-US" sz="2500" dirty="0">
                <a:latin typeface="Nunito Sans" panose="00000500000000000000" pitchFamily="2" charset="0"/>
                <a:sym typeface="+mn-ea"/>
              </a:rPr>
              <a:t>3 -&gt; value of N</a:t>
            </a:r>
          </a:p>
          <a:p>
            <a:r>
              <a:rPr lang="en-US" sz="2500" dirty="0">
                <a:latin typeface="Nunito Sans" panose="00000500000000000000" pitchFamily="2" charset="0"/>
                <a:sym typeface="+mn-ea"/>
              </a:rPr>
              <a:t>30</a:t>
            </a:r>
          </a:p>
          <a:p>
            <a:r>
              <a:rPr lang="en-US" sz="2500" dirty="0">
                <a:latin typeface="Nunito Sans" panose="00000500000000000000" pitchFamily="2" charset="0"/>
                <a:sym typeface="+mn-ea"/>
              </a:rPr>
              <a:t>30</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60-&gt;a[] ,Elements a[0] to a[N-1],where input of each element is seperated by a new line.</a:t>
            </a:r>
          </a:p>
          <a:p>
            <a:endParaRPr lang="en-US" sz="2500" dirty="0">
              <a:latin typeface="Nunito Sans" panose="00000500000000000000" pitchFamily="2" charset="0"/>
              <a:sym typeface="+mn-ea"/>
            </a:endParaRPr>
          </a:p>
          <a:p>
            <a:r>
              <a:rPr lang="en-US" sz="2500" b="1" dirty="0">
                <a:latin typeface="Nunito Sans" pitchFamily="2" charset="0"/>
                <a:sym typeface="+mn-ea"/>
              </a:rPr>
              <a:t>Sample Output:</a:t>
            </a:r>
          </a:p>
          <a:p>
            <a:r>
              <a:rPr lang="en-US" sz="2500" dirty="0">
                <a:latin typeface="Nunito Sans" pitchFamily="2" charset="0"/>
                <a:sym typeface="+mn-ea"/>
              </a:rPr>
              <a:t>Transaction successful.</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int isTransactionPossible(int a[], int 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change30 = 0;</a:t>
            </a:r>
          </a:p>
          <a:p>
            <a:r>
              <a:rPr lang="en-US" sz="2000" b="1" dirty="0">
                <a:solidFill>
                  <a:schemeClr val="bg1"/>
                </a:solidFill>
                <a:latin typeface="Nunito Sans" pitchFamily="2" charset="0"/>
                <a:cs typeface="Courier New" panose="02070309020205020404" pitchFamily="49" charset="0"/>
              </a:rPr>
              <a:t>    int change60 = 0;</a:t>
            </a:r>
          </a:p>
          <a:p>
            <a:r>
              <a:rPr lang="en-US" sz="2000" b="1" dirty="0">
                <a:solidFill>
                  <a:schemeClr val="bg1"/>
                </a:solidFill>
                <a:latin typeface="Nunito Sans" pitchFamily="2" charset="0"/>
                <a:cs typeface="Courier New" panose="02070309020205020404" pitchFamily="49" charset="0"/>
              </a:rPr>
              <a:t>    int change120 = 0;</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(a[i] == 30)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₹30, no change required</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if (a[i] == 60)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₹60, return ₹30 change if available</a:t>
            </a:r>
          </a:p>
          <a:p>
            <a:r>
              <a:rPr lang="en-US" sz="2000" b="1" dirty="0">
                <a:solidFill>
                  <a:schemeClr val="bg1"/>
                </a:solidFill>
                <a:latin typeface="Nunito Sans" pitchFamily="2" charset="0"/>
                <a:cs typeface="Courier New" panose="02070309020205020404" pitchFamily="49" charset="0"/>
              </a:rPr>
              <a:t>            if (change30 &gt;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return 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change60++;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(a[i] == 120)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₹120, return ₹90 change if available</a:t>
            </a:r>
          </a:p>
          <a:p>
            <a:r>
              <a:rPr lang="en-US" sz="2000" b="1" dirty="0">
                <a:solidFill>
                  <a:schemeClr val="bg1"/>
                </a:solidFill>
                <a:latin typeface="Nunito Sans" pitchFamily="2" charset="0"/>
                <a:cs typeface="Courier New" panose="02070309020205020404" pitchFamily="49" charset="0"/>
              </a:rPr>
              <a:t>            if (change30 &gt; 0 &amp;&amp; change60 &gt;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change60--;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(change30 &gt;= 3)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change30 -= 3;</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change120++;</a:t>
            </a:r>
          </a:p>
          <a:p>
            <a:r>
              <a:rPr lang="en-US" sz="2000" b="1" dirty="0">
                <a:solidFill>
                  <a:schemeClr val="bg1"/>
                </a:solidFill>
                <a:latin typeface="Nunito Sans" pitchFamily="2" charset="0"/>
                <a:cs typeface="Courier New" panose="02070309020205020404" pitchFamily="49" charset="0"/>
              </a:rPr>
              <a:t>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26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rPr>
              <a:t>}</a:t>
            </a:r>
          </a:p>
          <a:p>
            <a:r>
              <a:rPr lang="en-IN" altLang="en-US" sz="2000" b="1" dirty="0">
                <a:solidFill>
                  <a:schemeClr val="bg1"/>
                </a:solidFill>
                <a:latin typeface="Nunito Sans" pitchFamily="2" charset="0"/>
                <a:cs typeface="Courier New" panose="02070309020205020404" pitchFamily="49" charset="0"/>
              </a:rPr>
              <a:t>    return 1;</a:t>
            </a:r>
          </a:p>
          <a:p>
            <a:r>
              <a:rPr lang="en-IN" altLang="en-US" sz="2000" b="1" dirty="0">
                <a:solidFill>
                  <a:schemeClr val="bg1"/>
                </a:solidFill>
                <a:latin typeface="Nunito Sans" pitchFamily="2" charset="0"/>
                <a:cs typeface="Courier New" panose="02070309020205020404" pitchFamily="49" charset="0"/>
              </a:rPr>
              <a:t>}</a:t>
            </a:r>
          </a:p>
          <a:p>
            <a:r>
              <a:rPr lang="en-IN" altLang="en-US" sz="2000" b="1" dirty="0">
                <a:solidFill>
                  <a:schemeClr val="bg1"/>
                </a:solidFill>
                <a:latin typeface="Nunito Sans" pitchFamily="2" charset="0"/>
                <a:cs typeface="Courier New" panose="02070309020205020404" pitchFamily="49" charset="0"/>
              </a:rPr>
              <a:t>int main() </a:t>
            </a:r>
          </a:p>
          <a:p>
            <a:r>
              <a:rPr lang="en-IN" altLang="en-US" sz="2000" b="1" dirty="0">
                <a:solidFill>
                  <a:schemeClr val="bg1"/>
                </a:solidFill>
                <a:latin typeface="Nunito Sans" pitchFamily="2" charset="0"/>
                <a:cs typeface="Courier New" panose="02070309020205020404" pitchFamily="49" charset="0"/>
              </a:rPr>
              <a:t>{</a:t>
            </a:r>
          </a:p>
          <a:p>
            <a:r>
              <a:rPr lang="en-IN" altLang="en-US" sz="2000" b="1" dirty="0">
                <a:solidFill>
                  <a:schemeClr val="bg1"/>
                </a:solidFill>
                <a:latin typeface="Nunito Sans" pitchFamily="2" charset="0"/>
                <a:cs typeface="Courier New" panose="02070309020205020404" pitchFamily="49" charset="0"/>
              </a:rPr>
              <a:t>    int N;</a:t>
            </a:r>
          </a:p>
          <a:p>
            <a:r>
              <a:rPr lang="en-IN" altLang="en-US" sz="2000" b="1" dirty="0">
                <a:solidFill>
                  <a:schemeClr val="bg1"/>
                </a:solidFill>
                <a:latin typeface="Nunito Sans" pitchFamily="2" charset="0"/>
                <a:cs typeface="Courier New" panose="02070309020205020404" pitchFamily="49" charset="0"/>
              </a:rPr>
              <a:t>    scanf("%d", &amp;N);</a:t>
            </a:r>
          </a:p>
          <a:p>
            <a:r>
              <a:rPr lang="en-IN" altLang="en-US" sz="2000" b="1" dirty="0">
                <a:solidFill>
                  <a:schemeClr val="bg1"/>
                </a:solidFill>
                <a:latin typeface="Nunito Sans" pitchFamily="2" charset="0"/>
                <a:cs typeface="Courier New" panose="02070309020205020404" pitchFamily="49" charset="0"/>
              </a:rPr>
              <a:t>    int a[N];</a:t>
            </a:r>
          </a:p>
          <a:p>
            <a:r>
              <a:rPr lang="en-IN" altLang="en-US" sz="2000" b="1" dirty="0">
                <a:solidFill>
                  <a:schemeClr val="bg1"/>
                </a:solidFill>
                <a:latin typeface="Nunito Sans" pitchFamily="2" charset="0"/>
                <a:cs typeface="Courier New" panose="02070309020205020404" pitchFamily="49" charset="0"/>
              </a:rPr>
              <a:t>    for (int i = 0; i &lt; N; i++) </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scanf("%d", &amp;a[i]);</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if (isTransactionPossible(a, N)) </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printf("Transaction successful");</a:t>
            </a:r>
          </a:p>
          <a:p>
            <a:r>
              <a:rPr lang="en-IN" altLang="en-US" sz="2000" b="1" dirty="0">
                <a:solidFill>
                  <a:schemeClr val="bg1"/>
                </a:solidFill>
                <a:latin typeface="Nunito Sans" pitchFamily="2" charset="0"/>
                <a:cs typeface="Courier New" panose="02070309020205020404" pitchFamily="49" charset="0"/>
              </a:rPr>
              <a:t>    } </a:t>
            </a:r>
          </a:p>
          <a:p>
            <a:r>
              <a:rPr lang="en-IN" altLang="en-US" sz="2000" b="1" dirty="0">
                <a:solidFill>
                  <a:schemeClr val="bg1"/>
                </a:solidFill>
                <a:latin typeface="Nunito Sans" pitchFamily="2" charset="0"/>
                <a:cs typeface="Courier New" panose="02070309020205020404" pitchFamily="49" charset="0"/>
              </a:rPr>
              <a:t>    else </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printf("Transaction failed");</a:t>
            </a:r>
          </a:p>
          <a:p>
            <a:r>
              <a:rPr lang="en-IN" altLang="en-US" sz="2000" b="1" dirty="0">
                <a:solidFill>
                  <a:schemeClr val="bg1"/>
                </a:solidFill>
                <a:latin typeface="Nunito Sans" pitchFamily="2" charset="0"/>
                <a:cs typeface="Courier New" panose="02070309020205020404" pitchFamily="49" charset="0"/>
              </a:rPr>
              <a:t>    }</a:t>
            </a:r>
          </a:p>
          <a:p>
            <a:endParaRPr lang="en-IN" altLang="en-US" sz="2000" b="1" dirty="0">
              <a:solidFill>
                <a:schemeClr val="bg1"/>
              </a:solidFill>
              <a:latin typeface="Nunito Sans" pitchFamily="2" charset="0"/>
              <a:cs typeface="Courier New" panose="02070309020205020404" pitchFamily="49" charset="0"/>
            </a:endParaRPr>
          </a:p>
          <a:p>
            <a:r>
              <a:rPr lang="en-IN" altLang="en-US" sz="2000" b="1" dirty="0">
                <a:solidFill>
                  <a:schemeClr val="bg1"/>
                </a:solidFill>
                <a:latin typeface="Nunito Sans" pitchFamily="2" charset="0"/>
                <a:cs typeface="Courier New" panose="02070309020205020404" pitchFamily="49" charset="0"/>
              </a:rPr>
              <a:t>    return 0;</a:t>
            </a:r>
          </a:p>
          <a:p>
            <a:r>
              <a:rPr lang="en-IN" altLang="en-US" sz="2000" b="1" dirty="0">
                <a:solidFill>
                  <a:schemeClr val="bg1"/>
                </a:solidFill>
                <a:latin typeface="Nunito Sans" pitchFamily="2" charset="0"/>
                <a:cs typeface="Courier New" panose="02070309020205020404" pitchFamily="49" charset="0"/>
              </a:rPr>
              <a:t>}</a:t>
            </a: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bool isTransactionPossible(int a[], int 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change30 = 0;  </a:t>
            </a:r>
          </a:p>
          <a:p>
            <a:r>
              <a:rPr lang="en-US" sz="2000" b="1" dirty="0">
                <a:solidFill>
                  <a:schemeClr val="bg1"/>
                </a:solidFill>
                <a:latin typeface="Nunito Sans" pitchFamily="2" charset="0"/>
                <a:cs typeface="Courier New" panose="02070309020205020404" pitchFamily="49" charset="0"/>
              </a:rPr>
              <a:t>    int change60 = 0;  </a:t>
            </a:r>
          </a:p>
          <a:p>
            <a:r>
              <a:rPr lang="en-US" sz="2000" b="1" dirty="0">
                <a:solidFill>
                  <a:schemeClr val="bg1"/>
                </a:solidFill>
                <a:latin typeface="Nunito Sans" pitchFamily="2" charset="0"/>
                <a:cs typeface="Courier New" panose="02070309020205020404" pitchFamily="49" charset="0"/>
              </a:rPr>
              <a:t>    int change120 = 0;</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(a[i] == 30)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₹30, no change required</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(a[i] == 60)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₹60, return ₹30 change if available</a:t>
            </a:r>
          </a:p>
          <a:p>
            <a:r>
              <a:rPr lang="en-US" sz="2000" b="1" dirty="0">
                <a:solidFill>
                  <a:schemeClr val="bg1"/>
                </a:solidFill>
                <a:latin typeface="Nunito Sans" pitchFamily="2" charset="0"/>
                <a:cs typeface="Courier New" panose="02070309020205020404" pitchFamily="49" charset="0"/>
              </a:rPr>
              <a:t>            if (change30 &gt;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return false;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change60++;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(a[i] == 120)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₹120, return ₹90 change if available</a:t>
            </a:r>
          </a:p>
          <a:p>
            <a:r>
              <a:rPr lang="en-US" sz="2000" b="1" dirty="0">
                <a:solidFill>
                  <a:schemeClr val="bg1"/>
                </a:solidFill>
                <a:latin typeface="Nunito Sans" pitchFamily="2" charset="0"/>
                <a:cs typeface="Courier New" panose="02070309020205020404" pitchFamily="49" charset="0"/>
              </a:rPr>
              <a:t>            if (change30 &gt; 0 &amp;&amp; change60 &gt;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change60--;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(change30 &gt;= 3)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change30 -= 3;</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false;</a:t>
            </a:r>
          </a:p>
          <a:p>
            <a:r>
              <a:rPr 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a:t>
            </a:r>
            <a:r>
              <a:rPr lang="en-US" sz="2000" b="1" dirty="0">
                <a:solidFill>
                  <a:schemeClr val="bg1"/>
                </a:solidFill>
                <a:latin typeface="Nunito Sans" pitchFamily="2" charset="0"/>
                <a:cs typeface="Courier New" panose="02070309020205020404" pitchFamily="49" charset="0"/>
              </a:rPr>
              <a:t>change120++;</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true;</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a:t>
            </a:r>
          </a:p>
          <a:p>
            <a:r>
              <a:rPr lang="en-US" sz="2000" b="1" dirty="0">
                <a:solidFill>
                  <a:schemeClr val="bg1"/>
                </a:solidFill>
                <a:latin typeface="Nunito Sans" pitchFamily="2" charset="0"/>
                <a:cs typeface="Courier New" panose="02070309020205020404" pitchFamily="49" charset="0"/>
              </a:rPr>
              <a:t>    cin &gt;&gt; N;</a:t>
            </a:r>
          </a:p>
          <a:p>
            <a:r>
              <a:rPr lang="en-US" sz="2000" b="1" dirty="0">
                <a:solidFill>
                  <a:schemeClr val="bg1"/>
                </a:solidFill>
                <a:latin typeface="Nunito Sans" pitchFamily="2" charset="0"/>
                <a:cs typeface="Courier New" panose="02070309020205020404" pitchFamily="49" charset="0"/>
              </a:rPr>
              <a:t>    int a[N];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cin &gt;&gt; a[i];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(isTransactionPossible(a, N))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cout &lt;&lt; "Transaction successful" &lt;&lt; endl;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cout &lt;&lt; "Transaction failed" &lt;&lt; endl;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258445" y="26924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int isTransactionPossible(int[] a, int N)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change30 = 0;</a:t>
            </a:r>
          </a:p>
          <a:p>
            <a:r>
              <a:rPr lang="en-US" sz="2000" b="1" dirty="0">
                <a:solidFill>
                  <a:schemeClr val="bg1"/>
                </a:solidFill>
                <a:latin typeface="Nunito Sans" pitchFamily="2" charset="0"/>
                <a:cs typeface="Courier New" panose="02070309020205020404" pitchFamily="49" charset="0"/>
              </a:rPr>
              <a:t>        int change60 = 0;</a:t>
            </a:r>
          </a:p>
          <a:p>
            <a:r>
              <a:rPr lang="en-US" sz="2000" b="1" dirty="0">
                <a:solidFill>
                  <a:schemeClr val="bg1"/>
                </a:solidFill>
                <a:latin typeface="Nunito Sans" pitchFamily="2" charset="0"/>
                <a:cs typeface="Courier New" panose="02070309020205020404" pitchFamily="49" charset="0"/>
              </a:rPr>
              <a:t>        int change120 = 0;</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(a[i] == 30)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₹30, no change required</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(a[i] == 60)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₹60, return ₹30 change if available</a:t>
            </a:r>
          </a:p>
          <a:p>
            <a:r>
              <a:rPr lang="en-US" sz="2000" b="1" dirty="0">
                <a:solidFill>
                  <a:schemeClr val="bg1"/>
                </a:solidFill>
                <a:latin typeface="Nunito Sans" pitchFamily="2" charset="0"/>
                <a:cs typeface="Courier New" panose="02070309020205020404" pitchFamily="49" charset="0"/>
              </a:rPr>
              <a:t>                if (change30 &gt;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3" name="Picture 2">
            <a:extLst>
              <a:ext uri="{FF2B5EF4-FFF2-40B4-BE49-F238E27FC236}">
                <a16:creationId xmlns:a16="http://schemas.microsoft.com/office/drawing/2014/main" id="{0DC0B019-B958-74A2-3C00-187F40B5D9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23348"/>
            <a:ext cx="2356664" cy="2988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change60++;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(a[i] == 120)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If customer pays ₹120, return ₹90 change if available</a:t>
            </a:r>
          </a:p>
          <a:p>
            <a:r>
              <a:rPr lang="en-US" sz="2000" b="1" dirty="0">
                <a:solidFill>
                  <a:schemeClr val="bg1"/>
                </a:solidFill>
                <a:latin typeface="Nunito Sans" pitchFamily="2" charset="0"/>
                <a:cs typeface="Courier New" panose="02070309020205020404" pitchFamily="49" charset="0"/>
              </a:rPr>
              <a:t>                if (change30 &gt; 0 &amp;&amp; change60 &gt;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a:t>
            </a:r>
          </a:p>
          <a:p>
            <a:r>
              <a:rPr lang="en-US" sz="2000" b="1" dirty="0">
                <a:solidFill>
                  <a:schemeClr val="bg1"/>
                </a:solidFill>
                <a:latin typeface="Nunito Sans" pitchFamily="2" charset="0"/>
                <a:cs typeface="Courier New" panose="02070309020205020404" pitchFamily="49" charset="0"/>
              </a:rPr>
              <a:t>                    change60--;</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(change30 &gt;= 3)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change30 -= 3;</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0;</a:t>
            </a:r>
          </a:p>
          <a:p>
            <a:r>
              <a:rPr lang="en-IN" altLang="en-US" sz="2000" b="1" dirty="0">
                <a:solidFill>
                  <a:schemeClr val="bg1"/>
                </a:solidFill>
                <a:latin typeface="Nunito Sans" pitchFamily="2" charset="0"/>
                <a:cs typeface="Courier New" panose="02070309020205020404" pitchFamily="49" charset="0"/>
              </a:rPr>
              <a:t>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change120++;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N = scanner.nextInt();</a:t>
            </a:r>
          </a:p>
          <a:p>
            <a:r>
              <a:rPr lang="en-US" sz="2000" b="1" dirty="0">
                <a:solidFill>
                  <a:schemeClr val="bg1"/>
                </a:solidFill>
                <a:latin typeface="Nunito Sans" pitchFamily="2" charset="0"/>
                <a:cs typeface="Courier New" panose="02070309020205020404" pitchFamily="49" charset="0"/>
              </a:rPr>
              <a:t>        int[] a = new int[N];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a[i] = 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(isTransactionPossible(a, N) == 1)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System.out.println("Transaction successful");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System.out.println("Transaction failed");</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a:t>
            </a:r>
          </a:p>
        </p:txBody>
      </p:sp>
      <p:sp>
        <p:nvSpPr>
          <p:cNvPr id="5" name="Rectangle 4"/>
          <p:cNvSpPr/>
          <p:nvPr/>
        </p:nvSpPr>
        <p:spPr>
          <a:xfrm>
            <a:off x="258445" y="26924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a:t>
            </a:r>
            <a:r>
              <a:rPr lang="en-IN" altLang="en-US" sz="2000" b="1" dirty="0">
                <a:solidFill>
                  <a:schemeClr val="bg1"/>
                </a:solidFill>
                <a:latin typeface="Nunito Sans" pitchFamily="2" charset="0"/>
                <a:cs typeface="Courier New" panose="02070309020205020404" pitchFamily="49" charset="0"/>
              </a:rPr>
              <a:t>s</a:t>
            </a:r>
            <a:r>
              <a:rPr lang="en-US" sz="2000" b="1" dirty="0">
                <a:solidFill>
                  <a:schemeClr val="bg1"/>
                </a:solidFill>
                <a:latin typeface="Nunito Sans" pitchFamily="2" charset="0"/>
                <a:cs typeface="Courier New" panose="02070309020205020404" pitchFamily="49" charset="0"/>
                <a:sym typeface="+mn-ea"/>
              </a:rPr>
              <a:t>canner.close();</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258445" y="26924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is_transaction_possible(a, N):</a:t>
            </a:r>
          </a:p>
          <a:p>
            <a:r>
              <a:rPr lang="en-US" sz="2000" b="1" dirty="0">
                <a:solidFill>
                  <a:schemeClr val="bg1"/>
                </a:solidFill>
                <a:latin typeface="Nunito Sans" pitchFamily="2" charset="0"/>
                <a:cs typeface="Courier New" panose="02070309020205020404" pitchFamily="49" charset="0"/>
              </a:rPr>
              <a:t>    change30 = 0</a:t>
            </a:r>
          </a:p>
          <a:p>
            <a:r>
              <a:rPr lang="en-US" sz="2000" b="1" dirty="0">
                <a:solidFill>
                  <a:schemeClr val="bg1"/>
                </a:solidFill>
                <a:latin typeface="Nunito Sans" pitchFamily="2" charset="0"/>
                <a:cs typeface="Courier New" panose="02070309020205020404" pitchFamily="49" charset="0"/>
              </a:rPr>
              <a:t>    change60 = 0</a:t>
            </a:r>
          </a:p>
          <a:p>
            <a:r>
              <a:rPr lang="en-US" sz="2000" b="1" dirty="0">
                <a:solidFill>
                  <a:schemeClr val="bg1"/>
                </a:solidFill>
                <a:latin typeface="Nunito Sans" pitchFamily="2" charset="0"/>
                <a:cs typeface="Courier New" panose="02070309020205020404" pitchFamily="49" charset="0"/>
              </a:rPr>
              <a:t>    change120 = 0</a:t>
            </a:r>
          </a:p>
          <a:p>
            <a:r>
              <a:rPr lang="en-US" sz="2000" b="1" dirty="0">
                <a:solidFill>
                  <a:schemeClr val="bg1"/>
                </a:solidFill>
                <a:latin typeface="Nunito Sans" pitchFamily="2" charset="0"/>
                <a:cs typeface="Courier New" panose="02070309020205020404" pitchFamily="49" charset="0"/>
              </a:rPr>
              <a:t>    for i in range(N):</a:t>
            </a:r>
          </a:p>
          <a:p>
            <a:r>
              <a:rPr lang="en-US" sz="2000" b="1" dirty="0">
                <a:solidFill>
                  <a:schemeClr val="bg1"/>
                </a:solidFill>
                <a:latin typeface="Nunito Sans" pitchFamily="2" charset="0"/>
                <a:cs typeface="Courier New" panose="02070309020205020404" pitchFamily="49" charset="0"/>
              </a:rPr>
              <a:t>        if a[i] == 30:</a:t>
            </a:r>
          </a:p>
          <a:p>
            <a:r>
              <a:rPr lang="en-US" sz="2000" b="1" dirty="0">
                <a:solidFill>
                  <a:schemeClr val="bg1"/>
                </a:solidFill>
                <a:latin typeface="Nunito Sans" pitchFamily="2" charset="0"/>
                <a:cs typeface="Courier New" panose="02070309020205020404" pitchFamily="49" charset="0"/>
              </a:rPr>
              <a:t>            # If customer pays ₹30, no change required</a:t>
            </a:r>
          </a:p>
          <a:p>
            <a:r>
              <a:rPr lang="en-US" sz="2000" b="1" dirty="0">
                <a:solidFill>
                  <a:schemeClr val="bg1"/>
                </a:solidFill>
                <a:latin typeface="Nunito Sans" pitchFamily="2" charset="0"/>
                <a:cs typeface="Courier New" panose="02070309020205020404" pitchFamily="49" charset="0"/>
              </a:rPr>
              <a:t>            change30 += 1</a:t>
            </a:r>
          </a:p>
          <a:p>
            <a:r>
              <a:rPr lang="en-US" sz="2000" b="1" dirty="0">
                <a:solidFill>
                  <a:schemeClr val="bg1"/>
                </a:solidFill>
                <a:latin typeface="Nunito Sans" pitchFamily="2" charset="0"/>
                <a:cs typeface="Courier New" panose="02070309020205020404" pitchFamily="49" charset="0"/>
              </a:rPr>
              <a:t>        elif a[i] == 60:</a:t>
            </a:r>
          </a:p>
          <a:p>
            <a:r>
              <a:rPr lang="en-US" sz="2000" b="1" dirty="0">
                <a:solidFill>
                  <a:schemeClr val="bg1"/>
                </a:solidFill>
                <a:latin typeface="Nunito Sans" pitchFamily="2" charset="0"/>
                <a:cs typeface="Courier New" panose="02070309020205020404" pitchFamily="49" charset="0"/>
              </a:rPr>
              <a:t>            # If customer pays ₹60, return ₹30 change if available</a:t>
            </a:r>
          </a:p>
          <a:p>
            <a:r>
              <a:rPr lang="en-US" sz="2000" b="1" dirty="0">
                <a:solidFill>
                  <a:schemeClr val="bg1"/>
                </a:solidFill>
                <a:latin typeface="Nunito Sans" pitchFamily="2" charset="0"/>
                <a:cs typeface="Courier New" panose="02070309020205020404" pitchFamily="49" charset="0"/>
              </a:rPr>
              <a:t>            if change30 &gt; 0:</a:t>
            </a:r>
          </a:p>
          <a:p>
            <a:r>
              <a:rPr lang="en-US" sz="2000" b="1" dirty="0">
                <a:solidFill>
                  <a:schemeClr val="bg1"/>
                </a:solidFill>
                <a:latin typeface="Nunito Sans" pitchFamily="2" charset="0"/>
                <a:cs typeface="Courier New" panose="02070309020205020404" pitchFamily="49" charset="0"/>
              </a:rPr>
              <a:t>                change30 -= 1</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            change60 += 1</a:t>
            </a:r>
          </a:p>
          <a:p>
            <a:r>
              <a:rPr lang="en-US" sz="2000" b="1" dirty="0">
                <a:solidFill>
                  <a:schemeClr val="bg1"/>
                </a:solidFill>
                <a:latin typeface="Nunito Sans" pitchFamily="2" charset="0"/>
                <a:cs typeface="Courier New" panose="02070309020205020404" pitchFamily="49" charset="0"/>
              </a:rPr>
              <a:t>        elif a[i] == 120:</a:t>
            </a:r>
          </a:p>
          <a:p>
            <a:r>
              <a:rPr lang="en-US" sz="2000" b="1" dirty="0">
                <a:solidFill>
                  <a:schemeClr val="bg1"/>
                </a:solidFill>
                <a:latin typeface="Nunito Sans" pitchFamily="2" charset="0"/>
                <a:cs typeface="Courier New" panose="02070309020205020404" pitchFamily="49" charset="0"/>
              </a:rPr>
              <a:t>            # If customer pays ₹120, return ₹90 change if available</a:t>
            </a:r>
          </a:p>
          <a:p>
            <a:r>
              <a:rPr lang="en-US" sz="2000" b="1" dirty="0">
                <a:solidFill>
                  <a:schemeClr val="bg1"/>
                </a:solidFill>
                <a:latin typeface="Nunito Sans" pitchFamily="2" charset="0"/>
                <a:cs typeface="Courier New" panose="02070309020205020404" pitchFamily="49" charset="0"/>
              </a:rPr>
              <a:t>            if change30 &gt; 0 and change60 &gt; 0:</a:t>
            </a:r>
          </a:p>
          <a:p>
            <a:r>
              <a:rPr lang="en-US" sz="2000" b="1" dirty="0">
                <a:solidFill>
                  <a:schemeClr val="bg1"/>
                </a:solidFill>
                <a:latin typeface="Nunito Sans" pitchFamily="2" charset="0"/>
                <a:cs typeface="Courier New" panose="02070309020205020404" pitchFamily="49" charset="0"/>
              </a:rPr>
              <a:t>                change30 -= 1</a:t>
            </a:r>
          </a:p>
          <a:p>
            <a:r>
              <a:rPr lang="en-US" sz="2000" b="1" dirty="0">
                <a:solidFill>
                  <a:schemeClr val="bg1"/>
                </a:solidFill>
                <a:latin typeface="Nunito Sans" pitchFamily="2" charset="0"/>
                <a:cs typeface="Courier New" panose="02070309020205020404" pitchFamily="49" charset="0"/>
              </a:rPr>
              <a:t>                change60 -= 1</a:t>
            </a:r>
          </a:p>
          <a:p>
            <a:r>
              <a:rPr lang="en-US" sz="2000" b="1" dirty="0">
                <a:solidFill>
                  <a:schemeClr val="bg1"/>
                </a:solidFill>
                <a:latin typeface="Nunito Sans" pitchFamily="2" charset="0"/>
                <a:cs typeface="Courier New" panose="02070309020205020404" pitchFamily="49" charset="0"/>
              </a:rPr>
              <a:t>            elif change30 &gt;= 3:</a:t>
            </a:r>
          </a:p>
          <a:p>
            <a:r>
              <a:rPr lang="en-US" sz="2000" b="1" dirty="0">
                <a:solidFill>
                  <a:schemeClr val="bg1"/>
                </a:solidFill>
                <a:latin typeface="Nunito Sans" pitchFamily="2" charset="0"/>
                <a:cs typeface="Courier New" panose="02070309020205020404" pitchFamily="49" charset="0"/>
              </a:rPr>
              <a:t>                change30 -= 3</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a:t>
            </a:r>
            <a:r>
              <a:rPr lang="en-IN" altLang="en-US" sz="2000" b="1" dirty="0">
                <a:solidFill>
                  <a:schemeClr val="bg1"/>
                </a:solidFill>
                <a:latin typeface="Nunito Sans" pitchFamily="2" charset="0"/>
                <a:cs typeface="Courier New" panose="02070309020205020404" pitchFamily="49" charset="0"/>
              </a:rPr>
              <a:t>		</a:t>
            </a:r>
            <a:r>
              <a:rPr lang="en-US" sz="2000" b="1" dirty="0">
                <a:solidFill>
                  <a:schemeClr val="bg1"/>
                </a:solidFill>
                <a:latin typeface="Nunito Sans" pitchFamily="2" charset="0"/>
                <a:cs typeface="Courier New" panose="02070309020205020404" pitchFamily="49" charset="0"/>
              </a:rPr>
              <a:t>else:</a:t>
            </a:r>
          </a:p>
          <a:p>
            <a:r>
              <a:rPr lang="en-IN" altLang="en-US" sz="2000" b="1" dirty="0">
                <a:solidFill>
                  <a:schemeClr val="bg1"/>
                </a:solidFill>
                <a:latin typeface="Nunito Sans" pitchFamily="2" charset="0"/>
                <a:cs typeface="Courier New" panose="02070309020205020404" pitchFamily="49" charset="0"/>
              </a:rPr>
              <a:t>                return 0</a:t>
            </a:r>
          </a:p>
          <a:p>
            <a:r>
              <a:rPr lang="en-IN" altLang="en-US" sz="2000" b="1" dirty="0">
                <a:solidFill>
                  <a:schemeClr val="bg1"/>
                </a:solidFill>
                <a:latin typeface="Nunito Sans" pitchFamily="2" charset="0"/>
                <a:cs typeface="Courier New" panose="02070309020205020404" pitchFamily="49" charset="0"/>
              </a:rPr>
              <a:t>            change120 += 1</a:t>
            </a:r>
          </a:p>
          <a:p>
            <a:r>
              <a:rPr lang="en-IN" altLang="en-US" sz="2000" b="1" dirty="0">
                <a:solidFill>
                  <a:schemeClr val="bg1"/>
                </a:solidFill>
                <a:latin typeface="Nunito Sans" pitchFamily="2" charset="0"/>
                <a:cs typeface="Courier New" panose="02070309020205020404" pitchFamily="49" charset="0"/>
              </a:rPr>
              <a:t>    return 1</a:t>
            </a:r>
          </a:p>
          <a:p>
            <a:r>
              <a:rPr lang="en-IN" altLang="en-US" sz="2000" b="1" dirty="0">
                <a:solidFill>
                  <a:schemeClr val="bg1"/>
                </a:solidFill>
                <a:latin typeface="Nunito Sans" pitchFamily="2" charset="0"/>
                <a:cs typeface="Courier New" panose="02070309020205020404" pitchFamily="49" charset="0"/>
              </a:rPr>
              <a:t>N = int(input())</a:t>
            </a:r>
          </a:p>
          <a:p>
            <a:r>
              <a:rPr lang="en-IN" altLang="en-US" sz="2000" b="1" dirty="0">
                <a:solidFill>
                  <a:schemeClr val="bg1"/>
                </a:solidFill>
                <a:latin typeface="Nunito Sans" pitchFamily="2" charset="0"/>
                <a:cs typeface="Courier New" panose="02070309020205020404" pitchFamily="49" charset="0"/>
              </a:rPr>
              <a:t>a = []</a:t>
            </a:r>
          </a:p>
          <a:p>
            <a:r>
              <a:rPr lang="en-IN" altLang="en-US" sz="2000" b="1" dirty="0">
                <a:solidFill>
                  <a:schemeClr val="bg1"/>
                </a:solidFill>
                <a:latin typeface="Nunito Sans" pitchFamily="2" charset="0"/>
                <a:cs typeface="Courier New" panose="02070309020205020404" pitchFamily="49" charset="0"/>
              </a:rPr>
              <a:t>for i in range(N):</a:t>
            </a:r>
          </a:p>
          <a:p>
            <a:r>
              <a:rPr lang="en-IN" altLang="en-US" sz="2000" b="1" dirty="0">
                <a:solidFill>
                  <a:schemeClr val="bg1"/>
                </a:solidFill>
                <a:latin typeface="Nunito Sans" pitchFamily="2" charset="0"/>
                <a:cs typeface="Courier New" panose="02070309020205020404" pitchFamily="49" charset="0"/>
              </a:rPr>
              <a:t>    a.append(int(input()))</a:t>
            </a:r>
          </a:p>
          <a:p>
            <a:r>
              <a:rPr lang="en-IN" altLang="en-US" sz="2000" b="1" dirty="0">
                <a:solidFill>
                  <a:schemeClr val="bg1"/>
                </a:solidFill>
                <a:latin typeface="Nunito Sans" pitchFamily="2" charset="0"/>
                <a:cs typeface="Courier New" panose="02070309020205020404" pitchFamily="49" charset="0"/>
              </a:rPr>
              <a:t>if is_transaction_possible(a, N) == 1:</a:t>
            </a:r>
          </a:p>
          <a:p>
            <a:r>
              <a:rPr lang="en-IN" altLang="en-US" sz="2000" b="1" dirty="0">
                <a:solidFill>
                  <a:schemeClr val="bg1"/>
                </a:solidFill>
                <a:latin typeface="Nunito Sans" pitchFamily="2" charset="0"/>
                <a:cs typeface="Courier New" panose="02070309020205020404" pitchFamily="49" charset="0"/>
              </a:rPr>
              <a:t>    print("Transaction successful")</a:t>
            </a:r>
          </a:p>
          <a:p>
            <a:r>
              <a:rPr lang="en-IN" altLang="en-US" sz="2000" b="1" dirty="0">
                <a:solidFill>
                  <a:schemeClr val="bg1"/>
                </a:solidFill>
                <a:latin typeface="Nunito Sans" pitchFamily="2" charset="0"/>
                <a:cs typeface="Courier New" panose="02070309020205020404" pitchFamily="49" charset="0"/>
              </a:rPr>
              <a:t>else:</a:t>
            </a:r>
          </a:p>
          <a:p>
            <a:r>
              <a:rPr lang="en-IN" altLang="en-US" sz="2000" b="1" dirty="0">
                <a:solidFill>
                  <a:schemeClr val="bg1"/>
                </a:solidFill>
                <a:latin typeface="Nunito Sans" pitchFamily="2" charset="0"/>
                <a:cs typeface="Courier New" panose="02070309020205020404" pitchFamily="49" charset="0"/>
              </a:rPr>
              <a:t>    print("Transaction failed")</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938084" y="1499639"/>
            <a:ext cx="10160892" cy="1014730"/>
          </a:xfrm>
          <a:prstGeom prst="rect">
            <a:avLst/>
          </a:prstGeom>
          <a:noFill/>
        </p:spPr>
        <p:txBody>
          <a:bodyPr wrap="square" rtlCol="0">
            <a:spAutoFit/>
          </a:bodyPr>
          <a:lstStyle/>
          <a:p>
            <a:r>
              <a:rPr lang="en-US" sz="6000" dirty="0">
                <a:latin typeface="Nunito Sans SemiBold" panose="00000700000000000000" pitchFamily="2" charset="0"/>
              </a:rPr>
              <a:t>Set </a:t>
            </a:r>
            <a:r>
              <a:rPr lang="en-IN" altLang="en-US" sz="6000" dirty="0">
                <a:latin typeface="Nunito Sans SemiBold" panose="00000700000000000000" pitchFamily="2" charset="0"/>
              </a:rPr>
              <a:t>B</a:t>
            </a:r>
          </a:p>
        </p:txBody>
      </p:sp>
      <p:pic>
        <p:nvPicPr>
          <p:cNvPr id="2" name="Picture 1">
            <a:extLst>
              <a:ext uri="{FF2B5EF4-FFF2-40B4-BE49-F238E27FC236}">
                <a16:creationId xmlns:a16="http://schemas.microsoft.com/office/drawing/2014/main" id="{95D48F7B-BCCC-05DC-BDF3-6C4DC92427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11</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7" name="TextBox 13"/>
          <p:cNvSpPr txBox="1"/>
          <p:nvPr/>
        </p:nvSpPr>
        <p:spPr>
          <a:xfrm>
            <a:off x="194310" y="953770"/>
            <a:ext cx="11875770" cy="5478423"/>
          </a:xfrm>
          <a:prstGeom prst="rect">
            <a:avLst/>
          </a:prstGeom>
          <a:noFill/>
        </p:spPr>
        <p:txBody>
          <a:bodyPr wrap="square" rtlCol="0">
            <a:spAutoFit/>
          </a:bodyPr>
          <a:lstStyle/>
          <a:p>
            <a:r>
              <a:rPr lang="en-US" sz="2500" dirty="0">
                <a:latin typeface="Nunito Sans" panose="00000500000000000000" pitchFamily="2" charset="0"/>
              </a:rPr>
              <a:t>Given a string in which the same character occurs in many consecutive character elements. Your task is to find the characters that have even frequency and are consecutive. Display the sum of every frequency count( For even frequency only)</a:t>
            </a:r>
          </a:p>
          <a:p>
            <a:r>
              <a:rPr lang="en-US" sz="2500" dirty="0">
                <a:latin typeface="Nunito Sans" panose="00000500000000000000" pitchFamily="2" charset="0"/>
              </a:rPr>
              <a:t>Example 1:</a:t>
            </a:r>
          </a:p>
          <a:p>
            <a:r>
              <a:rPr lang="en-US" sz="2500" dirty="0">
                <a:latin typeface="Nunito Sans" panose="00000500000000000000" pitchFamily="2" charset="0"/>
              </a:rPr>
              <a:t>Sample Input:</a:t>
            </a:r>
          </a:p>
          <a:p>
            <a:r>
              <a:rPr lang="en-US" sz="2500" dirty="0">
                <a:latin typeface="Nunito Sans" panose="00000500000000000000" pitchFamily="2" charset="0"/>
              </a:rPr>
              <a:t>aaabbaccccdd    </a:t>
            </a:r>
          </a:p>
          <a:p>
            <a:r>
              <a:rPr lang="en-US" sz="2500" dirty="0">
                <a:latin typeface="Nunito Sans" panose="00000500000000000000" pitchFamily="2" charset="0"/>
              </a:rPr>
              <a:t>Sample Output:</a:t>
            </a:r>
          </a:p>
          <a:p>
            <a:r>
              <a:rPr lang="en-US" sz="2500" dirty="0">
                <a:latin typeface="Nunito Sans" panose="00000500000000000000" pitchFamily="2" charset="0"/>
              </a:rPr>
              <a:t>8</a:t>
            </a:r>
          </a:p>
          <a:p>
            <a:endParaRPr lang="en-US" sz="2500" dirty="0">
              <a:latin typeface="Nunito Sans" panose="00000500000000000000" pitchFamily="2" charset="0"/>
            </a:endParaRPr>
          </a:p>
          <a:p>
            <a:r>
              <a:rPr lang="en-US" sz="2500" dirty="0">
                <a:latin typeface="Nunito Sans" panose="00000500000000000000" pitchFamily="2" charset="0"/>
              </a:rPr>
              <a:t>Example 2</a:t>
            </a:r>
          </a:p>
          <a:p>
            <a:r>
              <a:rPr lang="en-US" sz="2500" dirty="0">
                <a:latin typeface="Nunito Sans" panose="00000500000000000000" pitchFamily="2" charset="0"/>
              </a:rPr>
              <a:t>Sample Input:</a:t>
            </a:r>
          </a:p>
          <a:p>
            <a:r>
              <a:rPr lang="en-US" sz="2500" dirty="0">
                <a:latin typeface="Nunito Sans" panose="00000500000000000000" pitchFamily="2" charset="0"/>
              </a:rPr>
              <a:t>vdkkmmmnn  </a:t>
            </a:r>
          </a:p>
          <a:p>
            <a:r>
              <a:rPr lang="en-US" sz="2500" dirty="0">
                <a:latin typeface="Nunito Sans" panose="00000500000000000000" pitchFamily="2" charset="0"/>
              </a:rPr>
              <a:t>Sample Output:</a:t>
            </a:r>
          </a:p>
          <a:p>
            <a:r>
              <a:rPr lang="en-US" sz="2500" dirty="0">
                <a:latin typeface="Nunito Sans" panose="00000500000000000000" pitchFamily="2" charset="0"/>
              </a:rPr>
              <a:t>4</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&lt;string.h&gt;</a:t>
            </a:r>
          </a:p>
          <a:p>
            <a:r>
              <a:rPr lang="en-US" sz="2000" b="1" dirty="0">
                <a:solidFill>
                  <a:schemeClr val="bg1"/>
                </a:solidFill>
                <a:latin typeface="Nunito Sans" pitchFamily="2" charset="0"/>
                <a:cs typeface="Courier New" panose="02070309020205020404" pitchFamily="49" charset="0"/>
              </a:rPr>
              <a:t>int findSumOfEvenFrequency(char str[])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sum = 0;</a:t>
            </a:r>
          </a:p>
          <a:p>
            <a:r>
              <a:rPr lang="en-US" sz="2000" b="1" dirty="0">
                <a:solidFill>
                  <a:schemeClr val="bg1"/>
                </a:solidFill>
                <a:latin typeface="Nunito Sans" pitchFamily="2" charset="0"/>
                <a:cs typeface="Courier New" panose="02070309020205020404" pitchFamily="49" charset="0"/>
              </a:rPr>
              <a:t>    int count = 1;</a:t>
            </a:r>
          </a:p>
          <a:p>
            <a:r>
              <a:rPr lang="en-US" sz="2000" b="1" dirty="0">
                <a:solidFill>
                  <a:schemeClr val="bg1"/>
                </a:solidFill>
                <a:latin typeface="Nunito Sans" pitchFamily="2" charset="0"/>
                <a:cs typeface="Courier New" panose="02070309020205020404" pitchFamily="49" charset="0"/>
              </a:rPr>
              <a:t>    for (int i = 1; i &lt; strlen(str);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(str[i] == str[i - 1])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count++;</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(count % 2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sum += count;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count =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Check the count of the last character sequence</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if (count % 2 == 0)</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sum += count;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sum;</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int main()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char input[100];</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scanf("%s", input);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result = findSumOfEvenFrequency(input);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printf("%d\n", result);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0;</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findSumOfEvenFrequency(string str)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sum = 0;</a:t>
            </a:r>
          </a:p>
          <a:p>
            <a:r>
              <a:rPr lang="en-US" sz="2000" b="1" dirty="0">
                <a:solidFill>
                  <a:schemeClr val="bg1"/>
                </a:solidFill>
                <a:latin typeface="Nunito Sans" pitchFamily="2" charset="0"/>
                <a:cs typeface="Courier New" panose="02070309020205020404" pitchFamily="49" charset="0"/>
              </a:rPr>
              <a:t>    int count = 1;</a:t>
            </a:r>
          </a:p>
          <a:p>
            <a:r>
              <a:rPr lang="en-US" sz="2000" b="1" dirty="0">
                <a:solidFill>
                  <a:schemeClr val="bg1"/>
                </a:solidFill>
                <a:latin typeface="Nunito Sans" pitchFamily="2" charset="0"/>
                <a:cs typeface="Courier New" panose="02070309020205020404" pitchFamily="49" charset="0"/>
              </a:rPr>
              <a:t>    for (int i = 1; i &lt; str.length();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(str[i] == str[i - 1])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count++;</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(count % 2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sum += count;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count =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 Check the count of the last character sequence</a:t>
            </a:r>
          </a:p>
          <a:p>
            <a:r>
              <a:rPr lang="en-US" sz="2000" b="1" dirty="0">
                <a:solidFill>
                  <a:schemeClr val="bg1"/>
                </a:solidFill>
                <a:latin typeface="Nunito Sans" pitchFamily="2" charset="0"/>
                <a:cs typeface="Courier New" panose="02070309020205020404" pitchFamily="49" charset="0"/>
              </a:rPr>
              <a:t>    if (count % 2 == 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sum += count;</a:t>
            </a:r>
          </a:p>
          <a:p>
            <a:r>
              <a:rPr lang="en-US" sz="2000" b="1" dirty="0">
                <a:solidFill>
                  <a:schemeClr val="bg1"/>
                </a:solidFill>
                <a:latin typeface="Nunito Sans" pitchFamily="2" charset="0"/>
                <a:cs typeface="Courier New" panose="02070309020205020404" pitchFamily="49" charset="0"/>
              </a:rPr>
              <a:t>    }</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return sum;</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string input;</a:t>
            </a:r>
          </a:p>
          <a:p>
            <a:r>
              <a:rPr lang="en-US" sz="2000" b="1" dirty="0">
                <a:solidFill>
                  <a:schemeClr val="bg1"/>
                </a:solidFill>
                <a:latin typeface="Nunito Sans" pitchFamily="2" charset="0"/>
                <a:cs typeface="Courier New" panose="02070309020205020404" pitchFamily="49" charset="0"/>
              </a:rPr>
              <a:t>    cin &gt;&gt; input;</a:t>
            </a:r>
          </a:p>
          <a:p>
            <a:r>
              <a:rPr lang="en-US" sz="2000" b="1" dirty="0">
                <a:solidFill>
                  <a:schemeClr val="bg1"/>
                </a:solidFill>
                <a:latin typeface="Nunito Sans" pitchFamily="2" charset="0"/>
                <a:cs typeface="Courier New" panose="02070309020205020404" pitchFamily="49" charset="0"/>
              </a:rPr>
              <a:t>    int result = findSumOfEvenFrequency(input);</a:t>
            </a:r>
          </a:p>
          <a:p>
            <a:r>
              <a:rPr lang="en-US" sz="2000" b="1" dirty="0">
                <a:solidFill>
                  <a:schemeClr val="bg1"/>
                </a:solidFill>
                <a:latin typeface="Nunito Sans" pitchFamily="2" charset="0"/>
                <a:cs typeface="Courier New" panose="02070309020205020404" pitchFamily="49" charset="0"/>
              </a:rPr>
              <a:t>    cout &lt;&lt; result &lt;&lt; endl;</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3" name="Picture 2">
            <a:extLst>
              <a:ext uri="{FF2B5EF4-FFF2-40B4-BE49-F238E27FC236}">
                <a16:creationId xmlns:a16="http://schemas.microsoft.com/office/drawing/2014/main" id="{B930B56E-AC48-B14F-9118-34202BC122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int findSumOfEvenFrequency(String str)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sum = 0;</a:t>
            </a:r>
          </a:p>
          <a:p>
            <a:r>
              <a:rPr lang="en-US" sz="2000" b="1" dirty="0">
                <a:solidFill>
                  <a:schemeClr val="bg1"/>
                </a:solidFill>
                <a:latin typeface="Nunito Sans" pitchFamily="2" charset="0"/>
                <a:cs typeface="Courier New" panose="02070309020205020404" pitchFamily="49" charset="0"/>
              </a:rPr>
              <a:t>        int count = 1;</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for (int i = 1; i &lt; str.length();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(str.charAt(i) == str.charAt(i - 1))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(count % 2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sum += count;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count = 1;</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 Check the count of the last character sequence</a:t>
            </a:r>
          </a:p>
          <a:p>
            <a:r>
              <a:rPr lang="en-US" sz="2000" b="1" dirty="0">
                <a:solidFill>
                  <a:schemeClr val="bg1"/>
                </a:solidFill>
                <a:latin typeface="Nunito Sans" pitchFamily="2" charset="0"/>
                <a:cs typeface="Courier New" panose="02070309020205020404" pitchFamily="49" charset="0"/>
              </a:rPr>
              <a:t>        if (count % 2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sum += count;</a:t>
            </a:r>
          </a:p>
          <a:p>
            <a:r>
              <a:rPr lang="en-US" sz="2000" b="1" dirty="0">
                <a:solidFill>
                  <a:schemeClr val="bg1"/>
                </a:solidFill>
                <a:latin typeface="Nunito Sans" pitchFamily="2" charset="0"/>
                <a:cs typeface="Courier New" panose="02070309020205020404" pitchFamily="49" charset="0"/>
              </a:rPr>
              <a:t>        }</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return sum;</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String input = scanner.next();</a:t>
            </a:r>
          </a:p>
          <a:p>
            <a:r>
              <a:rPr lang="en-US" sz="2000" b="1" dirty="0">
                <a:solidFill>
                  <a:schemeClr val="bg1"/>
                </a:solidFill>
                <a:latin typeface="Nunito Sans" pitchFamily="2" charset="0"/>
                <a:cs typeface="Courier New" panose="02070309020205020404" pitchFamily="49" charset="0"/>
              </a:rPr>
              <a:t>        int result = findSumOfEvenFrequency(input);</a:t>
            </a:r>
          </a:p>
          <a:p>
            <a:r>
              <a:rPr lang="en-US" sz="2000" b="1" dirty="0">
                <a:solidFill>
                  <a:schemeClr val="bg1"/>
                </a:solidFill>
                <a:latin typeface="Nunito Sans" pitchFamily="2" charset="0"/>
                <a:cs typeface="Courier New" panose="02070309020205020404" pitchFamily="49" charset="0"/>
              </a:rPr>
              <a:t>        System.out.println(result);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find_sum_of_even_frequency(string):</a:t>
            </a:r>
          </a:p>
          <a:p>
            <a:r>
              <a:rPr lang="en-US" sz="2000" b="1" dirty="0">
                <a:solidFill>
                  <a:schemeClr val="bg1"/>
                </a:solidFill>
                <a:latin typeface="Nunito Sans" pitchFamily="2" charset="0"/>
                <a:cs typeface="Courier New" panose="02070309020205020404" pitchFamily="49" charset="0"/>
              </a:rPr>
              <a:t>    sum = 0</a:t>
            </a:r>
          </a:p>
          <a:p>
            <a:r>
              <a:rPr lang="en-US" sz="2000" b="1" dirty="0">
                <a:solidFill>
                  <a:schemeClr val="bg1"/>
                </a:solidFill>
                <a:latin typeface="Nunito Sans" pitchFamily="2" charset="0"/>
                <a:cs typeface="Courier New" panose="02070309020205020404" pitchFamily="49" charset="0"/>
              </a:rPr>
              <a:t>    count = 1</a:t>
            </a:r>
          </a:p>
          <a:p>
            <a:r>
              <a:rPr lang="en-US" sz="2000" b="1" dirty="0">
                <a:solidFill>
                  <a:schemeClr val="bg1"/>
                </a:solidFill>
                <a:latin typeface="Nunito Sans" pitchFamily="2" charset="0"/>
                <a:cs typeface="Courier New" panose="02070309020205020404" pitchFamily="49" charset="0"/>
              </a:rPr>
              <a:t>    for i in range(1, len(string)):</a:t>
            </a:r>
          </a:p>
          <a:p>
            <a:r>
              <a:rPr lang="en-US" sz="2000" b="1" dirty="0">
                <a:solidFill>
                  <a:schemeClr val="bg1"/>
                </a:solidFill>
                <a:latin typeface="Nunito Sans" pitchFamily="2" charset="0"/>
                <a:cs typeface="Courier New" panose="02070309020205020404" pitchFamily="49" charset="0"/>
              </a:rPr>
              <a:t>        if string[i] == string[i - 1]:</a:t>
            </a:r>
          </a:p>
          <a:p>
            <a:r>
              <a:rPr lang="en-US" sz="2000" b="1" dirty="0">
                <a:solidFill>
                  <a:schemeClr val="bg1"/>
                </a:solidFill>
                <a:latin typeface="Nunito Sans" pitchFamily="2" charset="0"/>
                <a:cs typeface="Courier New" panose="02070309020205020404" pitchFamily="49" charset="0"/>
              </a:rPr>
              <a:t>            count += 1</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if count % 2 == 0:</a:t>
            </a:r>
          </a:p>
          <a:p>
            <a:r>
              <a:rPr lang="en-US" sz="2000" b="1" dirty="0">
                <a:solidFill>
                  <a:schemeClr val="bg1"/>
                </a:solidFill>
                <a:latin typeface="Nunito Sans" pitchFamily="2" charset="0"/>
                <a:cs typeface="Courier New" panose="02070309020205020404" pitchFamily="49" charset="0"/>
              </a:rPr>
              <a:t>                sum += count</a:t>
            </a:r>
          </a:p>
          <a:p>
            <a:r>
              <a:rPr lang="en-US" sz="2000" b="1" dirty="0">
                <a:solidFill>
                  <a:schemeClr val="bg1"/>
                </a:solidFill>
                <a:latin typeface="Nunito Sans" pitchFamily="2" charset="0"/>
                <a:cs typeface="Courier New" panose="02070309020205020404" pitchFamily="49" charset="0"/>
              </a:rPr>
              <a:t>            count = 1</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 Check the count of the last character sequence</a:t>
            </a:r>
          </a:p>
          <a:p>
            <a:r>
              <a:rPr lang="en-US" sz="2000" b="1" dirty="0">
                <a:solidFill>
                  <a:schemeClr val="bg1"/>
                </a:solidFill>
                <a:latin typeface="Nunito Sans" pitchFamily="2" charset="0"/>
                <a:cs typeface="Courier New" panose="02070309020205020404" pitchFamily="49" charset="0"/>
              </a:rPr>
              <a:t>    if count % 2 == 0:</a:t>
            </a:r>
          </a:p>
          <a:p>
            <a:r>
              <a:rPr lang="en-US" sz="2000" b="1" dirty="0">
                <a:solidFill>
                  <a:schemeClr val="bg1"/>
                </a:solidFill>
                <a:latin typeface="Nunito Sans" pitchFamily="2" charset="0"/>
                <a:cs typeface="Courier New" panose="02070309020205020404" pitchFamily="49" charset="0"/>
              </a:rPr>
              <a:t>        sum += count</a:t>
            </a:r>
          </a:p>
          <a:p>
            <a:r>
              <a:rPr lang="en-US" sz="2000" b="1" dirty="0">
                <a:solidFill>
                  <a:schemeClr val="bg1"/>
                </a:solidFill>
                <a:latin typeface="Nunito Sans" pitchFamily="2" charset="0"/>
                <a:cs typeface="Courier New" panose="02070309020205020404" pitchFamily="49" charset="0"/>
              </a:rPr>
              <a:t>    return sum</a:t>
            </a:r>
          </a:p>
          <a:p>
            <a:r>
              <a:rPr lang="en-US" sz="2000" b="1" dirty="0">
                <a:solidFill>
                  <a:schemeClr val="bg1"/>
                </a:solidFill>
                <a:latin typeface="Nunito Sans" pitchFamily="2" charset="0"/>
                <a:cs typeface="Courier New" panose="02070309020205020404" pitchFamily="49" charset="0"/>
              </a:rPr>
              <a:t>input_str = input()</a:t>
            </a:r>
          </a:p>
          <a:p>
            <a:r>
              <a:rPr lang="en-US" sz="2000" b="1" dirty="0">
                <a:solidFill>
                  <a:schemeClr val="bg1"/>
                </a:solidFill>
                <a:latin typeface="Nunito Sans" pitchFamily="2" charset="0"/>
                <a:cs typeface="Courier New" panose="02070309020205020404" pitchFamily="49" charset="0"/>
              </a:rPr>
              <a:t>result = find_sum_of_even_frequency(input_str)</a:t>
            </a:r>
          </a:p>
          <a:p>
            <a:r>
              <a:rPr lang="en-US" sz="2000" b="1" dirty="0">
                <a:solidFill>
                  <a:schemeClr val="bg1"/>
                </a:solidFill>
                <a:latin typeface="Nunito Sans" pitchFamily="2" charset="0"/>
                <a:cs typeface="Courier New" panose="02070309020205020404" pitchFamily="49" charset="0"/>
              </a:rPr>
              <a:t>print(result)</a:t>
            </a:r>
          </a:p>
          <a:p>
            <a:endParaRPr lang="en-US" sz="2000" b="1" dirty="0">
              <a:solidFill>
                <a:schemeClr val="bg1"/>
              </a:solidFill>
              <a:latin typeface="Nunito Sans" pitchFamily="2" charset="0"/>
              <a:cs typeface="Courier New" panose="02070309020205020404" pitchFamily="49"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12</a:t>
            </a:r>
            <a:endParaRPr lang="en-US" sz="4800" b="1" dirty="0">
              <a:solidFill>
                <a:schemeClr val="bg1"/>
              </a:solidFill>
              <a:latin typeface="Nunito Sans" pitchFamily="2" charset="0"/>
              <a:sym typeface="+mn-ea"/>
            </a:endParaRPr>
          </a:p>
        </p:txBody>
      </p:sp>
      <p:sp>
        <p:nvSpPr>
          <p:cNvPr id="18" name="TextBox 17"/>
          <p:cNvSpPr txBox="1"/>
          <p:nvPr/>
        </p:nvSpPr>
        <p:spPr>
          <a:xfrm>
            <a:off x="97155" y="1058545"/>
            <a:ext cx="11963400" cy="6247130"/>
          </a:xfrm>
          <a:prstGeom prst="rect">
            <a:avLst/>
          </a:prstGeom>
          <a:noFill/>
        </p:spPr>
        <p:txBody>
          <a:bodyPr wrap="square" rtlCol="0">
            <a:spAutoFit/>
          </a:bodyPr>
          <a:lstStyle/>
          <a:p>
            <a:r>
              <a:rPr lang="en-US" sz="2500" dirty="0">
                <a:latin typeface="Nunito Sans" panose="00000500000000000000" pitchFamily="2" charset="0"/>
              </a:rPr>
              <a:t>Given N Rupees. A liter plastic bottle of milk costs R1 Rupees and a liter of the glass bottle of milk costs R2 Rupees. But the empty glass bottle after buying can be exchanged for R3 Rupees. Find the maximum liters of milk which can be bought with N Rupees.</a:t>
            </a:r>
          </a:p>
          <a:p>
            <a:endParaRPr lang="en-US" sz="2500" dirty="0">
              <a:latin typeface="Nunito Sans" panose="00000500000000000000" pitchFamily="2" charset="0"/>
            </a:endParaRPr>
          </a:p>
          <a:p>
            <a:r>
              <a:rPr lang="en-US" sz="2500" dirty="0">
                <a:latin typeface="Nunito Sans" panose="00000500000000000000" pitchFamily="2" charset="0"/>
              </a:rPr>
              <a:t>Example-1:</a:t>
            </a:r>
          </a:p>
          <a:p>
            <a:endParaRPr lang="en-US" sz="2500" dirty="0">
              <a:latin typeface="Nunito Sans" panose="00000500000000000000" pitchFamily="2" charset="0"/>
            </a:endParaRPr>
          </a:p>
          <a:p>
            <a:r>
              <a:rPr lang="en-US" sz="2500" dirty="0">
                <a:latin typeface="Nunito Sans" panose="00000500000000000000" pitchFamily="2" charset="0"/>
              </a:rPr>
              <a:t>Input:</a:t>
            </a:r>
          </a:p>
          <a:p>
            <a:r>
              <a:rPr lang="en-US" sz="2500" dirty="0">
                <a:latin typeface="Nunito Sans" panose="00000500000000000000" pitchFamily="2" charset="0"/>
              </a:rPr>
              <a:t>10 →Value of N</a:t>
            </a:r>
          </a:p>
          <a:p>
            <a:r>
              <a:rPr lang="en-US" sz="2500" dirty="0">
                <a:latin typeface="Nunito Sans" panose="00000500000000000000" pitchFamily="2" charset="0"/>
              </a:rPr>
              <a:t>11 →Value of R1 i.e. price of plastic bottle</a:t>
            </a:r>
          </a:p>
          <a:p>
            <a:r>
              <a:rPr lang="en-US" sz="2500" dirty="0">
                <a:latin typeface="Nunito Sans" panose="00000500000000000000" pitchFamily="2" charset="0"/>
              </a:rPr>
              <a:t>9→Value of R2 i.e. price of glass bottle</a:t>
            </a:r>
          </a:p>
          <a:p>
            <a:r>
              <a:rPr lang="en-US" sz="2500" dirty="0">
                <a:latin typeface="Nunito Sans" panose="00000500000000000000" pitchFamily="2" charset="0"/>
              </a:rPr>
              <a:t>8 →Value of R3 i.e. price of empty glass bottle</a:t>
            </a:r>
          </a:p>
          <a:p>
            <a:endParaRPr lang="en-US" sz="2500" dirty="0">
              <a:latin typeface="Nunito Sans" panose="00000500000000000000" pitchFamily="2" charset="0"/>
            </a:endParaRPr>
          </a:p>
          <a:p>
            <a:r>
              <a:rPr lang="en-US" sz="2500" dirty="0">
                <a:latin typeface="Nunito Sans" panose="00000500000000000000" pitchFamily="2" charset="0"/>
              </a:rPr>
              <a:t>Output:</a:t>
            </a:r>
          </a:p>
          <a:p>
            <a:r>
              <a:rPr lang="en-US" sz="2500" dirty="0">
                <a:latin typeface="Nunito Sans" panose="00000500000000000000" pitchFamily="2" charset="0"/>
              </a:rPr>
              <a:t>2</a:t>
            </a:r>
          </a:p>
          <a:p>
            <a:endParaRPr lang="en-US" sz="2500" dirty="0">
              <a:latin typeface="Nunito Sans" panose="00000500000000000000" pitchFamily="2"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0000500000000000000"/>
              </a:rPr>
              <a:t>#include &lt;</a:t>
            </a:r>
            <a:r>
              <a:rPr lang="en-US" sz="2000" dirty="0" err="1">
                <a:latin typeface="Nunito Sans" panose="00000500000000000000"/>
              </a:rPr>
              <a:t>stdio.h</a:t>
            </a:r>
            <a:r>
              <a:rPr lang="en-US" sz="2000" dirty="0">
                <a:latin typeface="Nunito Sans" panose="00000500000000000000"/>
              </a:rPr>
              <a:t>&gt;</a:t>
            </a:r>
          </a:p>
          <a:p>
            <a:br>
              <a:rPr lang="en-US" sz="2000" dirty="0">
                <a:latin typeface="Nunito Sans" panose="00000500000000000000"/>
              </a:rPr>
            </a:br>
            <a:r>
              <a:rPr lang="en-US" sz="2000" dirty="0" err="1">
                <a:latin typeface="Nunito Sans" panose="00000500000000000000"/>
              </a:rPr>
              <a:t>int</a:t>
            </a:r>
            <a:r>
              <a:rPr lang="en-US" sz="2000" dirty="0">
                <a:latin typeface="Nunito Sans" panose="00000500000000000000"/>
              </a:rPr>
              <a:t> max(</a:t>
            </a:r>
            <a:r>
              <a:rPr lang="en-US" sz="2000" dirty="0" err="1">
                <a:latin typeface="Nunito Sans" panose="00000500000000000000"/>
              </a:rPr>
              <a:t>int</a:t>
            </a:r>
            <a:r>
              <a:rPr lang="en-US" sz="2000" dirty="0">
                <a:latin typeface="Nunito Sans" panose="00000500000000000000"/>
              </a:rPr>
              <a:t> a, </a:t>
            </a:r>
            <a:r>
              <a:rPr lang="en-US" sz="2000" dirty="0" err="1">
                <a:latin typeface="Nunito Sans" panose="00000500000000000000"/>
              </a:rPr>
              <a:t>int</a:t>
            </a:r>
            <a:r>
              <a:rPr lang="en-US" sz="2000" dirty="0">
                <a:latin typeface="Nunito Sans" panose="00000500000000000000"/>
              </a:rPr>
              <a:t> b) {</a:t>
            </a:r>
          </a:p>
          <a:p>
            <a:r>
              <a:rPr lang="en-US" sz="2000" dirty="0">
                <a:latin typeface="Nunito Sans" panose="00000500000000000000"/>
              </a:rPr>
              <a:t>    return (a &gt; b) ? a : b;</a:t>
            </a:r>
          </a:p>
          <a:p>
            <a:r>
              <a:rPr lang="en-US" sz="2000" dirty="0">
                <a:latin typeface="Nunito Sans" panose="00000500000000000000"/>
              </a:rPr>
              <a:t>}</a:t>
            </a:r>
          </a:p>
          <a:p>
            <a:br>
              <a:rPr lang="en-US" sz="2000" dirty="0">
                <a:latin typeface="Nunito Sans" panose="00000500000000000000"/>
              </a:rPr>
            </a:br>
            <a:r>
              <a:rPr lang="en-US" sz="2000" dirty="0">
                <a:latin typeface="Nunito Sans" panose="00000500000000000000"/>
              </a:rPr>
              <a:t>void </a:t>
            </a:r>
            <a:r>
              <a:rPr lang="en-US" sz="2000" dirty="0" err="1">
                <a:latin typeface="Nunito Sans" panose="00000500000000000000"/>
              </a:rPr>
              <a:t>maxLitres</a:t>
            </a:r>
            <a:r>
              <a:rPr lang="en-US" sz="2000" dirty="0">
                <a:latin typeface="Nunito Sans" panose="00000500000000000000"/>
              </a:rPr>
              <a:t>(</a:t>
            </a:r>
            <a:r>
              <a:rPr lang="en-US" sz="2000" dirty="0" err="1">
                <a:latin typeface="Nunito Sans" panose="00000500000000000000"/>
              </a:rPr>
              <a:t>int</a:t>
            </a:r>
            <a:r>
              <a:rPr lang="en-US" sz="2000" dirty="0">
                <a:latin typeface="Nunito Sans" panose="00000500000000000000"/>
              </a:rPr>
              <a:t> budget, </a:t>
            </a:r>
            <a:r>
              <a:rPr lang="en-US" sz="2000" dirty="0" err="1">
                <a:latin typeface="Nunito Sans" panose="00000500000000000000"/>
              </a:rPr>
              <a:t>int</a:t>
            </a:r>
            <a:r>
              <a:rPr lang="en-US" sz="2000" dirty="0">
                <a:latin typeface="Nunito Sans" panose="00000500000000000000"/>
              </a:rPr>
              <a:t> plastic, </a:t>
            </a:r>
            <a:r>
              <a:rPr lang="en-US" sz="2000" dirty="0" err="1">
                <a:latin typeface="Nunito Sans" panose="00000500000000000000"/>
              </a:rPr>
              <a:t>int</a:t>
            </a:r>
            <a:r>
              <a:rPr lang="en-US" sz="2000" dirty="0">
                <a:latin typeface="Nunito Sans" panose="00000500000000000000"/>
              </a:rPr>
              <a:t> glass, </a:t>
            </a:r>
            <a:r>
              <a:rPr lang="en-US" sz="2000" dirty="0" err="1">
                <a:latin typeface="Nunito Sans" panose="00000500000000000000"/>
              </a:rPr>
              <a:t>int</a:t>
            </a:r>
            <a:r>
              <a:rPr lang="en-US" sz="2000" dirty="0">
                <a:latin typeface="Nunito Sans" panose="00000500000000000000"/>
              </a:rPr>
              <a:t> refund) {</a:t>
            </a:r>
          </a:p>
          <a:p>
            <a:r>
              <a:rPr lang="en-US" sz="2000" dirty="0">
                <a:latin typeface="Nunito Sans" panose="00000500000000000000"/>
              </a:rPr>
              <a:t>    if (glass - refund &lt; plastic) {</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a:t>
            </a:r>
            <a:r>
              <a:rPr lang="en-US" sz="2000" dirty="0" err="1">
                <a:latin typeface="Nunito Sans" panose="00000500000000000000"/>
              </a:rPr>
              <a:t>ans</a:t>
            </a:r>
            <a:r>
              <a:rPr lang="en-US" sz="2000" dirty="0">
                <a:latin typeface="Nunito Sans" panose="00000500000000000000"/>
              </a:rPr>
              <a:t> = max((budget - refund) / (glass - refund), 0);</a:t>
            </a:r>
          </a:p>
          <a:p>
            <a:r>
              <a:rPr lang="en-US" sz="2000" dirty="0">
                <a:latin typeface="Nunito Sans" panose="00000500000000000000"/>
              </a:rPr>
              <a:t>        budget -= </a:t>
            </a:r>
            <a:r>
              <a:rPr lang="en-US" sz="2000" dirty="0" err="1">
                <a:latin typeface="Nunito Sans" panose="00000500000000000000"/>
              </a:rPr>
              <a:t>ans</a:t>
            </a:r>
            <a:r>
              <a:rPr lang="en-US" sz="2000" dirty="0">
                <a:latin typeface="Nunito Sans" panose="00000500000000000000"/>
              </a:rPr>
              <a:t> * (glass - refund);</a:t>
            </a:r>
          </a:p>
          <a:p>
            <a:r>
              <a:rPr lang="en-US" sz="2000" dirty="0">
                <a:latin typeface="Nunito Sans" panose="00000500000000000000"/>
              </a:rPr>
              <a:t>        </a:t>
            </a:r>
            <a:r>
              <a:rPr lang="en-US" sz="2000" dirty="0" err="1">
                <a:latin typeface="Nunito Sans" panose="00000500000000000000"/>
              </a:rPr>
              <a:t>ans</a:t>
            </a:r>
            <a:r>
              <a:rPr lang="en-US" sz="2000" dirty="0">
                <a:latin typeface="Nunito Sans" panose="00000500000000000000"/>
              </a:rPr>
              <a:t> += budget / plastic;</a:t>
            </a:r>
          </a:p>
          <a:p>
            <a:r>
              <a:rPr lang="en-US" sz="2000" dirty="0">
                <a:latin typeface="Nunito Sans" panose="00000500000000000000"/>
              </a:rPr>
              <a:t>        </a:t>
            </a:r>
            <a:r>
              <a:rPr lang="en-US" sz="2000" dirty="0" err="1">
                <a:latin typeface="Nunito Sans" panose="00000500000000000000"/>
              </a:rPr>
              <a:t>printf</a:t>
            </a:r>
            <a:r>
              <a:rPr lang="en-US" sz="2000" dirty="0">
                <a:latin typeface="Nunito Sans" panose="00000500000000000000"/>
              </a:rPr>
              <a:t>("%d\n", </a:t>
            </a:r>
            <a:r>
              <a:rPr lang="en-US" sz="2000" dirty="0" err="1">
                <a:latin typeface="Nunito Sans" panose="00000500000000000000"/>
              </a:rPr>
              <a:t>ans</a:t>
            </a:r>
            <a:r>
              <a:rPr lang="en-US" sz="2000" dirty="0">
                <a:latin typeface="Nunito Sans" panose="00000500000000000000"/>
              </a:rPr>
              <a:t>);</a:t>
            </a:r>
          </a:p>
          <a:p>
            <a:r>
              <a:rPr lang="en-US" sz="2000" dirty="0">
                <a:latin typeface="Nunito Sans" panose="00000500000000000000"/>
              </a:rPr>
              <a:t>    } else {</a:t>
            </a:r>
          </a:p>
          <a:p>
            <a:r>
              <a:rPr lang="en-US" sz="2000" dirty="0">
                <a:latin typeface="Nunito Sans" panose="00000500000000000000"/>
              </a:rPr>
              <a:t>        </a:t>
            </a:r>
            <a:r>
              <a:rPr lang="en-US" sz="2000" dirty="0" err="1">
                <a:latin typeface="Nunito Sans" panose="00000500000000000000"/>
              </a:rPr>
              <a:t>printf</a:t>
            </a:r>
            <a:r>
              <a:rPr lang="en-US" sz="2000" dirty="0">
                <a:latin typeface="Nunito Sans" panose="00000500000000000000"/>
              </a:rPr>
              <a:t>("%d\n", budget / plastic);</a:t>
            </a:r>
          </a:p>
          <a:p>
            <a:r>
              <a:rPr lang="en-US" sz="2000" dirty="0">
                <a:latin typeface="Nunito Sans" panose="00000500000000000000"/>
              </a:rPr>
              <a:t>    }</a:t>
            </a:r>
          </a:p>
          <a:p>
            <a:r>
              <a:rPr lang="en-US" sz="2000" dirty="0">
                <a:latin typeface="Nunito Sans" panose="00000500000000000000"/>
              </a:rPr>
              <a:t>}</a:t>
            </a:r>
          </a:p>
          <a:p>
            <a:endParaRPr lang="en-US" sz="2000" b="1" dirty="0">
              <a:solidFill>
                <a:schemeClr val="bg1"/>
              </a:solidFill>
              <a:latin typeface="Nunito Sans" panose="00000500000000000000"/>
              <a:cs typeface="Courier New" panose="02070309020205020404" pitchFamily="49"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err="1">
                <a:latin typeface="Nunito Sans" panose="00000500000000000000"/>
              </a:rPr>
              <a:t>int</a:t>
            </a:r>
            <a:r>
              <a:rPr lang="en-US" sz="2000" dirty="0">
                <a:latin typeface="Nunito Sans" panose="00000500000000000000"/>
              </a:rPr>
              <a:t> main() {</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budget, plastic, glass, refund;</a:t>
            </a:r>
          </a:p>
          <a:p>
            <a:r>
              <a:rPr lang="en-US" sz="2000" dirty="0">
                <a:latin typeface="Nunito Sans" panose="00000500000000000000"/>
              </a:rPr>
              <a:t>    </a:t>
            </a:r>
            <a:r>
              <a:rPr lang="en-US" sz="2000" dirty="0" err="1">
                <a:latin typeface="Nunito Sans" panose="00000500000000000000"/>
              </a:rPr>
              <a:t>scanf</a:t>
            </a:r>
            <a:r>
              <a:rPr lang="en-US" sz="2000" dirty="0">
                <a:latin typeface="Nunito Sans" panose="00000500000000000000"/>
              </a:rPr>
              <a:t>("%d", &amp;budget);</a:t>
            </a:r>
          </a:p>
          <a:p>
            <a:r>
              <a:rPr lang="en-US" sz="2000" dirty="0">
                <a:latin typeface="Nunito Sans" panose="00000500000000000000"/>
              </a:rPr>
              <a:t>    </a:t>
            </a:r>
            <a:r>
              <a:rPr lang="en-US" sz="2000" dirty="0" err="1">
                <a:latin typeface="Nunito Sans" panose="00000500000000000000"/>
              </a:rPr>
              <a:t>scanf</a:t>
            </a:r>
            <a:r>
              <a:rPr lang="en-US" sz="2000" dirty="0">
                <a:latin typeface="Nunito Sans" panose="00000500000000000000"/>
              </a:rPr>
              <a:t>("%d", &amp;plastic);</a:t>
            </a:r>
          </a:p>
          <a:p>
            <a:r>
              <a:rPr lang="en-US" sz="2000" dirty="0">
                <a:latin typeface="Nunito Sans" panose="00000500000000000000"/>
              </a:rPr>
              <a:t>    </a:t>
            </a:r>
            <a:r>
              <a:rPr lang="en-US" sz="2000" dirty="0" err="1">
                <a:latin typeface="Nunito Sans" panose="00000500000000000000"/>
              </a:rPr>
              <a:t>scanf</a:t>
            </a:r>
            <a:r>
              <a:rPr lang="en-US" sz="2000" dirty="0">
                <a:latin typeface="Nunito Sans" panose="00000500000000000000"/>
              </a:rPr>
              <a:t>("%d", &amp;glass);</a:t>
            </a:r>
          </a:p>
          <a:p>
            <a:r>
              <a:rPr lang="en-US" sz="2000" dirty="0">
                <a:latin typeface="Nunito Sans" panose="00000500000000000000"/>
              </a:rPr>
              <a:t>    </a:t>
            </a:r>
            <a:r>
              <a:rPr lang="en-US" sz="2000" dirty="0" err="1">
                <a:latin typeface="Nunito Sans" panose="00000500000000000000"/>
              </a:rPr>
              <a:t>scanf</a:t>
            </a:r>
            <a:r>
              <a:rPr lang="en-US" sz="2000" dirty="0">
                <a:latin typeface="Nunito Sans" panose="00000500000000000000"/>
              </a:rPr>
              <a:t>("%d", &amp;refund);</a:t>
            </a:r>
          </a:p>
          <a:p>
            <a:r>
              <a:rPr lang="en-US" sz="2000" dirty="0">
                <a:latin typeface="Nunito Sans" panose="00000500000000000000"/>
              </a:rPr>
              <a:t>    </a:t>
            </a:r>
            <a:r>
              <a:rPr lang="en-US" sz="2000" dirty="0" err="1">
                <a:latin typeface="Nunito Sans" panose="00000500000000000000"/>
              </a:rPr>
              <a:t>maxLitres</a:t>
            </a:r>
            <a:r>
              <a:rPr lang="en-US" sz="2000" dirty="0">
                <a:latin typeface="Nunito Sans" panose="00000500000000000000"/>
              </a:rPr>
              <a:t>(budget, plastic, glass, refund);</a:t>
            </a:r>
          </a:p>
          <a:p>
            <a:r>
              <a:rPr lang="en-US" sz="2000" dirty="0">
                <a:latin typeface="Nunito Sans" panose="00000500000000000000"/>
              </a:rPr>
              <a:t>    return 0;</a:t>
            </a:r>
          </a:p>
          <a:p>
            <a:r>
              <a:rPr lang="en-US" sz="2000" dirty="0">
                <a:latin typeface="Nunito Sans" panose="00000500000000000000"/>
              </a:rPr>
              <a:t>}</a:t>
            </a:r>
          </a:p>
          <a:p>
            <a:br>
              <a:rPr lang="en-US" sz="2000" dirty="0">
                <a:latin typeface="Nunito Sans" panose="00000500000000000000"/>
              </a:rPr>
            </a:br>
            <a:endParaRPr lang="en-US" sz="2000" dirty="0">
              <a:latin typeface="Nunito Sans" panose="00000500000000000000"/>
            </a:endParaRPr>
          </a:p>
          <a:p>
            <a:endParaRPr lang="en-US" sz="2000" b="1" dirty="0">
              <a:solidFill>
                <a:schemeClr val="bg1"/>
              </a:solidFill>
              <a:latin typeface="Nunito Sans" panose="00000500000000000000"/>
              <a:cs typeface="Courier New" panose="02070309020205020404" pitchFamily="49" charset="0"/>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0000500000000000000"/>
              </a:rPr>
              <a:t>#include&lt;bits/</a:t>
            </a:r>
            <a:r>
              <a:rPr lang="en-US" sz="2000" dirty="0" err="1">
                <a:latin typeface="Nunito Sans" panose="00000500000000000000"/>
              </a:rPr>
              <a:t>stdc</a:t>
            </a:r>
            <a:r>
              <a:rPr lang="en-US" sz="2000" dirty="0">
                <a:latin typeface="Nunito Sans" panose="00000500000000000000"/>
              </a:rPr>
              <a:t>++.h&gt;</a:t>
            </a:r>
          </a:p>
          <a:p>
            <a:r>
              <a:rPr lang="en-US" sz="2000" dirty="0">
                <a:latin typeface="Nunito Sans" panose="00000500000000000000"/>
              </a:rPr>
              <a:t>using namespace </a:t>
            </a:r>
            <a:r>
              <a:rPr lang="en-US" sz="2000" dirty="0" err="1">
                <a:latin typeface="Nunito Sans" panose="00000500000000000000"/>
              </a:rPr>
              <a:t>std</a:t>
            </a:r>
            <a:r>
              <a:rPr lang="en-US" sz="2000" dirty="0">
                <a:latin typeface="Nunito Sans" panose="00000500000000000000"/>
              </a:rPr>
              <a:t>;</a:t>
            </a:r>
          </a:p>
          <a:p>
            <a:r>
              <a:rPr lang="en-US" sz="2000" dirty="0">
                <a:latin typeface="Nunito Sans" panose="00000500000000000000"/>
              </a:rPr>
              <a:t>void </a:t>
            </a:r>
            <a:r>
              <a:rPr lang="en-US" sz="2000" dirty="0" err="1">
                <a:latin typeface="Nunito Sans" panose="00000500000000000000"/>
              </a:rPr>
              <a:t>maxLitres</a:t>
            </a:r>
            <a:r>
              <a:rPr lang="en-US" sz="2000" dirty="0">
                <a:latin typeface="Nunito Sans" panose="00000500000000000000"/>
              </a:rPr>
              <a:t>(</a:t>
            </a:r>
            <a:r>
              <a:rPr lang="en-US" sz="2000" dirty="0" err="1">
                <a:latin typeface="Nunito Sans" panose="00000500000000000000"/>
              </a:rPr>
              <a:t>int</a:t>
            </a:r>
            <a:r>
              <a:rPr lang="en-US" sz="2000" dirty="0">
                <a:latin typeface="Nunito Sans" panose="00000500000000000000"/>
              </a:rPr>
              <a:t> budget, </a:t>
            </a:r>
            <a:r>
              <a:rPr lang="en-US" sz="2000" dirty="0" err="1">
                <a:latin typeface="Nunito Sans" panose="00000500000000000000"/>
              </a:rPr>
              <a:t>int</a:t>
            </a:r>
            <a:r>
              <a:rPr lang="en-US" sz="2000" dirty="0">
                <a:latin typeface="Nunito Sans" panose="00000500000000000000"/>
              </a:rPr>
              <a:t> plastic, </a:t>
            </a:r>
            <a:r>
              <a:rPr lang="en-US" sz="2000" dirty="0" err="1">
                <a:latin typeface="Nunito Sans" panose="00000500000000000000"/>
              </a:rPr>
              <a:t>int</a:t>
            </a:r>
            <a:r>
              <a:rPr lang="en-US" sz="2000" dirty="0">
                <a:latin typeface="Nunito Sans" panose="00000500000000000000"/>
              </a:rPr>
              <a:t> glass, </a:t>
            </a:r>
            <a:r>
              <a:rPr lang="en-US" sz="2000" dirty="0" err="1">
                <a:latin typeface="Nunito Sans" panose="00000500000000000000"/>
              </a:rPr>
              <a:t>int</a:t>
            </a:r>
            <a:r>
              <a:rPr lang="en-US" sz="2000" dirty="0">
                <a:latin typeface="Nunito Sans" panose="00000500000000000000"/>
              </a:rPr>
              <a:t> refund) </a:t>
            </a:r>
          </a:p>
          <a:p>
            <a:r>
              <a:rPr lang="en-US" sz="2000" dirty="0">
                <a:latin typeface="Nunito Sans" panose="00000500000000000000"/>
              </a:rPr>
              <a:t>{</a:t>
            </a:r>
          </a:p>
          <a:p>
            <a:r>
              <a:rPr lang="en-US" sz="2000" dirty="0">
                <a:latin typeface="Nunito Sans" panose="00000500000000000000"/>
              </a:rPr>
              <a:t>    if (glass - refund &lt; plastic) </a:t>
            </a:r>
          </a:p>
          <a:p>
            <a:r>
              <a:rPr lang="en-US" sz="2000" dirty="0">
                <a:latin typeface="Nunito Sans" panose="00000500000000000000"/>
              </a:rPr>
              <a:t>    {</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a:t>
            </a:r>
            <a:r>
              <a:rPr lang="en-US" sz="2000" dirty="0" err="1">
                <a:latin typeface="Nunito Sans" panose="00000500000000000000"/>
              </a:rPr>
              <a:t>ans</a:t>
            </a:r>
            <a:r>
              <a:rPr lang="en-US" sz="2000" dirty="0">
                <a:latin typeface="Nunito Sans" panose="00000500000000000000"/>
              </a:rPr>
              <a:t> = max((budget - refund) / (glass - refund), 0);</a:t>
            </a:r>
          </a:p>
          <a:p>
            <a:r>
              <a:rPr lang="en-US" sz="2000" dirty="0">
                <a:latin typeface="Nunito Sans" panose="00000500000000000000"/>
              </a:rPr>
              <a:t>        budget -= </a:t>
            </a:r>
            <a:r>
              <a:rPr lang="en-US" sz="2000" dirty="0" err="1">
                <a:latin typeface="Nunito Sans" panose="00000500000000000000"/>
              </a:rPr>
              <a:t>ans</a:t>
            </a:r>
            <a:r>
              <a:rPr lang="en-US" sz="2000" dirty="0">
                <a:latin typeface="Nunito Sans" panose="00000500000000000000"/>
              </a:rPr>
              <a:t> * (glass - refund);</a:t>
            </a:r>
          </a:p>
          <a:p>
            <a:r>
              <a:rPr lang="en-US" sz="2000" dirty="0">
                <a:latin typeface="Nunito Sans" panose="00000500000000000000"/>
              </a:rPr>
              <a:t>        </a:t>
            </a:r>
            <a:r>
              <a:rPr lang="en-US" sz="2000" dirty="0" err="1">
                <a:latin typeface="Nunito Sans" panose="00000500000000000000"/>
              </a:rPr>
              <a:t>ans</a:t>
            </a:r>
            <a:r>
              <a:rPr lang="en-US" sz="2000" dirty="0">
                <a:latin typeface="Nunito Sans" panose="00000500000000000000"/>
              </a:rPr>
              <a:t> += budget / plastic;</a:t>
            </a:r>
          </a:p>
          <a:p>
            <a:r>
              <a:rPr lang="en-US" sz="2000" dirty="0">
                <a:latin typeface="Nunito Sans" panose="00000500000000000000"/>
              </a:rPr>
              <a:t>        </a:t>
            </a:r>
            <a:r>
              <a:rPr lang="en-US" sz="2000" dirty="0" err="1">
                <a:latin typeface="Nunito Sans" panose="00000500000000000000"/>
              </a:rPr>
              <a:t>cout</a:t>
            </a:r>
            <a:r>
              <a:rPr lang="en-US" sz="2000" dirty="0">
                <a:latin typeface="Nunito Sans" panose="00000500000000000000"/>
              </a:rPr>
              <a:t> &lt;&lt; </a:t>
            </a:r>
            <a:r>
              <a:rPr lang="en-US" sz="2000" dirty="0" err="1">
                <a:latin typeface="Nunito Sans" panose="00000500000000000000"/>
              </a:rPr>
              <a:t>ans</a:t>
            </a:r>
            <a:r>
              <a:rPr lang="en-US" sz="2000" dirty="0">
                <a:latin typeface="Nunito Sans" panose="00000500000000000000"/>
              </a:rPr>
              <a:t> &lt;&lt; </a:t>
            </a:r>
            <a:r>
              <a:rPr lang="en-US" sz="2000" dirty="0" err="1">
                <a:latin typeface="Nunito Sans" panose="00000500000000000000"/>
              </a:rPr>
              <a:t>endl</a:t>
            </a:r>
            <a:r>
              <a:rPr lang="en-US" sz="2000" dirty="0">
                <a:latin typeface="Nunito Sans" panose="00000500000000000000"/>
              </a:rPr>
              <a:t>;</a:t>
            </a:r>
          </a:p>
          <a:p>
            <a:r>
              <a:rPr lang="en-US" sz="2000" dirty="0">
                <a:latin typeface="Nunito Sans" panose="00000500000000000000"/>
              </a:rPr>
              <a:t>    }</a:t>
            </a:r>
          </a:p>
          <a:p>
            <a:r>
              <a:rPr lang="en-US" sz="2000" dirty="0">
                <a:latin typeface="Nunito Sans" panose="00000500000000000000"/>
              </a:rPr>
              <a:t>    else</a:t>
            </a:r>
          </a:p>
          <a:p>
            <a:r>
              <a:rPr lang="en-US" sz="2000" dirty="0">
                <a:latin typeface="Nunito Sans" panose="00000500000000000000"/>
              </a:rPr>
              <a:t>        </a:t>
            </a:r>
            <a:r>
              <a:rPr lang="en-US" sz="2000" dirty="0" err="1">
                <a:latin typeface="Nunito Sans" panose="00000500000000000000"/>
              </a:rPr>
              <a:t>cout</a:t>
            </a:r>
            <a:r>
              <a:rPr lang="en-US" sz="2000" dirty="0">
                <a:latin typeface="Nunito Sans" panose="00000500000000000000"/>
              </a:rPr>
              <a:t> &lt;&lt; (budget / plastic) &lt;&lt; </a:t>
            </a:r>
            <a:r>
              <a:rPr lang="en-US" sz="2000" dirty="0" err="1">
                <a:latin typeface="Nunito Sans" panose="00000500000000000000"/>
              </a:rPr>
              <a:t>endl</a:t>
            </a:r>
            <a:r>
              <a:rPr lang="en-US" sz="2000" dirty="0">
                <a:latin typeface="Nunito Sans" panose="00000500000000000000"/>
              </a:rPr>
              <a:t>;</a:t>
            </a:r>
          </a:p>
          <a:p>
            <a:r>
              <a:rPr lang="en-US" sz="2000" dirty="0">
                <a:latin typeface="Nunito Sans" panose="00000500000000000000"/>
              </a:rPr>
              <a:t>}</a:t>
            </a:r>
          </a:p>
          <a:p>
            <a:endParaRPr lang="en-US" sz="2000" b="1" dirty="0">
              <a:solidFill>
                <a:schemeClr val="bg1"/>
              </a:solidFill>
              <a:latin typeface="Nunito Sans" panose="00000500000000000000"/>
              <a:cs typeface="Courier New" panose="02070309020205020404" pitchFamily="49" charset="0"/>
              <a:sym typeface="+mn-ea"/>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err="1">
                <a:latin typeface="Nunito Sans" panose="00000500000000000000"/>
              </a:rPr>
              <a:t>int</a:t>
            </a:r>
            <a:r>
              <a:rPr lang="en-US" sz="2000" dirty="0">
                <a:latin typeface="Nunito Sans" panose="00000500000000000000"/>
              </a:rPr>
              <a:t> main() </a:t>
            </a:r>
          </a:p>
          <a:p>
            <a:r>
              <a:rPr lang="en-US" sz="2000" dirty="0">
                <a:latin typeface="Nunito Sans" panose="00000500000000000000"/>
              </a:rPr>
              <a:t>{</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budget, plastic, glass, refund;</a:t>
            </a:r>
          </a:p>
          <a:p>
            <a:r>
              <a:rPr lang="en-US" sz="2000" dirty="0">
                <a:latin typeface="Nunito Sans" panose="00000500000000000000"/>
              </a:rPr>
              <a:t>    </a:t>
            </a:r>
            <a:r>
              <a:rPr lang="en-US" sz="2000" dirty="0" err="1">
                <a:latin typeface="Nunito Sans" panose="00000500000000000000"/>
              </a:rPr>
              <a:t>cin</a:t>
            </a:r>
            <a:r>
              <a:rPr lang="en-US" sz="2000" dirty="0">
                <a:latin typeface="Nunito Sans" panose="00000500000000000000"/>
              </a:rPr>
              <a:t> &gt;&gt; budget;</a:t>
            </a:r>
          </a:p>
          <a:p>
            <a:r>
              <a:rPr lang="en-US" sz="2000" dirty="0">
                <a:latin typeface="Nunito Sans" panose="00000500000000000000"/>
              </a:rPr>
              <a:t>    </a:t>
            </a:r>
            <a:r>
              <a:rPr lang="en-US" sz="2000" dirty="0" err="1">
                <a:latin typeface="Nunito Sans" panose="00000500000000000000"/>
              </a:rPr>
              <a:t>cin</a:t>
            </a:r>
            <a:r>
              <a:rPr lang="en-US" sz="2000" dirty="0">
                <a:latin typeface="Nunito Sans" panose="00000500000000000000"/>
              </a:rPr>
              <a:t> &gt;&gt; plastic;</a:t>
            </a:r>
          </a:p>
          <a:p>
            <a:r>
              <a:rPr lang="en-US" sz="2000" dirty="0">
                <a:latin typeface="Nunito Sans" panose="00000500000000000000"/>
              </a:rPr>
              <a:t>    </a:t>
            </a:r>
            <a:r>
              <a:rPr lang="en-US" sz="2000" dirty="0" err="1">
                <a:latin typeface="Nunito Sans" panose="00000500000000000000"/>
              </a:rPr>
              <a:t>cin</a:t>
            </a:r>
            <a:r>
              <a:rPr lang="en-US" sz="2000" dirty="0">
                <a:latin typeface="Nunito Sans" panose="00000500000000000000"/>
              </a:rPr>
              <a:t> &gt;&gt; glass;</a:t>
            </a:r>
          </a:p>
          <a:p>
            <a:r>
              <a:rPr lang="en-US" sz="2000" dirty="0">
                <a:latin typeface="Nunito Sans" panose="00000500000000000000"/>
              </a:rPr>
              <a:t>    </a:t>
            </a:r>
            <a:r>
              <a:rPr lang="en-US" sz="2000" dirty="0" err="1">
                <a:latin typeface="Nunito Sans" panose="00000500000000000000"/>
              </a:rPr>
              <a:t>cin</a:t>
            </a:r>
            <a:r>
              <a:rPr lang="en-US" sz="2000" dirty="0">
                <a:latin typeface="Nunito Sans" panose="00000500000000000000"/>
              </a:rPr>
              <a:t> &gt;&gt; refund;</a:t>
            </a:r>
          </a:p>
          <a:p>
            <a:r>
              <a:rPr lang="en-US" sz="2000" dirty="0">
                <a:latin typeface="Nunito Sans" panose="00000500000000000000"/>
              </a:rPr>
              <a:t>    </a:t>
            </a:r>
            <a:r>
              <a:rPr lang="en-US" sz="2000" dirty="0" err="1">
                <a:latin typeface="Nunito Sans" panose="00000500000000000000"/>
              </a:rPr>
              <a:t>maxLitres</a:t>
            </a:r>
            <a:r>
              <a:rPr lang="en-US" sz="2000" dirty="0">
                <a:latin typeface="Nunito Sans" panose="00000500000000000000"/>
              </a:rPr>
              <a:t>(budget, plastic, glass, refund);</a:t>
            </a:r>
          </a:p>
          <a:p>
            <a:r>
              <a:rPr lang="en-US" sz="2000" dirty="0">
                <a:latin typeface="Nunito Sans" panose="00000500000000000000"/>
              </a:rPr>
              <a:t>    return 0;</a:t>
            </a:r>
          </a:p>
          <a:p>
            <a:r>
              <a:rPr lang="en-US" sz="2000" dirty="0">
                <a:latin typeface="Nunito Sans" panose="00000500000000000000"/>
              </a:rPr>
              <a:t>}</a:t>
            </a:r>
          </a:p>
          <a:p>
            <a:endParaRPr lang="en-US" sz="2000" b="1" dirty="0">
              <a:solidFill>
                <a:schemeClr val="bg1"/>
              </a:solidFill>
              <a:latin typeface="Nunito Sans" panose="0000050000000000000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0000500000000000000"/>
              </a:rPr>
              <a:t>import </a:t>
            </a:r>
            <a:r>
              <a:rPr lang="en-US" sz="2000" dirty="0" err="1">
                <a:latin typeface="Nunito Sans" panose="00000500000000000000"/>
              </a:rPr>
              <a:t>java.util.Scanner</a:t>
            </a:r>
            <a:r>
              <a:rPr lang="en-US" sz="2000" dirty="0">
                <a:latin typeface="Nunito Sans" panose="00000500000000000000"/>
              </a:rPr>
              <a:t>;</a:t>
            </a:r>
          </a:p>
          <a:p>
            <a:br>
              <a:rPr lang="en-US" sz="2000" dirty="0">
                <a:latin typeface="Nunito Sans" panose="00000500000000000000"/>
              </a:rPr>
            </a:br>
            <a:r>
              <a:rPr lang="en-US" sz="2000" dirty="0">
                <a:latin typeface="Nunito Sans" panose="00000500000000000000"/>
              </a:rPr>
              <a:t>public class Main {</a:t>
            </a:r>
          </a:p>
          <a:p>
            <a:r>
              <a:rPr lang="en-US" sz="2000" dirty="0">
                <a:latin typeface="Nunito Sans" panose="00000500000000000000"/>
              </a:rPr>
              <a:t>    public static </a:t>
            </a:r>
            <a:r>
              <a:rPr lang="en-US" sz="2000" dirty="0" err="1">
                <a:latin typeface="Nunito Sans" panose="00000500000000000000"/>
              </a:rPr>
              <a:t>int</a:t>
            </a:r>
            <a:r>
              <a:rPr lang="en-US" sz="2000" dirty="0">
                <a:latin typeface="Nunito Sans" panose="00000500000000000000"/>
              </a:rPr>
              <a:t> max(</a:t>
            </a:r>
            <a:r>
              <a:rPr lang="en-US" sz="2000" dirty="0" err="1">
                <a:latin typeface="Nunito Sans" panose="00000500000000000000"/>
              </a:rPr>
              <a:t>int</a:t>
            </a:r>
            <a:r>
              <a:rPr lang="en-US" sz="2000" dirty="0">
                <a:latin typeface="Nunito Sans" panose="00000500000000000000"/>
              </a:rPr>
              <a:t> a, </a:t>
            </a:r>
            <a:r>
              <a:rPr lang="en-US" sz="2000" dirty="0" err="1">
                <a:latin typeface="Nunito Sans" panose="00000500000000000000"/>
              </a:rPr>
              <a:t>int</a:t>
            </a:r>
            <a:r>
              <a:rPr lang="en-US" sz="2000" dirty="0">
                <a:latin typeface="Nunito Sans" panose="00000500000000000000"/>
              </a:rPr>
              <a:t> b) {</a:t>
            </a:r>
          </a:p>
          <a:p>
            <a:r>
              <a:rPr lang="en-US" sz="2000" dirty="0">
                <a:latin typeface="Nunito Sans" panose="00000500000000000000"/>
              </a:rPr>
              <a:t>        return (a &gt; b) ? a : b;</a:t>
            </a:r>
          </a:p>
          <a:p>
            <a:r>
              <a:rPr lang="en-US" sz="2000" dirty="0">
                <a:latin typeface="Nunito Sans" panose="00000500000000000000"/>
              </a:rPr>
              <a:t>    }</a:t>
            </a:r>
          </a:p>
          <a:p>
            <a:br>
              <a:rPr lang="en-US" sz="2000" dirty="0">
                <a:latin typeface="Nunito Sans" panose="00000500000000000000"/>
              </a:rPr>
            </a:br>
            <a:r>
              <a:rPr lang="en-US" sz="2000" dirty="0">
                <a:latin typeface="Nunito Sans" panose="00000500000000000000"/>
              </a:rPr>
              <a:t>    public static void </a:t>
            </a:r>
            <a:r>
              <a:rPr lang="en-US" sz="2000" dirty="0" err="1">
                <a:latin typeface="Nunito Sans" panose="00000500000000000000"/>
              </a:rPr>
              <a:t>maxLitres</a:t>
            </a:r>
            <a:r>
              <a:rPr lang="en-US" sz="2000" dirty="0">
                <a:latin typeface="Nunito Sans" panose="00000500000000000000"/>
              </a:rPr>
              <a:t>(</a:t>
            </a:r>
            <a:r>
              <a:rPr lang="en-US" sz="2000" dirty="0" err="1">
                <a:latin typeface="Nunito Sans" panose="00000500000000000000"/>
              </a:rPr>
              <a:t>int</a:t>
            </a:r>
            <a:r>
              <a:rPr lang="en-US" sz="2000" dirty="0">
                <a:latin typeface="Nunito Sans" panose="00000500000000000000"/>
              </a:rPr>
              <a:t> budget, </a:t>
            </a:r>
            <a:r>
              <a:rPr lang="en-US" sz="2000" dirty="0" err="1">
                <a:latin typeface="Nunito Sans" panose="00000500000000000000"/>
              </a:rPr>
              <a:t>int</a:t>
            </a:r>
            <a:r>
              <a:rPr lang="en-US" sz="2000" dirty="0">
                <a:latin typeface="Nunito Sans" panose="00000500000000000000"/>
              </a:rPr>
              <a:t> plastic, </a:t>
            </a:r>
            <a:r>
              <a:rPr lang="en-US" sz="2000" dirty="0" err="1">
                <a:latin typeface="Nunito Sans" panose="00000500000000000000"/>
              </a:rPr>
              <a:t>int</a:t>
            </a:r>
            <a:r>
              <a:rPr lang="en-US" sz="2000" dirty="0">
                <a:latin typeface="Nunito Sans" panose="00000500000000000000"/>
              </a:rPr>
              <a:t> glass, </a:t>
            </a:r>
            <a:r>
              <a:rPr lang="en-US" sz="2000" dirty="0" err="1">
                <a:latin typeface="Nunito Sans" panose="00000500000000000000"/>
              </a:rPr>
              <a:t>int</a:t>
            </a:r>
            <a:r>
              <a:rPr lang="en-US" sz="2000" dirty="0">
                <a:latin typeface="Nunito Sans" panose="00000500000000000000"/>
              </a:rPr>
              <a:t> refund) {</a:t>
            </a:r>
          </a:p>
          <a:p>
            <a:r>
              <a:rPr lang="en-US" sz="2000" dirty="0">
                <a:latin typeface="Nunito Sans" panose="00000500000000000000"/>
              </a:rPr>
              <a:t>        if (glass - refund &lt; plastic) {</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a:t>
            </a:r>
            <a:r>
              <a:rPr lang="en-US" sz="2000" dirty="0" err="1">
                <a:latin typeface="Nunito Sans" panose="00000500000000000000"/>
              </a:rPr>
              <a:t>ans</a:t>
            </a:r>
            <a:r>
              <a:rPr lang="en-US" sz="2000" dirty="0">
                <a:latin typeface="Nunito Sans" panose="00000500000000000000"/>
              </a:rPr>
              <a:t> = max((budget - refund) / (glass - refund), 0);</a:t>
            </a:r>
          </a:p>
          <a:p>
            <a:r>
              <a:rPr lang="en-US" sz="2000" dirty="0">
                <a:latin typeface="Nunito Sans" panose="00000500000000000000"/>
              </a:rPr>
              <a:t>            budget -= </a:t>
            </a:r>
            <a:r>
              <a:rPr lang="en-US" sz="2000" dirty="0" err="1">
                <a:latin typeface="Nunito Sans" panose="00000500000000000000"/>
              </a:rPr>
              <a:t>ans</a:t>
            </a:r>
            <a:r>
              <a:rPr lang="en-US" sz="2000" dirty="0">
                <a:latin typeface="Nunito Sans" panose="00000500000000000000"/>
              </a:rPr>
              <a:t> * (glass - refund);</a:t>
            </a:r>
          </a:p>
          <a:p>
            <a:r>
              <a:rPr lang="en-US" sz="2000" dirty="0">
                <a:latin typeface="Nunito Sans" panose="00000500000000000000"/>
              </a:rPr>
              <a:t>            </a:t>
            </a:r>
            <a:r>
              <a:rPr lang="en-US" sz="2000" dirty="0" err="1">
                <a:latin typeface="Nunito Sans" panose="00000500000000000000"/>
              </a:rPr>
              <a:t>ans</a:t>
            </a:r>
            <a:r>
              <a:rPr lang="en-US" sz="2000" dirty="0">
                <a:latin typeface="Nunito Sans" panose="00000500000000000000"/>
              </a:rPr>
              <a:t> += budget / plastic;</a:t>
            </a:r>
          </a:p>
          <a:p>
            <a:r>
              <a:rPr lang="en-US" sz="2000" dirty="0">
                <a:latin typeface="Nunito Sans" panose="00000500000000000000"/>
              </a:rPr>
              <a:t>            </a:t>
            </a:r>
            <a:r>
              <a:rPr lang="en-US" sz="2000" dirty="0" err="1">
                <a:latin typeface="Nunito Sans" panose="00000500000000000000"/>
              </a:rPr>
              <a:t>System.out.println</a:t>
            </a:r>
            <a:r>
              <a:rPr lang="en-US" sz="2000" dirty="0">
                <a:latin typeface="Nunito Sans" panose="00000500000000000000"/>
              </a:rPr>
              <a:t>(</a:t>
            </a:r>
            <a:r>
              <a:rPr lang="en-US" sz="2000" dirty="0" err="1">
                <a:latin typeface="Nunito Sans" panose="00000500000000000000"/>
              </a:rPr>
              <a:t>ans</a:t>
            </a:r>
            <a:r>
              <a:rPr lang="en-US" sz="2000" dirty="0">
                <a:latin typeface="Nunito Sans" panose="00000500000000000000"/>
              </a:rPr>
              <a:t>);</a:t>
            </a:r>
          </a:p>
          <a:p>
            <a:r>
              <a:rPr lang="en-US" sz="2000" dirty="0">
                <a:latin typeface="Nunito Sans" panose="00000500000000000000"/>
              </a:rPr>
              <a:t>        } else {</a:t>
            </a:r>
          </a:p>
          <a:p>
            <a:r>
              <a:rPr lang="en-US" sz="2000" dirty="0">
                <a:latin typeface="Nunito Sans" panose="00000500000000000000"/>
              </a:rPr>
              <a:t>            </a:t>
            </a:r>
            <a:r>
              <a:rPr lang="en-US" sz="2000" dirty="0" err="1">
                <a:latin typeface="Nunito Sans" panose="00000500000000000000"/>
              </a:rPr>
              <a:t>System.out.println</a:t>
            </a:r>
            <a:r>
              <a:rPr lang="en-US" sz="2000" dirty="0">
                <a:latin typeface="Nunito Sans" panose="00000500000000000000"/>
              </a:rPr>
              <a:t>(budget / plastic);</a:t>
            </a:r>
          </a:p>
          <a:p>
            <a:r>
              <a:rPr lang="en-US" sz="2000" dirty="0">
                <a:latin typeface="Nunito Sans" panose="00000500000000000000"/>
              </a:rPr>
              <a:t>        }</a:t>
            </a:r>
          </a:p>
          <a:p>
            <a:r>
              <a:rPr lang="en-US" sz="2000" dirty="0">
                <a:latin typeface="Nunito Sans" panose="00000500000000000000"/>
              </a:rPr>
              <a:t>    }</a:t>
            </a:r>
          </a:p>
          <a:p>
            <a:endParaRPr lang="en-US" sz="2000" b="1" dirty="0">
              <a:solidFill>
                <a:schemeClr val="bg1"/>
              </a:solidFill>
              <a:latin typeface="Nunito Sans" panose="00000500000000000000"/>
              <a:cs typeface="Courier New" panose="02070309020205020404" pitchFamily="49"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0000500000000000000"/>
              </a:rPr>
              <a:t>public static void main(String[] </a:t>
            </a:r>
            <a:r>
              <a:rPr lang="en-US" sz="2000" dirty="0" err="1">
                <a:latin typeface="Nunito Sans" panose="00000500000000000000"/>
              </a:rPr>
              <a:t>args</a:t>
            </a:r>
            <a:r>
              <a:rPr lang="en-US" sz="2000" dirty="0">
                <a:latin typeface="Nunito Sans" panose="00000500000000000000"/>
              </a:rPr>
              <a:t>) {</a:t>
            </a:r>
          </a:p>
          <a:p>
            <a:r>
              <a:rPr lang="en-US" sz="2000" dirty="0">
                <a:latin typeface="Nunito Sans" panose="00000500000000000000"/>
              </a:rPr>
              <a:t>        Scanner </a:t>
            </a:r>
            <a:r>
              <a:rPr lang="en-US" sz="2000" dirty="0" err="1">
                <a:latin typeface="Nunito Sans" panose="00000500000000000000"/>
              </a:rPr>
              <a:t>scanner</a:t>
            </a:r>
            <a:r>
              <a:rPr lang="en-US" sz="2000" dirty="0">
                <a:latin typeface="Nunito Sans" panose="00000500000000000000"/>
              </a:rPr>
              <a:t> = new Scanner(System.in);</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budget = </a:t>
            </a:r>
            <a:r>
              <a:rPr lang="en-US" sz="2000" dirty="0" err="1">
                <a:latin typeface="Nunito Sans" panose="00000500000000000000"/>
              </a:rPr>
              <a:t>scanner.nextInt</a:t>
            </a:r>
            <a:r>
              <a:rPr lang="en-US" sz="2000" dirty="0">
                <a:latin typeface="Nunito Sans" panose="00000500000000000000"/>
              </a:rPr>
              <a:t>();</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plastic = </a:t>
            </a:r>
            <a:r>
              <a:rPr lang="en-US" sz="2000" dirty="0" err="1">
                <a:latin typeface="Nunito Sans" panose="00000500000000000000"/>
              </a:rPr>
              <a:t>scanner.nextInt</a:t>
            </a:r>
            <a:r>
              <a:rPr lang="en-US" sz="2000" dirty="0">
                <a:latin typeface="Nunito Sans" panose="00000500000000000000"/>
              </a:rPr>
              <a:t>();</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glass = </a:t>
            </a:r>
            <a:r>
              <a:rPr lang="en-US" sz="2000" dirty="0" err="1">
                <a:latin typeface="Nunito Sans" panose="00000500000000000000"/>
              </a:rPr>
              <a:t>scanner.nextInt</a:t>
            </a:r>
            <a:r>
              <a:rPr lang="en-US" sz="2000" dirty="0">
                <a:latin typeface="Nunito Sans" panose="00000500000000000000"/>
              </a:rPr>
              <a:t>();</a:t>
            </a:r>
          </a:p>
          <a:p>
            <a:r>
              <a:rPr lang="en-US" sz="2000" dirty="0">
                <a:latin typeface="Nunito Sans" panose="00000500000000000000"/>
              </a:rPr>
              <a:t>        </a:t>
            </a:r>
            <a:r>
              <a:rPr lang="en-US" sz="2000" dirty="0" err="1">
                <a:latin typeface="Nunito Sans" panose="00000500000000000000"/>
              </a:rPr>
              <a:t>int</a:t>
            </a:r>
            <a:r>
              <a:rPr lang="en-US" sz="2000" dirty="0">
                <a:latin typeface="Nunito Sans" panose="00000500000000000000"/>
              </a:rPr>
              <a:t> refund = </a:t>
            </a:r>
            <a:r>
              <a:rPr lang="en-US" sz="2000" dirty="0" err="1">
                <a:latin typeface="Nunito Sans" panose="00000500000000000000"/>
              </a:rPr>
              <a:t>scanner.nextInt</a:t>
            </a:r>
            <a:r>
              <a:rPr lang="en-US" sz="2000" dirty="0">
                <a:latin typeface="Nunito Sans" panose="00000500000000000000"/>
              </a:rPr>
              <a:t>();</a:t>
            </a:r>
          </a:p>
          <a:p>
            <a:r>
              <a:rPr lang="en-US" sz="2000" dirty="0">
                <a:latin typeface="Nunito Sans" panose="00000500000000000000"/>
              </a:rPr>
              <a:t>        </a:t>
            </a:r>
            <a:r>
              <a:rPr lang="en-US" sz="2000" dirty="0" err="1">
                <a:latin typeface="Nunito Sans" panose="00000500000000000000"/>
              </a:rPr>
              <a:t>maxLitres</a:t>
            </a:r>
            <a:r>
              <a:rPr lang="en-US" sz="2000" dirty="0">
                <a:latin typeface="Nunito Sans" panose="00000500000000000000"/>
              </a:rPr>
              <a:t>(budget, plastic, glass, refund);</a:t>
            </a:r>
          </a:p>
          <a:p>
            <a:r>
              <a:rPr lang="en-US" sz="2000" dirty="0">
                <a:latin typeface="Nunito Sans" panose="00000500000000000000"/>
              </a:rPr>
              <a:t>    }</a:t>
            </a:r>
          </a:p>
          <a:p>
            <a:r>
              <a:rPr lang="en-US" sz="2000" dirty="0">
                <a:latin typeface="Nunito Sans" panose="00000500000000000000"/>
              </a:rPr>
              <a:t>}</a:t>
            </a:r>
          </a:p>
          <a:p>
            <a:endParaRPr lang="en-US" sz="2000" b="1" dirty="0">
              <a:solidFill>
                <a:schemeClr val="bg1"/>
              </a:solidFill>
              <a:latin typeface="Nunito Sans" panose="00000500000000000000"/>
              <a:cs typeface="Courier New" panose="02070309020205020404" pitchFamily="49" charset="0"/>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err="1">
                <a:latin typeface="Nunito Sans" panose="00000500000000000000"/>
              </a:rPr>
              <a:t>def</a:t>
            </a:r>
            <a:r>
              <a:rPr lang="en-US" sz="2000" dirty="0">
                <a:latin typeface="Nunito Sans" panose="00000500000000000000"/>
              </a:rPr>
              <a:t> </a:t>
            </a:r>
            <a:r>
              <a:rPr lang="en-US" sz="2000" dirty="0" err="1">
                <a:latin typeface="Nunito Sans" panose="00000500000000000000"/>
              </a:rPr>
              <a:t>maxLitres</a:t>
            </a:r>
            <a:r>
              <a:rPr lang="en-US" sz="2000" dirty="0">
                <a:latin typeface="Nunito Sans" panose="00000500000000000000"/>
              </a:rPr>
              <a:t>(budget, plastic, glass, refund):</a:t>
            </a:r>
          </a:p>
          <a:p>
            <a:r>
              <a:rPr lang="en-US" sz="2000" dirty="0">
                <a:latin typeface="Nunito Sans" panose="00000500000000000000"/>
              </a:rPr>
              <a:t>    if glass - refund &lt; plastic:</a:t>
            </a:r>
          </a:p>
          <a:p>
            <a:r>
              <a:rPr lang="en-US" sz="2000" dirty="0">
                <a:latin typeface="Nunito Sans" panose="00000500000000000000"/>
              </a:rPr>
              <a:t>        </a:t>
            </a:r>
            <a:r>
              <a:rPr lang="en-US" sz="2000" dirty="0" err="1">
                <a:latin typeface="Nunito Sans" panose="00000500000000000000"/>
              </a:rPr>
              <a:t>ans</a:t>
            </a:r>
            <a:r>
              <a:rPr lang="en-US" sz="2000" dirty="0">
                <a:latin typeface="Nunito Sans" panose="00000500000000000000"/>
              </a:rPr>
              <a:t> = max((budget - refund) // (glass - refund), 0)</a:t>
            </a:r>
          </a:p>
          <a:p>
            <a:r>
              <a:rPr lang="en-US" sz="2000" dirty="0">
                <a:latin typeface="Nunito Sans" panose="00000500000000000000"/>
              </a:rPr>
              <a:t>        budget -= </a:t>
            </a:r>
            <a:r>
              <a:rPr lang="en-US" sz="2000" dirty="0" err="1">
                <a:latin typeface="Nunito Sans" panose="00000500000000000000"/>
              </a:rPr>
              <a:t>ans</a:t>
            </a:r>
            <a:r>
              <a:rPr lang="en-US" sz="2000" dirty="0">
                <a:latin typeface="Nunito Sans" panose="00000500000000000000"/>
              </a:rPr>
              <a:t> * (glass - refund)</a:t>
            </a:r>
          </a:p>
          <a:p>
            <a:r>
              <a:rPr lang="en-US" sz="2000" dirty="0">
                <a:latin typeface="Nunito Sans" panose="00000500000000000000"/>
              </a:rPr>
              <a:t>        </a:t>
            </a:r>
            <a:r>
              <a:rPr lang="en-US" sz="2000" dirty="0" err="1">
                <a:latin typeface="Nunito Sans" panose="00000500000000000000"/>
              </a:rPr>
              <a:t>ans</a:t>
            </a:r>
            <a:r>
              <a:rPr lang="en-US" sz="2000" dirty="0">
                <a:latin typeface="Nunito Sans" panose="00000500000000000000"/>
              </a:rPr>
              <a:t> += budget // plastic</a:t>
            </a:r>
          </a:p>
          <a:p>
            <a:r>
              <a:rPr lang="en-US" sz="2000" dirty="0">
                <a:latin typeface="Nunito Sans" panose="00000500000000000000"/>
              </a:rPr>
              <a:t>        print(</a:t>
            </a:r>
            <a:r>
              <a:rPr lang="en-US" sz="2000" dirty="0" err="1">
                <a:latin typeface="Nunito Sans" panose="00000500000000000000"/>
              </a:rPr>
              <a:t>ans</a:t>
            </a:r>
            <a:r>
              <a:rPr lang="en-US" sz="2000" dirty="0">
                <a:latin typeface="Nunito Sans" panose="00000500000000000000"/>
              </a:rPr>
              <a:t>)</a:t>
            </a:r>
          </a:p>
          <a:p>
            <a:r>
              <a:rPr lang="en-US" sz="2000" dirty="0">
                <a:latin typeface="Nunito Sans" panose="00000500000000000000"/>
              </a:rPr>
              <a:t>    else:</a:t>
            </a:r>
          </a:p>
          <a:p>
            <a:r>
              <a:rPr lang="en-US" sz="2000" dirty="0">
                <a:latin typeface="Nunito Sans" panose="00000500000000000000"/>
              </a:rPr>
              <a:t>        print(budget // plastic)</a:t>
            </a:r>
          </a:p>
          <a:p>
            <a:br>
              <a:rPr lang="en-US" sz="2000" dirty="0">
                <a:latin typeface="Nunito Sans" panose="00000500000000000000"/>
              </a:rPr>
            </a:br>
            <a:r>
              <a:rPr lang="en-US" sz="2000" dirty="0">
                <a:latin typeface="Nunito Sans" panose="00000500000000000000"/>
              </a:rPr>
              <a:t>budget = </a:t>
            </a:r>
            <a:r>
              <a:rPr lang="en-US" sz="2000" dirty="0" err="1">
                <a:latin typeface="Nunito Sans" panose="00000500000000000000"/>
              </a:rPr>
              <a:t>int</a:t>
            </a:r>
            <a:r>
              <a:rPr lang="en-US" sz="2000" dirty="0">
                <a:latin typeface="Nunito Sans" panose="00000500000000000000"/>
              </a:rPr>
              <a:t>(input())</a:t>
            </a:r>
          </a:p>
          <a:p>
            <a:r>
              <a:rPr lang="en-US" sz="2000" dirty="0">
                <a:latin typeface="Nunito Sans" panose="00000500000000000000"/>
              </a:rPr>
              <a:t>plastic = </a:t>
            </a:r>
            <a:r>
              <a:rPr lang="en-US" sz="2000" dirty="0" err="1">
                <a:latin typeface="Nunito Sans" panose="00000500000000000000"/>
              </a:rPr>
              <a:t>int</a:t>
            </a:r>
            <a:r>
              <a:rPr lang="en-US" sz="2000" dirty="0">
                <a:latin typeface="Nunito Sans" panose="00000500000000000000"/>
              </a:rPr>
              <a:t>(input())</a:t>
            </a:r>
          </a:p>
          <a:p>
            <a:r>
              <a:rPr lang="en-US" sz="2000" dirty="0">
                <a:latin typeface="Nunito Sans" panose="00000500000000000000"/>
              </a:rPr>
              <a:t>glass = </a:t>
            </a:r>
            <a:r>
              <a:rPr lang="en-US" sz="2000" dirty="0" err="1">
                <a:latin typeface="Nunito Sans" panose="00000500000000000000"/>
              </a:rPr>
              <a:t>int</a:t>
            </a:r>
            <a:r>
              <a:rPr lang="en-US" sz="2000" dirty="0">
                <a:latin typeface="Nunito Sans" panose="00000500000000000000"/>
              </a:rPr>
              <a:t>(input())</a:t>
            </a:r>
          </a:p>
          <a:p>
            <a:r>
              <a:rPr lang="en-US" sz="2000" dirty="0">
                <a:latin typeface="Nunito Sans" panose="00000500000000000000"/>
              </a:rPr>
              <a:t>refund = </a:t>
            </a:r>
            <a:r>
              <a:rPr lang="en-US" sz="2000" dirty="0" err="1">
                <a:latin typeface="Nunito Sans" panose="00000500000000000000"/>
              </a:rPr>
              <a:t>int</a:t>
            </a:r>
            <a:r>
              <a:rPr lang="en-US" sz="2000" dirty="0">
                <a:latin typeface="Nunito Sans" panose="00000500000000000000"/>
              </a:rPr>
              <a:t>(input())</a:t>
            </a:r>
          </a:p>
          <a:p>
            <a:r>
              <a:rPr lang="en-US" sz="2000" dirty="0" err="1">
                <a:latin typeface="Nunito Sans" panose="00000500000000000000"/>
              </a:rPr>
              <a:t>maxLitres</a:t>
            </a:r>
            <a:r>
              <a:rPr lang="en-US" sz="2000" dirty="0">
                <a:latin typeface="Nunito Sans" panose="00000500000000000000"/>
              </a:rPr>
              <a:t>(budget, plastic, glass, refund)</a:t>
            </a:r>
          </a:p>
          <a:p>
            <a:br>
              <a:rPr lang="en-US" sz="2000" dirty="0">
                <a:latin typeface="Nunito Sans" panose="00000500000000000000"/>
              </a:rPr>
            </a:br>
            <a:endParaRPr lang="en-US" sz="2000" dirty="0">
              <a:latin typeface="Nunito Sans" panose="00000500000000000000"/>
            </a:endParaRPr>
          </a:p>
          <a:p>
            <a:endParaRPr lang="en-US" sz="2000" b="1" dirty="0">
              <a:solidFill>
                <a:schemeClr val="bg1"/>
              </a:solidFill>
              <a:latin typeface="Nunito Sans" panose="00000500000000000000"/>
              <a:cs typeface="Courier New" panose="02070309020205020404" pitchFamily="49"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13</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478423"/>
          </a:xfrm>
          <a:prstGeom prst="rect">
            <a:avLst/>
          </a:prstGeom>
          <a:noFill/>
        </p:spPr>
        <p:txBody>
          <a:bodyPr wrap="square" rtlCol="0">
            <a:spAutoFit/>
          </a:bodyPr>
          <a:lstStyle/>
          <a:p>
            <a:r>
              <a:rPr lang="en-US" sz="2500" dirty="0">
                <a:latin typeface="Nunito Sans" panose="00000500000000000000" pitchFamily="2" charset="0"/>
                <a:sym typeface="+mn-ea"/>
              </a:rPr>
              <a:t>I guess you all remember that number game where you used to ask your friend to choose a number, then multiply it by some number, then add by some number, and after doing multiple operations, then the answer.</a:t>
            </a:r>
          </a:p>
          <a:p>
            <a:r>
              <a:rPr lang="en-US" sz="2500" dirty="0">
                <a:latin typeface="Nunito Sans" panose="00000500000000000000" pitchFamily="2" charset="0"/>
                <a:sym typeface="+mn-ea"/>
              </a:rPr>
              <a:t>And you were successfully able to find that initial number that was chosen by your friend the beginning of the game.</a:t>
            </a:r>
          </a:p>
          <a:p>
            <a:r>
              <a:rPr lang="en-US" sz="2500" dirty="0">
                <a:latin typeface="Nunito Sans" panose="00000500000000000000" pitchFamily="2" charset="0"/>
                <a:sym typeface="+mn-ea"/>
              </a:rPr>
              <a:t>We are going to make something similar to this. So, you asked your friend to choose a number N, and multiply it by a given number A.</a:t>
            </a:r>
          </a:p>
          <a:p>
            <a:r>
              <a:rPr lang="en-US" sz="2500" dirty="0">
                <a:latin typeface="Nunito Sans" panose="00000500000000000000" pitchFamily="2" charset="0"/>
                <a:sym typeface="+mn-ea"/>
              </a:rPr>
              <a:t>Next, your friend has to choose a divisor of N, let's say 'Z', and add it to the above product. Now the final result becomes a number say X.</a:t>
            </a:r>
          </a:p>
          <a:p>
            <a:r>
              <a:rPr lang="en-US" sz="2500" dirty="0">
                <a:latin typeface="Nunito Sans" panose="00000500000000000000" pitchFamily="2" charset="0"/>
                <a:sym typeface="+mn-ea"/>
              </a:rPr>
              <a:t>If we frame it as an equation, it can be represented as X = AN</a:t>
            </a:r>
          </a:p>
          <a:p>
            <a:r>
              <a:rPr lang="en-US" sz="2500" dirty="0">
                <a:latin typeface="Nunito Sans" panose="00000500000000000000" pitchFamily="2" charset="0"/>
                <a:sym typeface="+mn-ea"/>
              </a:rPr>
              <a:t>So, now you know the value of A and X. Your task is to find the number N, which was chosen by your friend. The values of N can be multiple, You have to print all the possible values separated by SPACE. If there is no valid value of N, then reply None. This means your friend didn't give you the correct reply.</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13</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862320"/>
          </a:xfrm>
          <a:prstGeom prst="rect">
            <a:avLst/>
          </a:prstGeom>
          <a:noFill/>
        </p:spPr>
        <p:txBody>
          <a:bodyPr wrap="square" rtlCol="0">
            <a:spAutoFit/>
          </a:bodyPr>
          <a:lstStyle/>
          <a:p>
            <a:r>
              <a:rPr lang="en-US" sz="2500" dirty="0">
                <a:latin typeface="Nunito Sans" panose="00000500000000000000" pitchFamily="2" charset="0"/>
                <a:sym typeface="+mn-ea"/>
              </a:rPr>
              <a:t>Let us try to understand it with an example.</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Consider you have given a value of A = 3 and finally received the output value x = 35 Putting the values in equation X=A*N+Z,we get:</a:t>
            </a:r>
          </a:p>
          <a:p>
            <a:r>
              <a:rPr lang="en-US" sz="2500" dirty="0">
                <a:latin typeface="Nunito Sans" panose="00000500000000000000" pitchFamily="2" charset="0"/>
                <a:sym typeface="+mn-ea"/>
              </a:rPr>
              <a:t>35-3*N+Z, and Z is one of the divisors of N. With a smaller number like 1 or 2, this is not possible. So, we will start with some bigger numbers such as N = 8 Then Z can be 2 or 4 or 8, but in that case, the result will be even, but the answer is odd. So, we move to the next value 9.</a:t>
            </a:r>
          </a:p>
          <a:p>
            <a:r>
              <a:rPr lang="en-US" sz="2500" dirty="0">
                <a:latin typeface="Nunito Sans" panose="00000500000000000000" pitchFamily="2" charset="0"/>
                <a:sym typeface="+mn-ea"/>
              </a:rPr>
              <a:t>With N = 9 ,Z can be 3putting this in the equation: 35 =3*N+Z, and Z is one of the divisors of N.</a:t>
            </a:r>
          </a:p>
          <a:p>
            <a:r>
              <a:rPr lang="en-US" sz="2500" dirty="0">
                <a:latin typeface="Nunito Sans" panose="00000500000000000000" pitchFamily="2" charset="0"/>
                <a:sym typeface="+mn-ea"/>
              </a:rPr>
              <a:t>3*9+3 = 30 which doesn't matches with 35. So, we move</a:t>
            </a:r>
          </a:p>
          <a:p>
            <a:r>
              <a:rPr lang="en-US" sz="2500" dirty="0">
                <a:latin typeface="Nunito Sans" panose="00000500000000000000" pitchFamily="2" charset="0"/>
                <a:sym typeface="+mn-ea"/>
              </a:rPr>
              <a:t>to the next integer.</a:t>
            </a:r>
          </a:p>
          <a:p>
            <a:r>
              <a:rPr lang="en-US" sz="2500" dirty="0">
                <a:latin typeface="Nunito Sans" panose="00000500000000000000" pitchFamily="2" charset="0"/>
                <a:sym typeface="+mn-ea"/>
              </a:rPr>
              <a:t>With N = 10 , Z can be 2 or 5, putting this in the equation:</a:t>
            </a:r>
          </a:p>
          <a:p>
            <a:r>
              <a:rPr lang="en-US" sz="2500" dirty="0">
                <a:latin typeface="Nunito Sans" panose="00000500000000000000" pitchFamily="2" charset="0"/>
                <a:sym typeface="+mn-ea"/>
              </a:rPr>
              <a:t>35=3*N+Z</a:t>
            </a:r>
          </a:p>
          <a:p>
            <a:r>
              <a:rPr lang="en-US" sz="2500" dirty="0">
                <a:latin typeface="Nunito Sans" panose="00000500000000000000" pitchFamily="2" charset="0"/>
                <a:sym typeface="+mn-ea"/>
              </a:rPr>
              <a:t>With Z = 2</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13</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093702"/>
          </a:xfrm>
          <a:prstGeom prst="rect">
            <a:avLst/>
          </a:prstGeom>
          <a:noFill/>
        </p:spPr>
        <p:txBody>
          <a:bodyPr wrap="square" rtlCol="0">
            <a:spAutoFit/>
          </a:bodyPr>
          <a:lstStyle/>
          <a:p>
            <a:r>
              <a:rPr lang="en-US" sz="2500" dirty="0">
                <a:latin typeface="Nunito Sans" panose="00000500000000000000" pitchFamily="2" charset="0"/>
                <a:sym typeface="+mn-ea"/>
              </a:rPr>
              <a:t>3 + 10 + 2 = 32 still not equal to 35.</a:t>
            </a:r>
          </a:p>
          <a:p>
            <a:r>
              <a:rPr lang="en-US" sz="2500" dirty="0">
                <a:latin typeface="Nunito Sans" panose="00000500000000000000" pitchFamily="2" charset="0"/>
                <a:sym typeface="+mn-ea"/>
              </a:rPr>
              <a:t>With z = 5</a:t>
            </a:r>
          </a:p>
          <a:p>
            <a:r>
              <a:rPr lang="en-US" sz="2500" dirty="0">
                <a:latin typeface="Nunito Sans" panose="00000500000000000000" pitchFamily="2" charset="0"/>
                <a:sym typeface="+mn-ea"/>
              </a:rPr>
              <a:t>3*10 + 5 = 35 , still now equal to 35.</a:t>
            </a:r>
          </a:p>
          <a:p>
            <a:r>
              <a:rPr lang="en-US" sz="2500" dirty="0">
                <a:latin typeface="Nunito Sans" panose="00000500000000000000" pitchFamily="2" charset="0"/>
                <a:sym typeface="+mn-ea"/>
              </a:rPr>
              <a:t>So, one of the values of N is 10.</a:t>
            </a:r>
          </a:p>
          <a:p>
            <a:r>
              <a:rPr lang="en-US" sz="2500" dirty="0">
                <a:latin typeface="Nunito Sans" panose="00000500000000000000" pitchFamily="2" charset="0"/>
                <a:sym typeface="+mn-ea"/>
              </a:rPr>
              <a:t>Likewise, if we proceed, we cannot find any other value which could satisfy the above conditions.</a:t>
            </a:r>
          </a:p>
          <a:p>
            <a:r>
              <a:rPr lang="en-US" sz="2500" dirty="0">
                <a:latin typeface="Nunito Sans" panose="00000500000000000000" pitchFamily="2" charset="0"/>
                <a:sym typeface="+mn-ea"/>
              </a:rPr>
              <a:t>So, the output is only 10.</a:t>
            </a:r>
          </a:p>
          <a:p>
            <a:endParaRPr lang="en-US" sz="2500" dirty="0">
              <a:latin typeface="Nunito Sans" panose="00000500000000000000" pitchFamily="2" charset="0"/>
              <a:sym typeface="+mn-ea"/>
            </a:endParaRPr>
          </a:p>
          <a:p>
            <a:r>
              <a:rPr lang="en-US" sz="2000" b="1" dirty="0">
                <a:latin typeface="Nunito Sans" panose="00000500000000000000"/>
              </a:rPr>
              <a:t>Example 1:</a:t>
            </a:r>
            <a:endParaRPr lang="en-US" sz="2000" dirty="0">
              <a:latin typeface="Nunito Sans" panose="00000500000000000000"/>
            </a:endParaRPr>
          </a:p>
          <a:p>
            <a:r>
              <a:rPr lang="en-US" sz="2000" b="1" dirty="0">
                <a:latin typeface="Nunito Sans" panose="00000500000000000000"/>
              </a:rPr>
              <a:t>Input:</a:t>
            </a:r>
            <a:endParaRPr lang="en-US" sz="2000" dirty="0">
              <a:latin typeface="Nunito Sans" panose="00000500000000000000"/>
            </a:endParaRPr>
          </a:p>
          <a:p>
            <a:r>
              <a:rPr lang="en-US" sz="2000" dirty="0">
                <a:latin typeface="Nunito Sans" panose="00000500000000000000"/>
              </a:rPr>
              <a:t>50 5 -&gt; Input integer, A, X</a:t>
            </a:r>
          </a:p>
          <a:p>
            <a:r>
              <a:rPr lang="en-US" sz="2000" b="1" dirty="0">
                <a:latin typeface="Nunito Sans" panose="00000500000000000000"/>
              </a:rPr>
              <a:t>Output:</a:t>
            </a:r>
            <a:endParaRPr lang="en-US" sz="2000" dirty="0">
              <a:latin typeface="Nunito Sans" panose="00000500000000000000"/>
            </a:endParaRPr>
          </a:p>
          <a:p>
            <a:r>
              <a:rPr lang="en-US" sz="2000" b="1" dirty="0">
                <a:latin typeface="Nunito Sans" panose="00000500000000000000"/>
              </a:rPr>
              <a:t>None</a:t>
            </a:r>
            <a:r>
              <a:rPr lang="en-US" sz="2000" dirty="0">
                <a:latin typeface="Nunito Sans" panose="00000500000000000000"/>
              </a:rPr>
              <a:t>  -&gt;Output</a:t>
            </a:r>
          </a:p>
          <a:p>
            <a:endParaRPr lang="en-US" sz="2500" dirty="0">
              <a:latin typeface="Nunito Sans" panose="00000500000000000000" pitchFamily="2" charset="0"/>
              <a:sym typeface="+mn-ea"/>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13</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2400657"/>
          </a:xfrm>
          <a:prstGeom prst="rect">
            <a:avLst/>
          </a:prstGeom>
          <a:noFill/>
        </p:spPr>
        <p:txBody>
          <a:bodyPr wrap="square" rtlCol="0">
            <a:spAutoFit/>
          </a:bodyPr>
          <a:lstStyle/>
          <a:p>
            <a:r>
              <a:rPr lang="en-US" sz="2500" dirty="0">
                <a:latin typeface="Nunito Sans" panose="00000500000000000000" pitchFamily="2" charset="0"/>
                <a:sym typeface="+mn-ea"/>
              </a:rPr>
              <a:t>Input format:</a:t>
            </a:r>
          </a:p>
          <a:p>
            <a:r>
              <a:rPr lang="en-US" sz="2500" dirty="0">
                <a:latin typeface="Nunito Sans" panose="00000500000000000000" pitchFamily="2" charset="0"/>
                <a:sym typeface="+mn-ea"/>
              </a:rPr>
              <a:t>First Input Accept value of Integer A.</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Second Input-Accept value of Integer, K (Next Line).</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Output format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13</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3553460"/>
          </a:xfrm>
          <a:prstGeom prst="rect">
            <a:avLst/>
          </a:prstGeom>
          <a:noFill/>
        </p:spPr>
        <p:txBody>
          <a:bodyPr wrap="square" rtlCol="0">
            <a:spAutoFit/>
          </a:bodyPr>
          <a:lstStyle/>
          <a:p>
            <a:r>
              <a:rPr lang="en-US" sz="2500" dirty="0">
                <a:latin typeface="Nunito Sans" panose="00000500000000000000" pitchFamily="2" charset="0"/>
                <a:sym typeface="+mn-ea"/>
              </a:rPr>
              <a:t>The output are either None or integers values (separated by space) value as per above logic. (Check the output in Example 1, Example 2). Additional messages in output will cause the failure of test cases.</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Constraints:</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1 &lt;= xx = 1000000</a:t>
            </a:r>
          </a:p>
          <a:p>
            <a:r>
              <a:rPr lang="en-US" sz="2500" dirty="0">
                <a:latin typeface="Nunito Sans" panose="00000500000000000000" pitchFamily="2" charset="0"/>
                <a:sym typeface="+mn-ea"/>
              </a:rPr>
              <a:t>1 &lt;= A &lt;= X</a:t>
            </a:r>
          </a:p>
          <a:p>
            <a:r>
              <a:rPr lang="en-US" sz="2500" dirty="0">
                <a:latin typeface="Nunito Sans" panose="00000500000000000000" pitchFamily="2" charset="0"/>
                <a:sym typeface="+mn-ea"/>
              </a:rPr>
              <a:t>Only positive integer values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a:rPr>
              <a:t>#include &lt;</a:t>
            </a:r>
            <a:r>
              <a:rPr lang="en-US" sz="2000" dirty="0" err="1">
                <a:latin typeface="Nunito Sans" panose="020B0604020202020204"/>
              </a:rPr>
              <a:t>stdio.h</a:t>
            </a:r>
            <a:r>
              <a:rPr lang="en-US" sz="2000" dirty="0">
                <a:latin typeface="Nunito Sans" panose="020B0604020202020204"/>
              </a:rPr>
              <a:t>&gt;</a:t>
            </a:r>
          </a:p>
          <a:p>
            <a:r>
              <a:rPr lang="en-US" sz="2000" dirty="0" err="1">
                <a:latin typeface="Nunito Sans" panose="020B0604020202020204"/>
              </a:rPr>
              <a:t>int</a:t>
            </a:r>
            <a:r>
              <a:rPr lang="en-US" sz="2000" dirty="0">
                <a:latin typeface="Nunito Sans" panose="020B0604020202020204"/>
              </a:rPr>
              <a:t> </a:t>
            </a:r>
            <a:r>
              <a:rPr lang="en-US" sz="2000" dirty="0" err="1">
                <a:latin typeface="Nunito Sans" panose="020B0604020202020204"/>
              </a:rPr>
              <a:t>isDivisor</a:t>
            </a:r>
            <a:r>
              <a:rPr lang="en-US" sz="2000" dirty="0">
                <a:latin typeface="Nunito Sans" panose="020B0604020202020204"/>
              </a:rPr>
              <a:t>(</a:t>
            </a:r>
            <a:r>
              <a:rPr lang="en-US" sz="2000" dirty="0" err="1">
                <a:latin typeface="Nunito Sans" panose="020B0604020202020204"/>
              </a:rPr>
              <a:t>int</a:t>
            </a:r>
            <a:r>
              <a:rPr lang="en-US" sz="2000" dirty="0">
                <a:latin typeface="Nunito Sans" panose="020B0604020202020204"/>
              </a:rPr>
              <a:t> number, </a:t>
            </a:r>
            <a:r>
              <a:rPr lang="en-US" sz="2000" dirty="0" err="1">
                <a:latin typeface="Nunito Sans" panose="020B0604020202020204"/>
              </a:rPr>
              <a:t>int</a:t>
            </a:r>
            <a:r>
              <a:rPr lang="en-US" sz="2000" dirty="0">
                <a:latin typeface="Nunito Sans" panose="020B0604020202020204"/>
              </a:rPr>
              <a:t> divisor) </a:t>
            </a:r>
          </a:p>
          <a:p>
            <a:r>
              <a:rPr lang="en-US" sz="2000" dirty="0">
                <a:latin typeface="Nunito Sans" panose="020B0604020202020204"/>
              </a:rPr>
              <a:t>{</a:t>
            </a:r>
          </a:p>
          <a:p>
            <a:r>
              <a:rPr lang="en-US" sz="2000" dirty="0">
                <a:latin typeface="Nunito Sans" panose="020B0604020202020204"/>
              </a:rPr>
              <a:t>  return number % divisor == 0;</a:t>
            </a:r>
          </a:p>
          <a:p>
            <a:r>
              <a:rPr lang="en-US" sz="2000" dirty="0">
                <a:latin typeface="Nunito Sans" panose="020B0604020202020204"/>
              </a:rPr>
              <a:t>}</a:t>
            </a:r>
          </a:p>
          <a:p>
            <a:r>
              <a:rPr lang="en-US" sz="2000" dirty="0" err="1">
                <a:latin typeface="Nunito Sans" panose="020B0604020202020204"/>
              </a:rPr>
              <a:t>int</a:t>
            </a:r>
            <a:r>
              <a:rPr lang="en-US" sz="2000" dirty="0">
                <a:latin typeface="Nunito Sans" panose="020B0604020202020204"/>
              </a:rPr>
              <a:t> main() </a:t>
            </a:r>
          </a:p>
          <a:p>
            <a:r>
              <a:rPr lang="en-US" sz="2000" dirty="0">
                <a:latin typeface="Nunito Sans" panose="020B0604020202020204"/>
              </a:rPr>
              <a:t>{</a:t>
            </a:r>
          </a:p>
          <a:p>
            <a:r>
              <a:rPr lang="en-US" sz="2000" dirty="0">
                <a:latin typeface="Nunito Sans" panose="020B0604020202020204"/>
              </a:rPr>
              <a:t>  // Get user inputs</a:t>
            </a:r>
          </a:p>
          <a:p>
            <a:r>
              <a:rPr lang="en-US" sz="2000" dirty="0">
                <a:latin typeface="Nunito Sans" panose="020B0604020202020204"/>
              </a:rPr>
              <a:t>  </a:t>
            </a:r>
            <a:r>
              <a:rPr lang="en-US" sz="2000" dirty="0" err="1">
                <a:latin typeface="Nunito Sans" panose="020B0604020202020204"/>
              </a:rPr>
              <a:t>int</a:t>
            </a:r>
            <a:r>
              <a:rPr lang="en-US" sz="2000" dirty="0">
                <a:latin typeface="Nunito Sans" panose="020B0604020202020204"/>
              </a:rPr>
              <a:t> X, A;</a:t>
            </a:r>
          </a:p>
          <a:p>
            <a:r>
              <a:rPr lang="en-US" sz="2000" dirty="0">
                <a:latin typeface="Nunito Sans" panose="020B0604020202020204"/>
              </a:rPr>
              <a:t>  </a:t>
            </a:r>
            <a:r>
              <a:rPr lang="en-US" sz="2000" dirty="0" err="1">
                <a:latin typeface="Nunito Sans" panose="020B0604020202020204"/>
              </a:rPr>
              <a:t>scanf</a:t>
            </a:r>
            <a:r>
              <a:rPr lang="en-US" sz="2000" dirty="0">
                <a:latin typeface="Nunito Sans" panose="020B0604020202020204"/>
              </a:rPr>
              <a:t>("%d", &amp;X);</a:t>
            </a:r>
          </a:p>
          <a:p>
            <a:r>
              <a:rPr lang="en-US" sz="2000" dirty="0">
                <a:latin typeface="Nunito Sans" panose="020B0604020202020204"/>
              </a:rPr>
              <a:t>  </a:t>
            </a:r>
            <a:r>
              <a:rPr lang="en-US" sz="2000" dirty="0" err="1">
                <a:latin typeface="Nunito Sans" panose="020B0604020202020204"/>
              </a:rPr>
              <a:t>scanf</a:t>
            </a:r>
            <a:r>
              <a:rPr lang="en-US" sz="2000" dirty="0">
                <a:latin typeface="Nunito Sans" panose="020B0604020202020204"/>
              </a:rPr>
              <a:t>("%d", &amp;A);</a:t>
            </a:r>
          </a:p>
          <a:p>
            <a:br>
              <a:rPr lang="en-US" sz="2000" dirty="0">
                <a:latin typeface="Nunito Sans" panose="020B0604020202020204"/>
              </a:rPr>
            </a:br>
            <a:r>
              <a:rPr lang="en-US" sz="2000" dirty="0">
                <a:latin typeface="Nunito Sans" panose="020B0604020202020204"/>
              </a:rPr>
              <a:t>  for (</a:t>
            </a:r>
            <a:r>
              <a:rPr lang="en-US" sz="2000" dirty="0" err="1">
                <a:latin typeface="Nunito Sans" panose="020B0604020202020204"/>
              </a:rPr>
              <a:t>int</a:t>
            </a:r>
            <a:r>
              <a:rPr lang="en-US" sz="2000" dirty="0">
                <a:latin typeface="Nunito Sans" panose="020B0604020202020204"/>
              </a:rPr>
              <a:t> N = 1; N &lt;= X; N++) </a:t>
            </a:r>
          </a:p>
          <a:p>
            <a:r>
              <a:rPr lang="en-US" sz="2000" dirty="0">
                <a:latin typeface="Nunito Sans" panose="020B0604020202020204"/>
              </a:rPr>
              <a:t>  {</a:t>
            </a:r>
          </a:p>
          <a:p>
            <a:r>
              <a:rPr lang="en-US" sz="2000" dirty="0">
                <a:latin typeface="Nunito Sans" panose="020B0604020202020204"/>
              </a:rPr>
              <a:t>    for (</a:t>
            </a:r>
            <a:r>
              <a:rPr lang="en-US" sz="2000" dirty="0" err="1">
                <a:latin typeface="Nunito Sans" panose="020B0604020202020204"/>
              </a:rPr>
              <a:t>int</a:t>
            </a:r>
            <a:r>
              <a:rPr lang="en-US" sz="2000" dirty="0">
                <a:latin typeface="Nunito Sans" panose="020B0604020202020204"/>
              </a:rPr>
              <a:t> Z = 1; Z &lt;= N; Z++) </a:t>
            </a:r>
          </a:p>
          <a:p>
            <a:r>
              <a:rPr lang="en-US" sz="2000" dirty="0">
                <a:latin typeface="Nunito Sans" panose="020B0604020202020204"/>
              </a:rPr>
              <a:t>    {</a:t>
            </a:r>
          </a:p>
          <a:p>
            <a:r>
              <a:rPr lang="en-US" sz="2000" dirty="0">
                <a:latin typeface="Nunito Sans" panose="020B0604020202020204"/>
              </a:rPr>
              <a:t>      if (X == A * N + Z &amp;&amp; </a:t>
            </a:r>
            <a:r>
              <a:rPr lang="en-US" sz="2000" dirty="0" err="1">
                <a:latin typeface="Nunito Sans" panose="020B0604020202020204"/>
              </a:rPr>
              <a:t>isDivisor</a:t>
            </a:r>
            <a:r>
              <a:rPr lang="en-US" sz="2000" dirty="0">
                <a:latin typeface="Nunito Sans" panose="020B0604020202020204"/>
              </a:rPr>
              <a:t>(N, Z)) </a:t>
            </a:r>
          </a:p>
          <a:p>
            <a:endParaRPr lang="en-US" sz="2000" b="1" dirty="0">
              <a:solidFill>
                <a:schemeClr val="bg1"/>
              </a:solidFill>
              <a:latin typeface="Nunito Sans" panose="020B0604020202020204"/>
              <a:cs typeface="Courier New" panose="02070309020205020404" pitchFamily="49" charset="0"/>
              <a:sym typeface="+mn-ea"/>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0000500000000000000"/>
              </a:rPr>
              <a:t>{</a:t>
            </a:r>
          </a:p>
          <a:p>
            <a:r>
              <a:rPr lang="en-US" sz="2000" dirty="0">
                <a:latin typeface="Nunito Sans" panose="00000500000000000000"/>
              </a:rPr>
              <a:t>        </a:t>
            </a:r>
            <a:r>
              <a:rPr lang="en-US" sz="2000" dirty="0" err="1">
                <a:latin typeface="Nunito Sans" panose="00000500000000000000"/>
              </a:rPr>
              <a:t>printf</a:t>
            </a:r>
            <a:r>
              <a:rPr lang="en-US" sz="2000" dirty="0">
                <a:latin typeface="Nunito Sans" panose="00000500000000000000"/>
              </a:rPr>
              <a:t>("%d", N);</a:t>
            </a:r>
          </a:p>
          <a:p>
            <a:r>
              <a:rPr lang="en-US" sz="2000" dirty="0">
                <a:latin typeface="Nunito Sans" panose="00000500000000000000"/>
              </a:rPr>
              <a:t>        // Exit the loops as the equation is satisfied</a:t>
            </a:r>
          </a:p>
          <a:p>
            <a:r>
              <a:rPr lang="en-US" sz="2000" dirty="0">
                <a:latin typeface="Nunito Sans" panose="00000500000000000000"/>
              </a:rPr>
              <a:t>        return 0;</a:t>
            </a:r>
          </a:p>
          <a:p>
            <a:r>
              <a:rPr lang="en-US" sz="2000" dirty="0">
                <a:latin typeface="Nunito Sans" panose="00000500000000000000"/>
              </a:rPr>
              <a:t>      }</a:t>
            </a:r>
          </a:p>
          <a:p>
            <a:r>
              <a:rPr lang="en-US" sz="2000" dirty="0">
                <a:latin typeface="Nunito Sans" panose="00000500000000000000"/>
              </a:rPr>
              <a:t>    }</a:t>
            </a:r>
          </a:p>
          <a:p>
            <a:r>
              <a:rPr lang="en-US" sz="2000" dirty="0">
                <a:latin typeface="Nunito Sans" panose="00000500000000000000"/>
              </a:rPr>
              <a:t>  }</a:t>
            </a:r>
          </a:p>
          <a:p>
            <a:r>
              <a:rPr lang="en-US" sz="2000" dirty="0">
                <a:latin typeface="Nunito Sans" panose="00000500000000000000"/>
              </a:rPr>
              <a:t>    </a:t>
            </a:r>
            <a:r>
              <a:rPr lang="en-US" sz="2000" dirty="0" err="1">
                <a:latin typeface="Nunito Sans" panose="00000500000000000000"/>
              </a:rPr>
              <a:t>printf</a:t>
            </a:r>
            <a:r>
              <a:rPr lang="en-US" sz="2000" dirty="0">
                <a:latin typeface="Nunito Sans" panose="00000500000000000000"/>
              </a:rPr>
              <a:t>("None"); // If no values of N and Z satisfy the equation</a:t>
            </a:r>
          </a:p>
          <a:p>
            <a:br>
              <a:rPr lang="en-US" sz="2000" dirty="0">
                <a:latin typeface="Nunito Sans" panose="00000500000000000000"/>
              </a:rPr>
            </a:br>
            <a:r>
              <a:rPr lang="en-US" sz="2000" dirty="0">
                <a:latin typeface="Nunito Sans" panose="00000500000000000000"/>
              </a:rPr>
              <a:t>  return 0;</a:t>
            </a:r>
          </a:p>
          <a:p>
            <a:r>
              <a:rPr lang="en-US" sz="2000" dirty="0">
                <a:latin typeface="Nunito Sans" panose="00000500000000000000"/>
              </a:rPr>
              <a:t>}</a:t>
            </a:r>
          </a:p>
          <a:p>
            <a:br>
              <a:rPr lang="en-US" sz="2000" dirty="0">
                <a:latin typeface="Nunito Sans" panose="00000500000000000000"/>
              </a:rPr>
            </a:br>
            <a:endParaRPr lang="en-US" sz="2000" dirty="0">
              <a:latin typeface="Nunito Sans" panose="00000500000000000000"/>
            </a:endParaRPr>
          </a:p>
          <a:p>
            <a:endParaRPr lang="en-US" sz="2000" b="1" dirty="0">
              <a:solidFill>
                <a:schemeClr val="bg1"/>
              </a:solidFill>
              <a:latin typeface="Nunito Sans" panose="00000500000000000000"/>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a:rPr>
              <a:t>#include &lt;</a:t>
            </a:r>
            <a:r>
              <a:rPr lang="en-US" sz="2000" dirty="0" err="1">
                <a:latin typeface="Nunito Sans" panose="020B0604020202020204"/>
              </a:rPr>
              <a:t>iostream</a:t>
            </a:r>
            <a:r>
              <a:rPr lang="en-US" sz="2000" dirty="0">
                <a:latin typeface="Nunito Sans" panose="020B0604020202020204"/>
              </a:rPr>
              <a:t>&gt;</a:t>
            </a:r>
          </a:p>
          <a:p>
            <a:r>
              <a:rPr lang="en-US" sz="2000" dirty="0">
                <a:latin typeface="Nunito Sans" panose="020B0604020202020204"/>
              </a:rPr>
              <a:t>using namespace </a:t>
            </a:r>
            <a:r>
              <a:rPr lang="en-US" sz="2000" dirty="0" err="1">
                <a:latin typeface="Nunito Sans" panose="020B0604020202020204"/>
              </a:rPr>
              <a:t>std</a:t>
            </a:r>
            <a:r>
              <a:rPr lang="en-US" sz="2000" dirty="0">
                <a:latin typeface="Nunito Sans" panose="020B0604020202020204"/>
              </a:rPr>
              <a:t>;</a:t>
            </a:r>
          </a:p>
          <a:p>
            <a:r>
              <a:rPr lang="en-US" sz="2000" dirty="0">
                <a:latin typeface="Nunito Sans" panose="020B0604020202020204"/>
              </a:rPr>
              <a:t>bool </a:t>
            </a:r>
            <a:r>
              <a:rPr lang="en-US" sz="2000" dirty="0" err="1">
                <a:latin typeface="Nunito Sans" panose="020B0604020202020204"/>
              </a:rPr>
              <a:t>isDivisor</a:t>
            </a:r>
            <a:r>
              <a:rPr lang="en-US" sz="2000" dirty="0">
                <a:latin typeface="Nunito Sans" panose="020B0604020202020204"/>
              </a:rPr>
              <a:t>(</a:t>
            </a:r>
            <a:r>
              <a:rPr lang="en-US" sz="2000" dirty="0" err="1">
                <a:latin typeface="Nunito Sans" panose="020B0604020202020204"/>
              </a:rPr>
              <a:t>int</a:t>
            </a:r>
            <a:r>
              <a:rPr lang="en-US" sz="2000" dirty="0">
                <a:latin typeface="Nunito Sans" panose="020B0604020202020204"/>
              </a:rPr>
              <a:t> number, </a:t>
            </a:r>
            <a:r>
              <a:rPr lang="en-US" sz="2000" dirty="0" err="1">
                <a:latin typeface="Nunito Sans" panose="020B0604020202020204"/>
              </a:rPr>
              <a:t>int</a:t>
            </a:r>
            <a:r>
              <a:rPr lang="en-US" sz="2000" dirty="0">
                <a:latin typeface="Nunito Sans" panose="020B0604020202020204"/>
              </a:rPr>
              <a:t> divisor) </a:t>
            </a:r>
          </a:p>
          <a:p>
            <a:r>
              <a:rPr lang="en-US" sz="2000" dirty="0">
                <a:latin typeface="Nunito Sans" panose="020B0604020202020204"/>
              </a:rPr>
              <a:t>{</a:t>
            </a:r>
          </a:p>
          <a:p>
            <a:r>
              <a:rPr lang="en-US" sz="2000" dirty="0">
                <a:latin typeface="Nunito Sans" panose="020B0604020202020204"/>
              </a:rPr>
              <a:t>  return number % divisor == 0;</a:t>
            </a:r>
          </a:p>
          <a:p>
            <a:r>
              <a:rPr lang="en-US" sz="2000" dirty="0">
                <a:latin typeface="Nunito Sans" panose="020B0604020202020204"/>
              </a:rPr>
              <a:t>}</a:t>
            </a:r>
          </a:p>
          <a:p>
            <a:br>
              <a:rPr lang="en-US" sz="2000" dirty="0">
                <a:latin typeface="Nunito Sans" panose="020B0604020202020204"/>
              </a:rPr>
            </a:br>
            <a:r>
              <a:rPr lang="en-US" sz="2000" dirty="0" err="1">
                <a:latin typeface="Nunito Sans" panose="020B0604020202020204"/>
              </a:rPr>
              <a:t>int</a:t>
            </a:r>
            <a:r>
              <a:rPr lang="en-US" sz="2000" dirty="0">
                <a:latin typeface="Nunito Sans" panose="020B0604020202020204"/>
              </a:rPr>
              <a:t> main() </a:t>
            </a:r>
          </a:p>
          <a:p>
            <a:r>
              <a:rPr lang="en-US" sz="2000" dirty="0">
                <a:latin typeface="Nunito Sans" panose="020B0604020202020204"/>
              </a:rPr>
              <a:t>{</a:t>
            </a:r>
          </a:p>
          <a:p>
            <a:r>
              <a:rPr lang="en-US" sz="2000" dirty="0">
                <a:latin typeface="Nunito Sans" panose="020B0604020202020204"/>
              </a:rPr>
              <a:t>  // Get user inputs</a:t>
            </a:r>
          </a:p>
          <a:p>
            <a:r>
              <a:rPr lang="en-US" sz="2000" dirty="0">
                <a:latin typeface="Nunito Sans" panose="020B0604020202020204"/>
              </a:rPr>
              <a:t>  </a:t>
            </a:r>
            <a:r>
              <a:rPr lang="en-US" sz="2000" dirty="0" err="1">
                <a:latin typeface="Nunito Sans" panose="020B0604020202020204"/>
              </a:rPr>
              <a:t>int</a:t>
            </a:r>
            <a:r>
              <a:rPr lang="en-US" sz="2000" dirty="0">
                <a:latin typeface="Nunito Sans" panose="020B0604020202020204"/>
              </a:rPr>
              <a:t> X, A;</a:t>
            </a:r>
          </a:p>
          <a:p>
            <a:r>
              <a:rPr lang="en-US" sz="2000" dirty="0">
                <a:latin typeface="Nunito Sans" panose="020B0604020202020204"/>
              </a:rPr>
              <a:t>  </a:t>
            </a:r>
            <a:r>
              <a:rPr lang="en-US" sz="2000" dirty="0" err="1">
                <a:latin typeface="Nunito Sans" panose="020B0604020202020204"/>
              </a:rPr>
              <a:t>cin</a:t>
            </a:r>
            <a:r>
              <a:rPr lang="en-US" sz="2000" dirty="0">
                <a:latin typeface="Nunito Sans" panose="020B0604020202020204"/>
              </a:rPr>
              <a:t> &gt;&gt; X;</a:t>
            </a:r>
          </a:p>
          <a:p>
            <a:r>
              <a:rPr lang="en-US" sz="2000" dirty="0">
                <a:latin typeface="Nunito Sans" panose="020B0604020202020204"/>
              </a:rPr>
              <a:t>  </a:t>
            </a:r>
            <a:r>
              <a:rPr lang="en-US" sz="2000" dirty="0" err="1">
                <a:latin typeface="Nunito Sans" panose="020B0604020202020204"/>
              </a:rPr>
              <a:t>cin</a:t>
            </a:r>
            <a:r>
              <a:rPr lang="en-US" sz="2000" dirty="0">
                <a:latin typeface="Nunito Sans" panose="020B0604020202020204"/>
              </a:rPr>
              <a:t> &gt;&gt; A;</a:t>
            </a:r>
          </a:p>
          <a:p>
            <a:r>
              <a:rPr lang="en-US" sz="2000" dirty="0">
                <a:latin typeface="Nunito Sans" panose="020B0604020202020204"/>
              </a:rPr>
              <a:t>  for (</a:t>
            </a:r>
            <a:r>
              <a:rPr lang="en-US" sz="2000" dirty="0" err="1">
                <a:latin typeface="Nunito Sans" panose="020B0604020202020204"/>
              </a:rPr>
              <a:t>int</a:t>
            </a:r>
            <a:r>
              <a:rPr lang="en-US" sz="2000" dirty="0">
                <a:latin typeface="Nunito Sans" panose="020B0604020202020204"/>
              </a:rPr>
              <a:t> N = 1; N &lt;= X; N++) </a:t>
            </a:r>
          </a:p>
          <a:p>
            <a:r>
              <a:rPr lang="en-US" sz="2000" dirty="0">
                <a:latin typeface="Nunito Sans" panose="020B0604020202020204"/>
              </a:rPr>
              <a:t>  {</a:t>
            </a:r>
          </a:p>
          <a:p>
            <a:r>
              <a:rPr lang="en-US" sz="2000" dirty="0">
                <a:latin typeface="Nunito Sans" panose="020B0604020202020204"/>
              </a:rPr>
              <a:t>    for (</a:t>
            </a:r>
            <a:r>
              <a:rPr lang="en-US" sz="2000" dirty="0" err="1">
                <a:latin typeface="Nunito Sans" panose="020B0604020202020204"/>
              </a:rPr>
              <a:t>int</a:t>
            </a:r>
            <a:r>
              <a:rPr lang="en-US" sz="2000" dirty="0">
                <a:latin typeface="Nunito Sans" panose="020B0604020202020204"/>
              </a:rPr>
              <a:t> Z = 1; Z &lt;= N; Z++) </a:t>
            </a:r>
          </a:p>
          <a:p>
            <a:r>
              <a:rPr lang="en-US" sz="2000" dirty="0">
                <a:latin typeface="Nunito Sans" panose="020B0604020202020204"/>
              </a:rPr>
              <a:t>    {</a:t>
            </a:r>
          </a:p>
          <a:p>
            <a:endParaRPr lang="en-US" sz="2000" b="1" dirty="0">
              <a:solidFill>
                <a:schemeClr val="bg1"/>
              </a:solidFill>
              <a:latin typeface="Nunito Sans" panose="020B0604020202020204"/>
              <a:cs typeface="Courier New" panose="02070309020205020404" pitchFamily="49" charset="0"/>
              <a:sym typeface="+mn-ea"/>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a:rPr>
              <a:t>if (X == A * N + Z &amp;&amp; </a:t>
            </a:r>
            <a:r>
              <a:rPr lang="en-US" sz="2000" dirty="0" err="1">
                <a:latin typeface="Nunito Sans" panose="020B0604020202020204"/>
              </a:rPr>
              <a:t>isDivisor</a:t>
            </a:r>
            <a:r>
              <a:rPr lang="en-US" sz="2000" dirty="0">
                <a:latin typeface="Nunito Sans" panose="020B0604020202020204"/>
              </a:rPr>
              <a:t>(N, Z)) </a:t>
            </a:r>
          </a:p>
          <a:p>
            <a:r>
              <a:rPr lang="en-US" sz="2000" dirty="0">
                <a:latin typeface="Nunito Sans" panose="020B0604020202020204"/>
              </a:rPr>
              <a:t>      {</a:t>
            </a:r>
          </a:p>
          <a:p>
            <a:r>
              <a:rPr lang="en-US" sz="2000" dirty="0">
                <a:latin typeface="Nunito Sans" panose="020B0604020202020204"/>
              </a:rPr>
              <a:t>       </a:t>
            </a:r>
            <a:r>
              <a:rPr lang="en-US" sz="2000" dirty="0" err="1">
                <a:latin typeface="Nunito Sans" panose="020B0604020202020204"/>
              </a:rPr>
              <a:t>cout</a:t>
            </a:r>
            <a:r>
              <a:rPr lang="en-US" sz="2000" dirty="0">
                <a:latin typeface="Nunito Sans" panose="020B0604020202020204"/>
              </a:rPr>
              <a:t> &lt;&lt;  N;</a:t>
            </a:r>
          </a:p>
          <a:p>
            <a:r>
              <a:rPr lang="en-US" sz="2000" dirty="0">
                <a:latin typeface="Nunito Sans" panose="020B0604020202020204"/>
              </a:rPr>
              <a:t>        // Exit the loops as the equation is satisfied</a:t>
            </a:r>
          </a:p>
          <a:p>
            <a:r>
              <a:rPr lang="en-US" sz="2000" dirty="0">
                <a:latin typeface="Nunito Sans" panose="020B0604020202020204"/>
              </a:rPr>
              <a:t>        return 0;</a:t>
            </a:r>
          </a:p>
          <a:p>
            <a:r>
              <a:rPr lang="en-US" sz="2000" dirty="0">
                <a:latin typeface="Nunito Sans" panose="020B0604020202020204"/>
              </a:rPr>
              <a:t>      }</a:t>
            </a:r>
          </a:p>
          <a:p>
            <a:r>
              <a:rPr lang="en-US" sz="2000" dirty="0">
                <a:latin typeface="Nunito Sans" panose="020B0604020202020204"/>
              </a:rPr>
              <a:t>    }</a:t>
            </a:r>
          </a:p>
          <a:p>
            <a:r>
              <a:rPr lang="en-US" sz="2000" dirty="0">
                <a:latin typeface="Nunito Sans" panose="020B0604020202020204"/>
              </a:rPr>
              <a:t>  }</a:t>
            </a:r>
          </a:p>
          <a:p>
            <a:r>
              <a:rPr lang="en-US" sz="2000" dirty="0">
                <a:latin typeface="Nunito Sans" panose="020B0604020202020204"/>
              </a:rPr>
              <a:t>     </a:t>
            </a:r>
            <a:r>
              <a:rPr lang="en-US" sz="2000" dirty="0" err="1">
                <a:latin typeface="Nunito Sans" panose="020B0604020202020204"/>
              </a:rPr>
              <a:t>cout</a:t>
            </a:r>
            <a:r>
              <a:rPr lang="en-US" sz="2000" dirty="0">
                <a:latin typeface="Nunito Sans" panose="020B0604020202020204"/>
              </a:rPr>
              <a:t> &lt;&lt; "None"; // If no values of N and Z satisfy the equation</a:t>
            </a:r>
          </a:p>
          <a:p>
            <a:br>
              <a:rPr lang="en-US" sz="2000" dirty="0">
                <a:latin typeface="Nunito Sans" panose="020B0604020202020204"/>
              </a:rPr>
            </a:br>
            <a:r>
              <a:rPr lang="en-US" sz="2000" dirty="0">
                <a:latin typeface="Nunito Sans" panose="020B0604020202020204"/>
              </a:rPr>
              <a:t>  return 0;</a:t>
            </a:r>
          </a:p>
          <a:p>
            <a:r>
              <a:rPr lang="en-US" sz="2000" dirty="0">
                <a:latin typeface="Nunito Sans" panose="020B0604020202020204"/>
              </a:rPr>
              <a:t>}</a:t>
            </a:r>
          </a:p>
          <a:p>
            <a:br>
              <a:rPr lang="en-US" sz="2000" dirty="0">
                <a:latin typeface="Nunito Sans" panose="020B0604020202020204"/>
              </a:rPr>
            </a:br>
            <a:endParaRPr lang="en-US" sz="2000" dirty="0">
              <a:latin typeface="Nunito Sans" panose="020B0604020202020204"/>
            </a:endParaRPr>
          </a:p>
          <a:p>
            <a:endParaRPr lang="en-US" sz="2000" b="1" dirty="0">
              <a:solidFill>
                <a:schemeClr val="bg1"/>
              </a:solidFill>
              <a:latin typeface="Nunito Sans" panose="020B0604020202020204"/>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a:rPr>
              <a:t>import </a:t>
            </a:r>
            <a:r>
              <a:rPr lang="en-US" sz="2000" dirty="0" err="1">
                <a:latin typeface="Nunito Sans" panose="020B0604020202020204"/>
              </a:rPr>
              <a:t>java.util.Scanner</a:t>
            </a:r>
            <a:r>
              <a:rPr lang="en-US" sz="2000" dirty="0">
                <a:latin typeface="Nunito Sans" panose="020B0604020202020204"/>
              </a:rPr>
              <a:t>;</a:t>
            </a:r>
          </a:p>
          <a:p>
            <a:br>
              <a:rPr lang="en-US" sz="2000" dirty="0">
                <a:latin typeface="Nunito Sans" panose="020B0604020202020204"/>
              </a:rPr>
            </a:br>
            <a:r>
              <a:rPr lang="en-US" sz="2000" dirty="0">
                <a:latin typeface="Nunito Sans" panose="020B0604020202020204"/>
              </a:rPr>
              <a:t>public class Main {</a:t>
            </a:r>
          </a:p>
          <a:p>
            <a:r>
              <a:rPr lang="en-US" sz="2000" dirty="0">
                <a:latin typeface="Nunito Sans" panose="020B0604020202020204"/>
              </a:rPr>
              <a:t>    public static </a:t>
            </a:r>
            <a:r>
              <a:rPr lang="en-US" sz="2000" dirty="0" err="1">
                <a:latin typeface="Nunito Sans" panose="020B0604020202020204"/>
              </a:rPr>
              <a:t>boolean</a:t>
            </a:r>
            <a:r>
              <a:rPr lang="en-US" sz="2000" dirty="0">
                <a:latin typeface="Nunito Sans" panose="020B0604020202020204"/>
              </a:rPr>
              <a:t> </a:t>
            </a:r>
            <a:r>
              <a:rPr lang="en-US" sz="2000" dirty="0" err="1">
                <a:latin typeface="Nunito Sans" panose="020B0604020202020204"/>
              </a:rPr>
              <a:t>isDivisor</a:t>
            </a:r>
            <a:r>
              <a:rPr lang="en-US" sz="2000" dirty="0">
                <a:latin typeface="Nunito Sans" panose="020B0604020202020204"/>
              </a:rPr>
              <a:t>(</a:t>
            </a:r>
            <a:r>
              <a:rPr lang="en-US" sz="2000" dirty="0" err="1">
                <a:latin typeface="Nunito Sans" panose="020B0604020202020204"/>
              </a:rPr>
              <a:t>int</a:t>
            </a:r>
            <a:r>
              <a:rPr lang="en-US" sz="2000" dirty="0">
                <a:latin typeface="Nunito Sans" panose="020B0604020202020204"/>
              </a:rPr>
              <a:t> number, </a:t>
            </a:r>
            <a:r>
              <a:rPr lang="en-US" sz="2000" dirty="0" err="1">
                <a:latin typeface="Nunito Sans" panose="020B0604020202020204"/>
              </a:rPr>
              <a:t>int</a:t>
            </a:r>
            <a:r>
              <a:rPr lang="en-US" sz="2000" dirty="0">
                <a:latin typeface="Nunito Sans" panose="020B0604020202020204"/>
              </a:rPr>
              <a:t> divisor) {</a:t>
            </a:r>
          </a:p>
          <a:p>
            <a:r>
              <a:rPr lang="en-US" sz="2000" dirty="0">
                <a:latin typeface="Nunito Sans" panose="020B0604020202020204"/>
              </a:rPr>
              <a:t>        return number % divisor == 0;</a:t>
            </a:r>
          </a:p>
          <a:p>
            <a:r>
              <a:rPr lang="en-US" sz="2000" dirty="0">
                <a:latin typeface="Nunito Sans" panose="020B0604020202020204"/>
              </a:rPr>
              <a:t>    }</a:t>
            </a:r>
          </a:p>
          <a:p>
            <a:br>
              <a:rPr lang="en-US" sz="2000" dirty="0">
                <a:latin typeface="Nunito Sans" panose="020B0604020202020204"/>
              </a:rPr>
            </a:br>
            <a:r>
              <a:rPr lang="en-US" sz="2000" dirty="0">
                <a:latin typeface="Nunito Sans" panose="020B0604020202020204"/>
              </a:rPr>
              <a:t>    public static void main(String[] </a:t>
            </a:r>
            <a:r>
              <a:rPr lang="en-US" sz="2000" dirty="0" err="1">
                <a:latin typeface="Nunito Sans" panose="020B0604020202020204"/>
              </a:rPr>
              <a:t>args</a:t>
            </a:r>
            <a:r>
              <a:rPr lang="en-US" sz="2000" dirty="0">
                <a:latin typeface="Nunito Sans" panose="020B0604020202020204"/>
              </a:rPr>
              <a:t>) {</a:t>
            </a:r>
          </a:p>
          <a:p>
            <a:r>
              <a:rPr lang="en-US" sz="2000" dirty="0">
                <a:latin typeface="Nunito Sans" panose="020B0604020202020204"/>
              </a:rPr>
              <a:t>        // Get user inputs</a:t>
            </a:r>
          </a:p>
          <a:p>
            <a:r>
              <a:rPr lang="en-US" sz="2000" dirty="0">
                <a:latin typeface="Nunito Sans" panose="020B0604020202020204"/>
              </a:rPr>
              <a:t>        Scanner </a:t>
            </a:r>
            <a:r>
              <a:rPr lang="en-US" sz="2000" dirty="0" err="1">
                <a:latin typeface="Nunito Sans" panose="020B0604020202020204"/>
              </a:rPr>
              <a:t>scanner</a:t>
            </a:r>
            <a:r>
              <a:rPr lang="en-US" sz="2000" dirty="0">
                <a:latin typeface="Nunito Sans" panose="020B0604020202020204"/>
              </a:rPr>
              <a:t> = new Scanner(System.in);</a:t>
            </a:r>
          </a:p>
          <a:p>
            <a:r>
              <a:rPr lang="en-US" sz="2000" dirty="0">
                <a:latin typeface="Nunito Sans" panose="020B0604020202020204"/>
              </a:rPr>
              <a:t>        </a:t>
            </a:r>
            <a:r>
              <a:rPr lang="en-US" sz="2000" dirty="0" err="1">
                <a:latin typeface="Nunito Sans" panose="020B0604020202020204"/>
              </a:rPr>
              <a:t>int</a:t>
            </a:r>
            <a:r>
              <a:rPr lang="en-US" sz="2000" dirty="0">
                <a:latin typeface="Nunito Sans" panose="020B0604020202020204"/>
              </a:rPr>
              <a:t> X = </a:t>
            </a:r>
            <a:r>
              <a:rPr lang="en-US" sz="2000" dirty="0" err="1">
                <a:latin typeface="Nunito Sans" panose="020B0604020202020204"/>
              </a:rPr>
              <a:t>scanner.nextInt</a:t>
            </a:r>
            <a:r>
              <a:rPr lang="en-US" sz="2000" dirty="0">
                <a:latin typeface="Nunito Sans" panose="020B0604020202020204"/>
              </a:rPr>
              <a:t>();</a:t>
            </a:r>
          </a:p>
          <a:p>
            <a:r>
              <a:rPr lang="en-US" sz="2000" dirty="0">
                <a:latin typeface="Nunito Sans" panose="020B0604020202020204"/>
              </a:rPr>
              <a:t>        </a:t>
            </a:r>
            <a:r>
              <a:rPr lang="en-US" sz="2000" dirty="0" err="1">
                <a:latin typeface="Nunito Sans" panose="020B0604020202020204"/>
              </a:rPr>
              <a:t>int</a:t>
            </a:r>
            <a:r>
              <a:rPr lang="en-US" sz="2000" dirty="0">
                <a:latin typeface="Nunito Sans" panose="020B0604020202020204"/>
              </a:rPr>
              <a:t> A = </a:t>
            </a:r>
            <a:r>
              <a:rPr lang="en-US" sz="2000" dirty="0" err="1">
                <a:latin typeface="Nunito Sans" panose="020B0604020202020204"/>
              </a:rPr>
              <a:t>scanner.nextInt</a:t>
            </a:r>
            <a:r>
              <a:rPr lang="en-US" sz="2000" dirty="0">
                <a:latin typeface="Nunito Sans" panose="020B0604020202020204"/>
              </a:rPr>
              <a:t>();</a:t>
            </a:r>
          </a:p>
          <a:p>
            <a:r>
              <a:rPr lang="en-US" sz="2000" dirty="0">
                <a:latin typeface="Nunito Sans" panose="020B0604020202020204"/>
              </a:rPr>
              <a:t>        </a:t>
            </a:r>
            <a:r>
              <a:rPr lang="en-US" sz="2000" dirty="0" err="1">
                <a:latin typeface="Nunito Sans" panose="020B0604020202020204"/>
              </a:rPr>
              <a:t>scanner.close</a:t>
            </a:r>
            <a:r>
              <a:rPr lang="en-US" sz="2000" dirty="0">
                <a:latin typeface="Nunito Sans" panose="020B0604020202020204"/>
              </a:rPr>
              <a:t>();</a:t>
            </a:r>
          </a:p>
          <a:p>
            <a:endParaRPr lang="en-US" sz="2000" b="1" dirty="0">
              <a:solidFill>
                <a:schemeClr val="bg1"/>
              </a:solidFill>
              <a:latin typeface="Nunito Sans" panose="020B0604020202020204"/>
              <a:cs typeface="Courier New" panose="02070309020205020404" pitchFamily="49" charset="0"/>
              <a:sym typeface="+mn-ea"/>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a:latin typeface="Nunito Sans" panose="020B0604020202020204"/>
              </a:rPr>
              <a:t>for (</a:t>
            </a:r>
            <a:r>
              <a:rPr lang="en-US" sz="2000" dirty="0" err="1">
                <a:latin typeface="Nunito Sans" panose="020B0604020202020204"/>
              </a:rPr>
              <a:t>int</a:t>
            </a:r>
            <a:r>
              <a:rPr lang="en-US" sz="2000" dirty="0">
                <a:latin typeface="Nunito Sans" panose="020B0604020202020204"/>
              </a:rPr>
              <a:t> N = 1; N &lt;= X; N++) {</a:t>
            </a:r>
          </a:p>
          <a:p>
            <a:r>
              <a:rPr lang="en-US" sz="2000" dirty="0">
                <a:latin typeface="Nunito Sans" panose="020B0604020202020204"/>
              </a:rPr>
              <a:t>            for (</a:t>
            </a:r>
            <a:r>
              <a:rPr lang="en-US" sz="2000" dirty="0" err="1">
                <a:latin typeface="Nunito Sans" panose="020B0604020202020204"/>
              </a:rPr>
              <a:t>int</a:t>
            </a:r>
            <a:r>
              <a:rPr lang="en-US" sz="2000" dirty="0">
                <a:latin typeface="Nunito Sans" panose="020B0604020202020204"/>
              </a:rPr>
              <a:t> Z = 1; Z &lt;= N; Z++) {</a:t>
            </a:r>
          </a:p>
          <a:p>
            <a:r>
              <a:rPr lang="en-US" sz="2000" dirty="0">
                <a:latin typeface="Nunito Sans" panose="020B0604020202020204"/>
              </a:rPr>
              <a:t>                if (X == A * N + Z &amp;&amp; </a:t>
            </a:r>
            <a:r>
              <a:rPr lang="en-US" sz="2000" dirty="0" err="1">
                <a:latin typeface="Nunito Sans" panose="020B0604020202020204"/>
              </a:rPr>
              <a:t>isDivisor</a:t>
            </a:r>
            <a:r>
              <a:rPr lang="en-US" sz="2000" dirty="0">
                <a:latin typeface="Nunito Sans" panose="020B0604020202020204"/>
              </a:rPr>
              <a:t>(N, Z)) {</a:t>
            </a:r>
          </a:p>
          <a:p>
            <a:r>
              <a:rPr lang="en-US" sz="2000" dirty="0">
                <a:latin typeface="Nunito Sans" panose="020B0604020202020204"/>
              </a:rPr>
              <a:t>                    </a:t>
            </a:r>
            <a:r>
              <a:rPr lang="en-US" sz="2000" dirty="0" err="1">
                <a:latin typeface="Nunito Sans" panose="020B0604020202020204"/>
              </a:rPr>
              <a:t>System.out.print</a:t>
            </a:r>
            <a:r>
              <a:rPr lang="en-US" sz="2000" dirty="0">
                <a:latin typeface="Nunito Sans" panose="020B0604020202020204"/>
              </a:rPr>
              <a:t>(N);</a:t>
            </a:r>
          </a:p>
          <a:p>
            <a:r>
              <a:rPr lang="en-US" sz="2000" dirty="0">
                <a:latin typeface="Nunito Sans" panose="020B0604020202020204"/>
              </a:rPr>
              <a:t>                    // Exit the loops as the equation is satisfied</a:t>
            </a:r>
          </a:p>
          <a:p>
            <a:r>
              <a:rPr lang="en-US" sz="2000" dirty="0">
                <a:latin typeface="Nunito Sans" panose="020B0604020202020204"/>
              </a:rPr>
              <a:t>                    return;</a:t>
            </a:r>
          </a:p>
          <a:p>
            <a:r>
              <a:rPr lang="en-US" sz="2000" dirty="0">
                <a:latin typeface="Nunito Sans" panose="020B0604020202020204"/>
              </a:rPr>
              <a:t>                }</a:t>
            </a:r>
          </a:p>
          <a:p>
            <a:r>
              <a:rPr lang="en-US" sz="2000" dirty="0">
                <a:latin typeface="Nunito Sans" panose="020B0604020202020204"/>
              </a:rPr>
              <a:t>            }</a:t>
            </a:r>
          </a:p>
          <a:p>
            <a:r>
              <a:rPr lang="en-US" sz="2000" dirty="0">
                <a:latin typeface="Nunito Sans" panose="020B0604020202020204"/>
              </a:rPr>
              <a:t>        }</a:t>
            </a:r>
          </a:p>
          <a:p>
            <a:br>
              <a:rPr lang="en-US" sz="2000" dirty="0">
                <a:latin typeface="Nunito Sans" panose="020B0604020202020204"/>
              </a:rPr>
            </a:br>
            <a:r>
              <a:rPr lang="en-US" sz="2000" dirty="0">
                <a:latin typeface="Nunito Sans" panose="020B0604020202020204"/>
              </a:rPr>
              <a:t>        </a:t>
            </a:r>
            <a:r>
              <a:rPr lang="en-US" sz="2000" dirty="0" err="1">
                <a:latin typeface="Nunito Sans" panose="020B0604020202020204"/>
              </a:rPr>
              <a:t>System.out.print</a:t>
            </a:r>
            <a:r>
              <a:rPr lang="en-US" sz="2000" dirty="0">
                <a:latin typeface="Nunito Sans" panose="020B0604020202020204"/>
              </a:rPr>
              <a:t>("None"); // If no values of N and Z satisfy the equation</a:t>
            </a:r>
          </a:p>
          <a:p>
            <a:r>
              <a:rPr lang="en-US" sz="2000" dirty="0">
                <a:latin typeface="Nunito Sans" panose="020B0604020202020204"/>
              </a:rPr>
              <a:t>    }</a:t>
            </a:r>
          </a:p>
          <a:p>
            <a:r>
              <a:rPr lang="en-US" sz="2000" dirty="0">
                <a:latin typeface="Nunito Sans" panose="020B0604020202020204"/>
              </a:rPr>
              <a:t>}</a:t>
            </a:r>
          </a:p>
          <a:p>
            <a:br>
              <a:rPr lang="en-US" sz="2000" dirty="0">
                <a:latin typeface="Nunito Sans" panose="020B0604020202020204"/>
              </a:rPr>
            </a:br>
            <a:endParaRPr lang="en-US" sz="2000" dirty="0">
              <a:latin typeface="Nunito Sans" panose="020B0604020202020204"/>
            </a:endParaRPr>
          </a:p>
          <a:p>
            <a:endParaRPr lang="en-US" sz="2000" b="1" dirty="0">
              <a:solidFill>
                <a:schemeClr val="bg1"/>
              </a:solidFill>
              <a:latin typeface="Nunito Sans" panose="020B0604020202020204"/>
              <a:cs typeface="Courier New" panose="02070309020205020404" pitchFamily="49" charset="0"/>
            </a:endParaRP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err="1">
                <a:latin typeface="Nunito Sans" panose="020B0604020202020204"/>
              </a:rPr>
              <a:t>def</a:t>
            </a:r>
            <a:r>
              <a:rPr lang="en-US" sz="2000" dirty="0">
                <a:latin typeface="Nunito Sans" panose="020B0604020202020204"/>
              </a:rPr>
              <a:t> </a:t>
            </a:r>
            <a:r>
              <a:rPr lang="en-US" sz="2000" dirty="0" err="1">
                <a:latin typeface="Nunito Sans" panose="020B0604020202020204"/>
              </a:rPr>
              <a:t>isDivisor</a:t>
            </a:r>
            <a:r>
              <a:rPr lang="en-US" sz="2000" dirty="0">
                <a:latin typeface="Nunito Sans" panose="020B0604020202020204"/>
              </a:rPr>
              <a:t>(number, divisor):</a:t>
            </a:r>
          </a:p>
          <a:p>
            <a:r>
              <a:rPr lang="en-US" sz="2000" dirty="0">
                <a:latin typeface="Nunito Sans" panose="020B0604020202020204"/>
              </a:rPr>
              <a:t>    return number % divisor == 0</a:t>
            </a:r>
          </a:p>
          <a:p>
            <a:br>
              <a:rPr lang="en-US" sz="2000" dirty="0">
                <a:latin typeface="Nunito Sans" panose="020B0604020202020204"/>
              </a:rPr>
            </a:br>
            <a:r>
              <a:rPr lang="en-US" sz="2000" dirty="0">
                <a:latin typeface="Nunito Sans" panose="020B0604020202020204"/>
              </a:rPr>
              <a:t>X, A = map(</a:t>
            </a:r>
            <a:r>
              <a:rPr lang="en-US" sz="2000" dirty="0" err="1">
                <a:latin typeface="Nunito Sans" panose="020B0604020202020204"/>
              </a:rPr>
              <a:t>int</a:t>
            </a:r>
            <a:r>
              <a:rPr lang="en-US" sz="2000" dirty="0">
                <a:latin typeface="Nunito Sans" panose="020B0604020202020204"/>
              </a:rPr>
              <a:t>, input().split())</a:t>
            </a:r>
          </a:p>
          <a:p>
            <a:br>
              <a:rPr lang="en-US" sz="2000" dirty="0">
                <a:latin typeface="Nunito Sans" panose="020B0604020202020204"/>
              </a:rPr>
            </a:br>
            <a:r>
              <a:rPr lang="en-US" sz="2000" dirty="0">
                <a:latin typeface="Nunito Sans" panose="020B0604020202020204"/>
              </a:rPr>
              <a:t>for N in range(1, X+1):</a:t>
            </a:r>
          </a:p>
          <a:p>
            <a:r>
              <a:rPr lang="en-US" sz="2000" dirty="0">
                <a:latin typeface="Nunito Sans" panose="020B0604020202020204"/>
              </a:rPr>
              <a:t>    for Z in range(1, N+1):</a:t>
            </a:r>
          </a:p>
          <a:p>
            <a:r>
              <a:rPr lang="en-US" sz="2000" dirty="0">
                <a:latin typeface="Nunito Sans" panose="020B0604020202020204"/>
              </a:rPr>
              <a:t>        if X == A * N + Z and </a:t>
            </a:r>
            <a:r>
              <a:rPr lang="en-US" sz="2000" dirty="0" err="1">
                <a:latin typeface="Nunito Sans" panose="020B0604020202020204"/>
              </a:rPr>
              <a:t>isDivisor</a:t>
            </a:r>
            <a:r>
              <a:rPr lang="en-US" sz="2000" dirty="0">
                <a:latin typeface="Nunito Sans" panose="020B0604020202020204"/>
              </a:rPr>
              <a:t>(N, Z):</a:t>
            </a:r>
          </a:p>
          <a:p>
            <a:r>
              <a:rPr lang="en-US" sz="2000" dirty="0">
                <a:latin typeface="Nunito Sans" panose="020B0604020202020204"/>
              </a:rPr>
              <a:t>            print(N)</a:t>
            </a:r>
          </a:p>
          <a:p>
            <a:r>
              <a:rPr lang="en-US" sz="2000" dirty="0">
                <a:latin typeface="Nunito Sans" panose="020B0604020202020204"/>
              </a:rPr>
              <a:t>            exit()</a:t>
            </a:r>
          </a:p>
          <a:p>
            <a:br>
              <a:rPr lang="en-US" sz="2000" dirty="0">
                <a:latin typeface="Nunito Sans" panose="020B0604020202020204"/>
              </a:rPr>
            </a:br>
            <a:r>
              <a:rPr lang="en-US" sz="2000" dirty="0">
                <a:latin typeface="Nunito Sans" panose="020B0604020202020204"/>
              </a:rPr>
              <a:t>print("None")</a:t>
            </a:r>
          </a:p>
          <a:p>
            <a:br>
              <a:rPr lang="en-US" sz="2000" dirty="0">
                <a:latin typeface="Nunito Sans" panose="020B0604020202020204"/>
              </a:rPr>
            </a:br>
            <a:endParaRPr lang="en-US" sz="2000" dirty="0">
              <a:latin typeface="Nunito Sans" panose="020B0604020202020204"/>
            </a:endParaRPr>
          </a:p>
          <a:p>
            <a:endParaRPr lang="en-US" sz="2000" b="1" dirty="0">
              <a:solidFill>
                <a:schemeClr val="bg1"/>
              </a:solidFill>
              <a:latin typeface="Nunito Sans" panose="020B0604020202020204"/>
              <a:cs typeface="Courier New" panose="02070309020205020404" pitchFamily="49"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14</a:t>
            </a:r>
            <a:endParaRPr lang="en-US" sz="4800" b="1" dirty="0">
              <a:solidFill>
                <a:schemeClr val="bg1"/>
              </a:solidFill>
              <a:latin typeface="Nunito Sans" pitchFamily="2" charset="0"/>
              <a:sym typeface="+mn-ea"/>
            </a:endParaRPr>
          </a:p>
        </p:txBody>
      </p:sp>
      <p:sp>
        <p:nvSpPr>
          <p:cNvPr id="18" name="TextBox 17"/>
          <p:cNvSpPr txBox="1"/>
          <p:nvPr/>
        </p:nvSpPr>
        <p:spPr>
          <a:xfrm>
            <a:off x="97155" y="953770"/>
            <a:ext cx="11452225" cy="5862320"/>
          </a:xfrm>
          <a:prstGeom prst="rect">
            <a:avLst/>
          </a:prstGeom>
          <a:noFill/>
        </p:spPr>
        <p:txBody>
          <a:bodyPr wrap="square" rtlCol="0">
            <a:spAutoFit/>
          </a:bodyPr>
          <a:lstStyle/>
          <a:p>
            <a:r>
              <a:rPr lang="en-US" sz="2500" dirty="0">
                <a:latin typeface="Nunito Sans" panose="00000500000000000000" pitchFamily="2" charset="0"/>
              </a:rPr>
              <a:t>In the city of Tasgi, the array of competition is going on.You have been invited to the game is as follows:</a:t>
            </a:r>
          </a:p>
          <a:p>
            <a:r>
              <a:rPr lang="en-US" sz="2500" dirty="0">
                <a:latin typeface="Nunito Sans" panose="00000500000000000000" pitchFamily="2" charset="0"/>
              </a:rPr>
              <a:t>You are given an array A of size N.</a:t>
            </a:r>
          </a:p>
          <a:p>
            <a:r>
              <a:rPr lang="en-US" sz="2500" dirty="0">
                <a:latin typeface="Nunito Sans" panose="00000500000000000000" pitchFamily="2" charset="0"/>
              </a:rPr>
              <a:t>The array is called good if and only if an integer 1 ≤k ≤ N. Such that a1 &lt; a2&lt;….. &lt;ak and ak &gt;ak+1 &gt; ak+2 &gt;&gt; aN.</a:t>
            </a:r>
          </a:p>
          <a:p>
            <a:r>
              <a:rPr lang="en-US" sz="2500" dirty="0">
                <a:latin typeface="Nunito Sans" panose="00000500000000000000" pitchFamily="2" charset="0"/>
              </a:rPr>
              <a:t>You can do the following operation. i.e., select any index (i) such that ai &gt; 0 and decrease the ai by 1. (ie., a¡= a¡-1)</a:t>
            </a:r>
          </a:p>
          <a:p>
            <a:r>
              <a:rPr lang="en-US" sz="2500" dirty="0">
                <a:latin typeface="Nunito Sans" panose="00000500000000000000" pitchFamily="2" charset="0"/>
              </a:rPr>
              <a:t>The prize money for winners in that competition is 1 million dollars.</a:t>
            </a:r>
          </a:p>
          <a:p>
            <a:r>
              <a:rPr lang="en-US" sz="2500" dirty="0">
                <a:latin typeface="Nunito Sans" panose="00000500000000000000" pitchFamily="2" charset="0"/>
              </a:rPr>
              <a:t>So, You want to win.</a:t>
            </a:r>
          </a:p>
          <a:p>
            <a:r>
              <a:rPr lang="en-US" sz="2500" dirty="0">
                <a:latin typeface="Nunito Sans" panose="00000500000000000000" pitchFamily="2" charset="0"/>
              </a:rPr>
              <a:t>Print Yes if it is possible to make an array good by using operation as many times you want else No</a:t>
            </a:r>
          </a:p>
          <a:p>
            <a:r>
              <a:rPr lang="en-US" sz="2500" dirty="0">
                <a:latin typeface="Nunito Sans" panose="00000500000000000000" pitchFamily="2" charset="0"/>
              </a:rPr>
              <a:t>Example - 1:</a:t>
            </a:r>
          </a:p>
          <a:p>
            <a:r>
              <a:rPr lang="en-US" sz="2500" b="1" dirty="0">
                <a:latin typeface="Nunito Sans" pitchFamily="2" charset="0"/>
              </a:rPr>
              <a:t>Input:</a:t>
            </a:r>
          </a:p>
          <a:p>
            <a:r>
              <a:rPr lang="en-US" sz="2500" dirty="0">
                <a:latin typeface="Nunito Sans" panose="00000500000000000000" pitchFamily="2" charset="0"/>
              </a:rPr>
              <a:t>6 -&gt;N(number of elements of an array)</a:t>
            </a:r>
          </a:p>
          <a:p>
            <a:r>
              <a:rPr lang="en-US" sz="2500" dirty="0">
                <a:latin typeface="Nunito Sans" panose="00000500000000000000" pitchFamily="2" charset="0"/>
              </a:rPr>
              <a:t>100 11 15 9 7 8  -&gt;N elements of an array</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14</a:t>
            </a:r>
            <a:endParaRPr lang="en-US" sz="4800" b="1" dirty="0">
              <a:solidFill>
                <a:schemeClr val="bg1"/>
              </a:solidFill>
              <a:latin typeface="Nunito Sans" pitchFamily="2" charset="0"/>
              <a:sym typeface="+mn-ea"/>
            </a:endParaRPr>
          </a:p>
        </p:txBody>
      </p:sp>
      <p:sp>
        <p:nvSpPr>
          <p:cNvPr id="18" name="TextBox 17"/>
          <p:cNvSpPr txBox="1"/>
          <p:nvPr/>
        </p:nvSpPr>
        <p:spPr>
          <a:xfrm>
            <a:off x="97155" y="953770"/>
            <a:ext cx="11452225" cy="5862320"/>
          </a:xfrm>
          <a:prstGeom prst="rect">
            <a:avLst/>
          </a:prstGeom>
          <a:noFill/>
        </p:spPr>
        <p:txBody>
          <a:bodyPr wrap="square" rtlCol="0">
            <a:spAutoFit/>
          </a:bodyPr>
          <a:lstStyle/>
          <a:p>
            <a:r>
              <a:rPr lang="en-US" sz="2500" b="1" dirty="0">
                <a:latin typeface="Nunito Sans" pitchFamily="2" charset="0"/>
              </a:rPr>
              <a:t>Output:</a:t>
            </a:r>
          </a:p>
          <a:p>
            <a:r>
              <a:rPr lang="en-US" sz="2500" dirty="0">
                <a:latin typeface="Nunito Sans" panose="00000500000000000000" pitchFamily="2" charset="0"/>
              </a:rPr>
              <a:t>Yes</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anose="00000500000000000000" pitchFamily="2" charset="0"/>
              </a:rPr>
              <a:t>We can transform the array into [3.11.15,9.74] (decrease the first element 97 times and decrease the last element 4 times). It is good because 3&lt;11&lt;15 and 15&gt;9&gt;7&gt;4</a:t>
            </a:r>
          </a:p>
          <a:p>
            <a:endParaRPr lang="en-US" sz="2500" dirty="0">
              <a:latin typeface="Nunito Sans" panose="00000500000000000000" pitchFamily="2" charset="0"/>
            </a:endParaRPr>
          </a:p>
          <a:p>
            <a:r>
              <a:rPr lang="en-US" sz="2500" b="1" dirty="0">
                <a:latin typeface="Nunito Sans" pitchFamily="2" charset="0"/>
              </a:rPr>
              <a:t>Example 2:</a:t>
            </a:r>
            <a:endParaRPr lang="en-US" sz="2500" dirty="0">
              <a:latin typeface="Nunito Sans" panose="00000500000000000000" pitchFamily="2" charset="0"/>
            </a:endParaRPr>
          </a:p>
          <a:p>
            <a:r>
              <a:rPr lang="en-US" sz="2500" dirty="0">
                <a:latin typeface="Nunito Sans" panose="00000500000000000000" pitchFamily="2" charset="0"/>
              </a:rPr>
              <a:t>Input:</a:t>
            </a:r>
          </a:p>
          <a:p>
            <a:r>
              <a:rPr lang="en-US" sz="2500" dirty="0">
                <a:latin typeface="Nunito Sans" panose="00000500000000000000" pitchFamily="2" charset="0"/>
              </a:rPr>
              <a:t>3</a:t>
            </a:r>
          </a:p>
          <a:p>
            <a:r>
              <a:rPr lang="en-US" sz="2500" dirty="0">
                <a:latin typeface="Nunito Sans" panose="00000500000000000000" pitchFamily="2" charset="0"/>
              </a:rPr>
              <a:t>12 10 8</a:t>
            </a:r>
          </a:p>
          <a:p>
            <a:endParaRPr lang="en-US" sz="2500" dirty="0">
              <a:latin typeface="Nunito Sans" panose="00000500000000000000" pitchFamily="2" charset="0"/>
            </a:endParaRPr>
          </a:p>
          <a:p>
            <a:r>
              <a:rPr lang="en-US" sz="2500" dirty="0">
                <a:latin typeface="Nunito Sans" panose="00000500000000000000" pitchFamily="2" charset="0"/>
              </a:rPr>
              <a:t>Output:</a:t>
            </a:r>
          </a:p>
          <a:p>
            <a:r>
              <a:rPr lang="en-US" sz="2500" dirty="0">
                <a:latin typeface="Nunito Sans" panose="00000500000000000000" pitchFamily="2" charset="0"/>
              </a:rPr>
              <a:t>Yes</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3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#include &lt;stdio.h&gt;</a:t>
            </a:r>
          </a:p>
          <a:p>
            <a:endParaRPr lang="en-US" sz="2000" b="1" dirty="0">
              <a:solidFill>
                <a:schemeClr val="bg1"/>
              </a:solidFill>
              <a:latin typeface="Nunito Sans" pitchFamily="2" charset="0"/>
              <a:cs typeface="Courier New" panose="02070309020205020404" pitchFamily="49" charset="0"/>
              <a:sym typeface="+mn-ea"/>
            </a:endParaRPr>
          </a:p>
          <a:p>
            <a:r>
              <a:rPr lang="en-US" sz="2000" b="1" dirty="0">
                <a:solidFill>
                  <a:schemeClr val="bg1"/>
                </a:solidFill>
                <a:latin typeface="Nunito Sans" pitchFamily="2" charset="0"/>
                <a:cs typeface="Courier New" panose="02070309020205020404" pitchFamily="49" charset="0"/>
                <a:sym typeface="+mn-ea"/>
              </a:rPr>
              <a:t>int isGoodArray(int* nums, int n)</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int maxNum = nums[0];</a:t>
            </a:r>
          </a:p>
          <a:p>
            <a:r>
              <a:rPr lang="en-US" sz="2000" b="1" dirty="0">
                <a:solidFill>
                  <a:schemeClr val="bg1"/>
                </a:solidFill>
                <a:latin typeface="Nunito Sans" pitchFamily="2" charset="0"/>
                <a:cs typeface="Courier New" panose="02070309020205020404" pitchFamily="49" charset="0"/>
                <a:sym typeface="+mn-ea"/>
              </a:rPr>
              <a:t>    int minNum = nums[n - 1];</a:t>
            </a:r>
          </a:p>
          <a:p>
            <a:r>
              <a:rPr lang="en-US" sz="2000" b="1" dirty="0">
                <a:solidFill>
                  <a:schemeClr val="bg1"/>
                </a:solidFill>
                <a:latin typeface="Nunito Sans" pitchFamily="2" charset="0"/>
                <a:cs typeface="Courier New" panose="02070309020205020404" pitchFamily="49" charset="0"/>
                <a:sym typeface="+mn-ea"/>
              </a:rPr>
              <a:t>    for (int i = 1; i &lt; n; i++)</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if (nums[i] &gt;= maxNum || nums[i] &lt;= minNum)</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return 0;</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maxNum = nums[i];</a:t>
            </a:r>
          </a:p>
          <a:p>
            <a:r>
              <a:rPr lang="en-US" sz="2000" b="1" dirty="0">
                <a:solidFill>
                  <a:schemeClr val="bg1"/>
                </a:solidFill>
                <a:latin typeface="Nunito Sans" pitchFamily="2" charset="0"/>
                <a:cs typeface="Courier New" panose="02070309020205020404" pitchFamily="49" charset="0"/>
                <a:sym typeface="+mn-ea"/>
              </a:rPr>
              <a:t>    }</a:t>
            </a:r>
          </a:p>
          <a:p>
            <a:endParaRPr lang="en-US" sz="2000" b="1" dirty="0">
              <a:solidFill>
                <a:schemeClr val="bg1"/>
              </a:solidFill>
              <a:latin typeface="Nunito Sans" pitchFamily="2" charset="0"/>
              <a:cs typeface="Courier New" panose="02070309020205020404" pitchFamily="49" charset="0"/>
              <a:sym typeface="+mn-ea"/>
            </a:endParaRPr>
          </a:p>
          <a:p>
            <a:r>
              <a:rPr lang="en-US" sz="2000" b="1" dirty="0">
                <a:solidFill>
                  <a:schemeClr val="bg1"/>
                </a:solidFill>
                <a:latin typeface="Nunito Sans" pitchFamily="2" charset="0"/>
                <a:cs typeface="Courier New" panose="02070309020205020404" pitchFamily="49" charset="0"/>
                <a:sym typeface="+mn-ea"/>
              </a:rPr>
              <a:t>    return 1;</a:t>
            </a:r>
          </a:p>
          <a:p>
            <a:r>
              <a:rPr lang="en-US" sz="2000" b="1" dirty="0">
                <a:solidFill>
                  <a:schemeClr val="bg1"/>
                </a:solidFill>
                <a:latin typeface="Nunito Sans" pitchFamily="2" charset="0"/>
                <a:cs typeface="Courier New" panose="02070309020205020404" pitchFamily="49" charset="0"/>
                <a:sym typeface="+mn-ea"/>
              </a:rPr>
              <a:t>}</a:t>
            </a:r>
          </a:p>
          <a:p>
            <a:endParaRPr lang="en-US" sz="2000" b="1" dirty="0">
              <a:solidFill>
                <a:schemeClr val="bg1"/>
              </a:solidFill>
              <a:latin typeface="Nunito Sans" pitchFamily="2" charset="0"/>
              <a:cs typeface="Courier New" panose="02070309020205020404" pitchFamily="49" charset="0"/>
              <a:sym typeface="+mn-ea"/>
            </a:endParaRPr>
          </a:p>
          <a:p>
            <a:r>
              <a:rPr lang="en-US" sz="2000" b="1" dirty="0">
                <a:solidFill>
                  <a:schemeClr val="bg1"/>
                </a:solidFill>
                <a:latin typeface="Nunito Sans" pitchFamily="2" charset="0"/>
                <a:cs typeface="Courier New" panose="02070309020205020404" pitchFamily="49" charset="0"/>
                <a:sym typeface="+mn-ea"/>
              </a:rPr>
              <a:t>int main()</a:t>
            </a:r>
          </a:p>
          <a:p>
            <a:r>
              <a:rPr lang="en-US" sz="2000" b="1" dirty="0">
                <a:solidFill>
                  <a:schemeClr val="bg1"/>
                </a:solidFill>
                <a:latin typeface="Nunito Sans" pitchFamily="2" charset="0"/>
                <a:cs typeface="Courier New" panose="02070309020205020404" pitchFamily="49" charset="0"/>
                <a:sym typeface="+mn-ea"/>
              </a:rPr>
              <a:t>{</a:t>
            </a:r>
          </a:p>
          <a:p>
            <a:r>
              <a:rPr lang="en-IN" altLang="en-US" sz="2000" b="1" dirty="0">
                <a:solidFill>
                  <a:schemeClr val="bg1"/>
                </a:solidFill>
                <a:latin typeface="Nunito Sans" pitchFamily="2" charset="0"/>
                <a:cs typeface="Courier New" panose="02070309020205020404" pitchFamily="49" charset="0"/>
                <a:sym typeface="+mn-ea"/>
              </a:rPr>
              <a:t>     int N;</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rPr>
              <a:t>scanf("%d", &amp;N);</a:t>
            </a:r>
          </a:p>
          <a:p>
            <a:r>
              <a:rPr lang="en-IN" altLang="en-US" sz="2000" b="1" dirty="0">
                <a:solidFill>
                  <a:schemeClr val="bg1"/>
                </a:solidFill>
                <a:latin typeface="Nunito Sans" pitchFamily="2" charset="0"/>
                <a:cs typeface="Courier New" panose="02070309020205020404" pitchFamily="49" charset="0"/>
              </a:rPr>
              <a:t>    int nums[N];</a:t>
            </a:r>
          </a:p>
          <a:p>
            <a:r>
              <a:rPr lang="en-IN" altLang="en-US" sz="2000" b="1" dirty="0">
                <a:solidFill>
                  <a:schemeClr val="bg1"/>
                </a:solidFill>
                <a:latin typeface="Nunito Sans" pitchFamily="2" charset="0"/>
                <a:cs typeface="Courier New" panose="02070309020205020404" pitchFamily="49" charset="0"/>
              </a:rPr>
              <a:t>    for (int i = 0; i &lt; N; i++)</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scanf("%d", &amp;nums[i]);</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int first = nums[0];</a:t>
            </a:r>
          </a:p>
          <a:p>
            <a:r>
              <a:rPr lang="en-IN" altLang="en-US" sz="2000" b="1" dirty="0">
                <a:solidFill>
                  <a:schemeClr val="bg1"/>
                </a:solidFill>
                <a:latin typeface="Nunito Sans" pitchFamily="2" charset="0"/>
                <a:cs typeface="Courier New" panose="02070309020205020404" pitchFamily="49" charset="0"/>
              </a:rPr>
              <a:t>    int last = nums[N - 1];</a:t>
            </a:r>
          </a:p>
          <a:p>
            <a:r>
              <a:rPr lang="en-IN" altLang="en-US" sz="2000" b="1" dirty="0">
                <a:solidFill>
                  <a:schemeClr val="bg1"/>
                </a:solidFill>
                <a:latin typeface="Nunito Sans" pitchFamily="2" charset="0"/>
                <a:cs typeface="Courier New" panose="02070309020205020404" pitchFamily="49" charset="0"/>
              </a:rPr>
              <a:t>    if (first &gt; last)</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printf("Yes\n");</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else</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if (isGoodArray(nums, N))</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printf("Yes\n");</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else</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printf("No\n");</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a:t>
            </a:r>
          </a:p>
          <a:p>
            <a:endParaRPr lang="en-IN" altLang="en-US" sz="2000" b="1" dirty="0">
              <a:solidFill>
                <a:schemeClr val="bg1"/>
              </a:solidFill>
              <a:latin typeface="Nunito Sans" pitchFamily="2" charset="0"/>
              <a:cs typeface="Courier New" panose="02070309020205020404" pitchFamily="49" charset="0"/>
            </a:endParaRPr>
          </a:p>
          <a:p>
            <a:r>
              <a:rPr lang="en-IN" altLang="en-US" sz="2000" b="1" dirty="0">
                <a:solidFill>
                  <a:schemeClr val="bg1"/>
                </a:solidFill>
                <a:latin typeface="Nunito Sans" pitchFamily="2" charset="0"/>
                <a:cs typeface="Courier New" panose="02070309020205020404" pitchFamily="49" charset="0"/>
              </a:rPr>
              <a:t>    return 0;</a:t>
            </a:r>
          </a:p>
          <a:p>
            <a:r>
              <a:rPr lang="en-IN" altLang="en-US" sz="2000" b="1" dirty="0">
                <a:solidFill>
                  <a:schemeClr val="bg1"/>
                </a:solidFill>
                <a:latin typeface="Nunito Sans" pitchFamily="2" charset="0"/>
                <a:cs typeface="Courier New" panose="02070309020205020404" pitchFamily="49" charset="0"/>
              </a:rPr>
              <a:t>}</a:t>
            </a: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17093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#include &lt;iostream&gt;</a:t>
            </a:r>
          </a:p>
          <a:p>
            <a:r>
              <a:rPr lang="en-US" sz="2000" b="1" dirty="0">
                <a:solidFill>
                  <a:schemeClr val="bg1"/>
                </a:solidFill>
                <a:latin typeface="Nunito Sans" pitchFamily="2" charset="0"/>
                <a:cs typeface="Courier New" panose="02070309020205020404" pitchFamily="49" charset="0"/>
                <a:sym typeface="+mn-ea"/>
              </a:rPr>
              <a:t>#include &lt;vector&gt;</a:t>
            </a:r>
          </a:p>
          <a:p>
            <a:r>
              <a:rPr lang="en-US" sz="2000" b="1" dirty="0">
                <a:solidFill>
                  <a:schemeClr val="bg1"/>
                </a:solidFill>
                <a:latin typeface="Nunito Sans" pitchFamily="2" charset="0"/>
                <a:cs typeface="Courier New" panose="02070309020205020404" pitchFamily="49" charset="0"/>
                <a:sym typeface="+mn-ea"/>
              </a:rPr>
              <a:t>using namespace std;</a:t>
            </a:r>
          </a:p>
          <a:p>
            <a:r>
              <a:rPr lang="en-US" sz="2000" b="1" dirty="0">
                <a:solidFill>
                  <a:schemeClr val="bg1"/>
                </a:solidFill>
                <a:latin typeface="Nunito Sans" pitchFamily="2" charset="0"/>
                <a:cs typeface="Courier New" panose="02070309020205020404" pitchFamily="49" charset="0"/>
                <a:sym typeface="+mn-ea"/>
              </a:rPr>
              <a:t>bool isGoodArray(vector&lt;int&gt;&amp; nums)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int n = nums.size();</a:t>
            </a:r>
          </a:p>
          <a:p>
            <a:r>
              <a:rPr lang="en-US" sz="2000" b="1" dirty="0">
                <a:solidFill>
                  <a:schemeClr val="bg1"/>
                </a:solidFill>
                <a:latin typeface="Nunito Sans" pitchFamily="2" charset="0"/>
                <a:cs typeface="Courier New" panose="02070309020205020404" pitchFamily="49" charset="0"/>
                <a:sym typeface="+mn-ea"/>
              </a:rPr>
              <a:t>    int maxNum = nums[0];</a:t>
            </a:r>
          </a:p>
          <a:p>
            <a:r>
              <a:rPr lang="en-US" sz="2000" b="1" dirty="0">
                <a:solidFill>
                  <a:schemeClr val="bg1"/>
                </a:solidFill>
                <a:latin typeface="Nunito Sans" pitchFamily="2" charset="0"/>
                <a:cs typeface="Courier New" panose="02070309020205020404" pitchFamily="49" charset="0"/>
                <a:sym typeface="+mn-ea"/>
              </a:rPr>
              <a:t>    int minNum = nums[n - 1];</a:t>
            </a:r>
          </a:p>
          <a:p>
            <a:r>
              <a:rPr lang="en-US" sz="2000" b="1" dirty="0">
                <a:solidFill>
                  <a:schemeClr val="bg1"/>
                </a:solidFill>
                <a:latin typeface="Nunito Sans" pitchFamily="2" charset="0"/>
                <a:cs typeface="Courier New" panose="02070309020205020404" pitchFamily="49" charset="0"/>
                <a:sym typeface="+mn-ea"/>
              </a:rPr>
              <a:t>    for (int i = 1; i &lt; n; i++)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if (nums[i] &gt;= maxNum || nums[i] &lt;= minNum) </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return false;</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maxNum = nums[i];</a:t>
            </a:r>
          </a:p>
          <a:p>
            <a:r>
              <a:rPr lang="en-US" sz="2000" b="1" dirty="0">
                <a:solidFill>
                  <a:schemeClr val="bg1"/>
                </a:solidFill>
                <a:latin typeface="Nunito Sans" pitchFamily="2" charset="0"/>
                <a:cs typeface="Courier New" panose="02070309020205020404" pitchFamily="49" charset="0"/>
                <a:sym typeface="+mn-ea"/>
              </a:rPr>
              <a:t>    }</a:t>
            </a:r>
          </a:p>
          <a:p>
            <a:endParaRPr lang="en-US" sz="2000" b="1" dirty="0">
              <a:solidFill>
                <a:schemeClr val="bg1"/>
              </a:solidFill>
              <a:latin typeface="Nunito Sans" pitchFamily="2" charset="0"/>
              <a:cs typeface="Courier New" panose="02070309020205020404" pitchFamily="49" charset="0"/>
              <a:sym typeface="+mn-ea"/>
            </a:endParaRPr>
          </a:p>
          <a:p>
            <a:r>
              <a:rPr lang="en-US" sz="2000" b="1" dirty="0">
                <a:solidFill>
                  <a:schemeClr val="bg1"/>
                </a:solidFill>
                <a:latin typeface="Nunito Sans" pitchFamily="2" charset="0"/>
                <a:cs typeface="Courier New" panose="02070309020205020404" pitchFamily="49" charset="0"/>
                <a:sym typeface="+mn-ea"/>
              </a:rPr>
              <a:t>    return true;</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int main() </a:t>
            </a:r>
          </a:p>
          <a:p>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int N;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
        <p:nvSpPr>
          <p:cNvPr id="7" name="Rectangle 6"/>
          <p:cNvSpPr/>
          <p:nvPr/>
        </p:nvSpPr>
        <p:spPr>
          <a:xfrm>
            <a:off x="6096000" y="-2"/>
            <a:ext cx="6096000"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rPr>
              <a:t>    cin &gt;&gt; N;</a:t>
            </a:r>
          </a:p>
          <a:p>
            <a:r>
              <a:rPr lang="en-IN" altLang="en-US" sz="2000" b="1" dirty="0">
                <a:solidFill>
                  <a:schemeClr val="bg1"/>
                </a:solidFill>
                <a:latin typeface="Nunito Sans" pitchFamily="2" charset="0"/>
                <a:cs typeface="Courier New" panose="02070309020205020404" pitchFamily="49" charset="0"/>
              </a:rPr>
              <a:t>    vector&lt;int&gt; nums(N);</a:t>
            </a:r>
          </a:p>
          <a:p>
            <a:r>
              <a:rPr lang="en-IN" altLang="en-US" sz="2000" b="1" dirty="0">
                <a:solidFill>
                  <a:schemeClr val="bg1"/>
                </a:solidFill>
                <a:latin typeface="Nunito Sans" pitchFamily="2" charset="0"/>
                <a:cs typeface="Courier New" panose="02070309020205020404" pitchFamily="49" charset="0"/>
              </a:rPr>
              <a:t>    for (int i = 0; i &lt; N; i++) </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cin &gt;&gt; nums[i];</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int first = nums[0];</a:t>
            </a:r>
          </a:p>
          <a:p>
            <a:r>
              <a:rPr lang="en-IN" altLang="en-US" sz="2000" b="1" dirty="0">
                <a:solidFill>
                  <a:schemeClr val="bg1"/>
                </a:solidFill>
                <a:latin typeface="Nunito Sans" pitchFamily="2" charset="0"/>
                <a:cs typeface="Courier New" panose="02070309020205020404" pitchFamily="49" charset="0"/>
              </a:rPr>
              <a:t>    int last = nums[N - 1];</a:t>
            </a:r>
          </a:p>
          <a:p>
            <a:r>
              <a:rPr lang="en-IN" altLang="en-US" sz="2000" b="1" dirty="0">
                <a:solidFill>
                  <a:schemeClr val="bg1"/>
                </a:solidFill>
                <a:latin typeface="Nunito Sans" pitchFamily="2" charset="0"/>
                <a:cs typeface="Courier New" panose="02070309020205020404" pitchFamily="49" charset="0"/>
              </a:rPr>
              <a:t>    if (first &gt; last) </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cout &lt;&lt; "Yes" &lt;&lt; endl;</a:t>
            </a:r>
          </a:p>
          <a:p>
            <a:r>
              <a:rPr lang="en-IN" altLang="en-US" sz="2000" b="1" dirty="0">
                <a:solidFill>
                  <a:schemeClr val="bg1"/>
                </a:solidFill>
                <a:latin typeface="Nunito Sans" pitchFamily="2" charset="0"/>
                <a:cs typeface="Courier New" panose="02070309020205020404" pitchFamily="49" charset="0"/>
              </a:rPr>
              <a:t>    } </a:t>
            </a:r>
          </a:p>
          <a:p>
            <a:r>
              <a:rPr lang="en-IN" altLang="en-US" sz="2000" b="1" dirty="0">
                <a:solidFill>
                  <a:schemeClr val="bg1"/>
                </a:solidFill>
                <a:latin typeface="Nunito Sans" pitchFamily="2" charset="0"/>
                <a:cs typeface="Courier New" panose="02070309020205020404" pitchFamily="49" charset="0"/>
              </a:rPr>
              <a:t>    else </a:t>
            </a:r>
          </a:p>
          <a:p>
            <a:r>
              <a:rPr lang="en-IN" altLang="en-US" sz="2000" b="1" dirty="0">
                <a:solidFill>
                  <a:schemeClr val="bg1"/>
                </a:solidFill>
                <a:latin typeface="Nunito Sans" pitchFamily="2" charset="0"/>
                <a:cs typeface="Courier New" panose="02070309020205020404" pitchFamily="49" charset="0"/>
              </a:rPr>
              <a:t>    {</a:t>
            </a:r>
          </a:p>
          <a:p>
            <a:r>
              <a:rPr lang="en-IN" altLang="en-US" sz="2000" b="1" dirty="0">
                <a:solidFill>
                  <a:schemeClr val="bg1"/>
                </a:solidFill>
                <a:latin typeface="Nunito Sans" pitchFamily="2" charset="0"/>
                <a:cs typeface="Courier New" panose="02070309020205020404" pitchFamily="49" charset="0"/>
              </a:rPr>
              <a:t>        cout &lt;&lt; "No" &lt;&lt; endl;</a:t>
            </a:r>
          </a:p>
          <a:p>
            <a:r>
              <a:rPr lang="en-IN" altLang="en-US" sz="2000" b="1" dirty="0">
                <a:solidFill>
                  <a:schemeClr val="bg1"/>
                </a:solidFill>
                <a:latin typeface="Nunito Sans" pitchFamily="2" charset="0"/>
                <a:cs typeface="Courier New" panose="02070309020205020404" pitchFamily="49" charset="0"/>
              </a:rPr>
              <a:t>    }</a:t>
            </a:r>
          </a:p>
          <a:p>
            <a:endParaRPr lang="en-IN" altLang="en-US" sz="2000" b="1" dirty="0">
              <a:solidFill>
                <a:schemeClr val="bg1"/>
              </a:solidFill>
              <a:latin typeface="Nunito Sans" pitchFamily="2" charset="0"/>
              <a:cs typeface="Courier New" panose="02070309020205020404" pitchFamily="49" charset="0"/>
            </a:endParaRPr>
          </a:p>
          <a:p>
            <a:r>
              <a:rPr lang="en-IN" altLang="en-US" sz="2000" b="1" dirty="0">
                <a:solidFill>
                  <a:schemeClr val="bg1"/>
                </a:solidFill>
                <a:latin typeface="Nunito Sans" pitchFamily="2" charset="0"/>
                <a:cs typeface="Courier New" panose="02070309020205020404" pitchFamily="49" charset="0"/>
              </a:rPr>
              <a:t>    return 0;</a:t>
            </a:r>
          </a:p>
          <a:p>
            <a:r>
              <a:rPr lang="en-IN" altLang="en-US" sz="2000" b="1" dirty="0">
                <a:solidFill>
                  <a:schemeClr val="bg1"/>
                </a:solidFill>
                <a:latin typeface="Nunito Sans" pitchFamily="2" charset="0"/>
                <a:cs typeface="Courier New" panose="02070309020205020404" pitchFamily="49" charset="0"/>
              </a:rPr>
              <a:t>}</a:t>
            </a:r>
          </a:p>
        </p:txBody>
      </p:sp>
      <p:sp>
        <p:nvSpPr>
          <p:cNvPr id="8" name="Rectangle 7"/>
          <p:cNvSpPr/>
          <p:nvPr/>
        </p:nvSpPr>
        <p:spPr>
          <a:xfrm>
            <a:off x="609600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9" name="Rectangle 8"/>
          <p:cNvSpPr/>
          <p:nvPr/>
        </p:nvSpPr>
        <p:spPr>
          <a:xfrm>
            <a:off x="609600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23</a:t>
            </a:r>
          </a:p>
          <a:p>
            <a:r>
              <a:rPr lang="en-US" sz="2000" b="1" dirty="0">
                <a:solidFill>
                  <a:srgbClr val="FFFF00"/>
                </a:solidFill>
                <a:latin typeface="Nunito Sans" pitchFamily="2" charset="0"/>
                <a:cs typeface="Courier New" panose="02070309020205020404" pitchFamily="49" charset="0"/>
              </a:rPr>
              <a:t>24</a:t>
            </a:r>
          </a:p>
          <a:p>
            <a:r>
              <a:rPr lang="en-US" sz="2000" b="1" dirty="0">
                <a:solidFill>
                  <a:srgbClr val="FFFF00"/>
                </a:solidFill>
                <a:latin typeface="Nunito Sans" pitchFamily="2" charset="0"/>
                <a:cs typeface="Courier New" panose="02070309020205020404" pitchFamily="49" charset="0"/>
              </a:rPr>
              <a:t>25</a:t>
            </a:r>
          </a:p>
          <a:p>
            <a:r>
              <a:rPr lang="en-US" sz="2000" b="1" dirty="0">
                <a:solidFill>
                  <a:srgbClr val="FFFF00"/>
                </a:solidFill>
                <a:latin typeface="Nunito Sans" pitchFamily="2" charset="0"/>
                <a:cs typeface="Courier New" panose="02070309020205020404" pitchFamily="49" charset="0"/>
              </a:rPr>
              <a:t>26</a:t>
            </a:r>
          </a:p>
          <a:p>
            <a:r>
              <a:rPr lang="en-US" sz="2000" b="1" dirty="0">
                <a:solidFill>
                  <a:srgbClr val="FFFF00"/>
                </a:solidFill>
                <a:latin typeface="Nunito Sans" pitchFamily="2" charset="0"/>
                <a:cs typeface="Courier New" panose="02070309020205020404" pitchFamily="49" charset="0"/>
              </a:rPr>
              <a:t>27</a:t>
            </a:r>
          </a:p>
          <a:p>
            <a:r>
              <a:rPr lang="en-US" sz="2000" b="1" dirty="0">
                <a:solidFill>
                  <a:srgbClr val="FFFF00"/>
                </a:solidFill>
                <a:latin typeface="Nunito Sans" pitchFamily="2" charset="0"/>
                <a:cs typeface="Courier New" panose="02070309020205020404" pitchFamily="49" charset="0"/>
              </a:rPr>
              <a:t>28</a:t>
            </a:r>
          </a:p>
          <a:p>
            <a:r>
              <a:rPr lang="en-US" sz="2000" b="1" dirty="0">
                <a:solidFill>
                  <a:srgbClr val="FFFF00"/>
                </a:solidFill>
                <a:latin typeface="Nunito Sans" pitchFamily="2" charset="0"/>
                <a:cs typeface="Courier New" panose="02070309020205020404" pitchFamily="49" charset="0"/>
              </a:rPr>
              <a:t>29</a:t>
            </a:r>
          </a:p>
          <a:p>
            <a:r>
              <a:rPr lang="en-US" sz="2000" b="1" dirty="0">
                <a:solidFill>
                  <a:srgbClr val="FFFF00"/>
                </a:solidFill>
                <a:latin typeface="Nunito Sans" pitchFamily="2" charset="0"/>
                <a:cs typeface="Courier New" panose="02070309020205020404" pitchFamily="49" charset="0"/>
              </a:rPr>
              <a:t>30</a:t>
            </a:r>
          </a:p>
          <a:p>
            <a:r>
              <a:rPr lang="en-US" sz="2000" b="1" dirty="0">
                <a:solidFill>
                  <a:srgbClr val="FFFF00"/>
                </a:solidFill>
                <a:latin typeface="Nunito Sans" pitchFamily="2" charset="0"/>
                <a:cs typeface="Courier New" panose="02070309020205020404" pitchFamily="49" charset="0"/>
              </a:rPr>
              <a:t>31</a:t>
            </a:r>
          </a:p>
          <a:p>
            <a:r>
              <a:rPr lang="en-US" sz="2000" b="1" dirty="0">
                <a:solidFill>
                  <a:srgbClr val="FFFF00"/>
                </a:solidFill>
                <a:latin typeface="Nunito Sans" pitchFamily="2" charset="0"/>
                <a:cs typeface="Courier New" panose="02070309020205020404" pitchFamily="49" charset="0"/>
              </a:rPr>
              <a:t>32</a:t>
            </a:r>
          </a:p>
          <a:p>
            <a:r>
              <a:rPr lang="en-US" sz="2000" b="1" dirty="0">
                <a:solidFill>
                  <a:srgbClr val="FFFF00"/>
                </a:solidFill>
                <a:latin typeface="Nunito Sans" pitchFamily="2" charset="0"/>
                <a:cs typeface="Courier New" panose="02070309020205020404" pitchFamily="49" charset="0"/>
              </a:rPr>
              <a:t>33</a:t>
            </a:r>
          </a:p>
          <a:p>
            <a:r>
              <a:rPr lang="en-US" sz="2000" b="1" dirty="0">
                <a:solidFill>
                  <a:srgbClr val="FFFF00"/>
                </a:solidFill>
                <a:latin typeface="Nunito Sans" pitchFamily="2" charset="0"/>
                <a:cs typeface="Courier New" panose="02070309020205020404" pitchFamily="49" charset="0"/>
              </a:rPr>
              <a:t>34</a:t>
            </a:r>
          </a:p>
          <a:p>
            <a:r>
              <a:rPr lang="en-US" sz="2000" b="1" dirty="0">
                <a:solidFill>
                  <a:srgbClr val="FFFF00"/>
                </a:solidFill>
                <a:latin typeface="Nunito Sans" pitchFamily="2" charset="0"/>
                <a:cs typeface="Courier New" panose="02070309020205020404" pitchFamily="49" charset="0"/>
              </a:rPr>
              <a:t>35</a:t>
            </a:r>
          </a:p>
          <a:p>
            <a:r>
              <a:rPr lang="en-US" sz="2000" b="1" dirty="0">
                <a:solidFill>
                  <a:srgbClr val="FFFF00"/>
                </a:solidFill>
                <a:latin typeface="Nunito Sans" pitchFamily="2" charset="0"/>
                <a:cs typeface="Courier New" panose="02070309020205020404" pitchFamily="49" charset="0"/>
              </a:rPr>
              <a:t>36</a:t>
            </a:r>
          </a:p>
          <a:p>
            <a:r>
              <a:rPr lang="en-US" sz="2000" b="1" dirty="0">
                <a:solidFill>
                  <a:srgbClr val="FFFF00"/>
                </a:solidFill>
                <a:latin typeface="Nunito Sans" pitchFamily="2" charset="0"/>
                <a:cs typeface="Courier New" panose="02070309020205020404" pitchFamily="49" charset="0"/>
              </a:rPr>
              <a:t>37</a:t>
            </a:r>
          </a:p>
          <a:p>
            <a:r>
              <a:rPr lang="en-US" sz="2000" b="1" dirty="0">
                <a:solidFill>
                  <a:srgbClr val="FFFF00"/>
                </a:solidFill>
                <a:latin typeface="Nunito Sans" pitchFamily="2" charset="0"/>
                <a:cs typeface="Courier New" panose="02070309020205020404" pitchFamily="49" charset="0"/>
              </a:rPr>
              <a:t>38</a:t>
            </a:r>
          </a:p>
          <a:p>
            <a:r>
              <a:rPr lang="en-US" sz="2000" b="1" dirty="0">
                <a:solidFill>
                  <a:srgbClr val="FFFF00"/>
                </a:solidFill>
                <a:latin typeface="Nunito Sans" pitchFamily="2" charset="0"/>
                <a:cs typeface="Courier New" panose="02070309020205020404" pitchFamily="49" charset="0"/>
              </a:rPr>
              <a:t>39</a:t>
            </a:r>
          </a:p>
          <a:p>
            <a:r>
              <a:rPr lang="en-US" sz="2000" b="1" dirty="0">
                <a:solidFill>
                  <a:srgbClr val="FFFF00"/>
                </a:solidFill>
                <a:latin typeface="Nunito Sans" pitchFamily="2" charset="0"/>
                <a:cs typeface="Courier New" panose="02070309020205020404" pitchFamily="49" charset="0"/>
              </a:rPr>
              <a:t>40</a:t>
            </a:r>
          </a:p>
          <a:p>
            <a:r>
              <a:rPr lang="en-US" sz="2000" b="1" dirty="0">
                <a:solidFill>
                  <a:srgbClr val="FFFF00"/>
                </a:solidFill>
                <a:latin typeface="Nunito Sans" pitchFamily="2" charset="0"/>
                <a:cs typeface="Courier New" panose="02070309020205020404" pitchFamily="49" charset="0"/>
              </a:rPr>
              <a:t>41</a:t>
            </a:r>
          </a:p>
          <a:p>
            <a:r>
              <a:rPr lang="en-US" sz="2000" b="1" dirty="0">
                <a:solidFill>
                  <a:srgbClr val="FFFF00"/>
                </a:solidFill>
                <a:latin typeface="Nunito Sans" pitchFamily="2" charset="0"/>
                <a:cs typeface="Courier New" panose="02070309020205020404" pitchFamily="49" charset="0"/>
              </a:rPr>
              <a:t>42</a:t>
            </a:r>
          </a:p>
          <a:p>
            <a:r>
              <a:rPr lang="en-US" sz="2000" b="1" dirty="0">
                <a:solidFill>
                  <a:srgbClr val="FFFF00"/>
                </a:solidFill>
                <a:latin typeface="Nunito Sans" pitchFamily="2" charset="0"/>
                <a:cs typeface="Courier New" panose="02070309020205020404" pitchFamily="49" charset="0"/>
              </a:rPr>
              <a:t>43</a:t>
            </a:r>
          </a:p>
          <a:p>
            <a:r>
              <a:rPr lang="en-US" sz="2000" b="1" dirty="0">
                <a:solidFill>
                  <a:srgbClr val="FFFF00"/>
                </a:solidFill>
                <a:latin typeface="Nunito Sans" pitchFamily="2" charset="0"/>
                <a:cs typeface="Courier New" panose="02070309020205020404" pitchFamily="49" charset="0"/>
              </a:rPr>
              <a:t>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    public static boolean isGoodArray(int[] nums, int n) {</a:t>
            </a:r>
          </a:p>
          <a:p>
            <a:r>
              <a:rPr lang="en-US" sz="2000" b="1" dirty="0">
                <a:solidFill>
                  <a:schemeClr val="bg1"/>
                </a:solidFill>
                <a:latin typeface="Nunito Sans" pitchFamily="2" charset="0"/>
                <a:cs typeface="Courier New" panose="02070309020205020404" pitchFamily="49" charset="0"/>
              </a:rPr>
              <a:t>        int maxNum = nums[0];</a:t>
            </a:r>
          </a:p>
          <a:p>
            <a:r>
              <a:rPr lang="en-US" sz="2000" b="1" dirty="0">
                <a:solidFill>
                  <a:schemeClr val="bg1"/>
                </a:solidFill>
                <a:latin typeface="Nunito Sans" pitchFamily="2" charset="0"/>
                <a:cs typeface="Courier New" panose="02070309020205020404" pitchFamily="49" charset="0"/>
              </a:rPr>
              <a:t>        int minNum = nums[n - 1];</a:t>
            </a:r>
          </a:p>
          <a:p>
            <a:r>
              <a:rPr lang="en-US" sz="2000" b="1" dirty="0">
                <a:solidFill>
                  <a:schemeClr val="bg1"/>
                </a:solidFill>
                <a:latin typeface="Nunito Sans" pitchFamily="2" charset="0"/>
                <a:cs typeface="Courier New" panose="02070309020205020404" pitchFamily="49" charset="0"/>
              </a:rPr>
              <a:t>        for (int i = 1; i &lt; n; i++) {</a:t>
            </a:r>
          </a:p>
          <a:p>
            <a:r>
              <a:rPr lang="en-US" sz="2000" b="1" dirty="0">
                <a:solidFill>
                  <a:schemeClr val="bg1"/>
                </a:solidFill>
                <a:latin typeface="Nunito Sans" pitchFamily="2" charset="0"/>
                <a:cs typeface="Courier New" panose="02070309020205020404" pitchFamily="49" charset="0"/>
              </a:rPr>
              <a:t>            if (nums[i] &gt;= maxNum || nums[i] &lt;= minNum) {</a:t>
            </a:r>
          </a:p>
          <a:p>
            <a:r>
              <a:rPr lang="en-US" sz="2000" b="1" dirty="0">
                <a:solidFill>
                  <a:schemeClr val="bg1"/>
                </a:solidFill>
                <a:latin typeface="Nunito Sans" pitchFamily="2" charset="0"/>
                <a:cs typeface="Courier New" panose="02070309020205020404" pitchFamily="49" charset="0"/>
              </a:rPr>
              <a:t>                return false;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maxNum = nums[i];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true;</a:t>
            </a:r>
          </a:p>
          <a:p>
            <a:r>
              <a:rPr lang="en-US" sz="2000" b="1" dirty="0">
                <a:solidFill>
                  <a:schemeClr val="bg1"/>
                </a:solidFill>
                <a:latin typeface="Nunito Sans" pitchFamily="2" charset="0"/>
                <a:cs typeface="Courier New" panose="02070309020205020404" pitchFamily="49" charset="0"/>
              </a:rPr>
              <a:t>    }</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N = scanner.nextInt();</a:t>
            </a:r>
          </a:p>
          <a:p>
            <a:r>
              <a:rPr lang="en-US" sz="2000" b="1" dirty="0">
                <a:solidFill>
                  <a:schemeClr val="bg1"/>
                </a:solidFill>
                <a:latin typeface="Nunito Sans" pitchFamily="2" charset="0"/>
                <a:cs typeface="Courier New" panose="02070309020205020404" pitchFamily="49" charset="0"/>
              </a:rPr>
              <a:t>        int[] nums = new int[N];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nums[i] = 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int first = nums[0];</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last = nums[N - 1];</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if (first &gt; last)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System.out.println("Yes");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 else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if (isGoodArray(nums, N))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System.out.println("Yes");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 else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System.out.println("No");</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is_good_array(nums):</a:t>
            </a:r>
          </a:p>
          <a:p>
            <a:r>
              <a:rPr lang="en-US" sz="2000" b="1" dirty="0">
                <a:solidFill>
                  <a:schemeClr val="bg1"/>
                </a:solidFill>
                <a:latin typeface="Nunito Sans" pitchFamily="2" charset="0"/>
                <a:cs typeface="Courier New" panose="02070309020205020404" pitchFamily="49" charset="0"/>
              </a:rPr>
              <a:t>    max_num = nums[0]</a:t>
            </a:r>
          </a:p>
          <a:p>
            <a:r>
              <a:rPr lang="en-US" sz="2000" b="1" dirty="0">
                <a:solidFill>
                  <a:schemeClr val="bg1"/>
                </a:solidFill>
                <a:latin typeface="Nunito Sans" pitchFamily="2" charset="0"/>
                <a:cs typeface="Courier New" panose="02070309020205020404" pitchFamily="49" charset="0"/>
              </a:rPr>
              <a:t>    min_num = nums[-1]</a:t>
            </a:r>
          </a:p>
          <a:p>
            <a:r>
              <a:rPr lang="en-US" sz="2000" b="1" dirty="0">
                <a:solidFill>
                  <a:schemeClr val="bg1"/>
                </a:solidFill>
                <a:latin typeface="Nunito Sans" pitchFamily="2" charset="0"/>
                <a:cs typeface="Courier New" panose="02070309020205020404" pitchFamily="49" charset="0"/>
              </a:rPr>
              <a:t>    for num in nums[1:]:</a:t>
            </a:r>
          </a:p>
          <a:p>
            <a:r>
              <a:rPr lang="en-US" sz="2000" b="1" dirty="0">
                <a:solidFill>
                  <a:schemeClr val="bg1"/>
                </a:solidFill>
                <a:latin typeface="Nunito Sans" pitchFamily="2" charset="0"/>
                <a:cs typeface="Courier New" panose="02070309020205020404" pitchFamily="49" charset="0"/>
              </a:rPr>
              <a:t>        if num &gt;= max_num or num &lt;= min_num:</a:t>
            </a:r>
          </a:p>
          <a:p>
            <a:r>
              <a:rPr lang="en-US" sz="2000" b="1" dirty="0">
                <a:solidFill>
                  <a:schemeClr val="bg1"/>
                </a:solidFill>
                <a:latin typeface="Nunito Sans" pitchFamily="2" charset="0"/>
                <a:cs typeface="Courier New" panose="02070309020205020404" pitchFamily="49" charset="0"/>
              </a:rPr>
              <a:t>            return False</a:t>
            </a:r>
          </a:p>
          <a:p>
            <a:r>
              <a:rPr lang="en-US" sz="2000" b="1" dirty="0">
                <a:solidFill>
                  <a:schemeClr val="bg1"/>
                </a:solidFill>
                <a:latin typeface="Nunito Sans" pitchFamily="2" charset="0"/>
                <a:cs typeface="Courier New" panose="02070309020205020404" pitchFamily="49" charset="0"/>
              </a:rPr>
              <a:t>        max_num = num</a:t>
            </a:r>
          </a:p>
          <a:p>
            <a:r>
              <a:rPr lang="en-US" sz="2000" b="1" dirty="0">
                <a:solidFill>
                  <a:schemeClr val="bg1"/>
                </a:solidFill>
                <a:latin typeface="Nunito Sans" pitchFamily="2" charset="0"/>
                <a:cs typeface="Courier New" panose="02070309020205020404" pitchFamily="49" charset="0"/>
              </a:rPr>
              <a:t>    return True</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N = int(input())</a:t>
            </a:r>
          </a:p>
          <a:p>
            <a:r>
              <a:rPr lang="en-US" sz="2000" b="1" dirty="0">
                <a:solidFill>
                  <a:schemeClr val="bg1"/>
                </a:solidFill>
                <a:latin typeface="Nunito Sans" pitchFamily="2" charset="0"/>
                <a:cs typeface="Courier New" panose="02070309020205020404" pitchFamily="49" charset="0"/>
              </a:rPr>
              <a:t>nums = list(map(int, input().split()))</a:t>
            </a:r>
          </a:p>
          <a:p>
            <a:r>
              <a:rPr lang="en-US" sz="2000" b="1" dirty="0">
                <a:solidFill>
                  <a:schemeClr val="bg1"/>
                </a:solidFill>
                <a:latin typeface="Nunito Sans" pitchFamily="2" charset="0"/>
                <a:cs typeface="Courier New" panose="02070309020205020404" pitchFamily="49" charset="0"/>
              </a:rPr>
              <a:t>first = nums[0]</a:t>
            </a:r>
          </a:p>
          <a:p>
            <a:r>
              <a:rPr lang="en-US" sz="2000" b="1" dirty="0">
                <a:solidFill>
                  <a:schemeClr val="bg1"/>
                </a:solidFill>
                <a:latin typeface="Nunito Sans" pitchFamily="2" charset="0"/>
                <a:cs typeface="Courier New" panose="02070309020205020404" pitchFamily="49" charset="0"/>
              </a:rPr>
              <a:t>last = nums[-1]</a:t>
            </a:r>
          </a:p>
          <a:p>
            <a:r>
              <a:rPr lang="en-US" sz="2000" b="1" dirty="0">
                <a:solidFill>
                  <a:schemeClr val="bg1"/>
                </a:solidFill>
                <a:latin typeface="Nunito Sans" pitchFamily="2" charset="0"/>
                <a:cs typeface="Courier New" panose="02070309020205020404" pitchFamily="49" charset="0"/>
              </a:rPr>
              <a:t>if first &gt; last:</a:t>
            </a:r>
          </a:p>
          <a:p>
            <a:r>
              <a:rPr lang="en-US" sz="2000" b="1" dirty="0">
                <a:solidFill>
                  <a:schemeClr val="bg1"/>
                </a:solidFill>
                <a:latin typeface="Nunito Sans" pitchFamily="2" charset="0"/>
                <a:cs typeface="Courier New" panose="02070309020205020404" pitchFamily="49" charset="0"/>
              </a:rPr>
              <a:t>    print("Yes")</a:t>
            </a:r>
          </a:p>
          <a:p>
            <a:r>
              <a:rPr lang="en-US" sz="2000" b="1" dirty="0">
                <a:solidFill>
                  <a:schemeClr val="bg1"/>
                </a:solidFill>
                <a:latin typeface="Nunito Sans" pitchFamily="2" charset="0"/>
                <a:cs typeface="Courier New" panose="02070309020205020404" pitchFamily="49" charset="0"/>
              </a:rPr>
              <a:t>else:</a:t>
            </a:r>
          </a:p>
          <a:p>
            <a:r>
              <a:rPr lang="en-US" sz="2000" b="1" dirty="0">
                <a:solidFill>
                  <a:schemeClr val="bg1"/>
                </a:solidFill>
                <a:latin typeface="Nunito Sans" pitchFamily="2" charset="0"/>
                <a:cs typeface="Courier New" panose="02070309020205020404" pitchFamily="49" charset="0"/>
              </a:rPr>
              <a:t>    if is_good_array(nums):</a:t>
            </a:r>
          </a:p>
          <a:p>
            <a:r>
              <a:rPr lang="en-US" sz="2000" b="1" dirty="0">
                <a:solidFill>
                  <a:schemeClr val="bg1"/>
                </a:solidFill>
                <a:latin typeface="Nunito Sans" pitchFamily="2" charset="0"/>
                <a:cs typeface="Courier New" panose="02070309020205020404" pitchFamily="49" charset="0"/>
              </a:rPr>
              <a:t>        print("Yes")</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print("No")</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15</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6835" y="1059180"/>
            <a:ext cx="11472545" cy="5862320"/>
          </a:xfrm>
          <a:prstGeom prst="rect">
            <a:avLst/>
          </a:prstGeom>
          <a:noFill/>
        </p:spPr>
        <p:txBody>
          <a:bodyPr wrap="square" rtlCol="0">
            <a:spAutoFit/>
          </a:bodyPr>
          <a:lstStyle/>
          <a:p>
            <a:r>
              <a:rPr lang="en-US" sz="2500" dirty="0">
                <a:latin typeface="Nunito Sans" panose="00000500000000000000" pitchFamily="2" charset="0"/>
              </a:rPr>
              <a:t>The lanes of the city market are very narrow and always bustling with crowds. There is no space for parking 2 or 4 wheelers. To solve this problem the officials of the area have converted a nearby open space into parking area. Vehicles can be parked in 2 separate lanes. There is space for N number of vehicles in each lane. Every parked vehicle has a specific amount of fuel in the tank. The amount of fuel in which each vehicle is represented by following series :</a:t>
            </a:r>
          </a:p>
          <a:p>
            <a:r>
              <a:rPr lang="en-US" sz="2500" dirty="0">
                <a:latin typeface="Nunito Sans" panose="00000500000000000000" pitchFamily="2" charset="0"/>
              </a:rPr>
              <a:t>Lane 1 : b, b+a, b+2a…..b+(n-1)a</a:t>
            </a:r>
          </a:p>
          <a:p>
            <a:r>
              <a:rPr lang="en-US" sz="2500" dirty="0">
                <a:latin typeface="Nunito Sans" panose="00000500000000000000" pitchFamily="2" charset="0"/>
              </a:rPr>
              <a:t>Lane 2 : d,d+c, d+2c,…..d+(n-1)c</a:t>
            </a:r>
          </a:p>
          <a:p>
            <a:r>
              <a:rPr lang="en-US" sz="2500" dirty="0">
                <a:latin typeface="Nunito Sans" panose="00000500000000000000" pitchFamily="2" charset="0"/>
              </a:rPr>
              <a:t>The above two series will have the same value at some point in series. The task here is to find the value which will be the same in both series. Also, display a message as “No same amount of fuel found” if there is no value that is the same in both the series.</a:t>
            </a:r>
          </a:p>
          <a:p>
            <a:r>
              <a:rPr lang="en-US" sz="2500" dirty="0">
                <a:latin typeface="Nunito Sans" panose="00000500000000000000" pitchFamily="2" charset="0"/>
              </a:rPr>
              <a:t>Note:</a:t>
            </a:r>
          </a:p>
          <a:p>
            <a:r>
              <a:rPr lang="en-US" sz="2500" dirty="0">
                <a:latin typeface="Nunito Sans" panose="00000500000000000000" pitchFamily="2" charset="0"/>
              </a:rPr>
              <a:t>Values a, b, c, d in the series non zero values  </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15</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6835" y="1059180"/>
            <a:ext cx="11472545" cy="5862320"/>
          </a:xfrm>
          <a:prstGeom prst="rect">
            <a:avLst/>
          </a:prstGeom>
          <a:noFill/>
        </p:spPr>
        <p:txBody>
          <a:bodyPr wrap="square" rtlCol="0">
            <a:spAutoFit/>
          </a:bodyPr>
          <a:lstStyle/>
          <a:p>
            <a:r>
              <a:rPr lang="en-US" sz="2500" dirty="0">
                <a:latin typeface="Nunito Sans" panose="00000500000000000000" pitchFamily="2" charset="0"/>
              </a:rPr>
              <a:t>Example 1 :</a:t>
            </a:r>
          </a:p>
          <a:p>
            <a:endParaRPr lang="en-US" sz="2500" dirty="0">
              <a:latin typeface="Nunito Sans" panose="00000500000000000000" pitchFamily="2" charset="0"/>
            </a:endParaRPr>
          </a:p>
          <a:p>
            <a:r>
              <a:rPr lang="en-US" sz="2500" dirty="0">
                <a:latin typeface="Nunito Sans" panose="00000500000000000000" pitchFamily="2" charset="0"/>
              </a:rPr>
              <a:t>Input : </a:t>
            </a:r>
          </a:p>
          <a:p>
            <a:r>
              <a:rPr lang="en-US" sz="2500" dirty="0">
                <a:latin typeface="Nunito Sans" panose="00000500000000000000" pitchFamily="2" charset="0"/>
              </a:rPr>
              <a:t>50 -&gt;Value of N</a:t>
            </a:r>
          </a:p>
          <a:p>
            <a:r>
              <a:rPr lang="en-US" sz="2500" dirty="0">
                <a:latin typeface="Nunito Sans" panose="00000500000000000000" pitchFamily="2" charset="0"/>
              </a:rPr>
              <a:t>20 -&gt;Value of a</a:t>
            </a:r>
          </a:p>
          <a:p>
            <a:r>
              <a:rPr lang="en-US" sz="2500" dirty="0">
                <a:latin typeface="Nunito Sans" panose="00000500000000000000" pitchFamily="2" charset="0"/>
              </a:rPr>
              <a:t>2 -&gt;Value of b</a:t>
            </a:r>
          </a:p>
          <a:p>
            <a:r>
              <a:rPr lang="en-US" sz="2500" dirty="0">
                <a:latin typeface="Nunito Sans" panose="00000500000000000000" pitchFamily="2" charset="0"/>
              </a:rPr>
              <a:t>9 -&gt; Value of c</a:t>
            </a:r>
          </a:p>
          <a:p>
            <a:r>
              <a:rPr lang="en-US" sz="2500" dirty="0">
                <a:latin typeface="Nunito Sans" panose="00000500000000000000" pitchFamily="2" charset="0"/>
              </a:rPr>
              <a:t>19-&gt;Value of d</a:t>
            </a:r>
          </a:p>
          <a:p>
            <a:endParaRPr lang="en-US" sz="2500" dirty="0">
              <a:latin typeface="Nunito Sans" panose="00000500000000000000" pitchFamily="2" charset="0"/>
            </a:endParaRPr>
          </a:p>
          <a:p>
            <a:r>
              <a:rPr lang="en-US" sz="2500" dirty="0">
                <a:latin typeface="Nunito Sans" panose="00000500000000000000" pitchFamily="2" charset="0"/>
              </a:rPr>
              <a:t>Output :</a:t>
            </a:r>
          </a:p>
          <a:p>
            <a:r>
              <a:rPr lang="en-US" sz="2500" dirty="0">
                <a:latin typeface="Nunito Sans" panose="00000500000000000000" pitchFamily="2" charset="0"/>
              </a:rPr>
              <a:t>82 -&gt;same value in both the series</a:t>
            </a:r>
          </a:p>
          <a:p>
            <a:endParaRPr lang="en-US" sz="2500" dirty="0">
              <a:latin typeface="Nunito Sans" panose="00000500000000000000" pitchFamily="2" charset="0"/>
            </a:endParaRPr>
          </a:p>
          <a:p>
            <a:r>
              <a:rPr lang="en-US" sz="2500" dirty="0">
                <a:latin typeface="Nunito Sans" panose="00000500000000000000" pitchFamily="2" charset="0"/>
              </a:rPr>
              <a:t>Explanation: </a:t>
            </a:r>
          </a:p>
          <a:p>
            <a:r>
              <a:rPr lang="en-US" sz="2500" dirty="0">
                <a:latin typeface="Nunito Sans" panose="00000500000000000000" pitchFamily="2" charset="0"/>
              </a:rPr>
              <a:t>from the table we can deduce the output is 82</a:t>
            </a:r>
          </a:p>
          <a:p>
            <a:endParaRPr lang="en-US" sz="2500" dirty="0">
              <a:latin typeface="Nunito Sans" panose="00000500000000000000" pitchFamily="2" charset="0"/>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15</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graphicFrame>
        <p:nvGraphicFramePr>
          <p:cNvPr id="7" name="Table 6"/>
          <p:cNvGraphicFramePr/>
          <p:nvPr/>
        </p:nvGraphicFramePr>
        <p:xfrm>
          <a:off x="866775" y="1301750"/>
          <a:ext cx="8533130" cy="381000"/>
        </p:xfrm>
        <a:graphic>
          <a:graphicData uri="http://schemas.openxmlformats.org/drawingml/2006/table">
            <a:tbl>
              <a:tblPr firstRow="1" bandRow="1">
                <a:tableStyleId>{5C22544A-7EE6-4342-B048-85BDC9FD1C3A}</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381000">
                <a:tc>
                  <a:txBody>
                    <a:bodyPr/>
                    <a:lstStyle/>
                    <a:p>
                      <a:pPr>
                        <a:buNone/>
                      </a:pPr>
                      <a:r>
                        <a:rPr lang="en-IN" altLang="en-US" dirty="0">
                          <a:latin typeface="Nunito Sans" pitchFamily="2" charset="0"/>
                        </a:rPr>
                        <a:t>     LANE 1 SERIES</a:t>
                      </a:r>
                    </a:p>
                  </a:txBody>
                  <a:tcPr/>
                </a:tc>
                <a:tc>
                  <a:txBody>
                    <a:bodyPr/>
                    <a:lstStyle/>
                    <a:p>
                      <a:pPr>
                        <a:buNone/>
                      </a:pPr>
                      <a:r>
                        <a:rPr lang="en-IN" altLang="en-US" dirty="0">
                          <a:latin typeface="Nunito Sans" pitchFamily="2" charset="0"/>
                        </a:rPr>
                        <a:t>         LANE 2 SERIES</a:t>
                      </a:r>
                    </a:p>
                  </a:txBody>
                  <a:tcPr/>
                </a:tc>
                <a:extLst>
                  <a:ext uri="{0D108BD9-81ED-4DB2-BD59-A6C34878D82A}">
                    <a16:rowId xmlns:a16="http://schemas.microsoft.com/office/drawing/2014/main" val="10000"/>
                  </a:ext>
                </a:extLst>
              </a:tr>
            </a:tbl>
          </a:graphicData>
        </a:graphic>
      </p:graphicFrame>
      <p:graphicFrame>
        <p:nvGraphicFramePr>
          <p:cNvPr id="8" name="Table 7"/>
          <p:cNvGraphicFramePr/>
          <p:nvPr/>
        </p:nvGraphicFramePr>
        <p:xfrm>
          <a:off x="868045" y="1682750"/>
          <a:ext cx="8531860" cy="3429000"/>
        </p:xfrm>
        <a:graphic>
          <a:graphicData uri="http://schemas.openxmlformats.org/drawingml/2006/table">
            <a:tbl>
              <a:tblPr firstRow="1" bandRow="1">
                <a:tableStyleId>{5C22544A-7EE6-4342-B048-85BDC9FD1C3A}</a:tableStyleId>
              </a:tblPr>
              <a:tblGrid>
                <a:gridCol w="2132965">
                  <a:extLst>
                    <a:ext uri="{9D8B030D-6E8A-4147-A177-3AD203B41FA5}">
                      <a16:colId xmlns:a16="http://schemas.microsoft.com/office/drawing/2014/main" val="20000"/>
                    </a:ext>
                  </a:extLst>
                </a:gridCol>
                <a:gridCol w="2132965">
                  <a:extLst>
                    <a:ext uri="{9D8B030D-6E8A-4147-A177-3AD203B41FA5}">
                      <a16:colId xmlns:a16="http://schemas.microsoft.com/office/drawing/2014/main" val="20001"/>
                    </a:ext>
                  </a:extLst>
                </a:gridCol>
                <a:gridCol w="2132965">
                  <a:extLst>
                    <a:ext uri="{9D8B030D-6E8A-4147-A177-3AD203B41FA5}">
                      <a16:colId xmlns:a16="http://schemas.microsoft.com/office/drawing/2014/main" val="20002"/>
                    </a:ext>
                  </a:extLst>
                </a:gridCol>
                <a:gridCol w="2132965">
                  <a:extLst>
                    <a:ext uri="{9D8B030D-6E8A-4147-A177-3AD203B41FA5}">
                      <a16:colId xmlns:a16="http://schemas.microsoft.com/office/drawing/2014/main" val="20003"/>
                    </a:ext>
                  </a:extLst>
                </a:gridCol>
              </a:tblGrid>
              <a:tr h="381000">
                <a:tc>
                  <a:txBody>
                    <a:bodyPr/>
                    <a:lstStyle/>
                    <a:p>
                      <a:pPr algn="ctr">
                        <a:buNone/>
                      </a:pPr>
                      <a:r>
                        <a:rPr lang="en-IN" altLang="en-US" dirty="0">
                          <a:latin typeface="Nunito Sans" pitchFamily="2" charset="0"/>
                        </a:rPr>
                        <a:t>b</a:t>
                      </a:r>
                    </a:p>
                  </a:txBody>
                  <a:tcPr/>
                </a:tc>
                <a:tc>
                  <a:txBody>
                    <a:bodyPr/>
                    <a:lstStyle/>
                    <a:p>
                      <a:pPr algn="ctr">
                        <a:buNone/>
                      </a:pPr>
                      <a:r>
                        <a:rPr lang="en-IN" altLang="en-US" dirty="0">
                          <a:latin typeface="Nunito Sans" pitchFamily="2" charset="0"/>
                        </a:rPr>
                        <a:t>2</a:t>
                      </a:r>
                    </a:p>
                  </a:txBody>
                  <a:tcPr/>
                </a:tc>
                <a:tc>
                  <a:txBody>
                    <a:bodyPr/>
                    <a:lstStyle/>
                    <a:p>
                      <a:pPr algn="ctr">
                        <a:buNone/>
                      </a:pPr>
                      <a:r>
                        <a:rPr lang="en-IN" altLang="en-US" dirty="0">
                          <a:latin typeface="Nunito Sans" pitchFamily="2" charset="0"/>
                        </a:rPr>
                        <a:t>d</a:t>
                      </a:r>
                    </a:p>
                  </a:txBody>
                  <a:tcPr/>
                </a:tc>
                <a:tc>
                  <a:txBody>
                    <a:bodyPr/>
                    <a:lstStyle/>
                    <a:p>
                      <a:pPr algn="ctr">
                        <a:buNone/>
                      </a:pPr>
                      <a:r>
                        <a:rPr lang="en-IN" altLang="en-US" dirty="0">
                          <a:latin typeface="Nunito Sans" pitchFamily="2" charset="0"/>
                        </a:rPr>
                        <a:t>28</a:t>
                      </a:r>
                    </a:p>
                  </a:txBody>
                  <a:tcPr/>
                </a:tc>
                <a:extLst>
                  <a:ext uri="{0D108BD9-81ED-4DB2-BD59-A6C34878D82A}">
                    <a16:rowId xmlns:a16="http://schemas.microsoft.com/office/drawing/2014/main" val="10000"/>
                  </a:ext>
                </a:extLst>
              </a:tr>
              <a:tr h="381000">
                <a:tc>
                  <a:txBody>
                    <a:bodyPr/>
                    <a:lstStyle/>
                    <a:p>
                      <a:pPr algn="ctr">
                        <a:buNone/>
                      </a:pPr>
                      <a:r>
                        <a:rPr lang="en-IN" altLang="en-US" dirty="0" err="1">
                          <a:latin typeface="Nunito Sans" pitchFamily="2" charset="0"/>
                        </a:rPr>
                        <a:t>b+a</a:t>
                      </a:r>
                      <a:endParaRPr lang="en-IN" altLang="en-US" dirty="0">
                        <a:latin typeface="Nunito Sans" pitchFamily="2" charset="0"/>
                      </a:endParaRPr>
                    </a:p>
                  </a:txBody>
                  <a:tcPr/>
                </a:tc>
                <a:tc>
                  <a:txBody>
                    <a:bodyPr/>
                    <a:lstStyle/>
                    <a:p>
                      <a:pPr algn="ctr">
                        <a:buNone/>
                      </a:pPr>
                      <a:r>
                        <a:rPr lang="en-IN" altLang="en-US" dirty="0">
                          <a:latin typeface="Nunito Sans" pitchFamily="2" charset="0"/>
                        </a:rPr>
                        <a:t>22</a:t>
                      </a:r>
                    </a:p>
                  </a:txBody>
                  <a:tcPr/>
                </a:tc>
                <a:tc>
                  <a:txBody>
                    <a:bodyPr/>
                    <a:lstStyle/>
                    <a:p>
                      <a:pPr algn="ctr">
                        <a:buNone/>
                      </a:pPr>
                      <a:r>
                        <a:rPr lang="en-IN" altLang="en-US" dirty="0" err="1">
                          <a:latin typeface="Nunito Sans" pitchFamily="2" charset="0"/>
                        </a:rPr>
                        <a:t>d+a</a:t>
                      </a:r>
                      <a:endParaRPr lang="en-IN" altLang="en-US" dirty="0">
                        <a:latin typeface="Nunito Sans" pitchFamily="2" charset="0"/>
                      </a:endParaRPr>
                    </a:p>
                  </a:txBody>
                  <a:tcPr/>
                </a:tc>
                <a:tc>
                  <a:txBody>
                    <a:bodyPr/>
                    <a:lstStyle/>
                    <a:p>
                      <a:pPr algn="ctr">
                        <a:buNone/>
                      </a:pPr>
                      <a:r>
                        <a:rPr lang="en-IN" altLang="en-US" dirty="0">
                          <a:latin typeface="Nunito Sans" pitchFamily="2" charset="0"/>
                        </a:rPr>
                        <a:t>37</a:t>
                      </a:r>
                    </a:p>
                  </a:txBody>
                  <a:tcPr/>
                </a:tc>
                <a:extLst>
                  <a:ext uri="{0D108BD9-81ED-4DB2-BD59-A6C34878D82A}">
                    <a16:rowId xmlns:a16="http://schemas.microsoft.com/office/drawing/2014/main" val="10001"/>
                  </a:ext>
                </a:extLst>
              </a:tr>
              <a:tr h="381000">
                <a:tc>
                  <a:txBody>
                    <a:bodyPr/>
                    <a:lstStyle/>
                    <a:p>
                      <a:pPr algn="ctr">
                        <a:buNone/>
                      </a:pPr>
                      <a:r>
                        <a:rPr lang="en-IN" altLang="en-US" dirty="0">
                          <a:latin typeface="Nunito Sans" pitchFamily="2" charset="0"/>
                        </a:rPr>
                        <a:t>b+2a</a:t>
                      </a:r>
                    </a:p>
                  </a:txBody>
                  <a:tcPr/>
                </a:tc>
                <a:tc>
                  <a:txBody>
                    <a:bodyPr/>
                    <a:lstStyle/>
                    <a:p>
                      <a:pPr algn="ctr">
                        <a:buNone/>
                      </a:pPr>
                      <a:r>
                        <a:rPr lang="en-IN" altLang="en-US" dirty="0">
                          <a:latin typeface="Nunito Sans" pitchFamily="2" charset="0"/>
                        </a:rPr>
                        <a:t>42</a:t>
                      </a:r>
                    </a:p>
                  </a:txBody>
                  <a:tcPr/>
                </a:tc>
                <a:tc>
                  <a:txBody>
                    <a:bodyPr/>
                    <a:lstStyle/>
                    <a:p>
                      <a:pPr algn="ctr">
                        <a:buNone/>
                      </a:pPr>
                      <a:r>
                        <a:rPr lang="en-IN" altLang="en-US" dirty="0">
                          <a:latin typeface="Nunito Sans" pitchFamily="2" charset="0"/>
                        </a:rPr>
                        <a:t>d+2a</a:t>
                      </a:r>
                    </a:p>
                  </a:txBody>
                  <a:tcPr/>
                </a:tc>
                <a:tc>
                  <a:txBody>
                    <a:bodyPr/>
                    <a:lstStyle/>
                    <a:p>
                      <a:pPr algn="ctr">
                        <a:buNone/>
                      </a:pPr>
                      <a:r>
                        <a:rPr lang="en-IN" altLang="en-US" dirty="0">
                          <a:latin typeface="Nunito Sans" pitchFamily="2" charset="0"/>
                        </a:rPr>
                        <a:t>46</a:t>
                      </a:r>
                    </a:p>
                  </a:txBody>
                  <a:tcPr/>
                </a:tc>
                <a:extLst>
                  <a:ext uri="{0D108BD9-81ED-4DB2-BD59-A6C34878D82A}">
                    <a16:rowId xmlns:a16="http://schemas.microsoft.com/office/drawing/2014/main" val="10002"/>
                  </a:ext>
                </a:extLst>
              </a:tr>
              <a:tr h="381000">
                <a:tc>
                  <a:txBody>
                    <a:bodyPr/>
                    <a:lstStyle/>
                    <a:p>
                      <a:pPr algn="ctr">
                        <a:buNone/>
                      </a:pPr>
                      <a:r>
                        <a:rPr lang="en-IN" altLang="en-US" dirty="0">
                          <a:latin typeface="Nunito Sans" pitchFamily="2" charset="0"/>
                        </a:rPr>
                        <a:t>b+3a</a:t>
                      </a:r>
                    </a:p>
                  </a:txBody>
                  <a:tcPr/>
                </a:tc>
                <a:tc>
                  <a:txBody>
                    <a:bodyPr/>
                    <a:lstStyle/>
                    <a:p>
                      <a:pPr algn="ctr">
                        <a:buNone/>
                      </a:pPr>
                      <a:r>
                        <a:rPr lang="en-IN" altLang="en-US" dirty="0">
                          <a:latin typeface="Nunito Sans" pitchFamily="2" charset="0"/>
                        </a:rPr>
                        <a:t>62</a:t>
                      </a:r>
                    </a:p>
                  </a:txBody>
                  <a:tcPr/>
                </a:tc>
                <a:tc>
                  <a:txBody>
                    <a:bodyPr/>
                    <a:lstStyle/>
                    <a:p>
                      <a:pPr algn="ctr">
                        <a:buNone/>
                      </a:pPr>
                      <a:r>
                        <a:rPr lang="en-IN" altLang="en-US" dirty="0">
                          <a:latin typeface="Nunito Sans" pitchFamily="2" charset="0"/>
                        </a:rPr>
                        <a:t>d+3a</a:t>
                      </a:r>
                    </a:p>
                  </a:txBody>
                  <a:tcPr/>
                </a:tc>
                <a:tc>
                  <a:txBody>
                    <a:bodyPr/>
                    <a:lstStyle/>
                    <a:p>
                      <a:pPr algn="ctr">
                        <a:buNone/>
                      </a:pPr>
                      <a:r>
                        <a:rPr lang="en-IN" altLang="en-US" dirty="0">
                          <a:latin typeface="Nunito Sans" pitchFamily="2" charset="0"/>
                        </a:rPr>
                        <a:t>55</a:t>
                      </a:r>
                    </a:p>
                  </a:txBody>
                  <a:tcPr/>
                </a:tc>
                <a:extLst>
                  <a:ext uri="{0D108BD9-81ED-4DB2-BD59-A6C34878D82A}">
                    <a16:rowId xmlns:a16="http://schemas.microsoft.com/office/drawing/2014/main" val="10003"/>
                  </a:ext>
                </a:extLst>
              </a:tr>
              <a:tr h="381000">
                <a:tc>
                  <a:txBody>
                    <a:bodyPr/>
                    <a:lstStyle/>
                    <a:p>
                      <a:pPr algn="ctr">
                        <a:buNone/>
                      </a:pPr>
                      <a:r>
                        <a:rPr lang="en-IN" altLang="en-US" dirty="0">
                          <a:latin typeface="Nunito Sans" pitchFamily="2" charset="0"/>
                        </a:rPr>
                        <a:t>b+4a</a:t>
                      </a:r>
                    </a:p>
                  </a:txBody>
                  <a:tcPr/>
                </a:tc>
                <a:tc>
                  <a:txBody>
                    <a:bodyPr/>
                    <a:lstStyle/>
                    <a:p>
                      <a:pPr algn="ctr">
                        <a:buNone/>
                      </a:pPr>
                      <a:r>
                        <a:rPr lang="en-IN" altLang="en-US" dirty="0">
                          <a:latin typeface="Nunito Sans" pitchFamily="2" charset="0"/>
                        </a:rPr>
                        <a:t>82</a:t>
                      </a:r>
                    </a:p>
                  </a:txBody>
                  <a:tcPr/>
                </a:tc>
                <a:tc>
                  <a:txBody>
                    <a:bodyPr/>
                    <a:lstStyle/>
                    <a:p>
                      <a:pPr algn="ctr">
                        <a:buNone/>
                      </a:pPr>
                      <a:r>
                        <a:rPr lang="en-IN" altLang="en-US" dirty="0">
                          <a:latin typeface="Nunito Sans" pitchFamily="2" charset="0"/>
                        </a:rPr>
                        <a:t>d+4a</a:t>
                      </a:r>
                    </a:p>
                  </a:txBody>
                  <a:tcPr/>
                </a:tc>
                <a:tc>
                  <a:txBody>
                    <a:bodyPr/>
                    <a:lstStyle/>
                    <a:p>
                      <a:pPr algn="ctr">
                        <a:buNone/>
                      </a:pPr>
                      <a:r>
                        <a:rPr lang="en-IN" altLang="en-US" dirty="0">
                          <a:latin typeface="Nunito Sans" pitchFamily="2" charset="0"/>
                        </a:rPr>
                        <a:t>64</a:t>
                      </a:r>
                    </a:p>
                  </a:txBody>
                  <a:tcPr/>
                </a:tc>
                <a:extLst>
                  <a:ext uri="{0D108BD9-81ED-4DB2-BD59-A6C34878D82A}">
                    <a16:rowId xmlns:a16="http://schemas.microsoft.com/office/drawing/2014/main" val="10004"/>
                  </a:ext>
                </a:extLst>
              </a:tr>
              <a:tr h="381000">
                <a:tc>
                  <a:txBody>
                    <a:bodyPr/>
                    <a:lstStyle/>
                    <a:p>
                      <a:pPr algn="ctr">
                        <a:buNone/>
                      </a:pPr>
                      <a:r>
                        <a:rPr lang="en-IN" altLang="en-US" dirty="0">
                          <a:latin typeface="Nunito Sans" pitchFamily="2" charset="0"/>
                        </a:rPr>
                        <a:t>b+5a</a:t>
                      </a:r>
                    </a:p>
                  </a:txBody>
                  <a:tcPr/>
                </a:tc>
                <a:tc>
                  <a:txBody>
                    <a:bodyPr/>
                    <a:lstStyle/>
                    <a:p>
                      <a:pPr algn="ctr">
                        <a:buNone/>
                      </a:pPr>
                      <a:r>
                        <a:rPr lang="en-IN" altLang="en-US" dirty="0">
                          <a:latin typeface="Nunito Sans" pitchFamily="2" charset="0"/>
                        </a:rPr>
                        <a:t>102</a:t>
                      </a:r>
                    </a:p>
                  </a:txBody>
                  <a:tcPr/>
                </a:tc>
                <a:tc>
                  <a:txBody>
                    <a:bodyPr/>
                    <a:lstStyle/>
                    <a:p>
                      <a:pPr algn="ctr">
                        <a:buNone/>
                      </a:pPr>
                      <a:r>
                        <a:rPr lang="en-IN" altLang="en-US" dirty="0">
                          <a:latin typeface="Nunito Sans" pitchFamily="2" charset="0"/>
                        </a:rPr>
                        <a:t>d+5a</a:t>
                      </a:r>
                    </a:p>
                  </a:txBody>
                  <a:tcPr/>
                </a:tc>
                <a:tc>
                  <a:txBody>
                    <a:bodyPr/>
                    <a:lstStyle/>
                    <a:p>
                      <a:pPr algn="ctr">
                        <a:buNone/>
                      </a:pPr>
                      <a:r>
                        <a:rPr lang="en-IN" altLang="en-US" dirty="0">
                          <a:latin typeface="Nunito Sans" pitchFamily="2" charset="0"/>
                        </a:rPr>
                        <a:t>73</a:t>
                      </a:r>
                    </a:p>
                  </a:txBody>
                  <a:tcPr/>
                </a:tc>
                <a:extLst>
                  <a:ext uri="{0D108BD9-81ED-4DB2-BD59-A6C34878D82A}">
                    <a16:rowId xmlns:a16="http://schemas.microsoft.com/office/drawing/2014/main" val="10005"/>
                  </a:ext>
                </a:extLst>
              </a:tr>
              <a:tr h="381000">
                <a:tc>
                  <a:txBody>
                    <a:bodyPr/>
                    <a:lstStyle/>
                    <a:p>
                      <a:pPr algn="ctr">
                        <a:buNone/>
                      </a:pPr>
                      <a:r>
                        <a:rPr lang="en-IN" altLang="en-US" dirty="0">
                          <a:latin typeface="Nunito Sans" pitchFamily="2" charset="0"/>
                        </a:rPr>
                        <a:t>b+6a</a:t>
                      </a:r>
                    </a:p>
                  </a:txBody>
                  <a:tcPr/>
                </a:tc>
                <a:tc>
                  <a:txBody>
                    <a:bodyPr/>
                    <a:lstStyle/>
                    <a:p>
                      <a:pPr algn="ctr">
                        <a:buNone/>
                      </a:pPr>
                      <a:r>
                        <a:rPr lang="en-IN" altLang="en-US" dirty="0">
                          <a:latin typeface="Nunito Sans" pitchFamily="2" charset="0"/>
                        </a:rPr>
                        <a:t>122</a:t>
                      </a:r>
                    </a:p>
                  </a:txBody>
                  <a:tcPr/>
                </a:tc>
                <a:tc>
                  <a:txBody>
                    <a:bodyPr/>
                    <a:lstStyle/>
                    <a:p>
                      <a:pPr algn="ctr">
                        <a:buNone/>
                      </a:pPr>
                      <a:r>
                        <a:rPr lang="en-IN" altLang="en-US" dirty="0">
                          <a:latin typeface="Nunito Sans" pitchFamily="2" charset="0"/>
                        </a:rPr>
                        <a:t>d+6a</a:t>
                      </a:r>
                    </a:p>
                  </a:txBody>
                  <a:tcPr/>
                </a:tc>
                <a:tc>
                  <a:txBody>
                    <a:bodyPr/>
                    <a:lstStyle/>
                    <a:p>
                      <a:pPr algn="ctr">
                        <a:buNone/>
                      </a:pPr>
                      <a:r>
                        <a:rPr lang="en-IN" altLang="en-US" dirty="0">
                          <a:latin typeface="Nunito Sans" pitchFamily="2" charset="0"/>
                        </a:rPr>
                        <a:t>82</a:t>
                      </a:r>
                    </a:p>
                  </a:txBody>
                  <a:tcPr/>
                </a:tc>
                <a:extLst>
                  <a:ext uri="{0D108BD9-81ED-4DB2-BD59-A6C34878D82A}">
                    <a16:rowId xmlns:a16="http://schemas.microsoft.com/office/drawing/2014/main" val="10006"/>
                  </a:ext>
                </a:extLst>
              </a:tr>
              <a:tr h="381000">
                <a:tc>
                  <a:txBody>
                    <a:bodyPr/>
                    <a:lstStyle/>
                    <a:p>
                      <a:pPr algn="ctr">
                        <a:buNone/>
                      </a:pPr>
                      <a:r>
                        <a:rPr lang="en-IN" altLang="en-US" dirty="0">
                          <a:latin typeface="Nunito Sans" pitchFamily="2" charset="0"/>
                        </a:rPr>
                        <a:t>b+7a</a:t>
                      </a:r>
                    </a:p>
                  </a:txBody>
                  <a:tcPr/>
                </a:tc>
                <a:tc>
                  <a:txBody>
                    <a:bodyPr/>
                    <a:lstStyle/>
                    <a:p>
                      <a:pPr algn="ctr">
                        <a:buNone/>
                      </a:pPr>
                      <a:r>
                        <a:rPr lang="en-IN" altLang="en-US" dirty="0">
                          <a:latin typeface="Nunito Sans" pitchFamily="2" charset="0"/>
                        </a:rPr>
                        <a:t>142</a:t>
                      </a:r>
                    </a:p>
                  </a:txBody>
                  <a:tcPr/>
                </a:tc>
                <a:tc>
                  <a:txBody>
                    <a:bodyPr/>
                    <a:lstStyle/>
                    <a:p>
                      <a:pPr algn="ctr">
                        <a:buNone/>
                      </a:pPr>
                      <a:r>
                        <a:rPr lang="en-IN" altLang="en-US" dirty="0">
                          <a:latin typeface="Nunito Sans" pitchFamily="2" charset="0"/>
                        </a:rPr>
                        <a:t>d+7a</a:t>
                      </a:r>
                    </a:p>
                  </a:txBody>
                  <a:tcPr/>
                </a:tc>
                <a:tc>
                  <a:txBody>
                    <a:bodyPr/>
                    <a:lstStyle/>
                    <a:p>
                      <a:pPr algn="ctr">
                        <a:buNone/>
                      </a:pPr>
                      <a:r>
                        <a:rPr lang="en-IN" altLang="en-US" dirty="0">
                          <a:latin typeface="Nunito Sans" pitchFamily="2" charset="0"/>
                        </a:rPr>
                        <a:t>91</a:t>
                      </a:r>
                    </a:p>
                  </a:txBody>
                  <a:tcPr/>
                </a:tc>
                <a:extLst>
                  <a:ext uri="{0D108BD9-81ED-4DB2-BD59-A6C34878D82A}">
                    <a16:rowId xmlns:a16="http://schemas.microsoft.com/office/drawing/2014/main" val="10007"/>
                  </a:ext>
                </a:extLst>
              </a:tr>
              <a:tr h="381000">
                <a:tc>
                  <a:txBody>
                    <a:bodyPr/>
                    <a:lstStyle/>
                    <a:p>
                      <a:pPr algn="ctr">
                        <a:buNone/>
                      </a:pPr>
                      <a:r>
                        <a:rPr lang="en-IN" altLang="en-US" dirty="0">
                          <a:latin typeface="Nunito Sans" pitchFamily="2" charset="0"/>
                        </a:rPr>
                        <a:t>b+(n-1)a</a:t>
                      </a:r>
                    </a:p>
                  </a:txBody>
                  <a:tcPr/>
                </a:tc>
                <a:tc>
                  <a:txBody>
                    <a:bodyPr/>
                    <a:lstStyle/>
                    <a:p>
                      <a:pPr algn="ctr">
                        <a:buNone/>
                      </a:pPr>
                      <a:r>
                        <a:rPr lang="en-IN" altLang="en-US" dirty="0">
                          <a:latin typeface="Nunito Sans" pitchFamily="2" charset="0"/>
                        </a:rPr>
                        <a:t>982</a:t>
                      </a:r>
                    </a:p>
                  </a:txBody>
                  <a:tcPr/>
                </a:tc>
                <a:tc>
                  <a:txBody>
                    <a:bodyPr/>
                    <a:lstStyle/>
                    <a:p>
                      <a:pPr algn="ctr">
                        <a:buNone/>
                      </a:pPr>
                      <a:r>
                        <a:rPr lang="en-IN" altLang="en-US" dirty="0">
                          <a:latin typeface="Nunito Sans" pitchFamily="2" charset="0"/>
                        </a:rPr>
                        <a:t>d+(n-1)d</a:t>
                      </a:r>
                    </a:p>
                  </a:txBody>
                  <a:tcPr/>
                </a:tc>
                <a:tc>
                  <a:txBody>
                    <a:bodyPr/>
                    <a:lstStyle/>
                    <a:p>
                      <a:pPr algn="ctr">
                        <a:buNone/>
                      </a:pPr>
                      <a:r>
                        <a:rPr lang="en-IN" altLang="en-US" dirty="0">
                          <a:latin typeface="Nunito Sans" pitchFamily="2" charset="0"/>
                        </a:rPr>
                        <a:t>460</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15</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6835" y="1059180"/>
            <a:ext cx="11472545" cy="5477510"/>
          </a:xfrm>
          <a:prstGeom prst="rect">
            <a:avLst/>
          </a:prstGeom>
          <a:noFill/>
        </p:spPr>
        <p:txBody>
          <a:bodyPr wrap="square" rtlCol="0">
            <a:spAutoFit/>
          </a:bodyPr>
          <a:lstStyle/>
          <a:p>
            <a:r>
              <a:rPr lang="en-US" sz="2500" b="1" dirty="0">
                <a:latin typeface="Nunito Sans" pitchFamily="2" charset="0"/>
              </a:rPr>
              <a:t>Example 2 :</a:t>
            </a:r>
            <a:endParaRPr lang="en-US" sz="2500" dirty="0">
              <a:latin typeface="Nunito Sans" panose="00000500000000000000" pitchFamily="2" charset="0"/>
            </a:endParaRPr>
          </a:p>
          <a:p>
            <a:endParaRPr lang="en-US" sz="2500" dirty="0">
              <a:latin typeface="Nunito Sans" panose="00000500000000000000" pitchFamily="2" charset="0"/>
            </a:endParaRPr>
          </a:p>
          <a:p>
            <a:r>
              <a:rPr lang="en-US" sz="2500" b="1" dirty="0">
                <a:latin typeface="Nunito Sans" pitchFamily="2" charset="0"/>
              </a:rPr>
              <a:t>Input : </a:t>
            </a:r>
          </a:p>
          <a:p>
            <a:r>
              <a:rPr lang="en-US" sz="2500" dirty="0">
                <a:latin typeface="Nunito Sans" panose="00000500000000000000" pitchFamily="2" charset="0"/>
              </a:rPr>
              <a:t>9 &gt;Value of N</a:t>
            </a:r>
          </a:p>
          <a:p>
            <a:r>
              <a:rPr lang="en-US" sz="2500" dirty="0">
                <a:latin typeface="Nunito Sans" panose="00000500000000000000" pitchFamily="2" charset="0"/>
              </a:rPr>
              <a:t>2 -&gt;Value of a</a:t>
            </a:r>
          </a:p>
          <a:p>
            <a:r>
              <a:rPr lang="en-US" sz="2500" dirty="0">
                <a:latin typeface="Nunito Sans" panose="00000500000000000000" pitchFamily="2" charset="0"/>
              </a:rPr>
              <a:t>2 -&gt;Value of b</a:t>
            </a:r>
          </a:p>
          <a:p>
            <a:r>
              <a:rPr lang="en-US" sz="2500" dirty="0">
                <a:latin typeface="Nunito Sans" panose="00000500000000000000" pitchFamily="2" charset="0"/>
              </a:rPr>
              <a:t>10-&gt;Value of c</a:t>
            </a:r>
          </a:p>
          <a:p>
            <a:r>
              <a:rPr lang="en-US" sz="2500" dirty="0">
                <a:latin typeface="Nunito Sans" panose="00000500000000000000" pitchFamily="2" charset="0"/>
              </a:rPr>
              <a:t>15 -&gt; Value of d</a:t>
            </a:r>
          </a:p>
          <a:p>
            <a:endParaRPr lang="en-US" sz="2500" dirty="0">
              <a:latin typeface="Nunito Sans" panose="00000500000000000000" pitchFamily="2" charset="0"/>
            </a:endParaRPr>
          </a:p>
          <a:p>
            <a:r>
              <a:rPr lang="en-US" sz="2500" b="1" dirty="0">
                <a:latin typeface="Nunito Sans" pitchFamily="2" charset="0"/>
              </a:rPr>
              <a:t>Output :</a:t>
            </a:r>
          </a:p>
          <a:p>
            <a:r>
              <a:rPr lang="en-US" sz="2500" dirty="0">
                <a:latin typeface="Nunito Sans" panose="00000500000000000000" pitchFamily="2" charset="0"/>
              </a:rPr>
              <a:t>No same amount of fuel found</a:t>
            </a:r>
          </a:p>
          <a:p>
            <a:endParaRPr lang="en-US" sz="2500" dirty="0">
              <a:latin typeface="Nunito Sans" panose="00000500000000000000" pitchFamily="2" charset="0"/>
            </a:endParaRPr>
          </a:p>
          <a:p>
            <a:r>
              <a:rPr lang="en-US" sz="2500" dirty="0">
                <a:latin typeface="Nunito Sans" panose="00000500000000000000" pitchFamily="2" charset="0"/>
              </a:rPr>
              <a:t>Explanation:</a:t>
            </a:r>
          </a:p>
          <a:p>
            <a:endParaRPr lang="en-US" sz="2500" dirty="0">
              <a:latin typeface="Nunito Sans" panose="00000500000000000000" pitchFamily="2"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15</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graphicFrame>
        <p:nvGraphicFramePr>
          <p:cNvPr id="7" name="Table 6"/>
          <p:cNvGraphicFramePr/>
          <p:nvPr/>
        </p:nvGraphicFramePr>
        <p:xfrm>
          <a:off x="664210" y="883920"/>
          <a:ext cx="8533130" cy="381000"/>
        </p:xfrm>
        <a:graphic>
          <a:graphicData uri="http://schemas.openxmlformats.org/drawingml/2006/table">
            <a:tbl>
              <a:tblPr firstRow="1" bandRow="1">
                <a:tableStyleId>{5C22544A-7EE6-4342-B048-85BDC9FD1C3A}</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381000">
                <a:tc>
                  <a:txBody>
                    <a:bodyPr/>
                    <a:lstStyle/>
                    <a:p>
                      <a:pPr>
                        <a:buNone/>
                      </a:pPr>
                      <a:r>
                        <a:rPr lang="en-IN" altLang="en-US" dirty="0">
                          <a:latin typeface="Nunito Sans" pitchFamily="2" charset="0"/>
                        </a:rPr>
                        <a:t>     LANE 1 SERIES</a:t>
                      </a:r>
                    </a:p>
                  </a:txBody>
                  <a:tcPr/>
                </a:tc>
                <a:tc>
                  <a:txBody>
                    <a:bodyPr/>
                    <a:lstStyle/>
                    <a:p>
                      <a:pPr>
                        <a:buNone/>
                      </a:pPr>
                      <a:r>
                        <a:rPr lang="en-IN" altLang="en-US" dirty="0">
                          <a:latin typeface="Nunito Sans" pitchFamily="2" charset="0"/>
                        </a:rPr>
                        <a:t>         LANE 2 SERIES</a:t>
                      </a:r>
                    </a:p>
                  </a:txBody>
                  <a:tcPr/>
                </a:tc>
                <a:extLst>
                  <a:ext uri="{0D108BD9-81ED-4DB2-BD59-A6C34878D82A}">
                    <a16:rowId xmlns:a16="http://schemas.microsoft.com/office/drawing/2014/main" val="10000"/>
                  </a:ext>
                </a:extLst>
              </a:tr>
            </a:tbl>
          </a:graphicData>
        </a:graphic>
      </p:graphicFrame>
      <p:graphicFrame>
        <p:nvGraphicFramePr>
          <p:cNvPr id="3" name="Table 2"/>
          <p:cNvGraphicFramePr/>
          <p:nvPr/>
        </p:nvGraphicFramePr>
        <p:xfrm>
          <a:off x="665480" y="1264920"/>
          <a:ext cx="8531860" cy="3429000"/>
        </p:xfrm>
        <a:graphic>
          <a:graphicData uri="http://schemas.openxmlformats.org/drawingml/2006/table">
            <a:tbl>
              <a:tblPr firstRow="1" bandRow="1">
                <a:tableStyleId>{5C22544A-7EE6-4342-B048-85BDC9FD1C3A}</a:tableStyleId>
              </a:tblPr>
              <a:tblGrid>
                <a:gridCol w="2132965">
                  <a:extLst>
                    <a:ext uri="{9D8B030D-6E8A-4147-A177-3AD203B41FA5}">
                      <a16:colId xmlns:a16="http://schemas.microsoft.com/office/drawing/2014/main" val="20000"/>
                    </a:ext>
                  </a:extLst>
                </a:gridCol>
                <a:gridCol w="2132965">
                  <a:extLst>
                    <a:ext uri="{9D8B030D-6E8A-4147-A177-3AD203B41FA5}">
                      <a16:colId xmlns:a16="http://schemas.microsoft.com/office/drawing/2014/main" val="20001"/>
                    </a:ext>
                  </a:extLst>
                </a:gridCol>
                <a:gridCol w="2132965">
                  <a:extLst>
                    <a:ext uri="{9D8B030D-6E8A-4147-A177-3AD203B41FA5}">
                      <a16:colId xmlns:a16="http://schemas.microsoft.com/office/drawing/2014/main" val="20002"/>
                    </a:ext>
                  </a:extLst>
                </a:gridCol>
                <a:gridCol w="2132965">
                  <a:extLst>
                    <a:ext uri="{9D8B030D-6E8A-4147-A177-3AD203B41FA5}">
                      <a16:colId xmlns:a16="http://schemas.microsoft.com/office/drawing/2014/main" val="20003"/>
                    </a:ext>
                  </a:extLst>
                </a:gridCol>
              </a:tblGrid>
              <a:tr h="381000">
                <a:tc>
                  <a:txBody>
                    <a:bodyPr/>
                    <a:lstStyle/>
                    <a:p>
                      <a:pPr algn="ctr">
                        <a:buNone/>
                      </a:pPr>
                      <a:r>
                        <a:rPr lang="en-IN" altLang="en-US" dirty="0">
                          <a:latin typeface="Nunito Sans" pitchFamily="2" charset="0"/>
                        </a:rPr>
                        <a:t>b</a:t>
                      </a:r>
                    </a:p>
                  </a:txBody>
                  <a:tcPr/>
                </a:tc>
                <a:tc>
                  <a:txBody>
                    <a:bodyPr/>
                    <a:lstStyle/>
                    <a:p>
                      <a:pPr algn="ctr">
                        <a:buNone/>
                      </a:pPr>
                      <a:r>
                        <a:rPr lang="en-US" dirty="0">
                          <a:latin typeface="Nunito Sans" pitchFamily="2" charset="0"/>
                        </a:rPr>
                        <a:t>2</a:t>
                      </a:r>
                    </a:p>
                  </a:txBody>
                  <a:tcPr/>
                </a:tc>
                <a:tc>
                  <a:txBody>
                    <a:bodyPr/>
                    <a:lstStyle/>
                    <a:p>
                      <a:pPr algn="ctr">
                        <a:buNone/>
                      </a:pPr>
                      <a:r>
                        <a:rPr lang="en-IN" altLang="en-US" dirty="0">
                          <a:latin typeface="Nunito Sans" pitchFamily="2" charset="0"/>
                        </a:rPr>
                        <a:t>d+</a:t>
                      </a:r>
                      <a:r>
                        <a:rPr lang="en-US" altLang="en-IN" dirty="0"/>
                        <a:t>c</a:t>
                      </a:r>
                    </a:p>
                  </a:txBody>
                  <a:tcPr/>
                </a:tc>
                <a:tc>
                  <a:txBody>
                    <a:bodyPr/>
                    <a:lstStyle/>
                    <a:p>
                      <a:pPr>
                        <a:buNone/>
                      </a:pPr>
                      <a:r>
                        <a:rPr lang="en-US" dirty="0">
                          <a:latin typeface="Nunito Sans" pitchFamily="2" charset="0"/>
                        </a:rPr>
                        <a:t>25</a:t>
                      </a:r>
                    </a:p>
                  </a:txBody>
                  <a:tcPr/>
                </a:tc>
                <a:extLst>
                  <a:ext uri="{0D108BD9-81ED-4DB2-BD59-A6C34878D82A}">
                    <a16:rowId xmlns:a16="http://schemas.microsoft.com/office/drawing/2014/main" val="10000"/>
                  </a:ext>
                </a:extLst>
              </a:tr>
              <a:tr h="381000">
                <a:tc>
                  <a:txBody>
                    <a:bodyPr/>
                    <a:lstStyle/>
                    <a:p>
                      <a:pPr algn="ctr">
                        <a:buNone/>
                      </a:pPr>
                      <a:r>
                        <a:rPr lang="en-IN" altLang="en-US" dirty="0" err="1">
                          <a:latin typeface="Nunito Sans" pitchFamily="2" charset="0"/>
                        </a:rPr>
                        <a:t>b+a</a:t>
                      </a:r>
                      <a:endParaRPr lang="en-IN" altLang="en-US" dirty="0">
                        <a:latin typeface="Nunito Sans" pitchFamily="2" charset="0"/>
                      </a:endParaRPr>
                    </a:p>
                  </a:txBody>
                  <a:tcPr/>
                </a:tc>
                <a:tc>
                  <a:txBody>
                    <a:bodyPr/>
                    <a:lstStyle/>
                    <a:p>
                      <a:pPr algn="ctr">
                        <a:buNone/>
                      </a:pPr>
                      <a:r>
                        <a:rPr lang="en-US" dirty="0">
                          <a:latin typeface="Nunito Sans" pitchFamily="2" charset="0"/>
                        </a:rPr>
                        <a:t>4</a:t>
                      </a:r>
                    </a:p>
                  </a:txBody>
                  <a:tcPr/>
                </a:tc>
                <a:tc>
                  <a:txBody>
                    <a:bodyPr/>
                    <a:lstStyle/>
                    <a:p>
                      <a:pPr algn="ctr">
                        <a:buNone/>
                      </a:pPr>
                      <a:r>
                        <a:rPr lang="en-IN" altLang="en-US" dirty="0">
                          <a:latin typeface="Nunito Sans" pitchFamily="2" charset="0"/>
                        </a:rPr>
                        <a:t>d+2</a:t>
                      </a:r>
                      <a:r>
                        <a:rPr lang="en-US" altLang="en-IN" dirty="0"/>
                        <a:t>c</a:t>
                      </a:r>
                    </a:p>
                  </a:txBody>
                  <a:tcPr/>
                </a:tc>
                <a:tc>
                  <a:txBody>
                    <a:bodyPr/>
                    <a:lstStyle/>
                    <a:p>
                      <a:pPr>
                        <a:buNone/>
                      </a:pPr>
                      <a:r>
                        <a:rPr lang="en-US" dirty="0">
                          <a:latin typeface="Nunito Sans" pitchFamily="2" charset="0"/>
                        </a:rPr>
                        <a:t>35</a:t>
                      </a:r>
                    </a:p>
                  </a:txBody>
                  <a:tcPr/>
                </a:tc>
                <a:extLst>
                  <a:ext uri="{0D108BD9-81ED-4DB2-BD59-A6C34878D82A}">
                    <a16:rowId xmlns:a16="http://schemas.microsoft.com/office/drawing/2014/main" val="10001"/>
                  </a:ext>
                </a:extLst>
              </a:tr>
              <a:tr h="381000">
                <a:tc>
                  <a:txBody>
                    <a:bodyPr/>
                    <a:lstStyle/>
                    <a:p>
                      <a:pPr algn="ctr">
                        <a:buNone/>
                      </a:pPr>
                      <a:r>
                        <a:rPr lang="en-IN" altLang="en-US" dirty="0">
                          <a:latin typeface="Nunito Sans" pitchFamily="2" charset="0"/>
                        </a:rPr>
                        <a:t>b+2a</a:t>
                      </a:r>
                    </a:p>
                  </a:txBody>
                  <a:tcPr/>
                </a:tc>
                <a:tc>
                  <a:txBody>
                    <a:bodyPr/>
                    <a:lstStyle/>
                    <a:p>
                      <a:pPr algn="ctr">
                        <a:buNone/>
                      </a:pPr>
                      <a:r>
                        <a:rPr lang="en-US" dirty="0">
                          <a:latin typeface="Nunito Sans" pitchFamily="2" charset="0"/>
                        </a:rPr>
                        <a:t>6</a:t>
                      </a:r>
                    </a:p>
                  </a:txBody>
                  <a:tcPr/>
                </a:tc>
                <a:tc>
                  <a:txBody>
                    <a:bodyPr/>
                    <a:lstStyle/>
                    <a:p>
                      <a:pPr algn="ctr">
                        <a:buNone/>
                      </a:pPr>
                      <a:r>
                        <a:rPr lang="en-IN" altLang="en-US" dirty="0">
                          <a:latin typeface="Nunito Sans" pitchFamily="2" charset="0"/>
                        </a:rPr>
                        <a:t>d+3</a:t>
                      </a:r>
                      <a:r>
                        <a:rPr lang="en-US" altLang="en-IN" dirty="0"/>
                        <a:t>c</a:t>
                      </a:r>
                    </a:p>
                  </a:txBody>
                  <a:tcPr/>
                </a:tc>
                <a:tc>
                  <a:txBody>
                    <a:bodyPr/>
                    <a:lstStyle/>
                    <a:p>
                      <a:pPr>
                        <a:buNone/>
                      </a:pPr>
                      <a:r>
                        <a:rPr lang="en-US" dirty="0">
                          <a:latin typeface="Nunito Sans" pitchFamily="2" charset="0"/>
                        </a:rPr>
                        <a:t>45</a:t>
                      </a:r>
                    </a:p>
                  </a:txBody>
                  <a:tcPr/>
                </a:tc>
                <a:extLst>
                  <a:ext uri="{0D108BD9-81ED-4DB2-BD59-A6C34878D82A}">
                    <a16:rowId xmlns:a16="http://schemas.microsoft.com/office/drawing/2014/main" val="10002"/>
                  </a:ext>
                </a:extLst>
              </a:tr>
              <a:tr h="381000">
                <a:tc>
                  <a:txBody>
                    <a:bodyPr/>
                    <a:lstStyle/>
                    <a:p>
                      <a:pPr algn="ctr">
                        <a:buNone/>
                      </a:pPr>
                      <a:r>
                        <a:rPr lang="en-IN" altLang="en-US" dirty="0">
                          <a:latin typeface="Nunito Sans" pitchFamily="2" charset="0"/>
                        </a:rPr>
                        <a:t>b+3a</a:t>
                      </a:r>
                    </a:p>
                  </a:txBody>
                  <a:tcPr/>
                </a:tc>
                <a:tc>
                  <a:txBody>
                    <a:bodyPr/>
                    <a:lstStyle/>
                    <a:p>
                      <a:pPr algn="ctr">
                        <a:buNone/>
                      </a:pPr>
                      <a:r>
                        <a:rPr lang="en-US" dirty="0">
                          <a:latin typeface="Nunito Sans" pitchFamily="2" charset="0"/>
                        </a:rPr>
                        <a:t>8</a:t>
                      </a:r>
                    </a:p>
                  </a:txBody>
                  <a:tcPr/>
                </a:tc>
                <a:tc>
                  <a:txBody>
                    <a:bodyPr/>
                    <a:lstStyle/>
                    <a:p>
                      <a:pPr algn="ctr">
                        <a:buNone/>
                      </a:pPr>
                      <a:r>
                        <a:rPr lang="en-IN" altLang="en-US" dirty="0">
                          <a:latin typeface="Nunito Sans" pitchFamily="2" charset="0"/>
                        </a:rPr>
                        <a:t>d+4</a:t>
                      </a:r>
                      <a:r>
                        <a:rPr lang="en-US" altLang="en-IN" dirty="0"/>
                        <a:t>c</a:t>
                      </a:r>
                    </a:p>
                  </a:txBody>
                  <a:tcPr/>
                </a:tc>
                <a:tc>
                  <a:txBody>
                    <a:bodyPr/>
                    <a:lstStyle/>
                    <a:p>
                      <a:pPr>
                        <a:buNone/>
                      </a:pPr>
                      <a:r>
                        <a:rPr lang="en-US" dirty="0">
                          <a:latin typeface="Nunito Sans" pitchFamily="2" charset="0"/>
                        </a:rPr>
                        <a:t>55</a:t>
                      </a:r>
                    </a:p>
                  </a:txBody>
                  <a:tcPr/>
                </a:tc>
                <a:extLst>
                  <a:ext uri="{0D108BD9-81ED-4DB2-BD59-A6C34878D82A}">
                    <a16:rowId xmlns:a16="http://schemas.microsoft.com/office/drawing/2014/main" val="10003"/>
                  </a:ext>
                </a:extLst>
              </a:tr>
              <a:tr h="381000">
                <a:tc>
                  <a:txBody>
                    <a:bodyPr/>
                    <a:lstStyle/>
                    <a:p>
                      <a:pPr algn="ctr">
                        <a:buNone/>
                      </a:pPr>
                      <a:r>
                        <a:rPr lang="en-IN" altLang="en-US" dirty="0">
                          <a:latin typeface="Nunito Sans" pitchFamily="2" charset="0"/>
                        </a:rPr>
                        <a:t>b+4a</a:t>
                      </a:r>
                    </a:p>
                  </a:txBody>
                  <a:tcPr/>
                </a:tc>
                <a:tc>
                  <a:txBody>
                    <a:bodyPr/>
                    <a:lstStyle/>
                    <a:p>
                      <a:pPr algn="ctr">
                        <a:buNone/>
                      </a:pPr>
                      <a:r>
                        <a:rPr lang="en-US" dirty="0">
                          <a:latin typeface="Nunito Sans" pitchFamily="2" charset="0"/>
                        </a:rPr>
                        <a:t>10</a:t>
                      </a:r>
                    </a:p>
                  </a:txBody>
                  <a:tcPr/>
                </a:tc>
                <a:tc>
                  <a:txBody>
                    <a:bodyPr/>
                    <a:lstStyle/>
                    <a:p>
                      <a:pPr algn="ctr">
                        <a:buNone/>
                      </a:pPr>
                      <a:r>
                        <a:rPr lang="en-IN" altLang="en-US" dirty="0">
                          <a:latin typeface="Nunito Sans" pitchFamily="2" charset="0"/>
                        </a:rPr>
                        <a:t>d+5</a:t>
                      </a:r>
                      <a:r>
                        <a:rPr lang="en-US" altLang="en-IN" dirty="0"/>
                        <a:t>c</a:t>
                      </a:r>
                    </a:p>
                  </a:txBody>
                  <a:tcPr/>
                </a:tc>
                <a:tc>
                  <a:txBody>
                    <a:bodyPr/>
                    <a:lstStyle/>
                    <a:p>
                      <a:pPr>
                        <a:buNone/>
                      </a:pPr>
                      <a:r>
                        <a:rPr lang="en-US" dirty="0">
                          <a:latin typeface="Nunito Sans" pitchFamily="2" charset="0"/>
                        </a:rPr>
                        <a:t>65</a:t>
                      </a:r>
                    </a:p>
                  </a:txBody>
                  <a:tcPr/>
                </a:tc>
                <a:extLst>
                  <a:ext uri="{0D108BD9-81ED-4DB2-BD59-A6C34878D82A}">
                    <a16:rowId xmlns:a16="http://schemas.microsoft.com/office/drawing/2014/main" val="10004"/>
                  </a:ext>
                </a:extLst>
              </a:tr>
              <a:tr h="381000">
                <a:tc>
                  <a:txBody>
                    <a:bodyPr/>
                    <a:lstStyle/>
                    <a:p>
                      <a:pPr algn="ctr">
                        <a:buNone/>
                      </a:pPr>
                      <a:r>
                        <a:rPr lang="en-IN" altLang="en-US" dirty="0">
                          <a:latin typeface="Nunito Sans" pitchFamily="2" charset="0"/>
                        </a:rPr>
                        <a:t>b+5a</a:t>
                      </a:r>
                    </a:p>
                  </a:txBody>
                  <a:tcPr/>
                </a:tc>
                <a:tc>
                  <a:txBody>
                    <a:bodyPr/>
                    <a:lstStyle/>
                    <a:p>
                      <a:pPr algn="ctr">
                        <a:buNone/>
                      </a:pPr>
                      <a:r>
                        <a:rPr lang="en-US" dirty="0">
                          <a:latin typeface="Nunito Sans" pitchFamily="2" charset="0"/>
                        </a:rPr>
                        <a:t>12</a:t>
                      </a:r>
                    </a:p>
                  </a:txBody>
                  <a:tcPr/>
                </a:tc>
                <a:tc>
                  <a:txBody>
                    <a:bodyPr/>
                    <a:lstStyle/>
                    <a:p>
                      <a:pPr algn="ctr">
                        <a:buNone/>
                      </a:pPr>
                      <a:r>
                        <a:rPr lang="en-IN" altLang="en-US" dirty="0">
                          <a:latin typeface="Nunito Sans" pitchFamily="2" charset="0"/>
                        </a:rPr>
                        <a:t>d+6</a:t>
                      </a:r>
                      <a:r>
                        <a:rPr lang="en-US" altLang="en-IN" dirty="0"/>
                        <a:t>c</a:t>
                      </a:r>
                    </a:p>
                  </a:txBody>
                  <a:tcPr/>
                </a:tc>
                <a:tc>
                  <a:txBody>
                    <a:bodyPr/>
                    <a:lstStyle/>
                    <a:p>
                      <a:pPr>
                        <a:buNone/>
                      </a:pPr>
                      <a:r>
                        <a:rPr lang="en-US" dirty="0">
                          <a:latin typeface="Nunito Sans" pitchFamily="2" charset="0"/>
                        </a:rPr>
                        <a:t>75</a:t>
                      </a:r>
                    </a:p>
                  </a:txBody>
                  <a:tcPr/>
                </a:tc>
                <a:extLst>
                  <a:ext uri="{0D108BD9-81ED-4DB2-BD59-A6C34878D82A}">
                    <a16:rowId xmlns:a16="http://schemas.microsoft.com/office/drawing/2014/main" val="10005"/>
                  </a:ext>
                </a:extLst>
              </a:tr>
              <a:tr h="381000">
                <a:tc>
                  <a:txBody>
                    <a:bodyPr/>
                    <a:lstStyle/>
                    <a:p>
                      <a:pPr algn="ctr">
                        <a:buNone/>
                      </a:pPr>
                      <a:r>
                        <a:rPr lang="en-IN" altLang="en-US" dirty="0">
                          <a:latin typeface="Nunito Sans" pitchFamily="2" charset="0"/>
                        </a:rPr>
                        <a:t>b+6a</a:t>
                      </a:r>
                    </a:p>
                  </a:txBody>
                  <a:tcPr/>
                </a:tc>
                <a:tc>
                  <a:txBody>
                    <a:bodyPr/>
                    <a:lstStyle/>
                    <a:p>
                      <a:pPr algn="ctr">
                        <a:buNone/>
                      </a:pPr>
                      <a:r>
                        <a:rPr lang="en-US" dirty="0">
                          <a:latin typeface="Nunito Sans" pitchFamily="2" charset="0"/>
                        </a:rPr>
                        <a:t>14</a:t>
                      </a:r>
                    </a:p>
                  </a:txBody>
                  <a:tcPr/>
                </a:tc>
                <a:tc>
                  <a:txBody>
                    <a:bodyPr/>
                    <a:lstStyle/>
                    <a:p>
                      <a:pPr algn="ctr">
                        <a:buNone/>
                      </a:pPr>
                      <a:r>
                        <a:rPr lang="en-IN" altLang="en-US" dirty="0">
                          <a:latin typeface="Nunito Sans" pitchFamily="2" charset="0"/>
                        </a:rPr>
                        <a:t>d+7</a:t>
                      </a:r>
                      <a:r>
                        <a:rPr lang="en-US" altLang="en-IN" dirty="0"/>
                        <a:t>c</a:t>
                      </a:r>
                    </a:p>
                  </a:txBody>
                  <a:tcPr/>
                </a:tc>
                <a:tc>
                  <a:txBody>
                    <a:bodyPr/>
                    <a:lstStyle/>
                    <a:p>
                      <a:pPr>
                        <a:buNone/>
                      </a:pPr>
                      <a:r>
                        <a:rPr lang="en-US" dirty="0">
                          <a:latin typeface="Nunito Sans" pitchFamily="2" charset="0"/>
                        </a:rPr>
                        <a:t>85</a:t>
                      </a:r>
                    </a:p>
                  </a:txBody>
                  <a:tcPr/>
                </a:tc>
                <a:extLst>
                  <a:ext uri="{0D108BD9-81ED-4DB2-BD59-A6C34878D82A}">
                    <a16:rowId xmlns:a16="http://schemas.microsoft.com/office/drawing/2014/main" val="10006"/>
                  </a:ext>
                </a:extLst>
              </a:tr>
              <a:tr h="381000">
                <a:tc>
                  <a:txBody>
                    <a:bodyPr/>
                    <a:lstStyle/>
                    <a:p>
                      <a:pPr algn="ctr">
                        <a:buNone/>
                      </a:pPr>
                      <a:r>
                        <a:rPr lang="en-IN" altLang="en-US" dirty="0">
                          <a:latin typeface="Nunito Sans" pitchFamily="2" charset="0"/>
                        </a:rPr>
                        <a:t>b+7a</a:t>
                      </a:r>
                    </a:p>
                  </a:txBody>
                  <a:tcPr/>
                </a:tc>
                <a:tc>
                  <a:txBody>
                    <a:bodyPr/>
                    <a:lstStyle/>
                    <a:p>
                      <a:pPr algn="ctr">
                        <a:buNone/>
                      </a:pPr>
                      <a:r>
                        <a:rPr lang="en-US" dirty="0">
                          <a:latin typeface="Nunito Sans" pitchFamily="2" charset="0"/>
                        </a:rPr>
                        <a:t>16</a:t>
                      </a:r>
                    </a:p>
                  </a:txBody>
                  <a:tcPr/>
                </a:tc>
                <a:tc>
                  <a:txBody>
                    <a:bodyPr/>
                    <a:lstStyle/>
                    <a:p>
                      <a:pPr algn="ctr">
                        <a:buNone/>
                      </a:pPr>
                      <a:r>
                        <a:rPr lang="en-IN" altLang="en-US" dirty="0">
                          <a:latin typeface="Nunito Sans" pitchFamily="2" charset="0"/>
                        </a:rPr>
                        <a:t>d+</a:t>
                      </a:r>
                      <a:r>
                        <a:rPr lang="en-US" altLang="en-IN" dirty="0"/>
                        <a:t>8c</a:t>
                      </a:r>
                    </a:p>
                  </a:txBody>
                  <a:tcPr/>
                </a:tc>
                <a:tc>
                  <a:txBody>
                    <a:bodyPr/>
                    <a:lstStyle/>
                    <a:p>
                      <a:pPr>
                        <a:buNone/>
                      </a:pPr>
                      <a:r>
                        <a:rPr lang="en-US" dirty="0">
                          <a:latin typeface="Nunito Sans" pitchFamily="2" charset="0"/>
                        </a:rPr>
                        <a:t>95</a:t>
                      </a:r>
                    </a:p>
                  </a:txBody>
                  <a:tcPr/>
                </a:tc>
                <a:extLst>
                  <a:ext uri="{0D108BD9-81ED-4DB2-BD59-A6C34878D82A}">
                    <a16:rowId xmlns:a16="http://schemas.microsoft.com/office/drawing/2014/main" val="10007"/>
                  </a:ext>
                </a:extLst>
              </a:tr>
              <a:tr h="381000">
                <a:tc>
                  <a:txBody>
                    <a:bodyPr/>
                    <a:lstStyle/>
                    <a:p>
                      <a:pPr algn="ctr">
                        <a:buNone/>
                      </a:pPr>
                      <a:r>
                        <a:rPr lang="en-IN" altLang="en-US" dirty="0">
                          <a:latin typeface="Nunito Sans" pitchFamily="2" charset="0"/>
                        </a:rPr>
                        <a:t>b+</a:t>
                      </a:r>
                      <a:r>
                        <a:rPr lang="en-US" altLang="en-IN" dirty="0"/>
                        <a:t>8a</a:t>
                      </a:r>
                    </a:p>
                  </a:txBody>
                  <a:tcPr/>
                </a:tc>
                <a:tc>
                  <a:txBody>
                    <a:bodyPr/>
                    <a:lstStyle/>
                    <a:p>
                      <a:pPr algn="ctr">
                        <a:buNone/>
                      </a:pPr>
                      <a:r>
                        <a:rPr lang="en-US" dirty="0">
                          <a:latin typeface="Nunito Sans" pitchFamily="2" charset="0"/>
                        </a:rPr>
                        <a:t>18</a:t>
                      </a:r>
                    </a:p>
                  </a:txBody>
                  <a:tcPr/>
                </a:tc>
                <a:tc>
                  <a:txBody>
                    <a:bodyPr/>
                    <a:lstStyle/>
                    <a:p>
                      <a:pPr algn="ctr">
                        <a:buNone/>
                      </a:pPr>
                      <a:endParaRPr lang="en-US" altLang="en-IN" dirty="0">
                        <a:latin typeface="Nunito Sans" pitchFamily="2" charset="0"/>
                      </a:endParaRPr>
                    </a:p>
                  </a:txBody>
                  <a:tcPr/>
                </a:tc>
                <a:tc>
                  <a:txBody>
                    <a:bodyPr/>
                    <a:lstStyle/>
                    <a:p>
                      <a:pPr>
                        <a:buNone/>
                      </a:pPr>
                      <a:endParaRPr lang="en-US" dirty="0">
                        <a:latin typeface="Nunito Sans" pitchFamily="2" charset="0"/>
                      </a:endParaRP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int findCommonFuel(int N, int a, int b, int c, int d)</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for (int i = 0;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fuelInLane1 = b + (a * i);</a:t>
            </a:r>
          </a:p>
          <a:p>
            <a:r>
              <a:rPr lang="en-US" sz="2000" b="1" dirty="0">
                <a:solidFill>
                  <a:schemeClr val="bg1"/>
                </a:solidFill>
                <a:latin typeface="Nunito Sans" pitchFamily="2" charset="0"/>
                <a:cs typeface="Courier New" panose="02070309020205020404" pitchFamily="49" charset="0"/>
              </a:rPr>
              <a:t>        for (int j = 0; j &lt; N; j++)</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fuelInLane2 = d + (c * j);</a:t>
            </a:r>
          </a:p>
          <a:p>
            <a:r>
              <a:rPr lang="en-US" sz="2000" b="1" dirty="0">
                <a:solidFill>
                  <a:schemeClr val="bg1"/>
                </a:solidFill>
                <a:latin typeface="Nunito Sans" pitchFamily="2" charset="0"/>
                <a:cs typeface="Courier New" panose="02070309020205020404" pitchFamily="49" charset="0"/>
              </a:rPr>
              <a:t>            if (fuelInLane1 == fuelInLane2)</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fuelInLane1;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-1; // No same amount of fuel found</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 a, b, c, d;</a:t>
            </a:r>
          </a:p>
          <a:p>
            <a:r>
              <a:rPr lang="en-US" sz="2000" b="1" dirty="0">
                <a:solidFill>
                  <a:schemeClr val="bg1"/>
                </a:solidFill>
                <a:latin typeface="Nunito Sans" pitchFamily="2" charset="0"/>
                <a:cs typeface="Courier New" panose="02070309020205020404" pitchFamily="49" charset="0"/>
              </a:rPr>
              <a:t>    scanf("%d", &amp;N);</a:t>
            </a:r>
          </a:p>
          <a:p>
            <a:r>
              <a:rPr lang="en-US" sz="2000" b="1" dirty="0">
                <a:solidFill>
                  <a:schemeClr val="bg1"/>
                </a:solidFill>
                <a:latin typeface="Nunito Sans" pitchFamily="2" charset="0"/>
                <a:cs typeface="Courier New" panose="02070309020205020404" pitchFamily="49" charset="0"/>
              </a:rPr>
              <a:t>    scanf("%d", &amp;a);</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scanf("%d", &amp;c);</a:t>
            </a:r>
          </a:p>
          <a:p>
            <a:r>
              <a:rPr lang="en-IN" altLang="en-US" sz="2000" b="1" dirty="0">
                <a:solidFill>
                  <a:schemeClr val="bg1"/>
                </a:solidFill>
                <a:latin typeface="Nunito Sans" pitchFamily="2" charset="0"/>
                <a:cs typeface="Courier New" panose="02070309020205020404" pitchFamily="49" charset="0"/>
                <a:sym typeface="+mn-ea"/>
              </a:rPr>
              <a:t>    scanf("%d", &amp;d);</a:t>
            </a:r>
          </a:p>
          <a:p>
            <a:r>
              <a:rPr lang="en-IN" altLang="en-US" sz="2000" b="1" dirty="0">
                <a:solidFill>
                  <a:schemeClr val="bg1"/>
                </a:solidFill>
                <a:latin typeface="Nunito Sans" pitchFamily="2" charset="0"/>
                <a:cs typeface="Courier New" panose="02070309020205020404" pitchFamily="49" charset="0"/>
                <a:sym typeface="+mn-ea"/>
              </a:rPr>
              <a:t>    int commonFuel = findCommonFuel(N, a, b, c, d);</a:t>
            </a:r>
          </a:p>
          <a:p>
            <a:r>
              <a:rPr lang="en-IN" altLang="en-US" sz="2000" b="1" dirty="0">
                <a:solidFill>
                  <a:schemeClr val="bg1"/>
                </a:solidFill>
                <a:latin typeface="Nunito Sans" pitchFamily="2" charset="0"/>
                <a:cs typeface="Courier New" panose="02070309020205020404" pitchFamily="49" charset="0"/>
                <a:sym typeface="+mn-ea"/>
              </a:rPr>
              <a:t>    if (commonFuel == -1)</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printf("No same amount of fuel found\n");</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else</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printf("%d",commonFuel);</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return 0;</a:t>
            </a:r>
          </a:p>
          <a:p>
            <a:r>
              <a:rPr lang="en-IN" alt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findCommonFuel(int N, int a, int b, int c, int d)</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fuelInLane1 = b + (a * i);</a:t>
            </a:r>
          </a:p>
          <a:p>
            <a:r>
              <a:rPr lang="en-US" sz="2000" b="1" dirty="0">
                <a:solidFill>
                  <a:schemeClr val="bg1"/>
                </a:solidFill>
                <a:latin typeface="Nunito Sans" pitchFamily="2" charset="0"/>
                <a:cs typeface="Courier New" panose="02070309020205020404" pitchFamily="49" charset="0"/>
              </a:rPr>
              <a:t>        for (int j = 0; j &lt; N; j++)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fuelInLane2 = d + (c * j);</a:t>
            </a:r>
          </a:p>
          <a:p>
            <a:r>
              <a:rPr lang="en-US" sz="2000" b="1" dirty="0">
                <a:solidFill>
                  <a:schemeClr val="bg1"/>
                </a:solidFill>
                <a:latin typeface="Nunito Sans" pitchFamily="2" charset="0"/>
                <a:cs typeface="Courier New" panose="02070309020205020404" pitchFamily="49" charset="0"/>
              </a:rPr>
              <a:t>            if (fuelInLane1 == fuelInLane2)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fuelInLane1;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-1;  // No same amount of fuel found</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 a, b, c, d;</a:t>
            </a:r>
          </a:p>
          <a:p>
            <a:r>
              <a:rPr lang="en-US" sz="2000" b="1" dirty="0">
                <a:solidFill>
                  <a:schemeClr val="bg1"/>
                </a:solidFill>
                <a:latin typeface="Nunito Sans" pitchFamily="2" charset="0"/>
                <a:cs typeface="Courier New" panose="02070309020205020404" pitchFamily="49" charset="0"/>
              </a:rPr>
              <a:t>    cin &gt;&gt; N;</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cin &gt;&gt; a;</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cin &gt;&gt; b;</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cin &gt;&gt; c;</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cin &gt;&gt; d;</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int commonFuel = findCommonFuel(N, a, b, c, d);</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if (commonFuel == -1)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cout &lt;&lt; "No same amount of fuel found" &lt;&lt; endl;</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else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cout &lt;&lt; commonFuel;</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0;</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int findCommonFuel(int N, int a, int b, int c, int d)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int fuelInLane1 = b + (a * i);</a:t>
            </a:r>
          </a:p>
          <a:p>
            <a:r>
              <a:rPr lang="en-US" sz="2000" b="1" dirty="0">
                <a:solidFill>
                  <a:schemeClr val="bg1"/>
                </a:solidFill>
                <a:latin typeface="Nunito Sans" pitchFamily="2" charset="0"/>
                <a:cs typeface="Courier New" panose="02070309020205020404" pitchFamily="49" charset="0"/>
              </a:rPr>
              <a:t>            for (int j = 0; j &lt; N; j++)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fuelInLane2 = d + (c * j);</a:t>
            </a:r>
          </a:p>
          <a:p>
            <a:r>
              <a:rPr lang="en-US" sz="2000" b="1" dirty="0">
                <a:solidFill>
                  <a:schemeClr val="bg1"/>
                </a:solidFill>
                <a:latin typeface="Nunito Sans" pitchFamily="2" charset="0"/>
                <a:cs typeface="Courier New" panose="02070309020205020404" pitchFamily="49" charset="0"/>
              </a:rPr>
              <a:t>                if (fuelInLane1 == fuelInLane2)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fuelInLane1;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-1;  // No same amount of fuel found</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N = scanner.nextInt();</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int b = scanner.nextInt();</a:t>
            </a:r>
          </a:p>
          <a:p>
            <a:r>
              <a:rPr lang="en-IN" altLang="en-US" sz="2000" b="1" dirty="0">
                <a:solidFill>
                  <a:schemeClr val="bg1"/>
                </a:solidFill>
                <a:latin typeface="Nunito Sans" pitchFamily="2" charset="0"/>
                <a:cs typeface="Courier New" panose="02070309020205020404" pitchFamily="49" charset="0"/>
                <a:sym typeface="+mn-ea"/>
              </a:rPr>
              <a:t>        int c = scanner.nextInt();</a:t>
            </a:r>
          </a:p>
          <a:p>
            <a:r>
              <a:rPr lang="en-IN" altLang="en-US" sz="2000" b="1" dirty="0">
                <a:solidFill>
                  <a:schemeClr val="bg1"/>
                </a:solidFill>
                <a:latin typeface="Nunito Sans" pitchFamily="2" charset="0"/>
                <a:cs typeface="Courier New" panose="02070309020205020404" pitchFamily="49" charset="0"/>
                <a:sym typeface="+mn-ea"/>
              </a:rPr>
              <a:t>        int d = scanner.nextInt();</a:t>
            </a:r>
          </a:p>
          <a:p>
            <a:r>
              <a:rPr lang="en-IN" altLang="en-US" sz="2000" b="1" dirty="0">
                <a:solidFill>
                  <a:schemeClr val="bg1"/>
                </a:solidFill>
                <a:latin typeface="Nunito Sans" pitchFamily="2" charset="0"/>
                <a:cs typeface="Courier New" panose="02070309020205020404" pitchFamily="49" charset="0"/>
                <a:sym typeface="+mn-ea"/>
              </a:rPr>
              <a:t>        int commonFuel = findCommonFuel(N, a, b, c, d);</a:t>
            </a:r>
          </a:p>
          <a:p>
            <a:r>
              <a:rPr lang="en-IN" altLang="en-US" sz="2000" b="1" dirty="0">
                <a:solidFill>
                  <a:schemeClr val="bg1"/>
                </a:solidFill>
                <a:latin typeface="Nunito Sans" pitchFamily="2" charset="0"/>
                <a:cs typeface="Courier New" panose="02070309020205020404" pitchFamily="49" charset="0"/>
                <a:sym typeface="+mn-ea"/>
              </a:rPr>
              <a:t>        if (commonFuel == -1)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System.out.println("No same amount of fuel found");</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else</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System.out.println(commonFuel);</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a:t>
            </a:r>
            <a:endParaRPr lang="en-US" sz="2000" b="1" dirty="0">
              <a:solidFill>
                <a:schemeClr val="bg1"/>
              </a:solidFill>
              <a:latin typeface="Nunito Sans" pitchFamily="2" charset="0"/>
              <a:cs typeface="Courier New" panose="02070309020205020404" pitchFamily="49"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find_common_fuel(N, a, b, c, d):</a:t>
            </a:r>
          </a:p>
          <a:p>
            <a:r>
              <a:rPr lang="en-US" sz="2000" b="1" dirty="0">
                <a:solidFill>
                  <a:schemeClr val="bg1"/>
                </a:solidFill>
                <a:latin typeface="Nunito Sans" pitchFamily="2" charset="0"/>
                <a:cs typeface="Courier New" panose="02070309020205020404" pitchFamily="49" charset="0"/>
              </a:rPr>
              <a:t>    for i in range(N):</a:t>
            </a:r>
          </a:p>
          <a:p>
            <a:r>
              <a:rPr lang="en-US" sz="2000" b="1" dirty="0">
                <a:solidFill>
                  <a:schemeClr val="bg1"/>
                </a:solidFill>
                <a:latin typeface="Nunito Sans" pitchFamily="2" charset="0"/>
                <a:cs typeface="Courier New" panose="02070309020205020404" pitchFamily="49" charset="0"/>
              </a:rPr>
              <a:t>        fuel_in_lane1 = b + (a * i)</a:t>
            </a:r>
          </a:p>
          <a:p>
            <a:r>
              <a:rPr lang="en-US" sz="2000" b="1" dirty="0">
                <a:solidFill>
                  <a:schemeClr val="bg1"/>
                </a:solidFill>
                <a:latin typeface="Nunito Sans" pitchFamily="2" charset="0"/>
                <a:cs typeface="Courier New" panose="02070309020205020404" pitchFamily="49" charset="0"/>
              </a:rPr>
              <a:t>        for j in range(N):</a:t>
            </a:r>
          </a:p>
          <a:p>
            <a:r>
              <a:rPr lang="en-US" sz="2000" b="1" dirty="0">
                <a:solidFill>
                  <a:schemeClr val="bg1"/>
                </a:solidFill>
                <a:latin typeface="Nunito Sans" pitchFamily="2" charset="0"/>
                <a:cs typeface="Courier New" panose="02070309020205020404" pitchFamily="49" charset="0"/>
              </a:rPr>
              <a:t>            fuel_in_lane2 = d + (c * j)</a:t>
            </a:r>
          </a:p>
          <a:p>
            <a:r>
              <a:rPr lang="en-US" sz="2000" b="1" dirty="0">
                <a:solidFill>
                  <a:schemeClr val="bg1"/>
                </a:solidFill>
                <a:latin typeface="Nunito Sans" pitchFamily="2" charset="0"/>
                <a:cs typeface="Courier New" panose="02070309020205020404" pitchFamily="49" charset="0"/>
              </a:rPr>
              <a:t>            if fuel_in_lane1 == fuel_in_lane2:</a:t>
            </a:r>
          </a:p>
          <a:p>
            <a:r>
              <a:rPr lang="en-US" sz="2000" b="1" dirty="0">
                <a:solidFill>
                  <a:schemeClr val="bg1"/>
                </a:solidFill>
                <a:latin typeface="Nunito Sans" pitchFamily="2" charset="0"/>
                <a:cs typeface="Courier New" panose="02070309020205020404" pitchFamily="49" charset="0"/>
              </a:rPr>
              <a:t>                return fuel_in_lane1</a:t>
            </a:r>
          </a:p>
          <a:p>
            <a:r>
              <a:rPr lang="en-US" sz="2000" b="1" dirty="0">
                <a:solidFill>
                  <a:schemeClr val="bg1"/>
                </a:solidFill>
                <a:latin typeface="Nunito Sans" pitchFamily="2" charset="0"/>
                <a:cs typeface="Courier New" panose="02070309020205020404" pitchFamily="49" charset="0"/>
              </a:rPr>
              <a:t>    return -1  # No same amount of fuel found</a:t>
            </a:r>
          </a:p>
          <a:p>
            <a:r>
              <a:rPr lang="en-US" sz="2000" b="1" dirty="0">
                <a:solidFill>
                  <a:schemeClr val="bg1"/>
                </a:solidFill>
                <a:latin typeface="Nunito Sans" pitchFamily="2" charset="0"/>
                <a:cs typeface="Courier New" panose="02070309020205020404" pitchFamily="49" charset="0"/>
              </a:rPr>
              <a:t>N = int(input())</a:t>
            </a:r>
          </a:p>
          <a:p>
            <a:r>
              <a:rPr lang="en-US" sz="2000" b="1" dirty="0">
                <a:solidFill>
                  <a:schemeClr val="bg1"/>
                </a:solidFill>
                <a:latin typeface="Nunito Sans" pitchFamily="2" charset="0"/>
                <a:cs typeface="Courier New" panose="02070309020205020404" pitchFamily="49" charset="0"/>
              </a:rPr>
              <a:t>a = int(input())</a:t>
            </a:r>
          </a:p>
          <a:p>
            <a:r>
              <a:rPr lang="en-US" sz="2000" b="1" dirty="0">
                <a:solidFill>
                  <a:schemeClr val="bg1"/>
                </a:solidFill>
                <a:latin typeface="Nunito Sans" pitchFamily="2" charset="0"/>
                <a:cs typeface="Courier New" panose="02070309020205020404" pitchFamily="49" charset="0"/>
              </a:rPr>
              <a:t>b = int(input())</a:t>
            </a:r>
          </a:p>
          <a:p>
            <a:r>
              <a:rPr lang="en-US" sz="2000" b="1" dirty="0">
                <a:solidFill>
                  <a:schemeClr val="bg1"/>
                </a:solidFill>
                <a:latin typeface="Nunito Sans" pitchFamily="2" charset="0"/>
                <a:cs typeface="Courier New" panose="02070309020205020404" pitchFamily="49" charset="0"/>
              </a:rPr>
              <a:t>c = int(input())</a:t>
            </a:r>
          </a:p>
          <a:p>
            <a:r>
              <a:rPr lang="en-US" sz="2000" b="1" dirty="0">
                <a:solidFill>
                  <a:schemeClr val="bg1"/>
                </a:solidFill>
                <a:latin typeface="Nunito Sans" pitchFamily="2" charset="0"/>
                <a:cs typeface="Courier New" panose="02070309020205020404" pitchFamily="49" charset="0"/>
              </a:rPr>
              <a:t>d = int(input())</a:t>
            </a:r>
          </a:p>
          <a:p>
            <a:r>
              <a:rPr lang="en-US" sz="2000" b="1" dirty="0">
                <a:solidFill>
                  <a:schemeClr val="bg1"/>
                </a:solidFill>
                <a:latin typeface="Nunito Sans" pitchFamily="2" charset="0"/>
                <a:cs typeface="Courier New" panose="02070309020205020404" pitchFamily="49" charset="0"/>
              </a:rPr>
              <a:t>common_fuel = find_common_fuel(N, a, b, c, d)</a:t>
            </a:r>
          </a:p>
          <a:p>
            <a:r>
              <a:rPr lang="en-US" sz="2000" b="1" dirty="0">
                <a:solidFill>
                  <a:schemeClr val="bg1"/>
                </a:solidFill>
                <a:latin typeface="Nunito Sans" pitchFamily="2" charset="0"/>
                <a:cs typeface="Courier New" panose="02070309020205020404" pitchFamily="49" charset="0"/>
              </a:rPr>
              <a:t>if common_fuel == -1:</a:t>
            </a:r>
          </a:p>
          <a:p>
            <a:r>
              <a:rPr lang="en-US" sz="2000" b="1" dirty="0">
                <a:solidFill>
                  <a:schemeClr val="bg1"/>
                </a:solidFill>
                <a:latin typeface="Nunito Sans" pitchFamily="2" charset="0"/>
                <a:cs typeface="Courier New" panose="02070309020205020404" pitchFamily="49" charset="0"/>
              </a:rPr>
              <a:t>    print("No same amount of fuel found")</a:t>
            </a:r>
          </a:p>
          <a:p>
            <a:r>
              <a:rPr lang="en-US" sz="2000" b="1" dirty="0">
                <a:solidFill>
                  <a:schemeClr val="bg1"/>
                </a:solidFill>
                <a:latin typeface="Nunito Sans" pitchFamily="2" charset="0"/>
                <a:cs typeface="Courier New" panose="02070309020205020404" pitchFamily="49" charset="0"/>
              </a:rPr>
              <a:t>else:</a:t>
            </a:r>
          </a:p>
          <a:p>
            <a:r>
              <a:rPr lang="en-US" sz="2000" b="1" dirty="0">
                <a:solidFill>
                  <a:schemeClr val="bg1"/>
                </a:solidFill>
                <a:latin typeface="Nunito Sans" pitchFamily="2" charset="0"/>
                <a:cs typeface="Courier New" panose="02070309020205020404" pitchFamily="49" charset="0"/>
              </a:rPr>
              <a:t>    print(common_fuel)</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16</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635" y="954405"/>
            <a:ext cx="12095480" cy="5478423"/>
          </a:xfrm>
          <a:prstGeom prst="rect">
            <a:avLst/>
          </a:prstGeom>
          <a:noFill/>
        </p:spPr>
        <p:txBody>
          <a:bodyPr wrap="square" rtlCol="0">
            <a:spAutoFit/>
          </a:bodyPr>
          <a:lstStyle/>
          <a:p>
            <a:r>
              <a:rPr lang="en-IN" altLang="en-US" sz="2500" dirty="0">
                <a:latin typeface="Nunito Sans" pitchFamily="2" charset="0"/>
              </a:rPr>
              <a:t>j</a:t>
            </a:r>
            <a:r>
              <a:rPr lang="en-US" sz="2500" dirty="0">
                <a:latin typeface="Nunito Sans" panose="00000500000000000000" pitchFamily="2" charset="0"/>
              </a:rPr>
              <a:t>ack is a sports teacher at St. Patrick’s School. He makes games not only to make the student fit, but also smart .So, he lined up all the N number of students in his class. At each position he has fixed a board with the integer number printed on it. Each of the numbers are unique and are in exactly the range of N. Let us say there are 10 students, then the boards will be printed with numbers from 1 to 10 in a random order given by the sequence A[].</a:t>
            </a:r>
          </a:p>
          <a:p>
            <a:r>
              <a:rPr lang="en-US" sz="2500" dirty="0">
                <a:latin typeface="Nunito Sans" panose="00000500000000000000" pitchFamily="2" charset="0"/>
              </a:rPr>
              <a:t>As a rule, all students wear a jersey with their numbers printed on it. So, if there are N students, each will have a number, just like a football team.</a:t>
            </a:r>
          </a:p>
          <a:p>
            <a:r>
              <a:rPr lang="en-US" sz="2500" dirty="0">
                <a:latin typeface="Nunito Sans" panose="00000500000000000000" pitchFamily="2" charset="0"/>
              </a:rPr>
              <a:t>Now, in the beginning, all the students will stand as per the increasing order of their jersey numbers, from left to right.</a:t>
            </a:r>
          </a:p>
          <a:p>
            <a:r>
              <a:rPr lang="en-US" sz="2500" dirty="0">
                <a:latin typeface="Nunito Sans" panose="00000500000000000000" pitchFamily="2" charset="0"/>
              </a:rPr>
              <a:t>The only difference will be their respective board number which is placed at their respective location. The board location is fixed and cannot be changed. We can consider the arrangement as below. Suppose there are 5 students, and the board is placed in the order of [23154]</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16</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5862320"/>
          </a:xfrm>
          <a:prstGeom prst="rect">
            <a:avLst/>
          </a:prstGeom>
          <a:noFill/>
        </p:spPr>
        <p:txBody>
          <a:bodyPr wrap="square" rtlCol="0">
            <a:spAutoFit/>
          </a:bodyPr>
          <a:lstStyle/>
          <a:p>
            <a:r>
              <a:rPr lang="en-US" sz="2500" dirty="0">
                <a:latin typeface="Nunito Sans" panose="00000500000000000000" pitchFamily="2" charset="0"/>
              </a:rPr>
              <a:t>Board-2, 3, 1, 5,4</a:t>
            </a:r>
          </a:p>
          <a:p>
            <a:r>
              <a:rPr lang="en-US" sz="2500" dirty="0">
                <a:latin typeface="Nunito Sans" panose="00000500000000000000" pitchFamily="2" charset="0"/>
              </a:rPr>
              <a:t>Student's Jersey-1,2,3,4,5</a:t>
            </a:r>
          </a:p>
          <a:p>
            <a:r>
              <a:rPr lang="en-US" sz="2500" dirty="0">
                <a:latin typeface="Nunito Sans" panose="00000500000000000000" pitchFamily="2" charset="0"/>
              </a:rPr>
              <a:t>Now the game begins.</a:t>
            </a:r>
          </a:p>
          <a:p>
            <a:r>
              <a:rPr lang="en-US" sz="2500" dirty="0">
                <a:latin typeface="Nunito Sans" panose="00000500000000000000" pitchFamily="2" charset="0"/>
              </a:rPr>
              <a:t>•After every beat of the drum, each student will have to move to that location (index), where his board is pointing to. In the above case student with jersey #1 is standing with board #2, so now he will have to move to location #2. Similarly, all the other students will do.</a:t>
            </a:r>
          </a:p>
          <a:p>
            <a:r>
              <a:rPr lang="en-US" sz="2500" dirty="0">
                <a:latin typeface="Nunito Sans" panose="00000500000000000000" pitchFamily="2" charset="0"/>
              </a:rPr>
              <a:t>So after first beat of the drum, the alignment will be:</a:t>
            </a:r>
          </a:p>
          <a:p>
            <a:r>
              <a:rPr lang="en-US" sz="2500" dirty="0">
                <a:latin typeface="Nunito Sans" panose="00000500000000000000" pitchFamily="2" charset="0"/>
              </a:rPr>
              <a:t>Board 2, 3, 1, 5, 4</a:t>
            </a:r>
          </a:p>
          <a:p>
            <a:r>
              <a:rPr lang="en-US" sz="2500" dirty="0">
                <a:latin typeface="Nunito Sans" panose="00000500000000000000" pitchFamily="2" charset="0"/>
              </a:rPr>
              <a:t>Student's Jersey --3. 1, 2, 5.4</a:t>
            </a:r>
          </a:p>
          <a:p>
            <a:r>
              <a:rPr lang="en-US" sz="2500" dirty="0">
                <a:latin typeface="Nunito Sans" panose="00000500000000000000" pitchFamily="2" charset="0"/>
              </a:rPr>
              <a:t>Jersey #1 has moved to Index2.</a:t>
            </a:r>
          </a:p>
          <a:p>
            <a:r>
              <a:rPr lang="en-US" sz="2500" dirty="0">
                <a:latin typeface="Nunito Sans" panose="00000500000000000000" pitchFamily="2" charset="0"/>
              </a:rPr>
              <a:t>Jersey #2 has moved to Index 3.</a:t>
            </a:r>
          </a:p>
          <a:p>
            <a:r>
              <a:rPr lang="en-IN" altLang="en-US" sz="2500" dirty="0">
                <a:latin typeface="Nunito Sans" pitchFamily="2" charset="0"/>
              </a:rPr>
              <a:t>J</a:t>
            </a:r>
            <a:r>
              <a:rPr lang="en-US" sz="2500" dirty="0">
                <a:latin typeface="Nunito Sans" panose="00000500000000000000" pitchFamily="2" charset="0"/>
              </a:rPr>
              <a:t>ersey #3 has moved to index 1.</a:t>
            </a:r>
          </a:p>
          <a:p>
            <a:r>
              <a:rPr lang="en-US" sz="2500" dirty="0">
                <a:latin typeface="Nunito Sans" panose="00000500000000000000" pitchFamily="2" charset="0"/>
              </a:rPr>
              <a:t>Jersey #4 has moved to index 5.</a:t>
            </a:r>
          </a:p>
          <a:p>
            <a:r>
              <a:rPr lang="en-US" sz="2500" dirty="0">
                <a:latin typeface="Nunito Sans" panose="00000500000000000000" pitchFamily="2" charset="0"/>
              </a:rPr>
              <a:t>Jersey #5 has moved to Index 4.</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16</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5478423"/>
          </a:xfrm>
          <a:prstGeom prst="rect">
            <a:avLst/>
          </a:prstGeom>
          <a:noFill/>
        </p:spPr>
        <p:txBody>
          <a:bodyPr wrap="square" rtlCol="0">
            <a:spAutoFit/>
          </a:bodyPr>
          <a:lstStyle/>
          <a:p>
            <a:r>
              <a:rPr lang="en-US" sz="2500" dirty="0">
                <a:latin typeface="Nunito Sans" panose="00000500000000000000" pitchFamily="2" charset="0"/>
              </a:rPr>
              <a:t>Now again with the next beat of the drum, same task as shown below:</a:t>
            </a:r>
          </a:p>
          <a:p>
            <a:r>
              <a:rPr lang="en-US" sz="2500" dirty="0">
                <a:latin typeface="Nunito Sans" panose="00000500000000000000" pitchFamily="2" charset="0"/>
              </a:rPr>
              <a:t>Board - 2, 3, 1, 5, 4</a:t>
            </a:r>
          </a:p>
          <a:p>
            <a:r>
              <a:rPr lang="en-US" sz="2500" dirty="0">
                <a:latin typeface="Nunito Sans" panose="00000500000000000000" pitchFamily="2" charset="0"/>
              </a:rPr>
              <a:t>Student's Jersey-2,3,1,4,5</a:t>
            </a:r>
          </a:p>
          <a:p>
            <a:r>
              <a:rPr lang="en-US" sz="2500" dirty="0">
                <a:latin typeface="Nunito Sans" panose="00000500000000000000" pitchFamily="2" charset="0"/>
              </a:rPr>
              <a:t>Jersey #3 has moved to index 2.</a:t>
            </a:r>
          </a:p>
          <a:p>
            <a:r>
              <a:rPr lang="en-US" sz="2500" dirty="0">
                <a:latin typeface="Nunito Sans" panose="00000500000000000000" pitchFamily="2" charset="0"/>
              </a:rPr>
              <a:t>Jersey #1 has moved to index 3.</a:t>
            </a:r>
          </a:p>
          <a:p>
            <a:r>
              <a:rPr lang="en-US" sz="2500" dirty="0">
                <a:latin typeface="Nunito Sans" panose="00000500000000000000" pitchFamily="2" charset="0"/>
              </a:rPr>
              <a:t>Jersey #2 has moved to index 1.</a:t>
            </a:r>
          </a:p>
          <a:p>
            <a:r>
              <a:rPr lang="en-US" sz="2500" dirty="0">
                <a:latin typeface="Nunito Sans" panose="00000500000000000000" pitchFamily="2" charset="0"/>
              </a:rPr>
              <a:t>Jersey #5 has moved to index 5.</a:t>
            </a:r>
          </a:p>
          <a:p>
            <a:r>
              <a:rPr lang="en-US" sz="2500" dirty="0">
                <a:latin typeface="Nunito Sans" panose="00000500000000000000" pitchFamily="2" charset="0"/>
              </a:rPr>
              <a:t>Jersey #4 has moved to index 4.</a:t>
            </a:r>
          </a:p>
          <a:p>
            <a:r>
              <a:rPr lang="en-US" sz="2500" dirty="0">
                <a:latin typeface="Nunito Sans" panose="00000500000000000000" pitchFamily="2" charset="0"/>
              </a:rPr>
              <a:t>This keeps going on and on, until all the students are back the way they were at the beginning. So ,after 6 beats of the drum, all the students will be aligned the same way as before. Given N and the order of board of the respective positions, find the number of beats required to bring back the students to their original position.</a:t>
            </a:r>
          </a:p>
          <a:p>
            <a:endParaRPr lang="en-US" sz="2500" dirty="0">
              <a:latin typeface="Nunito Sans" panose="00000500000000000000" pitchFamily="2" charset="0"/>
            </a:endParaRPr>
          </a:p>
          <a:p>
            <a:r>
              <a:rPr lang="en-US" sz="2500" dirty="0">
                <a:latin typeface="Nunito Sans" panose="00000500000000000000" pitchFamily="2" charset="0"/>
              </a:rPr>
              <a:t>So ,for the above case the answer is 6.</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16</a:t>
            </a:r>
            <a:endParaRPr lang="en-US" sz="4800" b="1" dirty="0">
              <a:solidFill>
                <a:schemeClr val="bg1"/>
              </a:solidFill>
              <a:latin typeface="Nunito Sans"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5862320"/>
          </a:xfrm>
          <a:prstGeom prst="rect">
            <a:avLst/>
          </a:prstGeom>
          <a:noFill/>
        </p:spPr>
        <p:txBody>
          <a:bodyPr wrap="square" rtlCol="0">
            <a:spAutoFit/>
          </a:bodyPr>
          <a:lstStyle/>
          <a:p>
            <a:r>
              <a:rPr lang="en-US" sz="2500" b="1" dirty="0">
                <a:latin typeface="Nunito Sans" panose="00000500000000000000" pitchFamily="2" charset="0"/>
              </a:rPr>
              <a:t>Example 1:</a:t>
            </a:r>
          </a:p>
          <a:p>
            <a:endParaRPr lang="en-US" sz="2500" b="1" dirty="0">
              <a:latin typeface="Nunito Sans" panose="00000500000000000000" pitchFamily="2" charset="0"/>
            </a:endParaRPr>
          </a:p>
          <a:p>
            <a:r>
              <a:rPr lang="en-US" sz="2500" b="1" dirty="0">
                <a:latin typeface="Nunito Sans" panose="00000500000000000000" pitchFamily="2" charset="0"/>
              </a:rPr>
              <a:t>Input:</a:t>
            </a:r>
          </a:p>
          <a:p>
            <a:r>
              <a:rPr lang="en-US" sz="2500" dirty="0">
                <a:latin typeface="Nunito Sans" panose="00000500000000000000" pitchFamily="2" charset="0"/>
              </a:rPr>
              <a:t>3 -&gt;Input integer, N</a:t>
            </a:r>
          </a:p>
          <a:p>
            <a:r>
              <a:rPr lang="en-US" sz="2500" dirty="0">
                <a:latin typeface="Nunito Sans" panose="00000500000000000000" pitchFamily="2" charset="0"/>
              </a:rPr>
              <a:t>1 2 3-&gt;Input integer 9[] board alignment</a:t>
            </a:r>
          </a:p>
          <a:p>
            <a:endParaRPr lang="en-US" sz="2500" dirty="0">
              <a:latin typeface="Nunito Sans" panose="00000500000000000000" pitchFamily="2" charset="0"/>
            </a:endParaRPr>
          </a:p>
          <a:p>
            <a:r>
              <a:rPr lang="en-US" sz="2500" b="1" dirty="0">
                <a:latin typeface="Nunito Sans" pitchFamily="2" charset="0"/>
              </a:rPr>
              <a:t>Output:</a:t>
            </a:r>
          </a:p>
          <a:p>
            <a:r>
              <a:rPr lang="en-US" sz="2500" dirty="0">
                <a:latin typeface="Nunito Sans" panose="00000500000000000000" pitchFamily="2" charset="0"/>
              </a:rPr>
              <a:t>1-&gt;Output</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anose="00000500000000000000" pitchFamily="2" charset="0"/>
              </a:rPr>
              <a:t>All the students will be standing as below,with the board positions:</a:t>
            </a:r>
          </a:p>
          <a:p>
            <a:r>
              <a:rPr lang="en-US" sz="2500" dirty="0">
                <a:latin typeface="Nunito Sans" panose="00000500000000000000" pitchFamily="2" charset="0"/>
              </a:rPr>
              <a:t>Board-1,2,3</a:t>
            </a:r>
          </a:p>
          <a:p>
            <a:r>
              <a:rPr lang="en-US" sz="2500" dirty="0">
                <a:latin typeface="Nunito Sans" panose="00000500000000000000" pitchFamily="2" charset="0"/>
              </a:rPr>
              <a:t>Student jersey- 1,2,3</a:t>
            </a:r>
          </a:p>
          <a:p>
            <a:r>
              <a:rPr lang="en-US" sz="2500" dirty="0">
                <a:latin typeface="Nunito Sans" panose="00000500000000000000" pitchFamily="2" charset="0"/>
              </a:rPr>
              <a:t>After first beat of drum:</a:t>
            </a:r>
          </a:p>
          <a:p>
            <a:r>
              <a:rPr lang="en-US" sz="2500" dirty="0">
                <a:latin typeface="Nunito Sans" panose="00000500000000000000" pitchFamily="2" charset="0"/>
              </a:rPr>
              <a:t>Jersey #1 has moved to index 1.</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&lt;stdlib.h&gt;</a:t>
            </a:r>
          </a:p>
          <a:p>
            <a:r>
              <a:rPr lang="en-US" sz="2000" b="1" dirty="0">
                <a:solidFill>
                  <a:schemeClr val="bg1"/>
                </a:solidFill>
                <a:latin typeface="Nunito Sans" pitchFamily="2" charset="0"/>
                <a:cs typeface="Courier New" panose="02070309020205020404" pitchFamily="49" charset="0"/>
              </a:rPr>
              <a:t>int main()</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a:t>
            </a:r>
          </a:p>
          <a:p>
            <a:r>
              <a:rPr lang="en-US" sz="2000" b="1" dirty="0">
                <a:solidFill>
                  <a:schemeClr val="bg1"/>
                </a:solidFill>
                <a:latin typeface="Nunito Sans" pitchFamily="2" charset="0"/>
                <a:cs typeface="Courier New" panose="02070309020205020404" pitchFamily="49" charset="0"/>
              </a:rPr>
              <a:t>    scanf("%d", &amp;n);</a:t>
            </a:r>
          </a:p>
          <a:p>
            <a:r>
              <a:rPr lang="en-US" sz="2000" b="1" dirty="0">
                <a:solidFill>
                  <a:schemeClr val="bg1"/>
                </a:solidFill>
                <a:latin typeface="Nunito Sans" pitchFamily="2" charset="0"/>
                <a:cs typeface="Courier New" panose="02070309020205020404" pitchFamily="49" charset="0"/>
              </a:rPr>
              <a:t>    int* B = (int*)malloc(n * sizeof(int));</a:t>
            </a:r>
          </a:p>
          <a:p>
            <a:r>
              <a:rPr lang="en-US" sz="2000" b="1" dirty="0">
                <a:solidFill>
                  <a:schemeClr val="bg1"/>
                </a:solidFill>
                <a:latin typeface="Nunito Sans" pitchFamily="2" charset="0"/>
                <a:cs typeface="Courier New" panose="02070309020205020404" pitchFamily="49" charset="0"/>
              </a:rPr>
              <a:t>    for (int i = 0;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scanf("%d", &amp;B[i]);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arr = (int*)malloc(n * sizeof(int));</a:t>
            </a:r>
          </a:p>
          <a:p>
            <a:r>
              <a:rPr lang="en-US" sz="2000" b="1" dirty="0">
                <a:solidFill>
                  <a:schemeClr val="bg1"/>
                </a:solidFill>
                <a:latin typeface="Nunito Sans" pitchFamily="2" charset="0"/>
                <a:cs typeface="Courier New" panose="02070309020205020404" pitchFamily="49" charset="0"/>
              </a:rPr>
              <a:t>    for (int i = 0;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arr[i] = i + 1;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ans = 0;</a:t>
            </a:r>
          </a:p>
          <a:p>
            <a:r>
              <a:rPr lang="en-US" sz="2000" b="1" dirty="0">
                <a:solidFill>
                  <a:schemeClr val="bg1"/>
                </a:solidFill>
                <a:latin typeface="Nunito Sans" pitchFamily="2" charset="0"/>
                <a:cs typeface="Courier New" panose="02070309020205020404" pitchFamily="49" charset="0"/>
              </a:rPr>
              <a:t>    int* original_arr = (int*)malloc(n * sizeof(int));</a:t>
            </a:r>
          </a:p>
          <a:p>
            <a:r>
              <a:rPr lang="en-US" sz="2000" b="1" dirty="0">
                <a:solidFill>
                  <a:schemeClr val="bg1"/>
                </a:solidFill>
                <a:latin typeface="Nunito Sans" pitchFamily="2" charset="0"/>
                <a:cs typeface="Courier New" panose="02070309020205020404" pitchFamily="49" charset="0"/>
              </a:rPr>
              <a:t>    for (int i = 0;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original_arr[i] = arr[i];</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while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ans++;</a:t>
            </a:r>
          </a:p>
          <a:p>
            <a:r>
              <a:rPr lang="en-US" sz="2000" b="1" dirty="0">
                <a:solidFill>
                  <a:schemeClr val="bg1"/>
                </a:solidFill>
                <a:latin typeface="Nunito Sans" pitchFamily="2" charset="0"/>
                <a:cs typeface="Courier New" panose="02070309020205020404" pitchFamily="49" charset="0"/>
              </a:rPr>
              <a:t>        int* ar = (int*)malloc(n * sizeof(int));</a:t>
            </a:r>
          </a:p>
          <a:p>
            <a:r>
              <a:rPr lang="en-US" sz="2000" b="1" dirty="0">
                <a:solidFill>
                  <a:schemeClr val="bg1"/>
                </a:solidFill>
                <a:latin typeface="Nunito Sans" pitchFamily="2" charset="0"/>
                <a:cs typeface="Courier New" panose="02070309020205020404" pitchFamily="49" charset="0"/>
              </a:rPr>
              <a:t>        for (int i = 0;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ar[i] = arr[B[i] - 1];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isEqual = 1;</a:t>
            </a:r>
          </a:p>
          <a:p>
            <a:r>
              <a:rPr lang="en-US" sz="2000" b="1" dirty="0">
                <a:solidFill>
                  <a:schemeClr val="bg1"/>
                </a:solidFill>
                <a:latin typeface="Nunito Sans" pitchFamily="2" charset="0"/>
                <a:cs typeface="Courier New" panose="02070309020205020404" pitchFamily="49" charset="0"/>
              </a:rPr>
              <a:t>        for (int i = 0;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(ar[i] != original_arr[i])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isEqual = 0;</a:t>
            </a:r>
          </a:p>
          <a:p>
            <a:r>
              <a:rPr lang="en-US" sz="2000" b="1" dirty="0">
                <a:solidFill>
                  <a:schemeClr val="bg1"/>
                </a:solidFill>
                <a:latin typeface="Nunito Sans" pitchFamily="2" charset="0"/>
                <a:cs typeface="Courier New" panose="02070309020205020404" pitchFamily="49" charset="0"/>
              </a:rPr>
              <a:t>                break;</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(isEqual)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free(ar);</a:t>
            </a:r>
          </a:p>
          <a:p>
            <a:r>
              <a:rPr lang="en-US" sz="2000" b="1" dirty="0">
                <a:solidFill>
                  <a:schemeClr val="bg1"/>
                </a:solidFill>
                <a:latin typeface="Nunito Sans" pitchFamily="2" charset="0"/>
                <a:cs typeface="Courier New" panose="02070309020205020404" pitchFamily="49" charset="0"/>
              </a:rPr>
              <a:t>            break;</a:t>
            </a:r>
          </a:p>
          <a:p>
            <a:r>
              <a:rPr lang="en-US" sz="2000" b="1" dirty="0">
                <a:solidFill>
                  <a:schemeClr val="bg1"/>
                </a:solidFill>
                <a:latin typeface="Nunito Sans" pitchFamily="2" charset="0"/>
                <a:cs typeface="Courier New" panose="02070309020205020404" pitchFamily="49" charset="0"/>
              </a:rPr>
              <a:t>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free(arr);</a:t>
            </a:r>
          </a:p>
          <a:p>
            <a:r>
              <a:rPr lang="en-US" sz="2000" b="1" dirty="0">
                <a:solidFill>
                  <a:schemeClr val="bg1"/>
                </a:solidFill>
                <a:latin typeface="Nunito Sans" pitchFamily="2" charset="0"/>
                <a:cs typeface="Courier New" panose="02070309020205020404" pitchFamily="49" charset="0"/>
              </a:rPr>
              <a:t>        arr = ar;</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printf("%d\n", ans);</a:t>
            </a:r>
          </a:p>
          <a:p>
            <a:r>
              <a:rPr lang="en-US" sz="2000" b="1" dirty="0">
                <a:solidFill>
                  <a:schemeClr val="bg1"/>
                </a:solidFill>
                <a:latin typeface="Nunito Sans" pitchFamily="2" charset="0"/>
                <a:cs typeface="Courier New" panose="02070309020205020404" pitchFamily="49" charset="0"/>
              </a:rPr>
              <a:t>    free(B);</a:t>
            </a:r>
          </a:p>
          <a:p>
            <a:r>
              <a:rPr lang="en-US" sz="2000" b="1" dirty="0">
                <a:solidFill>
                  <a:schemeClr val="bg1"/>
                </a:solidFill>
                <a:latin typeface="Nunito Sans" pitchFamily="2" charset="0"/>
                <a:cs typeface="Courier New" panose="02070309020205020404" pitchFamily="49" charset="0"/>
              </a:rPr>
              <a:t>    free(arr);</a:t>
            </a:r>
          </a:p>
          <a:p>
            <a:r>
              <a:rPr lang="en-US" sz="2000" b="1" dirty="0">
                <a:solidFill>
                  <a:schemeClr val="bg1"/>
                </a:solidFill>
                <a:latin typeface="Nunito Sans" pitchFamily="2" charset="0"/>
                <a:cs typeface="Courier New" panose="02070309020205020404" pitchFamily="49" charset="0"/>
              </a:rPr>
              <a:t>    free(original_arr);</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258445" y="26924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&lt;vector&gt;</a:t>
            </a:r>
          </a:p>
          <a:p>
            <a:r>
              <a:rPr lang="en-US" sz="2000" b="1" dirty="0">
                <a:solidFill>
                  <a:schemeClr val="bg1"/>
                </a:solidFill>
                <a:latin typeface="Nunito Sans" pitchFamily="2" charset="0"/>
                <a:cs typeface="Courier New" panose="02070309020205020404" pitchFamily="49" charset="0"/>
              </a:rPr>
              <a:t>#include &lt;algorithm&gt;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a:t>
            </a:r>
          </a:p>
          <a:p>
            <a:r>
              <a:rPr lang="en-US" sz="2000" b="1" dirty="0">
                <a:solidFill>
                  <a:schemeClr val="bg1"/>
                </a:solidFill>
                <a:latin typeface="Nunito Sans" pitchFamily="2" charset="0"/>
                <a:cs typeface="Courier New" panose="02070309020205020404" pitchFamily="49" charset="0"/>
              </a:rPr>
              <a:t>    cin &gt;&gt; n;</a:t>
            </a:r>
          </a:p>
          <a:p>
            <a:r>
              <a:rPr lang="en-US" sz="2000" b="1" dirty="0">
                <a:solidFill>
                  <a:schemeClr val="bg1"/>
                </a:solidFill>
                <a:latin typeface="Nunito Sans" pitchFamily="2" charset="0"/>
                <a:cs typeface="Courier New" panose="02070309020205020404" pitchFamily="49" charset="0"/>
              </a:rPr>
              <a:t>    vector&lt;int&gt; B(n);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cin &gt;&gt; B[i];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vector&lt;int&gt; arr(n);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arr[i] = i + 1;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ans = 0;</a:t>
            </a:r>
          </a:p>
          <a:p>
            <a:r>
              <a:rPr lang="en-US" sz="2000" b="1" dirty="0">
                <a:solidFill>
                  <a:schemeClr val="bg1"/>
                </a:solidFill>
                <a:latin typeface="Nunito Sans" pitchFamily="2" charset="0"/>
                <a:cs typeface="Courier New" panose="02070309020205020404" pitchFamily="49" charset="0"/>
              </a:rPr>
              <a:t>    vector&lt;int&gt; original_arr = arr;  // Store the original arrangement</a:t>
            </a:r>
          </a:p>
          <a:p>
            <a:r>
              <a:rPr lang="en-US" sz="2000" b="1" dirty="0">
                <a:solidFill>
                  <a:schemeClr val="bg1"/>
                </a:solidFill>
                <a:latin typeface="Nunito Sans" pitchFamily="2" charset="0"/>
                <a:cs typeface="Courier New" panose="02070309020205020404" pitchFamily="49" charset="0"/>
              </a:rPr>
              <a:t>    while (true)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altLang="en-IN" sz="2000" b="1" dirty="0">
                <a:solidFill>
                  <a:schemeClr val="bg1"/>
                </a:solidFill>
                <a:latin typeface="Nunito Sans" pitchFamily="2" charset="0"/>
                <a:cs typeface="Courier New" panose="02070309020205020404" pitchFamily="49" charset="0"/>
                <a:sym typeface="+mn-ea"/>
              </a:rPr>
              <a:t> ans++;</a:t>
            </a:r>
          </a:p>
          <a:p>
            <a:r>
              <a:rPr lang="en-US" altLang="en-IN" sz="2000" b="1" dirty="0">
                <a:solidFill>
                  <a:schemeClr val="bg1"/>
                </a:solidFill>
                <a:latin typeface="Nunito Sans" pitchFamily="2" charset="0"/>
                <a:cs typeface="Courier New" panose="02070309020205020404" pitchFamily="49" charset="0"/>
                <a:sym typeface="+mn-ea"/>
              </a:rPr>
              <a:t>        vector&lt;int&gt; ar(n);</a:t>
            </a:r>
          </a:p>
          <a:p>
            <a:r>
              <a:rPr lang="en-US" altLang="en-IN" sz="2000" b="1" dirty="0">
                <a:solidFill>
                  <a:schemeClr val="bg1"/>
                </a:solidFill>
                <a:latin typeface="Nunito Sans" pitchFamily="2" charset="0"/>
                <a:cs typeface="Courier New" panose="02070309020205020404" pitchFamily="49" charset="0"/>
                <a:sym typeface="+mn-ea"/>
              </a:rPr>
              <a:t>        for (int i = 0; i &lt; n; i++)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ar[i] = arr[B[i] - 1];</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(ar == original_arr)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break;</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arr = ar;</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cout &lt;&lt; ans &lt;&lt; endl;</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java.util.ArrayList;</a:t>
            </a:r>
          </a:p>
          <a:p>
            <a:r>
              <a:rPr lang="en-US" sz="2000" b="1" dirty="0">
                <a:solidFill>
                  <a:schemeClr val="bg1"/>
                </a:solidFill>
                <a:latin typeface="Nunito Sans" pitchFamily="2" charset="0"/>
                <a:cs typeface="Courier New" panose="02070309020205020404" pitchFamily="49" charset="0"/>
              </a:rPr>
              <a:t>import java.util.List;</a:t>
            </a:r>
          </a:p>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n = 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List&lt;Integer&gt; B = new ArrayList&lt;&gt;();</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B.add(scanner.nextInt());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List&lt;Integer&gt; arr = new ArrayList&lt;&gt;();</a:t>
            </a:r>
          </a:p>
          <a:p>
            <a:r>
              <a:rPr lang="en-US" sz="2000" b="1" dirty="0">
                <a:solidFill>
                  <a:schemeClr val="bg1"/>
                </a:solidFill>
                <a:latin typeface="Nunito Sans" pitchFamily="2" charset="0"/>
                <a:cs typeface="Courier New" panose="02070309020205020404" pitchFamily="49" charset="0"/>
              </a:rPr>
              <a:t>        for (int i = 0;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arr.add(i + 1);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altLang="en-IN" sz="2000" b="1" dirty="0">
                <a:solidFill>
                  <a:schemeClr val="bg1"/>
                </a:solidFill>
                <a:latin typeface="Nunito Sans" pitchFamily="2" charset="0"/>
                <a:cs typeface="Courier New" panose="02070309020205020404" pitchFamily="49" charset="0"/>
                <a:sym typeface="+mn-ea"/>
              </a:rPr>
              <a:t> int ans = 0;</a:t>
            </a:r>
          </a:p>
          <a:p>
            <a:r>
              <a:rPr lang="en-US" altLang="en-IN" sz="2000" b="1" dirty="0">
                <a:solidFill>
                  <a:schemeClr val="bg1"/>
                </a:solidFill>
                <a:latin typeface="Nunito Sans" pitchFamily="2" charset="0"/>
                <a:cs typeface="Courier New" panose="02070309020205020404" pitchFamily="49" charset="0"/>
                <a:sym typeface="+mn-ea"/>
              </a:rPr>
              <a:t>        List&lt;Integer&gt; originalArr = new ArrayList&lt;&gt;(arr); // Store the original arrangement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while (true)</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ans++;</a:t>
            </a:r>
          </a:p>
          <a:p>
            <a:r>
              <a:rPr lang="en-US" altLang="en-IN" sz="2000" b="1" dirty="0">
                <a:solidFill>
                  <a:schemeClr val="bg1"/>
                </a:solidFill>
                <a:latin typeface="Nunito Sans" pitchFamily="2" charset="0"/>
                <a:cs typeface="Courier New" panose="02070309020205020404" pitchFamily="49" charset="0"/>
                <a:sym typeface="+mn-ea"/>
              </a:rPr>
              <a:t>            List&lt;Integer&gt; ar = new ArrayList&lt;&gt;();</a:t>
            </a:r>
          </a:p>
          <a:p>
            <a:r>
              <a:rPr lang="en-US" altLang="en-IN" sz="2000" b="1" dirty="0">
                <a:solidFill>
                  <a:schemeClr val="bg1"/>
                </a:solidFill>
                <a:latin typeface="Nunito Sans" pitchFamily="2" charset="0"/>
                <a:cs typeface="Courier New" panose="02070309020205020404" pitchFamily="49" charset="0"/>
                <a:sym typeface="+mn-ea"/>
              </a:rPr>
              <a:t>            for (int i = 0; i &lt; n; i++)</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ar.add(arr.get(B.get(i) - 1));</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(ar.equals(originalArr))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break;</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arr = new ArrayList&lt;&gt;(ar);</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System.out.println(ans);</a:t>
            </a:r>
          </a:p>
          <a:p>
            <a:r>
              <a:rPr lang="en-US" altLang="en-IN" sz="2000" b="1" dirty="0">
                <a:solidFill>
                  <a:schemeClr val="bg1"/>
                </a:solidFill>
                <a:latin typeface="Nunito Sans" pitchFamily="2" charset="0"/>
                <a:cs typeface="Courier New" panose="02070309020205020404" pitchFamily="49" charset="0"/>
                <a:sym typeface="+mn-ea"/>
              </a:rPr>
              <a:t>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n = int(input())</a:t>
            </a:r>
          </a:p>
          <a:p>
            <a:r>
              <a:rPr lang="en-US" sz="2000" b="1" dirty="0">
                <a:solidFill>
                  <a:schemeClr val="bg1"/>
                </a:solidFill>
                <a:latin typeface="Nunito Sans" pitchFamily="2" charset="0"/>
                <a:cs typeface="Courier New" panose="02070309020205020404" pitchFamily="49" charset="0"/>
              </a:rPr>
              <a:t>B = list(map(int, input().split()))</a:t>
            </a:r>
          </a:p>
          <a:p>
            <a:r>
              <a:rPr lang="en-US" sz="2000" b="1" dirty="0">
                <a:solidFill>
                  <a:schemeClr val="bg1"/>
                </a:solidFill>
                <a:latin typeface="Nunito Sans" pitchFamily="2" charset="0"/>
                <a:cs typeface="Courier New" panose="02070309020205020404" pitchFamily="49" charset="0"/>
              </a:rPr>
              <a:t>arr = list(range(1, n+1))</a:t>
            </a:r>
          </a:p>
          <a:p>
            <a:r>
              <a:rPr lang="en-US" sz="2000" b="1" dirty="0">
                <a:solidFill>
                  <a:schemeClr val="bg1"/>
                </a:solidFill>
                <a:latin typeface="Nunito Sans" pitchFamily="2" charset="0"/>
                <a:cs typeface="Courier New" panose="02070309020205020404" pitchFamily="49" charset="0"/>
              </a:rPr>
              <a:t>ans = 0</a:t>
            </a:r>
          </a:p>
          <a:p>
            <a:r>
              <a:rPr lang="en-US" sz="2000" b="1" dirty="0">
                <a:solidFill>
                  <a:schemeClr val="bg1"/>
                </a:solidFill>
                <a:latin typeface="Nunito Sans" pitchFamily="2" charset="0"/>
                <a:cs typeface="Courier New" panose="02070309020205020404" pitchFamily="49" charset="0"/>
              </a:rPr>
              <a:t>while True:</a:t>
            </a:r>
          </a:p>
          <a:p>
            <a:r>
              <a:rPr lang="en-US" sz="2000" b="1" dirty="0">
                <a:solidFill>
                  <a:schemeClr val="bg1"/>
                </a:solidFill>
                <a:latin typeface="Nunito Sans" pitchFamily="2" charset="0"/>
                <a:cs typeface="Courier New" panose="02070309020205020404" pitchFamily="49" charset="0"/>
              </a:rPr>
              <a:t>    ans += 1</a:t>
            </a:r>
          </a:p>
          <a:p>
            <a:r>
              <a:rPr lang="en-US" sz="2000" b="1" dirty="0">
                <a:solidFill>
                  <a:schemeClr val="bg1"/>
                </a:solidFill>
                <a:latin typeface="Nunito Sans" pitchFamily="2" charset="0"/>
                <a:cs typeface="Courier New" panose="02070309020205020404" pitchFamily="49" charset="0"/>
              </a:rPr>
              <a:t>    ar = [None] * n</a:t>
            </a:r>
          </a:p>
          <a:p>
            <a:r>
              <a:rPr lang="en-US" sz="2000" b="1" dirty="0">
                <a:solidFill>
                  <a:schemeClr val="bg1"/>
                </a:solidFill>
                <a:latin typeface="Nunito Sans" pitchFamily="2" charset="0"/>
                <a:cs typeface="Courier New" panose="02070309020205020404" pitchFamily="49" charset="0"/>
              </a:rPr>
              <a:t>    for i in range(n):</a:t>
            </a:r>
          </a:p>
          <a:p>
            <a:r>
              <a:rPr lang="en-US" sz="2000" b="1" dirty="0">
                <a:solidFill>
                  <a:schemeClr val="bg1"/>
                </a:solidFill>
                <a:latin typeface="Nunito Sans" pitchFamily="2" charset="0"/>
                <a:cs typeface="Courier New" panose="02070309020205020404" pitchFamily="49" charset="0"/>
              </a:rPr>
              <a:t>        ar[i] = arr[B[i] - 1]</a:t>
            </a:r>
          </a:p>
          <a:p>
            <a:r>
              <a:rPr lang="en-US" sz="2000" b="1" dirty="0">
                <a:solidFill>
                  <a:schemeClr val="bg1"/>
                </a:solidFill>
                <a:latin typeface="Nunito Sans" pitchFamily="2" charset="0"/>
                <a:cs typeface="Courier New" panose="02070309020205020404" pitchFamily="49" charset="0"/>
              </a:rPr>
              <a:t>    if ar == sorted(ar):</a:t>
            </a:r>
          </a:p>
          <a:p>
            <a:r>
              <a:rPr lang="en-US" sz="2000" b="1" dirty="0">
                <a:solidFill>
                  <a:schemeClr val="bg1"/>
                </a:solidFill>
                <a:latin typeface="Nunito Sans" pitchFamily="2" charset="0"/>
                <a:cs typeface="Courier New" panose="02070309020205020404" pitchFamily="49" charset="0"/>
              </a:rPr>
              <a:t>        break</a:t>
            </a:r>
          </a:p>
          <a:p>
            <a:r>
              <a:rPr lang="en-US" sz="2000" b="1" dirty="0">
                <a:solidFill>
                  <a:schemeClr val="bg1"/>
                </a:solidFill>
                <a:latin typeface="Nunito Sans" pitchFamily="2" charset="0"/>
                <a:cs typeface="Courier New" panose="02070309020205020404" pitchFamily="49" charset="0"/>
              </a:rPr>
              <a:t>    arr = ar</a:t>
            </a:r>
          </a:p>
          <a:p>
            <a:r>
              <a:rPr lang="en-US" sz="2000" b="1" dirty="0">
                <a:solidFill>
                  <a:schemeClr val="bg1"/>
                </a:solidFill>
                <a:latin typeface="Nunito Sans" pitchFamily="2" charset="0"/>
                <a:cs typeface="Courier New" panose="02070309020205020404" pitchFamily="49" charset="0"/>
              </a:rPr>
              <a:t>print(ans)</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5478423"/>
          </a:xfrm>
          <a:prstGeom prst="rect">
            <a:avLst/>
          </a:prstGeom>
          <a:noFill/>
        </p:spPr>
        <p:txBody>
          <a:bodyPr wrap="square" rtlCol="0">
            <a:spAutoFit/>
          </a:bodyPr>
          <a:lstStyle/>
          <a:p>
            <a:r>
              <a:rPr lang="en-US" sz="2500" dirty="0">
                <a:latin typeface="Nunito Sans" panose="00000500000000000000" pitchFamily="2" charset="0"/>
              </a:rPr>
              <a:t>Joe is playing a game where there are N group of balloons. He is given a gun which can shoot one round per minute.</a:t>
            </a:r>
          </a:p>
          <a:p>
            <a:r>
              <a:rPr lang="en-US" sz="2500" dirty="0">
                <a:latin typeface="Nunito Sans" panose="00000500000000000000" pitchFamily="2" charset="0"/>
              </a:rPr>
              <a:t>For each round it can hit 1 balloon in K groups each.If the group has zero balloons left, then we say that particular group is destroyed completely, and it would not be counted. The gun is deactivated if the number of groups falls below K.</a:t>
            </a:r>
          </a:p>
          <a:p>
            <a:r>
              <a:rPr lang="en-US" sz="2500" dirty="0">
                <a:latin typeface="Nunito Sans" panose="00000500000000000000" pitchFamily="2" charset="0"/>
              </a:rPr>
              <a:t>Find the maximum number of minutes the gun will be activated based on the above factors.</a:t>
            </a:r>
          </a:p>
          <a:p>
            <a:r>
              <a:rPr lang="en-US" sz="2500" dirty="0">
                <a:latin typeface="Nunito Sans" panose="00000500000000000000" pitchFamily="2" charset="0"/>
              </a:rPr>
              <a:t>Let us try to understand it with an example.</a:t>
            </a:r>
          </a:p>
          <a:p>
            <a:r>
              <a:rPr lang="en-US" sz="2500" dirty="0">
                <a:latin typeface="Nunito Sans" panose="00000500000000000000" pitchFamily="2" charset="0"/>
              </a:rPr>
              <a:t>Let say there are N groups N=5 and K = 3 means if there are less than 3 groups the gun will be de-activated. In order to stay in the game for longer time, he will play optimally. Also note that the K group may be formed arbitrary selecting K members from N groups.</a:t>
            </a:r>
          </a:p>
          <a:p>
            <a:r>
              <a:rPr lang="en-US" sz="2500" dirty="0">
                <a:latin typeface="Nunito Sans" panose="00000500000000000000" pitchFamily="2" charset="0"/>
              </a:rPr>
              <a:t>Each of the 5 groups has below number of balloons :</a:t>
            </a:r>
          </a:p>
          <a:p>
            <a:r>
              <a:rPr lang="en-US" sz="2500" dirty="0">
                <a:latin typeface="Nunito Sans" panose="00000500000000000000" pitchFamily="2" charset="0"/>
              </a:rPr>
              <a:t>B = [4,3,5,6,7]</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5862320"/>
          </a:xfrm>
          <a:prstGeom prst="rect">
            <a:avLst/>
          </a:prstGeom>
          <a:noFill/>
        </p:spPr>
        <p:txBody>
          <a:bodyPr wrap="square" rtlCol="0">
            <a:spAutoFit/>
          </a:bodyPr>
          <a:lstStyle/>
          <a:p>
            <a:r>
              <a:rPr lang="en-US" sz="2500" dirty="0">
                <a:latin typeface="Nunito Sans" panose="00000500000000000000" pitchFamily="2" charset="0"/>
              </a:rPr>
              <a:t>So, in the beginning this is the configuration of all groups with their respective balloons: 4 3 5 6 7</a:t>
            </a:r>
          </a:p>
          <a:p>
            <a:r>
              <a:rPr lang="en-US" sz="2500" dirty="0">
                <a:latin typeface="Nunito Sans" panose="00000500000000000000" pitchFamily="2" charset="0"/>
              </a:rPr>
              <a:t>Below the timeline:</a:t>
            </a:r>
          </a:p>
          <a:p>
            <a:r>
              <a:rPr lang="en-US" sz="2500" dirty="0">
                <a:latin typeface="Nunito Sans" panose="00000500000000000000" pitchFamily="2" charset="0"/>
              </a:rPr>
              <a:t>Minute 1: the gun takes 1 shot and it will hit 1 balloon in k=3 groups, now the configuration of each group will be: 4 3 4 5 6</a:t>
            </a:r>
          </a:p>
          <a:p>
            <a:r>
              <a:rPr lang="en-US" sz="2500" dirty="0">
                <a:latin typeface="Nunito Sans" panose="00000500000000000000" pitchFamily="2" charset="0"/>
              </a:rPr>
              <a:t>Minute 2: the gun takes 1 shot and it will hit 1 balloon in K =3 group, now the configuration of each group will be: 4 3 3 4 5</a:t>
            </a:r>
          </a:p>
          <a:p>
            <a:r>
              <a:rPr lang="en-US" sz="2500" dirty="0">
                <a:latin typeface="Nunito Sans" panose="00000500000000000000" pitchFamily="2" charset="0"/>
              </a:rPr>
              <a:t>Minute 3: the gun takes 1 shot a -3 group, now the configuration of each group will be 3 3 3 3 4</a:t>
            </a:r>
          </a:p>
          <a:p>
            <a:r>
              <a:rPr lang="en-US" sz="2500" dirty="0">
                <a:latin typeface="Nunito Sans" panose="00000500000000000000" pitchFamily="2" charset="0"/>
              </a:rPr>
              <a:t>Minute 4: the gun takes 1 shot and it will hit 1 balloon in K =3 group, now the configuration of each group will be: 3 3 2 2 3</a:t>
            </a:r>
          </a:p>
          <a:p>
            <a:r>
              <a:rPr lang="en-US" sz="2500" dirty="0">
                <a:latin typeface="Nunito Sans" panose="00000500000000000000" pitchFamily="2" charset="0"/>
              </a:rPr>
              <a:t>Minute 5:the gun takes 1 shot and it will hit 1 balloon in K =3 group, the configuration of each group will be: 2 2 2 2 2.</a:t>
            </a:r>
          </a:p>
          <a:p>
            <a:r>
              <a:rPr lang="en-US" sz="2500" dirty="0">
                <a:latin typeface="Nunito Sans" panose="00000500000000000000" pitchFamily="2" charset="0"/>
              </a:rPr>
              <a:t>Minute 6: the gun takes 1 shot and it will hit 1 balloon in K =3 group, now the configuration of each group will be: 2 2 1 1 1</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5862320"/>
          </a:xfrm>
          <a:prstGeom prst="rect">
            <a:avLst/>
          </a:prstGeom>
          <a:noFill/>
        </p:spPr>
        <p:txBody>
          <a:bodyPr wrap="square" rtlCol="0">
            <a:spAutoFit/>
          </a:bodyPr>
          <a:lstStyle/>
          <a:p>
            <a:r>
              <a:rPr lang="en-US" sz="2500" dirty="0">
                <a:latin typeface="Nunito Sans" panose="00000500000000000000" pitchFamily="2" charset="0"/>
              </a:rPr>
              <a:t>Minute 7: the gun takes 1 shot and it will hit 1 balloon in K=3 group, now the configuration of each group will be 1 1 0 1 1</a:t>
            </a:r>
          </a:p>
          <a:p>
            <a:r>
              <a:rPr lang="en-US" sz="2500" dirty="0">
                <a:latin typeface="Nunito Sans" panose="00000500000000000000" pitchFamily="2" charset="0"/>
              </a:rPr>
              <a:t>Minute 8: the gun takes 1 shot and it will hit 1 balloon in K =3 group, now the configuration of each group will be:0 0 0 0 1</a:t>
            </a:r>
          </a:p>
          <a:p>
            <a:r>
              <a:rPr lang="en-US" sz="2500" dirty="0">
                <a:latin typeface="Nunito Sans" panose="00000500000000000000" pitchFamily="2" charset="0"/>
              </a:rPr>
              <a:t>Now there are less than K-3 groups, other have lost all their balloons. And the maximum time Joe was busy was 8 minutes.</a:t>
            </a:r>
          </a:p>
          <a:p>
            <a:endParaRPr lang="en-US" sz="2500" dirty="0">
              <a:latin typeface="Nunito Sans" panose="00000500000000000000" pitchFamily="2" charset="0"/>
            </a:endParaRPr>
          </a:p>
          <a:p>
            <a:r>
              <a:rPr lang="en-US" sz="2500" dirty="0">
                <a:latin typeface="Nunito Sans" panose="00000500000000000000" pitchFamily="2" charset="0"/>
              </a:rPr>
              <a:t>So, the final answer is 8</a:t>
            </a:r>
          </a:p>
          <a:p>
            <a:endParaRPr lang="en-US" sz="2500" dirty="0">
              <a:latin typeface="Nunito Sans" panose="00000500000000000000" pitchFamily="2" charset="0"/>
            </a:endParaRPr>
          </a:p>
          <a:p>
            <a:r>
              <a:rPr lang="en-US" sz="2500" b="1" dirty="0">
                <a:latin typeface="Nunito Sans" pitchFamily="2" charset="0"/>
              </a:rPr>
              <a:t>The input format for testing:</a:t>
            </a:r>
          </a:p>
          <a:p>
            <a:r>
              <a:rPr lang="en-US" sz="2500" dirty="0">
                <a:latin typeface="Nunito Sans" panose="00000500000000000000" pitchFamily="2" charset="0"/>
              </a:rPr>
              <a:t>First Input-Accept value of Integer, N</a:t>
            </a:r>
          </a:p>
          <a:p>
            <a:r>
              <a:rPr lang="en-US" sz="2500" dirty="0">
                <a:latin typeface="Nunito Sans" panose="00000500000000000000" pitchFamily="2" charset="0"/>
              </a:rPr>
              <a:t>Second Input -Accept value of Integer, K (Next Line)</a:t>
            </a:r>
          </a:p>
          <a:p>
            <a:r>
              <a:rPr lang="en-US" sz="2500" dirty="0">
                <a:latin typeface="Nunito Sans" panose="00000500000000000000" pitchFamily="2" charset="0"/>
              </a:rPr>
              <a:t>Next 'N' Lines-Elements of sequence B</a:t>
            </a:r>
          </a:p>
          <a:p>
            <a:endParaRPr lang="en-US" sz="2500" dirty="0">
              <a:latin typeface="Nunito Sans" panose="00000500000000000000" pitchFamily="2" charset="0"/>
            </a:endParaRPr>
          </a:p>
          <a:p>
            <a:r>
              <a:rPr lang="en-US" sz="2500" b="1" dirty="0">
                <a:latin typeface="Nunito Sans" pitchFamily="2" charset="0"/>
              </a:rPr>
              <a:t>The Output format for testing:</a:t>
            </a:r>
            <a:endParaRPr lang="en-US" sz="2500" dirty="0">
              <a:latin typeface="Nunito Sans" pitchFamily="2" charset="0"/>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5862320"/>
          </a:xfrm>
          <a:prstGeom prst="rect">
            <a:avLst/>
          </a:prstGeom>
          <a:noFill/>
        </p:spPr>
        <p:txBody>
          <a:bodyPr wrap="square" rtlCol="0">
            <a:spAutoFit/>
          </a:bodyPr>
          <a:lstStyle/>
          <a:p>
            <a:r>
              <a:rPr lang="en-US" sz="2500" dirty="0">
                <a:latin typeface="Nunito Sans" panose="00000500000000000000" pitchFamily="2" charset="0"/>
              </a:rPr>
              <a:t>The output is an integer value as per above logic (Check the output in Example 1, Example 2)</a:t>
            </a:r>
          </a:p>
          <a:p>
            <a:r>
              <a:rPr lang="en-US" sz="2500" dirty="0">
                <a:latin typeface="Nunito Sans" panose="00000500000000000000" pitchFamily="2" charset="0"/>
              </a:rPr>
              <a:t>Additional messages in output will cause the failure of test cases.</a:t>
            </a:r>
          </a:p>
          <a:p>
            <a:endParaRPr lang="en-US" sz="2500" dirty="0">
              <a:latin typeface="Nunito Sans" panose="00000500000000000000" pitchFamily="2" charset="0"/>
            </a:endParaRPr>
          </a:p>
          <a:p>
            <a:r>
              <a:rPr lang="en-US" sz="2500" b="1" dirty="0">
                <a:latin typeface="Nunito Sans" pitchFamily="2" charset="0"/>
              </a:rPr>
              <a:t>Constraints:</a:t>
            </a:r>
          </a:p>
          <a:p>
            <a:r>
              <a:rPr lang="en-US" sz="2500" dirty="0">
                <a:latin typeface="Nunito Sans" panose="00000500000000000000" pitchFamily="2" charset="0"/>
              </a:rPr>
              <a:t>1&lt;= N&lt;=1000</a:t>
            </a:r>
          </a:p>
          <a:p>
            <a:r>
              <a:rPr lang="en-US" sz="2500" dirty="0">
                <a:latin typeface="Nunito Sans" panose="00000500000000000000" pitchFamily="2" charset="0"/>
              </a:rPr>
              <a:t>1 &lt;= K&lt;=N</a:t>
            </a:r>
          </a:p>
          <a:p>
            <a:r>
              <a:rPr lang="en-US" sz="2500" dirty="0">
                <a:latin typeface="Nunito Sans" panose="00000500000000000000" pitchFamily="2" charset="0"/>
              </a:rPr>
              <a:t>1&lt;=B[]&lt;=100000</a:t>
            </a:r>
          </a:p>
          <a:p>
            <a:r>
              <a:rPr lang="en-US" sz="2500" dirty="0">
                <a:latin typeface="Nunito Sans" panose="00000500000000000000" pitchFamily="2" charset="0"/>
              </a:rPr>
              <a:t>Only integer values</a:t>
            </a:r>
          </a:p>
          <a:p>
            <a:r>
              <a:rPr lang="en-US" sz="2500" dirty="0">
                <a:latin typeface="Nunito Sans" panose="00000500000000000000" pitchFamily="2" charset="0"/>
              </a:rPr>
              <a:t>Example 1: </a:t>
            </a:r>
          </a:p>
          <a:p>
            <a:r>
              <a:rPr lang="en-US" sz="2500" b="1" dirty="0">
                <a:latin typeface="Nunito Sans" pitchFamily="2" charset="0"/>
              </a:rPr>
              <a:t>Input:</a:t>
            </a:r>
          </a:p>
          <a:p>
            <a:r>
              <a:rPr lang="en-US" sz="2500" dirty="0">
                <a:latin typeface="Nunito Sans" panose="00000500000000000000" pitchFamily="2" charset="0"/>
              </a:rPr>
              <a:t>2-&gt; Input integer N</a:t>
            </a:r>
          </a:p>
          <a:p>
            <a:r>
              <a:rPr lang="en-US" sz="2500" dirty="0">
                <a:latin typeface="Nunito Sans" panose="00000500000000000000" pitchFamily="2" charset="0"/>
              </a:rPr>
              <a:t>2-&gt; Input integer </a:t>
            </a:r>
          </a:p>
          <a:p>
            <a:r>
              <a:rPr lang="en-US" sz="2500" dirty="0">
                <a:latin typeface="Nunito Sans" panose="00000500000000000000" pitchFamily="2" charset="0"/>
              </a:rPr>
              <a:t>2 -&gt; Input integer, B[]</a:t>
            </a:r>
          </a:p>
          <a:p>
            <a:r>
              <a:rPr lang="en-US" sz="2500" dirty="0">
                <a:latin typeface="Nunito Sans" panose="00000500000000000000" pitchFamily="2" charset="0"/>
              </a:rPr>
              <a:t>3 -&gt;Input integer, B</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5478423"/>
          </a:xfrm>
          <a:prstGeom prst="rect">
            <a:avLst/>
          </a:prstGeom>
          <a:noFill/>
        </p:spPr>
        <p:txBody>
          <a:bodyPr wrap="square" rtlCol="0">
            <a:spAutoFit/>
          </a:bodyPr>
          <a:lstStyle/>
          <a:p>
            <a:r>
              <a:rPr lang="en-US" sz="2500" b="1" dirty="0">
                <a:latin typeface="Nunito Sans" pitchFamily="2" charset="0"/>
              </a:rPr>
              <a:t>Output:</a:t>
            </a:r>
          </a:p>
          <a:p>
            <a:r>
              <a:rPr lang="en-US" sz="2500" dirty="0">
                <a:latin typeface="Nunito Sans" panose="00000500000000000000" pitchFamily="2" charset="0"/>
              </a:rPr>
              <a:t>2 -&gt;output</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anose="00000500000000000000" pitchFamily="2" charset="0"/>
              </a:rPr>
              <a:t>In the above example, there are K=2 groups whicha gun can fire at a time.</a:t>
            </a:r>
          </a:p>
          <a:p>
            <a:r>
              <a:rPr lang="en-US" sz="2500" dirty="0">
                <a:latin typeface="Nunito Sans" panose="00000500000000000000" pitchFamily="2" charset="0"/>
              </a:rPr>
              <a:t>Initial configuration of each groups : 2 3</a:t>
            </a:r>
          </a:p>
          <a:p>
            <a:r>
              <a:rPr lang="en-US" sz="2500" dirty="0">
                <a:latin typeface="Nunito Sans" panose="00000500000000000000" pitchFamily="2" charset="0"/>
              </a:rPr>
              <a:t>Minute 1: the gun takes 1 shot and it will hit 1 balloon in k -2 groups, now the configuration of each group will be: 1 2</a:t>
            </a:r>
          </a:p>
          <a:p>
            <a:r>
              <a:rPr lang="en-US" sz="2500" dirty="0">
                <a:latin typeface="Nunito Sans" panose="00000500000000000000" pitchFamily="2" charset="0"/>
              </a:rPr>
              <a:t>Minute 2: the gun takes 1 shot and it will hit 1 balloon in K -2 group, now the configuration of each group will be: 0 1</a:t>
            </a:r>
          </a:p>
          <a:p>
            <a:r>
              <a:rPr lang="en-US" sz="2500" dirty="0">
                <a:latin typeface="Nunito Sans" panose="00000500000000000000" pitchFamily="2" charset="0"/>
              </a:rPr>
              <a:t>Now there are less than K-2 groups, other have lost all their balloons. And the maximum time Joe was busy was 2 minutes.</a:t>
            </a:r>
          </a:p>
          <a:p>
            <a:endParaRPr lang="en-US" sz="2500" dirty="0">
              <a:latin typeface="Nunito Sans" panose="00000500000000000000" pitchFamily="2" charset="0"/>
            </a:endParaRPr>
          </a:p>
          <a:p>
            <a:r>
              <a:rPr lang="en-US" sz="2500" b="1" dirty="0">
                <a:latin typeface="Nunito Sans" pitchFamily="2" charset="0"/>
              </a:rPr>
              <a:t>Example 2: </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193675" y="883920"/>
            <a:ext cx="12095480" cy="4707890"/>
          </a:xfrm>
          <a:prstGeom prst="rect">
            <a:avLst/>
          </a:prstGeom>
          <a:noFill/>
        </p:spPr>
        <p:txBody>
          <a:bodyPr wrap="square" rtlCol="0">
            <a:spAutoFit/>
          </a:bodyPr>
          <a:lstStyle/>
          <a:p>
            <a:r>
              <a:rPr lang="en-US" sz="2500" b="1" dirty="0">
                <a:latin typeface="Nunito Sans" pitchFamily="2" charset="0"/>
              </a:rPr>
              <a:t>Input:</a:t>
            </a:r>
          </a:p>
          <a:p>
            <a:r>
              <a:rPr lang="en-US" sz="2500" dirty="0">
                <a:latin typeface="Nunito Sans" panose="00000500000000000000" pitchFamily="2" charset="0"/>
              </a:rPr>
              <a:t>5-&gt; Input integer N</a:t>
            </a:r>
          </a:p>
          <a:p>
            <a:r>
              <a:rPr lang="en-US" sz="2500" dirty="0">
                <a:latin typeface="Nunito Sans" panose="00000500000000000000" pitchFamily="2" charset="0"/>
              </a:rPr>
              <a:t>3-&gt; Input integer K</a:t>
            </a:r>
          </a:p>
          <a:p>
            <a:r>
              <a:rPr lang="en-US" sz="2500" dirty="0">
                <a:latin typeface="Nunito Sans" panose="00000500000000000000" pitchFamily="2" charset="0"/>
              </a:rPr>
              <a:t>4 -&gt; Input integer, B[]</a:t>
            </a:r>
          </a:p>
          <a:p>
            <a:r>
              <a:rPr lang="en-US" sz="2500" dirty="0">
                <a:latin typeface="Nunito Sans" panose="00000500000000000000" pitchFamily="2" charset="0"/>
              </a:rPr>
              <a:t>3 -&gt;Input integer, B[]</a:t>
            </a:r>
          </a:p>
          <a:p>
            <a:r>
              <a:rPr lang="en-US" sz="2500" dirty="0">
                <a:latin typeface="Nunito Sans" panose="00000500000000000000" pitchFamily="2" charset="0"/>
              </a:rPr>
              <a:t>5 -&gt;Input integer, B[]</a:t>
            </a:r>
          </a:p>
          <a:p>
            <a:r>
              <a:rPr lang="en-US" sz="2500" dirty="0">
                <a:latin typeface="Nunito Sans" panose="00000500000000000000" pitchFamily="2" charset="0"/>
              </a:rPr>
              <a:t>6 -&gt;Input integer, B[]</a:t>
            </a:r>
          </a:p>
          <a:p>
            <a:r>
              <a:rPr lang="en-US" sz="2500" dirty="0">
                <a:latin typeface="Nunito Sans" panose="00000500000000000000" pitchFamily="2" charset="0"/>
              </a:rPr>
              <a:t>7 -&gt;Input integer, B[]</a:t>
            </a:r>
          </a:p>
          <a:p>
            <a:endParaRPr lang="en-US" sz="2500" dirty="0">
              <a:latin typeface="Nunito Sans" panose="00000500000000000000" pitchFamily="2" charset="0"/>
            </a:endParaRPr>
          </a:p>
          <a:p>
            <a:r>
              <a:rPr lang="en-US" sz="2500" b="1" dirty="0">
                <a:latin typeface="Nunito Sans" panose="00000500000000000000" pitchFamily="2" charset="0"/>
              </a:rPr>
              <a:t>Output:</a:t>
            </a:r>
          </a:p>
          <a:p>
            <a:endParaRPr lang="en-US" sz="2500" b="1" dirty="0">
              <a:latin typeface="Nunito Sans" panose="00000500000000000000" pitchFamily="2" charset="0"/>
            </a:endParaRPr>
          </a:p>
          <a:p>
            <a:r>
              <a:rPr lang="en-US" sz="2500" dirty="0">
                <a:latin typeface="Nunito Sans" pitchFamily="2" charset="0"/>
              </a:rPr>
              <a:t>8 -&gt;output</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&lt;stdlib.h&gt;</a:t>
            </a:r>
          </a:p>
          <a:p>
            <a:r>
              <a:rPr lang="en-US" sz="2000" b="1" dirty="0">
                <a:solidFill>
                  <a:schemeClr val="bg1"/>
                </a:solidFill>
                <a:latin typeface="Nunito Sans" pitchFamily="2" charset="0"/>
                <a:cs typeface="Courier New" panose="02070309020205020404" pitchFamily="49" charset="0"/>
              </a:rPr>
              <a:t>int compare(const void *a, const void *b)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return (*(int*)b - *(int*)a);</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getMaxActiveTime(int N, int K, int* balloons)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qsort(balloons, N, sizeof(int), compare);</a:t>
            </a:r>
          </a:p>
          <a:p>
            <a:r>
              <a:rPr lang="en-US" sz="2000" b="1" dirty="0">
                <a:solidFill>
                  <a:schemeClr val="bg1"/>
                </a:solidFill>
                <a:latin typeface="Nunito Sans" pitchFamily="2" charset="0"/>
                <a:cs typeface="Courier New" panose="02070309020205020404" pitchFamily="49" charset="0"/>
              </a:rPr>
              <a:t>    int minutes = 0;</a:t>
            </a:r>
          </a:p>
          <a:p>
            <a:r>
              <a:rPr lang="en-US" sz="2000" b="1" dirty="0">
                <a:solidFill>
                  <a:schemeClr val="bg1"/>
                </a:solidFill>
                <a:latin typeface="Nunito Sans" pitchFamily="2" charset="0"/>
                <a:cs typeface="Courier New" panose="02070309020205020404" pitchFamily="49" charset="0"/>
              </a:rPr>
              <a:t>    int remainingGroups = N;</a:t>
            </a:r>
          </a:p>
          <a:p>
            <a:r>
              <a:rPr lang="en-US" sz="2000" b="1" dirty="0">
                <a:solidFill>
                  <a:schemeClr val="bg1"/>
                </a:solidFill>
                <a:latin typeface="Nunito Sans" pitchFamily="2" charset="0"/>
                <a:cs typeface="Courier New" panose="02070309020205020404" pitchFamily="49" charset="0"/>
              </a:rPr>
              <a:t>    while (remainingGroups &gt;= K)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K;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balloons[i] -= 1;</a:t>
            </a:r>
          </a:p>
          <a:p>
            <a:r>
              <a:rPr lang="en-US" sz="2000" b="1" dirty="0">
                <a:solidFill>
                  <a:schemeClr val="bg1"/>
                </a:solidFill>
                <a:latin typeface="Nunito Sans" pitchFamily="2" charset="0"/>
                <a:cs typeface="Courier New" panose="02070309020205020404" pitchFamily="49" charset="0"/>
              </a:rPr>
              <a:t>            if (balloons[i]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remainingGroups--;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minutes++;</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altLang="en-IN" sz="2000" b="1" dirty="0">
                <a:solidFill>
                  <a:schemeClr val="bg1"/>
                </a:solidFill>
                <a:latin typeface="Nunito Sans" pitchFamily="2" charset="0"/>
                <a:cs typeface="Courier New" panose="02070309020205020404" pitchFamily="49" charset="0"/>
                <a:sym typeface="+mn-ea"/>
              </a:rPr>
              <a:t> qsort(balloons, N, sizeof(int), compare);</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return minutes;</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int main() </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    int N, K;</a:t>
            </a:r>
          </a:p>
          <a:p>
            <a:r>
              <a:rPr lang="en-US" altLang="en-IN" sz="2000" b="1" dirty="0">
                <a:solidFill>
                  <a:schemeClr val="bg1"/>
                </a:solidFill>
                <a:latin typeface="Nunito Sans" pitchFamily="2" charset="0"/>
                <a:cs typeface="Courier New" panose="02070309020205020404" pitchFamily="49" charset="0"/>
                <a:sym typeface="+mn-ea"/>
              </a:rPr>
              <a:t>    scanf("%d %d", &amp;N, &amp;K);</a:t>
            </a:r>
          </a:p>
          <a:p>
            <a:r>
              <a:rPr lang="en-US" altLang="en-IN" sz="2000" b="1" dirty="0">
                <a:solidFill>
                  <a:schemeClr val="bg1"/>
                </a:solidFill>
                <a:latin typeface="Nunito Sans" pitchFamily="2" charset="0"/>
                <a:cs typeface="Courier New" panose="02070309020205020404" pitchFamily="49" charset="0"/>
                <a:sym typeface="+mn-ea"/>
              </a:rPr>
              <a:t>    int* balloons = (int*)malloc(N * sizeof(int));</a:t>
            </a:r>
          </a:p>
          <a:p>
            <a:r>
              <a:rPr lang="en-US" altLang="en-IN" sz="2000" b="1" dirty="0">
                <a:solidFill>
                  <a:schemeClr val="bg1"/>
                </a:solidFill>
                <a:latin typeface="Nunito Sans" pitchFamily="2" charset="0"/>
                <a:cs typeface="Courier New" panose="02070309020205020404" pitchFamily="49" charset="0"/>
                <a:sym typeface="+mn-ea"/>
              </a:rPr>
              <a:t>    for (int i = 0; i &lt; N; i++)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scanf("%d", &amp;balloons[i]);</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result = getMaxActiveTime(N, K, balloons);</a:t>
            </a:r>
          </a:p>
          <a:p>
            <a:r>
              <a:rPr lang="en-US" altLang="en-IN" sz="2000" b="1" dirty="0">
                <a:solidFill>
                  <a:schemeClr val="bg1"/>
                </a:solidFill>
                <a:latin typeface="Nunito Sans" pitchFamily="2" charset="0"/>
                <a:cs typeface="Courier New" panose="02070309020205020404" pitchFamily="49" charset="0"/>
                <a:sym typeface="+mn-ea"/>
              </a:rPr>
              <a:t>    printf("%d\n", result);</a:t>
            </a:r>
          </a:p>
          <a:p>
            <a:r>
              <a:rPr lang="en-US" altLang="en-IN" sz="2000" b="1" dirty="0">
                <a:solidFill>
                  <a:schemeClr val="bg1"/>
                </a:solidFill>
                <a:latin typeface="Nunito Sans" pitchFamily="2" charset="0"/>
                <a:cs typeface="Courier New" panose="02070309020205020404" pitchFamily="49" charset="0"/>
                <a:sym typeface="+mn-ea"/>
              </a:rPr>
              <a:t>    free(balloons);</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a:p>
            <a:endParaRPr lang="en-US" altLang="en-IN" sz="2000" b="1" dirty="0">
              <a:solidFill>
                <a:schemeClr val="bg1"/>
              </a:solidFill>
              <a:latin typeface="Nunito Sans" pitchFamily="2" charset="0"/>
              <a:cs typeface="Courier New" panose="02070309020205020404" pitchFamily="49" charset="0"/>
              <a:sym typeface="+mn-ea"/>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&lt;vector&gt;</a:t>
            </a:r>
          </a:p>
          <a:p>
            <a:r>
              <a:rPr lang="en-US" sz="2000" b="1" dirty="0">
                <a:solidFill>
                  <a:schemeClr val="bg1"/>
                </a:solidFill>
                <a:latin typeface="Nunito Sans" pitchFamily="2" charset="0"/>
                <a:cs typeface="Courier New" panose="02070309020205020404" pitchFamily="49" charset="0"/>
              </a:rPr>
              <a:t>#include &lt;algorithm&gt;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getMaxActiveTime(int N, int K, vector&lt;int&gt;&amp; balloons)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sort(balloons.rbegin(), balloons.rend()); // Sort balloons in descending order</a:t>
            </a:r>
          </a:p>
          <a:p>
            <a:r>
              <a:rPr lang="en-US" sz="2000" b="1" dirty="0">
                <a:solidFill>
                  <a:schemeClr val="bg1"/>
                </a:solidFill>
                <a:latin typeface="Nunito Sans" pitchFamily="2" charset="0"/>
                <a:cs typeface="Courier New" panose="02070309020205020404" pitchFamily="49" charset="0"/>
              </a:rPr>
              <a:t>    int minutes = 0;</a:t>
            </a:r>
          </a:p>
          <a:p>
            <a:r>
              <a:rPr lang="en-US" sz="2000" b="1" dirty="0">
                <a:solidFill>
                  <a:schemeClr val="bg1"/>
                </a:solidFill>
                <a:latin typeface="Nunito Sans" pitchFamily="2" charset="0"/>
                <a:cs typeface="Courier New" panose="02070309020205020404" pitchFamily="49" charset="0"/>
              </a:rPr>
              <a:t>    int remainingGroups = N;</a:t>
            </a:r>
          </a:p>
          <a:p>
            <a:r>
              <a:rPr lang="en-US" sz="2000" b="1" dirty="0">
                <a:solidFill>
                  <a:schemeClr val="bg1"/>
                </a:solidFill>
                <a:latin typeface="Nunito Sans" pitchFamily="2" charset="0"/>
                <a:cs typeface="Courier New" panose="02070309020205020404" pitchFamily="49" charset="0"/>
              </a:rPr>
              <a:t>    while (remainingGroups &gt;= K)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K;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balloons[i] -= 1; // Shoot one balloon in K groups</a:t>
            </a:r>
          </a:p>
          <a:p>
            <a:r>
              <a:rPr lang="en-US" sz="2000" b="1" dirty="0">
                <a:solidFill>
                  <a:schemeClr val="bg1"/>
                </a:solidFill>
                <a:latin typeface="Nunito Sans" pitchFamily="2" charset="0"/>
                <a:cs typeface="Courier New" panose="02070309020205020404" pitchFamily="49" charset="0"/>
              </a:rPr>
              <a:t>            if (balloons[i]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remainingGroups--; // Reduce the count of remaining groups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minutes++; // Increment the minutes</a:t>
            </a:r>
          </a:p>
          <a:p>
            <a:r>
              <a:rPr lang="en-US" sz="2000" b="1" dirty="0">
                <a:solidFill>
                  <a:schemeClr val="bg1"/>
                </a:solidFill>
                <a:latin typeface="Nunito Sans" pitchFamily="2" charset="0"/>
                <a:cs typeface="Courier New" panose="02070309020205020404" pitchFamily="49" charset="0"/>
              </a:rPr>
              <a:t>        sort(balloons.rbegin(), balloons.rend()); // Sort balloons again</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altLang="en-IN" sz="2000" b="1" dirty="0">
                <a:solidFill>
                  <a:schemeClr val="bg1"/>
                </a:solidFill>
                <a:latin typeface="Nunito Sans" pitchFamily="2" charset="0"/>
                <a:cs typeface="Courier New" panose="02070309020205020404" pitchFamily="49" charset="0"/>
                <a:sym typeface="+mn-ea"/>
              </a:rPr>
              <a:t>  return minutes;</a:t>
            </a:r>
          </a:p>
          <a:p>
            <a:r>
              <a:rPr lang="en-US" altLang="en-IN" sz="2000" b="1" dirty="0">
                <a:solidFill>
                  <a:schemeClr val="bg1"/>
                </a:solidFill>
                <a:latin typeface="Nunito Sans" pitchFamily="2" charset="0"/>
                <a:cs typeface="Courier New" panose="02070309020205020404" pitchFamily="49" charset="0"/>
                <a:sym typeface="+mn-ea"/>
              </a:rPr>
              <a:t>}</a:t>
            </a:r>
          </a:p>
          <a:p>
            <a:endParaRPr lang="en-US" altLang="en-IN" sz="2000" b="1" dirty="0">
              <a:solidFill>
                <a:schemeClr val="bg1"/>
              </a:solidFill>
              <a:latin typeface="Nunito Sans" pitchFamily="2" charset="0"/>
              <a:cs typeface="Courier New" panose="02070309020205020404" pitchFamily="49" charset="0"/>
              <a:sym typeface="+mn-ea"/>
            </a:endParaRPr>
          </a:p>
          <a:p>
            <a:r>
              <a:rPr lang="en-US" altLang="en-IN" sz="2000" b="1" dirty="0">
                <a:solidFill>
                  <a:schemeClr val="bg1"/>
                </a:solidFill>
                <a:latin typeface="Nunito Sans" pitchFamily="2" charset="0"/>
                <a:cs typeface="Courier New" panose="02070309020205020404" pitchFamily="49" charset="0"/>
                <a:sym typeface="+mn-ea"/>
              </a:rPr>
              <a:t>int main()</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    int N, K;</a:t>
            </a:r>
          </a:p>
          <a:p>
            <a:r>
              <a:rPr lang="en-US" altLang="en-IN" sz="2000" b="1" dirty="0">
                <a:solidFill>
                  <a:schemeClr val="bg1"/>
                </a:solidFill>
                <a:latin typeface="Nunito Sans" pitchFamily="2" charset="0"/>
                <a:cs typeface="Courier New" panose="02070309020205020404" pitchFamily="49" charset="0"/>
                <a:sym typeface="+mn-ea"/>
              </a:rPr>
              <a:t>    cin &gt;&gt; N &gt;&gt; K;</a:t>
            </a:r>
          </a:p>
          <a:p>
            <a:r>
              <a:rPr lang="en-US" altLang="en-IN" sz="2000" b="1" dirty="0">
                <a:solidFill>
                  <a:schemeClr val="bg1"/>
                </a:solidFill>
                <a:latin typeface="Nunito Sans" pitchFamily="2" charset="0"/>
                <a:cs typeface="Courier New" panose="02070309020205020404" pitchFamily="49" charset="0"/>
                <a:sym typeface="+mn-ea"/>
              </a:rPr>
              <a:t>    vector&lt;int&gt; balloons(N);</a:t>
            </a:r>
          </a:p>
          <a:p>
            <a:r>
              <a:rPr lang="en-US" altLang="en-IN" sz="2000" b="1" dirty="0">
                <a:solidFill>
                  <a:schemeClr val="bg1"/>
                </a:solidFill>
                <a:latin typeface="Nunito Sans" pitchFamily="2" charset="0"/>
                <a:cs typeface="Courier New" panose="02070309020205020404" pitchFamily="49" charset="0"/>
                <a:sym typeface="+mn-ea"/>
              </a:rPr>
              <a:t>    for (int i = 0; i &lt; N; i++)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cin &gt;&gt; balloons[i];</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result = getMaxActiveTime(N, K, balloons);</a:t>
            </a:r>
          </a:p>
          <a:p>
            <a:r>
              <a:rPr lang="en-US" altLang="en-IN" sz="2000" b="1" dirty="0">
                <a:solidFill>
                  <a:schemeClr val="bg1"/>
                </a:solidFill>
                <a:latin typeface="Nunito Sans" pitchFamily="2" charset="0"/>
                <a:cs typeface="Courier New" panose="02070309020205020404" pitchFamily="49" charset="0"/>
                <a:sym typeface="+mn-ea"/>
              </a:rPr>
              <a:t>    cout &lt;&lt; result &lt;&lt; endl;</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a:p>
            <a:endParaRPr lang="en-US" altLang="en-IN" sz="2000" b="1" dirty="0">
              <a:solidFill>
                <a:schemeClr val="bg1"/>
              </a:solidFill>
              <a:latin typeface="Nunito Sans" pitchFamily="2" charset="0"/>
              <a:cs typeface="Courier New" panose="02070309020205020404" pitchFamily="49" charset="0"/>
              <a:sym typeface="+mn-ea"/>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int getMaxActiveTime(int N, int K, List&lt;Integer&gt; balloons)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Collections.sort(balloons, Collections.reverseOrder()); // Sort balloons in descending order</a:t>
            </a:r>
          </a:p>
          <a:p>
            <a:r>
              <a:rPr lang="en-US" sz="2000" b="1" dirty="0">
                <a:solidFill>
                  <a:schemeClr val="bg1"/>
                </a:solidFill>
                <a:latin typeface="Nunito Sans" pitchFamily="2" charset="0"/>
                <a:cs typeface="Courier New" panose="02070309020205020404" pitchFamily="49" charset="0"/>
              </a:rPr>
              <a:t>        int minutes = 0;</a:t>
            </a:r>
          </a:p>
          <a:p>
            <a:r>
              <a:rPr lang="en-US" sz="2000" b="1" dirty="0">
                <a:solidFill>
                  <a:schemeClr val="bg1"/>
                </a:solidFill>
                <a:latin typeface="Nunito Sans" pitchFamily="2" charset="0"/>
                <a:cs typeface="Courier New" panose="02070309020205020404" pitchFamily="49" charset="0"/>
              </a:rPr>
              <a:t>        int remainingGroups = N;</a:t>
            </a:r>
          </a:p>
          <a:p>
            <a:r>
              <a:rPr lang="en-US" sz="2000" b="1" dirty="0">
                <a:solidFill>
                  <a:schemeClr val="bg1"/>
                </a:solidFill>
                <a:latin typeface="Nunito Sans" pitchFamily="2" charset="0"/>
                <a:cs typeface="Courier New" panose="02070309020205020404" pitchFamily="49" charset="0"/>
              </a:rPr>
              <a:t>        while (remainingGroups &gt;= K)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K;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balloon = balloons.get(i) - 1; // Shoot one balloon in K groups</a:t>
            </a:r>
          </a:p>
          <a:p>
            <a:r>
              <a:rPr lang="en-US" sz="2000" b="1" dirty="0">
                <a:solidFill>
                  <a:schemeClr val="bg1"/>
                </a:solidFill>
                <a:latin typeface="Nunito Sans" pitchFamily="2" charset="0"/>
                <a:cs typeface="Courier New" panose="02070309020205020404" pitchFamily="49" charset="0"/>
              </a:rPr>
              <a:t>                balloons.set(i, balloon);</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(balloon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remainingGroups--; // Reduce the count of remaining groups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3" name="Picture 2">
            <a:extLst>
              <a:ext uri="{FF2B5EF4-FFF2-40B4-BE49-F238E27FC236}">
                <a16:creationId xmlns:a16="http://schemas.microsoft.com/office/drawing/2014/main" id="{E23AD46D-E9AA-2C0C-5034-4DEA6430D7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altLang="en-IN" sz="2000" b="1" dirty="0">
                <a:solidFill>
                  <a:schemeClr val="bg1"/>
                </a:solidFill>
                <a:latin typeface="Nunito Sans" pitchFamily="2" charset="0"/>
                <a:cs typeface="Courier New" panose="02070309020205020404" pitchFamily="49" charset="0"/>
                <a:sym typeface="+mn-ea"/>
              </a:rPr>
              <a:t> minutes++; // Increment the minutes</a:t>
            </a:r>
          </a:p>
          <a:p>
            <a:r>
              <a:rPr lang="en-US" altLang="en-IN" sz="2000" b="1" dirty="0">
                <a:solidFill>
                  <a:schemeClr val="bg1"/>
                </a:solidFill>
                <a:latin typeface="Nunito Sans" pitchFamily="2" charset="0"/>
                <a:cs typeface="Courier New" panose="02070309020205020404" pitchFamily="49" charset="0"/>
                <a:sym typeface="+mn-ea"/>
              </a:rPr>
              <a:t>            Collections.sort(balloons, Collections.reverseOrder()); // Sort balloons again</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return minutes;</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public static void main(String[] args)</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Scanner scanner = new Scanner(System.in);</a:t>
            </a:r>
          </a:p>
          <a:p>
            <a:r>
              <a:rPr lang="en-US" altLang="en-IN" sz="2000" b="1" dirty="0">
                <a:solidFill>
                  <a:schemeClr val="bg1"/>
                </a:solidFill>
                <a:latin typeface="Nunito Sans" pitchFamily="2" charset="0"/>
                <a:cs typeface="Courier New" panose="02070309020205020404" pitchFamily="49" charset="0"/>
                <a:sym typeface="+mn-ea"/>
              </a:rPr>
              <a:t>        int N = scanner.nextInt();</a:t>
            </a:r>
          </a:p>
          <a:p>
            <a:r>
              <a:rPr lang="en-US" altLang="en-IN" sz="2000" b="1" dirty="0">
                <a:solidFill>
                  <a:schemeClr val="bg1"/>
                </a:solidFill>
                <a:latin typeface="Nunito Sans" pitchFamily="2" charset="0"/>
                <a:cs typeface="Courier New" panose="02070309020205020404" pitchFamily="49" charset="0"/>
                <a:sym typeface="+mn-ea"/>
              </a:rPr>
              <a:t>        int K = scanner.nextInt();</a:t>
            </a:r>
          </a:p>
          <a:p>
            <a:r>
              <a:rPr lang="en-US" altLang="en-IN" sz="2000" b="1" dirty="0">
                <a:solidFill>
                  <a:schemeClr val="bg1"/>
                </a:solidFill>
                <a:latin typeface="Nunito Sans" pitchFamily="2" charset="0"/>
                <a:cs typeface="Courier New" panose="02070309020205020404" pitchFamily="49" charset="0"/>
                <a:sym typeface="+mn-ea"/>
              </a:rPr>
              <a:t>        List&lt;Integer&gt; balloons = new ArrayList&lt;&gt;();</a:t>
            </a:r>
          </a:p>
          <a:p>
            <a:r>
              <a:rPr lang="en-US" altLang="en-IN" sz="2000" b="1" dirty="0">
                <a:solidFill>
                  <a:schemeClr val="bg1"/>
                </a:solidFill>
                <a:latin typeface="Nunito Sans" pitchFamily="2" charset="0"/>
                <a:cs typeface="Courier New" panose="02070309020205020404" pitchFamily="49" charset="0"/>
                <a:sym typeface="+mn-ea"/>
              </a:rPr>
              <a:t>        for (int i = 0; i &lt; N; i++)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balloons.add(scanner.nextInt());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result = getMaxActiveTime(N, K, balloons);</a:t>
            </a:r>
          </a:p>
          <a:p>
            <a:r>
              <a:rPr lang="en-US" altLang="en-IN" sz="2000" b="1" dirty="0">
                <a:solidFill>
                  <a:schemeClr val="bg1"/>
                </a:solidFill>
                <a:latin typeface="Nunito Sans" pitchFamily="2" charset="0"/>
                <a:cs typeface="Courier New" panose="02070309020205020404" pitchFamily="49" charset="0"/>
                <a:sym typeface="+mn-ea"/>
              </a:rPr>
              <a:t>        System.out.println(result);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get_max_active_time(N, K, balloons):</a:t>
            </a:r>
          </a:p>
          <a:p>
            <a:r>
              <a:rPr lang="en-US" sz="2000" b="1" dirty="0">
                <a:solidFill>
                  <a:schemeClr val="bg1"/>
                </a:solidFill>
                <a:latin typeface="Nunito Sans" pitchFamily="2" charset="0"/>
                <a:cs typeface="Courier New" panose="02070309020205020404" pitchFamily="49" charset="0"/>
              </a:rPr>
              <a:t>    balloons.sort(reverse=True)  # Sort balloons in descending order</a:t>
            </a:r>
          </a:p>
          <a:p>
            <a:r>
              <a:rPr lang="en-US" sz="2000" b="1" dirty="0">
                <a:solidFill>
                  <a:schemeClr val="bg1"/>
                </a:solidFill>
                <a:latin typeface="Nunito Sans" pitchFamily="2" charset="0"/>
                <a:cs typeface="Courier New" panose="02070309020205020404" pitchFamily="49" charset="0"/>
              </a:rPr>
              <a:t>    minutes = 0</a:t>
            </a:r>
          </a:p>
          <a:p>
            <a:r>
              <a:rPr lang="en-US" sz="2000" b="1" dirty="0">
                <a:solidFill>
                  <a:schemeClr val="bg1"/>
                </a:solidFill>
                <a:latin typeface="Nunito Sans" pitchFamily="2" charset="0"/>
                <a:cs typeface="Courier New" panose="02070309020205020404" pitchFamily="49" charset="0"/>
              </a:rPr>
              <a:t>    remaining_groups = N</a:t>
            </a:r>
          </a:p>
          <a:p>
            <a:r>
              <a:rPr lang="en-US" sz="2000" b="1" dirty="0">
                <a:solidFill>
                  <a:schemeClr val="bg1"/>
                </a:solidFill>
                <a:latin typeface="Nunito Sans" pitchFamily="2" charset="0"/>
                <a:cs typeface="Courier New" panose="02070309020205020404" pitchFamily="49" charset="0"/>
              </a:rPr>
              <a:t>    while remaining_groups &gt;= K:</a:t>
            </a:r>
          </a:p>
          <a:p>
            <a:r>
              <a:rPr lang="en-US" sz="2000" b="1" dirty="0">
                <a:solidFill>
                  <a:schemeClr val="bg1"/>
                </a:solidFill>
                <a:latin typeface="Nunito Sans" pitchFamily="2" charset="0"/>
                <a:cs typeface="Courier New" panose="02070309020205020404" pitchFamily="49" charset="0"/>
              </a:rPr>
              <a:t>        for i in range(K):</a:t>
            </a:r>
          </a:p>
          <a:p>
            <a:r>
              <a:rPr lang="en-US" sz="2000" b="1" dirty="0">
                <a:solidFill>
                  <a:schemeClr val="bg1"/>
                </a:solidFill>
                <a:latin typeface="Nunito Sans" pitchFamily="2" charset="0"/>
                <a:cs typeface="Courier New" panose="02070309020205020404" pitchFamily="49" charset="0"/>
              </a:rPr>
              <a:t>            balloon = balloons[i] - 1  # Shoot one balloon in K groups</a:t>
            </a:r>
          </a:p>
          <a:p>
            <a:r>
              <a:rPr lang="en-US" sz="2000" b="1" dirty="0">
                <a:solidFill>
                  <a:schemeClr val="bg1"/>
                </a:solidFill>
                <a:latin typeface="Nunito Sans" pitchFamily="2" charset="0"/>
                <a:cs typeface="Courier New" panose="02070309020205020404" pitchFamily="49" charset="0"/>
              </a:rPr>
              <a:t>            balloons[i] = balloon</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if balloon == 0:</a:t>
            </a:r>
          </a:p>
          <a:p>
            <a:r>
              <a:rPr lang="en-US" sz="2000" b="1" dirty="0">
                <a:solidFill>
                  <a:schemeClr val="bg1"/>
                </a:solidFill>
                <a:latin typeface="Nunito Sans" pitchFamily="2" charset="0"/>
                <a:cs typeface="Courier New" panose="02070309020205020404" pitchFamily="49" charset="0"/>
              </a:rPr>
              <a:t>                remaining_groups -= 1  # Reduce the count of remaining groups</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minutes += 1  # Increment the minutes</a:t>
            </a:r>
          </a:p>
          <a:p>
            <a:r>
              <a:rPr lang="en-US" sz="2000" b="1" dirty="0">
                <a:solidFill>
                  <a:schemeClr val="bg1"/>
                </a:solidFill>
                <a:latin typeface="Nunito Sans" pitchFamily="2" charset="0"/>
                <a:cs typeface="Courier New" panose="02070309020205020404" pitchFamily="49" charset="0"/>
              </a:rPr>
              <a:t>        balloons.sort(reverse=True)  # Sort balloons again</a:t>
            </a:r>
          </a:p>
          <a:p>
            <a:r>
              <a:rPr lang="en-US" sz="2000" b="1" dirty="0">
                <a:solidFill>
                  <a:schemeClr val="bg1"/>
                </a:solidFill>
                <a:latin typeface="Nunito Sans" pitchFamily="2" charset="0"/>
                <a:cs typeface="Courier New" panose="02070309020205020404" pitchFamily="49" charset="0"/>
              </a:rPr>
              <a:t>    return minutes</a:t>
            </a:r>
          </a:p>
          <a:p>
            <a:r>
              <a:rPr lang="en-US" sz="2000" b="1" dirty="0">
                <a:solidFill>
                  <a:schemeClr val="bg1"/>
                </a:solidFill>
                <a:latin typeface="Nunito Sans" pitchFamily="2" charset="0"/>
                <a:cs typeface="Courier New" panose="02070309020205020404" pitchFamily="49" charset="0"/>
              </a:rPr>
              <a:t>N = int(input())</a:t>
            </a:r>
          </a:p>
          <a:p>
            <a:r>
              <a:rPr lang="en-US" sz="2000" b="1" dirty="0">
                <a:solidFill>
                  <a:schemeClr val="bg1"/>
                </a:solidFill>
                <a:latin typeface="Nunito Sans" pitchFamily="2" charset="0"/>
                <a:cs typeface="Courier New" panose="02070309020205020404" pitchFamily="49" charset="0"/>
              </a:rPr>
              <a:t>K = int(input())</a:t>
            </a:r>
          </a:p>
          <a:p>
            <a:r>
              <a:rPr lang="en-US" sz="2000" b="1" dirty="0">
                <a:solidFill>
                  <a:schemeClr val="bg1"/>
                </a:solidFill>
                <a:latin typeface="Nunito Sans" pitchFamily="2" charset="0"/>
                <a:cs typeface="Courier New" panose="02070309020205020404" pitchFamily="49" charset="0"/>
              </a:rPr>
              <a:t>balloons = []</a:t>
            </a:r>
          </a:p>
          <a:p>
            <a:r>
              <a:rPr lang="en-US" sz="2000" b="1" dirty="0">
                <a:solidFill>
                  <a:schemeClr val="bg1"/>
                </a:solidFill>
                <a:latin typeface="Nunito Sans" pitchFamily="2" charset="0"/>
                <a:cs typeface="Courier New" panose="02070309020205020404" pitchFamily="49" charset="0"/>
              </a:rPr>
              <a:t>for _ in range(N):</a:t>
            </a:r>
          </a:p>
          <a:p>
            <a:r>
              <a:rPr lang="en-US" sz="2000" b="1" dirty="0">
                <a:solidFill>
                  <a:schemeClr val="bg1"/>
                </a:solidFill>
                <a:latin typeface="Nunito Sans" pitchFamily="2" charset="0"/>
                <a:cs typeface="Courier New" panose="02070309020205020404" pitchFamily="49" charset="0"/>
              </a:rPr>
              <a:t>    balloons.append(int(input()))</a:t>
            </a:r>
          </a:p>
          <a:p>
            <a:r>
              <a:rPr lang="en-US" sz="2000" b="1" dirty="0">
                <a:solidFill>
                  <a:schemeClr val="bg1"/>
                </a:solidFill>
                <a:latin typeface="Nunito Sans" pitchFamily="2" charset="0"/>
                <a:cs typeface="Courier New" panose="02070309020205020404" pitchFamily="49" charset="0"/>
              </a:rPr>
              <a:t>result = get_max_active_time(N, K, balloons)</a:t>
            </a:r>
          </a:p>
          <a:p>
            <a:r>
              <a:rPr lang="en-US" sz="2000" b="1" dirty="0">
                <a:solidFill>
                  <a:schemeClr val="bg1"/>
                </a:solidFill>
                <a:latin typeface="Nunito Sans" pitchFamily="2" charset="0"/>
                <a:cs typeface="Courier New" panose="02070309020205020404" pitchFamily="49" charset="0"/>
              </a:rPr>
              <a:t>print(result)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478423"/>
          </a:xfrm>
          <a:prstGeom prst="rect">
            <a:avLst/>
          </a:prstGeom>
          <a:noFill/>
        </p:spPr>
        <p:txBody>
          <a:bodyPr wrap="square" rtlCol="0">
            <a:spAutoFit/>
          </a:bodyPr>
          <a:lstStyle/>
          <a:p>
            <a:r>
              <a:rPr lang="en-US" sz="2500" dirty="0">
                <a:latin typeface="Nunito Sans" panose="00000500000000000000" pitchFamily="2" charset="0"/>
              </a:rPr>
              <a:t>Mike came up with a new way of sorting a string. What he does is he takes all the unique alphabets from the string and sorts it in that order. Let say there is a string "apple", now it contains a p l e as distinct alphabets.</a:t>
            </a:r>
          </a:p>
          <a:p>
            <a:endParaRPr lang="en-US" sz="2500" dirty="0">
              <a:latin typeface="Nunito Sans" panose="00000500000000000000" pitchFamily="2" charset="0"/>
            </a:endParaRPr>
          </a:p>
          <a:p>
            <a:r>
              <a:rPr lang="en-US" sz="2500" dirty="0">
                <a:latin typeface="Nunito Sans" panose="00000500000000000000" pitchFamily="2" charset="0"/>
              </a:rPr>
              <a:t>He sorts the string apple based on his own keys let say eapl. So, first all "e" will be picked from the string "apple", and then all "a", and so on till "T". Hence the final sorted word becomes "eappl".</a:t>
            </a:r>
          </a:p>
          <a:p>
            <a:endParaRPr lang="en-US" sz="2500" dirty="0">
              <a:latin typeface="Nunito Sans" panose="00000500000000000000" pitchFamily="2" charset="0"/>
            </a:endParaRPr>
          </a:p>
          <a:p>
            <a:r>
              <a:rPr lang="en-US" sz="2500" b="1" dirty="0">
                <a:latin typeface="Nunito Sans" pitchFamily="2" charset="0"/>
              </a:rPr>
              <a:t>The Input format for testing</a:t>
            </a:r>
          </a:p>
          <a:p>
            <a:r>
              <a:rPr lang="en-US" sz="2500" dirty="0">
                <a:latin typeface="Nunito Sans" panose="00000500000000000000" pitchFamily="2" charset="0"/>
              </a:rPr>
              <a:t>The candidate has to write the code to accept 2 input(s)</a:t>
            </a:r>
          </a:p>
          <a:p>
            <a:r>
              <a:rPr lang="en-US" sz="2500" dirty="0">
                <a:latin typeface="Nunito Sans" panose="00000500000000000000" pitchFamily="2" charset="0"/>
              </a:rPr>
              <a:t>•First Input - Accept value for input string.</a:t>
            </a:r>
          </a:p>
          <a:p>
            <a:r>
              <a:rPr lang="en-US" sz="2500" dirty="0">
                <a:latin typeface="Nunito Sans" panose="00000500000000000000" pitchFamily="2" charset="0"/>
              </a:rPr>
              <a:t>•First Input - Accept value for input key.</a:t>
            </a:r>
          </a:p>
          <a:p>
            <a:endParaRPr lang="en-US" sz="2500" dirty="0">
              <a:latin typeface="Nunito Sans" panose="00000500000000000000" pitchFamily="2" charset="0"/>
            </a:endParaRPr>
          </a:p>
          <a:p>
            <a:r>
              <a:rPr lang="en-US" sz="2500" b="1" dirty="0">
                <a:latin typeface="Nunito Sans" pitchFamily="2" charset="0"/>
              </a:rPr>
              <a:t>The Output format for testing</a:t>
            </a:r>
            <a:endParaRPr lang="en-US" sz="2500" dirty="0">
              <a:latin typeface="Nunito Sans" pitchFamily="2" charset="0"/>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478423"/>
          </a:xfrm>
          <a:prstGeom prst="rect">
            <a:avLst/>
          </a:prstGeom>
          <a:noFill/>
        </p:spPr>
        <p:txBody>
          <a:bodyPr wrap="square" rtlCol="0">
            <a:spAutoFit/>
          </a:bodyPr>
          <a:lstStyle/>
          <a:p>
            <a:r>
              <a:rPr lang="en-US" sz="2500" dirty="0">
                <a:latin typeface="Nunito Sans" panose="00000500000000000000" pitchFamily="2" charset="0"/>
              </a:rPr>
              <a:t>•The output should be a sorted string based on the input key given by the user as mentioned in the above criteria. (Check the output in Example 1, Example 2)</a:t>
            </a:r>
          </a:p>
          <a:p>
            <a:endParaRPr lang="en-US" sz="2500" dirty="0">
              <a:latin typeface="Nunito Sans" panose="00000500000000000000" pitchFamily="2" charset="0"/>
            </a:endParaRPr>
          </a:p>
          <a:p>
            <a:r>
              <a:rPr lang="en-US" sz="2500" dirty="0">
                <a:latin typeface="Nunito Sans" panose="00000500000000000000" pitchFamily="2" charset="0"/>
              </a:rPr>
              <a:t>•Additional messages in output will cause the failure of test cases.</a:t>
            </a:r>
          </a:p>
          <a:p>
            <a:endParaRPr lang="en-US" sz="2500" dirty="0">
              <a:latin typeface="Nunito Sans" panose="00000500000000000000" pitchFamily="2" charset="0"/>
            </a:endParaRPr>
          </a:p>
          <a:p>
            <a:r>
              <a:rPr lang="en-US" sz="2500" b="1" dirty="0">
                <a:latin typeface="Nunito Sans" pitchFamily="2" charset="0"/>
              </a:rPr>
              <a:t>Constraints:</a:t>
            </a:r>
          </a:p>
          <a:p>
            <a:r>
              <a:rPr lang="en-US" sz="2500" dirty="0">
                <a:latin typeface="Nunito Sans" panose="00000500000000000000" pitchFamily="2" charset="0"/>
              </a:rPr>
              <a:t>0&lt;length(input String)&lt;=50</a:t>
            </a:r>
          </a:p>
          <a:p>
            <a:r>
              <a:rPr lang="en-US" sz="2500" dirty="0">
                <a:latin typeface="Nunito Sans" panose="00000500000000000000" pitchFamily="2" charset="0"/>
              </a:rPr>
              <a:t>Input key should contain all the alphabets of inputstrings</a:t>
            </a:r>
          </a:p>
          <a:p>
            <a:r>
              <a:rPr lang="en-US" sz="2500" dirty="0">
                <a:latin typeface="Nunito Sans" panose="00000500000000000000" pitchFamily="2" charset="0"/>
              </a:rPr>
              <a:t>No duplicates in input keys.</a:t>
            </a:r>
          </a:p>
          <a:p>
            <a:endParaRPr lang="en-US" sz="2500" dirty="0">
              <a:latin typeface="Nunito Sans" panose="00000500000000000000" pitchFamily="2" charset="0"/>
            </a:endParaRPr>
          </a:p>
          <a:p>
            <a:r>
              <a:rPr lang="en-US" sz="2500" b="1" dirty="0">
                <a:latin typeface="Nunito Sans" pitchFamily="2" charset="0"/>
              </a:rPr>
              <a:t>Example 1:</a:t>
            </a:r>
          </a:p>
          <a:p>
            <a:r>
              <a:rPr lang="en-US" sz="2500" dirty="0">
                <a:latin typeface="Nunito Sans" panose="00000500000000000000" pitchFamily="2" charset="0"/>
              </a:rPr>
              <a:t>Input:</a:t>
            </a:r>
          </a:p>
          <a:p>
            <a:r>
              <a:rPr lang="en-US" sz="2500" dirty="0">
                <a:latin typeface="Nunito Sans" panose="00000500000000000000" pitchFamily="2" charset="0"/>
              </a:rPr>
              <a:t>apple-&gt;Input string</a:t>
            </a:r>
          </a:p>
          <a:p>
            <a:r>
              <a:rPr lang="en-US" sz="2500" dirty="0">
                <a:latin typeface="Nunito Sans" panose="00000500000000000000" pitchFamily="2" charset="0"/>
              </a:rPr>
              <a:t>eapl -&gt; Input string, sorting key value</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478423"/>
          </a:xfrm>
          <a:prstGeom prst="rect">
            <a:avLst/>
          </a:prstGeom>
          <a:noFill/>
        </p:spPr>
        <p:txBody>
          <a:bodyPr wrap="square" rtlCol="0">
            <a:spAutoFit/>
          </a:bodyPr>
          <a:lstStyle/>
          <a:p>
            <a:r>
              <a:rPr lang="en-US" sz="2500" b="1" dirty="0">
                <a:latin typeface="Nunito Sans" pitchFamily="2" charset="0"/>
              </a:rPr>
              <a:t>Output:</a:t>
            </a:r>
          </a:p>
          <a:p>
            <a:r>
              <a:rPr lang="en-US" sz="2500" dirty="0">
                <a:latin typeface="Nunito Sans" panose="00000500000000000000" pitchFamily="2" charset="0"/>
              </a:rPr>
              <a:t>eappl-&gt;output string with sorted value based on the user keys.</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anose="00000500000000000000" pitchFamily="2" charset="0"/>
              </a:rPr>
              <a:t>The input by the user is "apple” and the key is "eapl". So, as per the key, all "e" has to be sorted first. Then all the a's and the all the p's, and finally all the 1’s .Note that here we have 2 p's so they will be sorted together in the output. Putting everything together the final string comes as “eappl”</a:t>
            </a:r>
          </a:p>
          <a:p>
            <a:endParaRPr lang="en-US" sz="2500" dirty="0">
              <a:latin typeface="Nunito Sans" panose="00000500000000000000" pitchFamily="2" charset="0"/>
            </a:endParaRPr>
          </a:p>
          <a:p>
            <a:r>
              <a:rPr lang="en-US" sz="2500" b="1" dirty="0">
                <a:latin typeface="Nunito Sans" pitchFamily="2" charset="0"/>
              </a:rPr>
              <a:t>Example 2:</a:t>
            </a:r>
          </a:p>
          <a:p>
            <a:endParaRPr lang="en-US" sz="2500" dirty="0">
              <a:latin typeface="Nunito Sans" pitchFamily="2" charset="0"/>
            </a:endParaRPr>
          </a:p>
          <a:p>
            <a:r>
              <a:rPr lang="en-US" sz="2500" b="1" dirty="0">
                <a:latin typeface="Nunito Sans" pitchFamily="2" charset="0"/>
              </a:rPr>
              <a:t>Input:</a:t>
            </a:r>
          </a:p>
          <a:p>
            <a:r>
              <a:rPr lang="en-US" sz="2500" dirty="0">
                <a:latin typeface="Nunito Sans" panose="00000500000000000000" pitchFamily="2" charset="0"/>
              </a:rPr>
              <a:t>welcome -&gt;input string</a:t>
            </a:r>
          </a:p>
          <a:p>
            <a:r>
              <a:rPr lang="en-US" sz="2500" dirty="0">
                <a:latin typeface="Nunito Sans" panose="00000500000000000000" pitchFamily="2" charset="0"/>
              </a:rPr>
              <a:t>lowmec -&gt; input string,sorting key value</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092700"/>
          </a:xfrm>
          <a:prstGeom prst="rect">
            <a:avLst/>
          </a:prstGeom>
          <a:noFill/>
        </p:spPr>
        <p:txBody>
          <a:bodyPr wrap="square" rtlCol="0">
            <a:spAutoFit/>
          </a:bodyPr>
          <a:lstStyle/>
          <a:p>
            <a:r>
              <a:rPr lang="en-US" sz="2500" b="1" dirty="0">
                <a:latin typeface="Nunito Sans" pitchFamily="2" charset="0"/>
              </a:rPr>
              <a:t>Output:</a:t>
            </a:r>
          </a:p>
          <a:p>
            <a:endParaRPr lang="en-US" sz="2500" dirty="0">
              <a:latin typeface="Nunito Sans" panose="00000500000000000000" pitchFamily="2" charset="0"/>
            </a:endParaRPr>
          </a:p>
          <a:p>
            <a:r>
              <a:rPr lang="en-US" sz="2500" dirty="0">
                <a:latin typeface="Nunito Sans" panose="00000500000000000000" pitchFamily="2" charset="0"/>
              </a:rPr>
              <a:t>lowmeec -&gt;output string with sorted value based on the user keys.</a:t>
            </a:r>
          </a:p>
          <a:p>
            <a:endParaRPr lang="en-US" sz="2500" dirty="0">
              <a:latin typeface="Nunito Sans" panose="00000500000000000000" pitchFamily="2" charset="0"/>
            </a:endParaRPr>
          </a:p>
          <a:p>
            <a:r>
              <a:rPr lang="en-US" sz="2500" b="1" dirty="0">
                <a:latin typeface="Nunito Sans" pitchFamily="2" charset="0"/>
              </a:rPr>
              <a:t>Explanation:</a:t>
            </a:r>
          </a:p>
          <a:p>
            <a:endParaRPr lang="en-US" sz="2500" dirty="0">
              <a:latin typeface="Nunito Sans" panose="00000500000000000000" pitchFamily="2" charset="0"/>
            </a:endParaRPr>
          </a:p>
          <a:p>
            <a:r>
              <a:rPr lang="en-US" sz="2500" dirty="0">
                <a:latin typeface="Nunito Sans" panose="00000500000000000000" pitchFamily="2" charset="0"/>
              </a:rPr>
              <a:t>The input by the user is “welcome” and the key is “lowmec". So, as per the key, all 1’s has to be sorted first,then all the 0's and then all the w's and then all the m's ,the all the e's, and finally all the c’s .Note that here we have 2 p's so they will be sorted together in the output. Putting everything together the final string comes as “lowmeec”</a:t>
            </a:r>
          </a:p>
          <a:p>
            <a:endParaRPr lang="en-US" sz="2500" dirty="0">
              <a:latin typeface="Nunito Sans" panose="00000500000000000000" pitchFamily="2" charset="0"/>
            </a:endParaRPr>
          </a:p>
          <a:p>
            <a:r>
              <a:rPr lang="en-US" sz="2500" dirty="0">
                <a:latin typeface="Nunito Sans" panose="00000500000000000000" pitchFamily="2" charset="0"/>
              </a:rPr>
              <a:t> </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&lt;stdlib.h&gt;</a:t>
            </a:r>
          </a:p>
          <a:p>
            <a:r>
              <a:rPr lang="en-US" sz="2000" b="1" dirty="0">
                <a:solidFill>
                  <a:schemeClr val="bg1"/>
                </a:solidFill>
                <a:latin typeface="Nunito Sans" pitchFamily="2" charset="0"/>
                <a:cs typeface="Courier New" panose="02070309020205020404" pitchFamily="49" charset="0"/>
              </a:rPr>
              <a:t>#include &lt;string.h&gt;</a:t>
            </a:r>
          </a:p>
          <a:p>
            <a:r>
              <a:rPr lang="en-US" sz="2000" b="1" dirty="0">
                <a:solidFill>
                  <a:schemeClr val="bg1"/>
                </a:solidFill>
                <a:latin typeface="Nunito Sans" pitchFamily="2" charset="0"/>
                <a:cs typeface="Courier New" panose="02070309020205020404" pitchFamily="49" charset="0"/>
              </a:rPr>
              <a:t>#include &lt;ctype.h&gt;</a:t>
            </a:r>
          </a:p>
          <a:p>
            <a:r>
              <a:rPr lang="en-US" sz="2000" b="1" dirty="0">
                <a:solidFill>
                  <a:schemeClr val="bg1"/>
                </a:solidFill>
                <a:latin typeface="Nunito Sans" pitchFamily="2" charset="0"/>
                <a:cs typeface="Courier New" panose="02070309020205020404" pitchFamily="49" charset="0"/>
              </a:rPr>
              <a:t>char* sortString(const char* input, const char* key)</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size_t len = strlen(input);</a:t>
            </a:r>
          </a:p>
          <a:p>
            <a:r>
              <a:rPr lang="en-US" sz="2000" b="1" dirty="0">
                <a:solidFill>
                  <a:schemeClr val="bg1"/>
                </a:solidFill>
                <a:latin typeface="Nunito Sans" pitchFamily="2" charset="0"/>
                <a:cs typeface="Courier New" panose="02070309020205020404" pitchFamily="49" charset="0"/>
              </a:rPr>
              <a:t>    char* sortedString = malloc((len + 1) * sizeof(char));</a:t>
            </a:r>
          </a:p>
          <a:p>
            <a:r>
              <a:rPr lang="en-US" sz="2000" b="1" dirty="0">
                <a:solidFill>
                  <a:schemeClr val="bg1"/>
                </a:solidFill>
                <a:latin typeface="Nunito Sans" pitchFamily="2" charset="0"/>
                <a:cs typeface="Courier New" panose="02070309020205020404" pitchFamily="49" charset="0"/>
              </a:rPr>
              <a:t>    strcpy(sortedString, input);</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for (int i = 0; i &lt; len;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j = i + 1; j &lt; len; j++)</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char a = tolower(sortedString[i]);</a:t>
            </a:r>
          </a:p>
          <a:p>
            <a:r>
              <a:rPr lang="en-US" sz="2000" b="1" dirty="0">
                <a:solidFill>
                  <a:schemeClr val="bg1"/>
                </a:solidFill>
                <a:latin typeface="Nunito Sans" pitchFamily="2" charset="0"/>
                <a:cs typeface="Courier New" panose="02070309020205020404" pitchFamily="49" charset="0"/>
              </a:rPr>
              <a:t>            char b = tolower(sortedString[j]);</a:t>
            </a:r>
          </a:p>
          <a:p>
            <a:r>
              <a:rPr lang="en-US" sz="2000" b="1" dirty="0">
                <a:solidFill>
                  <a:schemeClr val="bg1"/>
                </a:solidFill>
                <a:latin typeface="Nunito Sans" pitchFamily="2" charset="0"/>
                <a:cs typeface="Courier New" panose="02070309020205020404" pitchFamily="49" charset="0"/>
              </a:rPr>
              <a:t>            const char* indexA = strchr(key, a);</a:t>
            </a:r>
          </a:p>
          <a:p>
            <a:r>
              <a:rPr lang="en-US" sz="2000" b="1" dirty="0">
                <a:solidFill>
                  <a:schemeClr val="bg1"/>
                </a:solidFill>
                <a:latin typeface="Nunito Sans" pitchFamily="2" charset="0"/>
                <a:cs typeface="Courier New" panose="02070309020205020404" pitchFamily="49" charset="0"/>
              </a:rPr>
              <a:t>            const char* indexB = strchr(key, b);</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if (indexA != NULL &amp;&amp; indexB != NULL &amp;&amp; indexA &gt; indexB)</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char temp = sortedString[i];</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altLang="en-IN" sz="2000" b="1" dirty="0">
                <a:solidFill>
                  <a:schemeClr val="bg1"/>
                </a:solidFill>
                <a:latin typeface="Nunito Sans" pitchFamily="2" charset="0"/>
                <a:cs typeface="Courier New" panose="02070309020205020404" pitchFamily="49" charset="0"/>
                <a:sym typeface="+mn-ea"/>
              </a:rPr>
              <a:t>	sortedString[i] = sortedString[j];</a:t>
            </a:r>
          </a:p>
          <a:p>
            <a:r>
              <a:rPr lang="en-US" altLang="en-IN" sz="2000" b="1" dirty="0">
                <a:solidFill>
                  <a:schemeClr val="bg1"/>
                </a:solidFill>
                <a:latin typeface="Nunito Sans" pitchFamily="2" charset="0"/>
                <a:cs typeface="Courier New" panose="02070309020205020404" pitchFamily="49" charset="0"/>
                <a:sym typeface="+mn-ea"/>
              </a:rPr>
              <a:t>                sortedString[j] = temp;</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endParaRPr lang="en-US" altLang="en-IN" sz="2000" b="1" dirty="0">
              <a:solidFill>
                <a:schemeClr val="bg1"/>
              </a:solidFill>
              <a:latin typeface="Nunito Sans" pitchFamily="2" charset="0"/>
              <a:cs typeface="Courier New" panose="02070309020205020404" pitchFamily="49" charset="0"/>
              <a:sym typeface="+mn-ea"/>
            </a:endParaRPr>
          </a:p>
          <a:p>
            <a:r>
              <a:rPr lang="en-US" altLang="en-IN" sz="2000" b="1" dirty="0">
                <a:solidFill>
                  <a:schemeClr val="bg1"/>
                </a:solidFill>
                <a:latin typeface="Nunito Sans" pitchFamily="2" charset="0"/>
                <a:cs typeface="Courier New" panose="02070309020205020404" pitchFamily="49" charset="0"/>
                <a:sym typeface="+mn-ea"/>
              </a:rPr>
              <a:t>    return sortedString;</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int main()</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    char input[100];</a:t>
            </a:r>
          </a:p>
          <a:p>
            <a:r>
              <a:rPr lang="en-US" altLang="en-IN" sz="2000" b="1" dirty="0">
                <a:solidFill>
                  <a:schemeClr val="bg1"/>
                </a:solidFill>
                <a:latin typeface="Nunito Sans" pitchFamily="2" charset="0"/>
                <a:cs typeface="Courier New" panose="02070309020205020404" pitchFamily="49" charset="0"/>
                <a:sym typeface="+mn-ea"/>
              </a:rPr>
              <a:t>    char key[100];</a:t>
            </a:r>
          </a:p>
          <a:p>
            <a:r>
              <a:rPr lang="en-US" altLang="en-IN" sz="2000" b="1" dirty="0">
                <a:solidFill>
                  <a:schemeClr val="bg1"/>
                </a:solidFill>
                <a:latin typeface="Nunito Sans" pitchFamily="2" charset="0"/>
                <a:cs typeface="Courier New" panose="02070309020205020404" pitchFamily="49" charset="0"/>
                <a:sym typeface="+mn-ea"/>
              </a:rPr>
              <a:t>    scanf("%s %s", input, key);</a:t>
            </a:r>
          </a:p>
          <a:p>
            <a:r>
              <a:rPr lang="en-US" altLang="en-IN" sz="2000" b="1" dirty="0">
                <a:solidFill>
                  <a:schemeClr val="bg1"/>
                </a:solidFill>
                <a:latin typeface="Nunito Sans" pitchFamily="2" charset="0"/>
                <a:cs typeface="Courier New" panose="02070309020205020404" pitchFamily="49" charset="0"/>
                <a:sym typeface="+mn-ea"/>
              </a:rPr>
              <a:t>    char* sortedString = sortString(input, key);</a:t>
            </a:r>
          </a:p>
          <a:p>
            <a:r>
              <a:rPr lang="en-US" altLang="en-IN" sz="2000" b="1" dirty="0">
                <a:solidFill>
                  <a:schemeClr val="bg1"/>
                </a:solidFill>
                <a:latin typeface="Nunito Sans" pitchFamily="2" charset="0"/>
                <a:cs typeface="Courier New" panose="02070309020205020404" pitchFamily="49" charset="0"/>
                <a:sym typeface="+mn-ea"/>
              </a:rPr>
              <a:t>    printf("%s\n", sortedString);</a:t>
            </a:r>
          </a:p>
          <a:p>
            <a:r>
              <a:rPr lang="en-US" altLang="en-IN" sz="2000" b="1" dirty="0">
                <a:solidFill>
                  <a:schemeClr val="bg1"/>
                </a:solidFill>
                <a:latin typeface="Nunito Sans" pitchFamily="2" charset="0"/>
                <a:cs typeface="Courier New" panose="02070309020205020404" pitchFamily="49" charset="0"/>
                <a:sym typeface="+mn-ea"/>
              </a:rPr>
              <a:t>    free(sortedString);</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&lt;string&gt;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string sortString(const string&amp; input, const string&amp; key)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string sortedString = input;</a:t>
            </a:r>
          </a:p>
          <a:p>
            <a:r>
              <a:rPr lang="en-US" sz="2000" b="1" dirty="0">
                <a:solidFill>
                  <a:schemeClr val="bg1"/>
                </a:solidFill>
                <a:latin typeface="Nunito Sans" pitchFamily="2" charset="0"/>
                <a:cs typeface="Courier New" panose="02070309020205020404" pitchFamily="49" charset="0"/>
              </a:rPr>
              <a:t>    // Sort the string using the key as the custom sorting criterion</a:t>
            </a:r>
          </a:p>
          <a:p>
            <a:r>
              <a:rPr lang="en-US" sz="2000" b="1" dirty="0">
                <a:solidFill>
                  <a:schemeClr val="bg1"/>
                </a:solidFill>
                <a:latin typeface="Nunito Sans" pitchFamily="2" charset="0"/>
                <a:cs typeface="Courier New" panose="02070309020205020404" pitchFamily="49" charset="0"/>
              </a:rPr>
              <a:t>    for (int i = 0; i &lt; sortedString.length();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j = i + 1; j &lt; sortedString.length(); j++)</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char a = tolower(sortedString[i]);</a:t>
            </a:r>
          </a:p>
          <a:p>
            <a:r>
              <a:rPr lang="en-US" sz="2000" b="1" dirty="0">
                <a:solidFill>
                  <a:schemeClr val="bg1"/>
                </a:solidFill>
                <a:latin typeface="Nunito Sans" pitchFamily="2" charset="0"/>
                <a:cs typeface="Courier New" panose="02070309020205020404" pitchFamily="49" charset="0"/>
              </a:rPr>
              <a:t>            char b = tolower(sortedString[j]);</a:t>
            </a:r>
          </a:p>
          <a:p>
            <a:r>
              <a:rPr lang="en-US" sz="2000" b="1" dirty="0">
                <a:solidFill>
                  <a:schemeClr val="bg1"/>
                </a:solidFill>
                <a:latin typeface="Nunito Sans" pitchFamily="2" charset="0"/>
                <a:cs typeface="Courier New" panose="02070309020205020404" pitchFamily="49" charset="0"/>
              </a:rPr>
              <a:t>            size_t indexA = key.find(a);</a:t>
            </a:r>
          </a:p>
          <a:p>
            <a:r>
              <a:rPr lang="en-US" sz="2000" b="1" dirty="0">
                <a:solidFill>
                  <a:schemeClr val="bg1"/>
                </a:solidFill>
                <a:latin typeface="Nunito Sans" pitchFamily="2" charset="0"/>
                <a:cs typeface="Courier New" panose="02070309020205020404" pitchFamily="49" charset="0"/>
              </a:rPr>
              <a:t>            size_t indexB = key.find(b);</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if (indexA &gt; indexB)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swap(sortedString[i], sortedString[j]);</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altLang="en-IN" sz="2000" b="1" dirty="0">
                <a:solidFill>
                  <a:schemeClr val="bg1"/>
                </a:solidFill>
                <a:latin typeface="Nunito Sans" pitchFamily="2" charset="0"/>
                <a:cs typeface="Courier New" panose="02070309020205020404" pitchFamily="49" charset="0"/>
                <a:sym typeface="+mn-ea"/>
              </a:rPr>
              <a:t>	 return sortedString;</a:t>
            </a:r>
          </a:p>
          <a:p>
            <a:r>
              <a:rPr lang="en-US" altLang="en-IN" sz="2000" b="1" dirty="0">
                <a:solidFill>
                  <a:schemeClr val="bg1"/>
                </a:solidFill>
                <a:latin typeface="Nunito Sans" pitchFamily="2" charset="0"/>
                <a:cs typeface="Courier New" panose="02070309020205020404" pitchFamily="49" charset="0"/>
                <a:sym typeface="+mn-ea"/>
              </a:rPr>
              <a:t>}</a:t>
            </a:r>
          </a:p>
          <a:p>
            <a:endParaRPr lang="en-US" altLang="en-IN" sz="2000" b="1" dirty="0">
              <a:solidFill>
                <a:schemeClr val="bg1"/>
              </a:solidFill>
              <a:latin typeface="Nunito Sans" pitchFamily="2" charset="0"/>
              <a:cs typeface="Courier New" panose="02070309020205020404" pitchFamily="49" charset="0"/>
              <a:sym typeface="+mn-ea"/>
            </a:endParaRPr>
          </a:p>
          <a:p>
            <a:r>
              <a:rPr lang="en-US" altLang="en-IN" sz="2000" b="1" dirty="0">
                <a:solidFill>
                  <a:schemeClr val="bg1"/>
                </a:solidFill>
                <a:latin typeface="Nunito Sans" pitchFamily="2" charset="0"/>
                <a:cs typeface="Courier New" panose="02070309020205020404" pitchFamily="49" charset="0"/>
                <a:sym typeface="+mn-ea"/>
              </a:rPr>
              <a:t>int main() </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    string input, key;</a:t>
            </a:r>
          </a:p>
          <a:p>
            <a:r>
              <a:rPr lang="en-US" altLang="en-IN" sz="2000" b="1" dirty="0">
                <a:solidFill>
                  <a:schemeClr val="bg1"/>
                </a:solidFill>
                <a:latin typeface="Nunito Sans" pitchFamily="2" charset="0"/>
                <a:cs typeface="Courier New" panose="02070309020205020404" pitchFamily="49" charset="0"/>
                <a:sym typeface="+mn-ea"/>
              </a:rPr>
              <a:t>    cin &gt;&gt; input &gt;&gt; key;</a:t>
            </a:r>
          </a:p>
          <a:p>
            <a:r>
              <a:rPr lang="en-US" altLang="en-IN" sz="2000" b="1" dirty="0">
                <a:solidFill>
                  <a:schemeClr val="bg1"/>
                </a:solidFill>
                <a:latin typeface="Nunito Sans" pitchFamily="2" charset="0"/>
                <a:cs typeface="Courier New" panose="02070309020205020404" pitchFamily="49" charset="0"/>
                <a:sym typeface="+mn-ea"/>
              </a:rPr>
              <a:t>    string sortedString = sortString(input, key);</a:t>
            </a:r>
          </a:p>
          <a:p>
            <a:r>
              <a:rPr lang="en-US" altLang="en-IN" sz="2000" b="1" dirty="0">
                <a:solidFill>
                  <a:schemeClr val="bg1"/>
                </a:solidFill>
                <a:latin typeface="Nunito Sans" pitchFamily="2" charset="0"/>
                <a:cs typeface="Courier New" panose="02070309020205020404" pitchFamily="49" charset="0"/>
                <a:sym typeface="+mn-ea"/>
              </a:rPr>
              <a:t>    cout &lt;&lt; sortedString &lt;&lt; endl;</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String sortString(String input, String key)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char[] sortedString = input.toCharArray();</a:t>
            </a:r>
          </a:p>
          <a:p>
            <a:r>
              <a:rPr lang="en-US" sz="2000" b="1" dirty="0">
                <a:solidFill>
                  <a:schemeClr val="bg1"/>
                </a:solidFill>
                <a:latin typeface="Nunito Sans" pitchFamily="2" charset="0"/>
                <a:cs typeface="Courier New" panose="02070309020205020404" pitchFamily="49" charset="0"/>
              </a:rPr>
              <a:t>        // Sort the string using the key as the custom sorting criterion</a:t>
            </a:r>
          </a:p>
          <a:p>
            <a:r>
              <a:rPr lang="en-US" sz="2000" b="1" dirty="0">
                <a:solidFill>
                  <a:schemeClr val="bg1"/>
                </a:solidFill>
                <a:latin typeface="Nunito Sans" pitchFamily="2" charset="0"/>
                <a:cs typeface="Courier New" panose="02070309020205020404" pitchFamily="49" charset="0"/>
              </a:rPr>
              <a:t>        for (int i = 0; i &lt; sortedString.length;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j = i + 1; j &lt; sortedString.length; j++)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char a = Character.toLowerCase(sortedString[i]);</a:t>
            </a:r>
          </a:p>
          <a:p>
            <a:r>
              <a:rPr lang="en-US" sz="2000" b="1" dirty="0">
                <a:solidFill>
                  <a:schemeClr val="bg1"/>
                </a:solidFill>
                <a:latin typeface="Nunito Sans" pitchFamily="2" charset="0"/>
                <a:cs typeface="Courier New" panose="02070309020205020404" pitchFamily="49" charset="0"/>
              </a:rPr>
              <a:t>                char b = Character.toLowerCase(sortedString[j]);</a:t>
            </a:r>
          </a:p>
          <a:p>
            <a:r>
              <a:rPr lang="en-US" sz="2000" b="1" dirty="0">
                <a:solidFill>
                  <a:schemeClr val="bg1"/>
                </a:solidFill>
                <a:latin typeface="Nunito Sans" pitchFamily="2" charset="0"/>
                <a:cs typeface="Courier New" panose="02070309020205020404" pitchFamily="49" charset="0"/>
              </a:rPr>
              <a:t>                int indexA = key.indexOf(a);</a:t>
            </a:r>
          </a:p>
          <a:p>
            <a:r>
              <a:rPr lang="en-US" sz="2000" b="1" dirty="0">
                <a:solidFill>
                  <a:schemeClr val="bg1"/>
                </a:solidFill>
                <a:latin typeface="Nunito Sans" pitchFamily="2" charset="0"/>
                <a:cs typeface="Courier New" panose="02070309020205020404" pitchFamily="49" charset="0"/>
              </a:rPr>
              <a:t>                int indexB = key.indexOf(b);</a:t>
            </a:r>
          </a:p>
          <a:p>
            <a:r>
              <a:rPr lang="en-US" sz="2000" b="1" dirty="0">
                <a:solidFill>
                  <a:schemeClr val="bg1"/>
                </a:solidFill>
                <a:latin typeface="Nunito Sans" pitchFamily="2" charset="0"/>
                <a:cs typeface="Courier New" panose="02070309020205020404" pitchFamily="49" charset="0"/>
              </a:rPr>
              <a:t>                if (indexA &gt; indexB)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char temp = sortedString[i];</a:t>
            </a:r>
          </a:p>
          <a:p>
            <a:r>
              <a:rPr lang="en-US" sz="2000" b="1" dirty="0">
                <a:solidFill>
                  <a:schemeClr val="bg1"/>
                </a:solidFill>
                <a:latin typeface="Nunito Sans" pitchFamily="2" charset="0"/>
                <a:cs typeface="Courier New" panose="02070309020205020404" pitchFamily="49" charset="0"/>
              </a:rPr>
              <a:t>                    sortedString[i] = sortedString[j];</a:t>
            </a:r>
          </a:p>
          <a:p>
            <a:r>
              <a:rPr lang="en-US" sz="2000" b="1" dirty="0">
                <a:solidFill>
                  <a:schemeClr val="bg1"/>
                </a:solidFill>
                <a:latin typeface="Nunito Sans" pitchFamily="2" charset="0"/>
                <a:cs typeface="Courier New" panose="02070309020205020404" pitchFamily="49" charset="0"/>
              </a:rPr>
              <a:t>                    sortedString[j] = temp;</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a:t>
            </a:r>
            <a:r>
              <a:rPr sz="2000" b="1" dirty="0">
                <a:solidFill>
                  <a:schemeClr val="bg1"/>
                </a:solidFill>
                <a:latin typeface="Nunito Sans" pitchFamily="2" charset="0"/>
                <a:cs typeface="Courier New" panose="02070309020205020404" pitchFamily="49" charset="0"/>
                <a:sym typeface="+mn-ea"/>
              </a:rPr>
              <a:t>return new String(sortedString);</a:t>
            </a:r>
          </a:p>
          <a:p>
            <a:r>
              <a:rPr sz="2000" b="1" dirty="0">
                <a:solidFill>
                  <a:schemeClr val="bg1"/>
                </a:solidFill>
                <a:latin typeface="Nunito Sans" pitchFamily="2" charset="0"/>
                <a:cs typeface="Courier New" panose="02070309020205020404" pitchFamily="49" charset="0"/>
                <a:sym typeface="+mn-ea"/>
              </a:rPr>
              <a:t>    }</a:t>
            </a:r>
          </a:p>
          <a:p>
            <a:r>
              <a:rPr sz="2000" b="1" dirty="0">
                <a:solidFill>
                  <a:schemeClr val="bg1"/>
                </a:solidFill>
                <a:latin typeface="Nunito Sans" pitchFamily="2" charset="0"/>
                <a:cs typeface="Courier New" panose="02070309020205020404" pitchFamily="49" charset="0"/>
                <a:sym typeface="+mn-ea"/>
              </a:rPr>
              <a:t>    public static void main(String[] args) </a:t>
            </a:r>
          </a:p>
          <a:p>
            <a:r>
              <a:rPr sz="2000" b="1" dirty="0">
                <a:solidFill>
                  <a:schemeClr val="bg1"/>
                </a:solidFill>
                <a:latin typeface="Nunito Sans" pitchFamily="2" charset="0"/>
                <a:cs typeface="Courier New" panose="02070309020205020404" pitchFamily="49" charset="0"/>
                <a:sym typeface="+mn-ea"/>
              </a:rPr>
              <a:t>    {</a:t>
            </a:r>
          </a:p>
          <a:p>
            <a:r>
              <a:rPr sz="2000" b="1" dirty="0">
                <a:solidFill>
                  <a:schemeClr val="bg1"/>
                </a:solidFill>
                <a:latin typeface="Nunito Sans" pitchFamily="2" charset="0"/>
                <a:cs typeface="Courier New" panose="02070309020205020404" pitchFamily="49" charset="0"/>
                <a:sym typeface="+mn-ea"/>
              </a:rPr>
              <a:t>        Scanner scanner = new Scanner(System.in);</a:t>
            </a:r>
          </a:p>
          <a:p>
            <a:r>
              <a:rPr sz="2000" b="1" dirty="0">
                <a:solidFill>
                  <a:schemeClr val="bg1"/>
                </a:solidFill>
                <a:latin typeface="Nunito Sans" pitchFamily="2" charset="0"/>
                <a:cs typeface="Courier New" panose="02070309020205020404" pitchFamily="49" charset="0"/>
                <a:sym typeface="+mn-ea"/>
              </a:rPr>
              <a:t>        String input = scanner.next();</a:t>
            </a:r>
          </a:p>
          <a:p>
            <a:r>
              <a:rPr sz="2000" b="1" dirty="0">
                <a:solidFill>
                  <a:schemeClr val="bg1"/>
                </a:solidFill>
                <a:latin typeface="Nunito Sans" pitchFamily="2" charset="0"/>
                <a:cs typeface="Courier New" panose="02070309020205020404" pitchFamily="49" charset="0"/>
                <a:sym typeface="+mn-ea"/>
              </a:rPr>
              <a:t>        String key = scanner.next();</a:t>
            </a:r>
          </a:p>
          <a:p>
            <a:r>
              <a:rPr sz="2000" b="1" dirty="0">
                <a:solidFill>
                  <a:schemeClr val="bg1"/>
                </a:solidFill>
                <a:latin typeface="Nunito Sans" pitchFamily="2" charset="0"/>
                <a:cs typeface="Courier New" panose="02070309020205020404" pitchFamily="49" charset="0"/>
                <a:sym typeface="+mn-ea"/>
              </a:rPr>
              <a:t>        String sortedString = sortString(input, key);</a:t>
            </a:r>
          </a:p>
          <a:p>
            <a:r>
              <a:rPr sz="2000" b="1" dirty="0">
                <a:solidFill>
                  <a:schemeClr val="bg1"/>
                </a:solidFill>
                <a:latin typeface="Nunito Sans" pitchFamily="2" charset="0"/>
                <a:cs typeface="Courier New" panose="02070309020205020404" pitchFamily="49" charset="0"/>
                <a:sym typeface="+mn-ea"/>
              </a:rPr>
              <a:t>        System.out.println(sortedString);</a:t>
            </a:r>
          </a:p>
          <a:p>
            <a:r>
              <a:rPr sz="2000" b="1" dirty="0">
                <a:solidFill>
                  <a:schemeClr val="bg1"/>
                </a:solidFill>
                <a:latin typeface="Nunito Sans" pitchFamily="2" charset="0"/>
                <a:cs typeface="Courier New" panose="02070309020205020404" pitchFamily="49" charset="0"/>
                <a:sym typeface="+mn-ea"/>
              </a:rPr>
              <a:t>    }</a:t>
            </a:r>
            <a:endParaRPr lang="en-US" altLang="en-IN" sz="2000" b="1" dirty="0">
              <a:solidFill>
                <a:schemeClr val="bg1"/>
              </a:solidFill>
              <a:latin typeface="Nunito Sans" pitchFamily="2" charset="0"/>
              <a:cs typeface="Courier New" panose="02070309020205020404" pitchFamily="49" charset="0"/>
              <a:sym typeface="+mn-ea"/>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762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sort_string(input_str, key):</a:t>
            </a:r>
          </a:p>
          <a:p>
            <a:r>
              <a:rPr lang="en-US" sz="2000" b="1" dirty="0">
                <a:solidFill>
                  <a:schemeClr val="bg1"/>
                </a:solidFill>
                <a:latin typeface="Nunito Sans" pitchFamily="2" charset="0"/>
                <a:cs typeface="Courier New" panose="02070309020205020404" pitchFamily="49" charset="0"/>
              </a:rPr>
              <a:t>    sorted_str = list(input_str)</a:t>
            </a:r>
          </a:p>
          <a:p>
            <a:r>
              <a:rPr lang="en-US" sz="2000" b="1" dirty="0">
                <a:solidFill>
                  <a:schemeClr val="bg1"/>
                </a:solidFill>
                <a:latin typeface="Nunito Sans" pitchFamily="2" charset="0"/>
                <a:cs typeface="Courier New" panose="02070309020205020404" pitchFamily="49" charset="0"/>
              </a:rPr>
              <a:t>    # Sort the string using the key as the custom sorting criterion</a:t>
            </a:r>
          </a:p>
          <a:p>
            <a:r>
              <a:rPr lang="en-US" sz="2000" b="1" dirty="0">
                <a:solidFill>
                  <a:schemeClr val="bg1"/>
                </a:solidFill>
                <a:latin typeface="Nunito Sans" pitchFamily="2" charset="0"/>
                <a:cs typeface="Courier New" panose="02070309020205020404" pitchFamily="49" charset="0"/>
              </a:rPr>
              <a:t>    for i in range(len(sorted_str)):</a:t>
            </a:r>
          </a:p>
          <a:p>
            <a:r>
              <a:rPr lang="en-US" sz="2000" b="1" dirty="0">
                <a:solidFill>
                  <a:schemeClr val="bg1"/>
                </a:solidFill>
                <a:latin typeface="Nunito Sans" pitchFamily="2" charset="0"/>
                <a:cs typeface="Courier New" panose="02070309020205020404" pitchFamily="49" charset="0"/>
              </a:rPr>
              <a:t>        for j in range(i + 1, len(sorted_str)):</a:t>
            </a:r>
          </a:p>
          <a:p>
            <a:r>
              <a:rPr lang="en-US" sz="2000" b="1" dirty="0">
                <a:solidFill>
                  <a:schemeClr val="bg1"/>
                </a:solidFill>
                <a:latin typeface="Nunito Sans" pitchFamily="2" charset="0"/>
                <a:cs typeface="Courier New" panose="02070309020205020404" pitchFamily="49" charset="0"/>
              </a:rPr>
              <a:t>            a = sorted_str[i].lower()</a:t>
            </a:r>
          </a:p>
          <a:p>
            <a:r>
              <a:rPr lang="en-US" sz="2000" b="1" dirty="0">
                <a:solidFill>
                  <a:schemeClr val="bg1"/>
                </a:solidFill>
                <a:latin typeface="Nunito Sans" pitchFamily="2" charset="0"/>
                <a:cs typeface="Courier New" panose="02070309020205020404" pitchFamily="49" charset="0"/>
              </a:rPr>
              <a:t>            b = sorted_str[j].lower()</a:t>
            </a:r>
          </a:p>
          <a:p>
            <a:r>
              <a:rPr lang="en-US" sz="2000" b="1" dirty="0">
                <a:solidFill>
                  <a:schemeClr val="bg1"/>
                </a:solidFill>
                <a:latin typeface="Nunito Sans" pitchFamily="2" charset="0"/>
                <a:cs typeface="Courier New" panose="02070309020205020404" pitchFamily="49" charset="0"/>
              </a:rPr>
              <a:t>            index_a = key.find(a)</a:t>
            </a:r>
          </a:p>
          <a:p>
            <a:r>
              <a:rPr lang="en-US" sz="2000" b="1" dirty="0">
                <a:solidFill>
                  <a:schemeClr val="bg1"/>
                </a:solidFill>
                <a:latin typeface="Nunito Sans" pitchFamily="2" charset="0"/>
                <a:cs typeface="Courier New" panose="02070309020205020404" pitchFamily="49" charset="0"/>
              </a:rPr>
              <a:t>            index_b = key.find(b)</a:t>
            </a:r>
          </a:p>
          <a:p>
            <a:r>
              <a:rPr lang="en-US" sz="2000" b="1" dirty="0">
                <a:solidFill>
                  <a:schemeClr val="bg1"/>
                </a:solidFill>
                <a:latin typeface="Nunito Sans" pitchFamily="2" charset="0"/>
                <a:cs typeface="Courier New" panose="02070309020205020404" pitchFamily="49" charset="0"/>
              </a:rPr>
              <a:t>            if index_a &gt; index_b:</a:t>
            </a:r>
          </a:p>
          <a:p>
            <a:r>
              <a:rPr lang="en-US" sz="2000" b="1" dirty="0">
                <a:solidFill>
                  <a:schemeClr val="bg1"/>
                </a:solidFill>
                <a:latin typeface="Nunito Sans" pitchFamily="2" charset="0"/>
                <a:cs typeface="Courier New" panose="02070309020205020404" pitchFamily="49" charset="0"/>
              </a:rPr>
              <a:t>                sorted_str[i], sorted_str[j] = sorted_str[j], sorted_str[i]</a:t>
            </a:r>
          </a:p>
          <a:p>
            <a:r>
              <a:rPr lang="en-US" sz="2000" b="1" dirty="0">
                <a:solidFill>
                  <a:schemeClr val="bg1"/>
                </a:solidFill>
                <a:latin typeface="Nunito Sans" pitchFamily="2" charset="0"/>
                <a:cs typeface="Courier New" panose="02070309020205020404" pitchFamily="49" charset="0"/>
              </a:rPr>
              <a:t>    return ''.join(sorted_str)</a:t>
            </a:r>
          </a:p>
          <a:p>
            <a:r>
              <a:rPr lang="en-US" sz="2000" b="1" dirty="0">
                <a:solidFill>
                  <a:schemeClr val="bg1"/>
                </a:solidFill>
                <a:latin typeface="Nunito Sans" pitchFamily="2" charset="0"/>
                <a:cs typeface="Courier New" panose="02070309020205020404" pitchFamily="49" charset="0"/>
              </a:rPr>
              <a:t>input_str = input()</a:t>
            </a:r>
          </a:p>
          <a:p>
            <a:r>
              <a:rPr lang="en-US" sz="2000" b="1" dirty="0">
                <a:solidFill>
                  <a:schemeClr val="bg1"/>
                </a:solidFill>
                <a:latin typeface="Nunito Sans" pitchFamily="2" charset="0"/>
                <a:cs typeface="Courier New" panose="02070309020205020404" pitchFamily="49" charset="0"/>
              </a:rPr>
              <a:t>key = input()</a:t>
            </a:r>
          </a:p>
          <a:p>
            <a:r>
              <a:rPr lang="en-US" sz="2000" b="1" dirty="0">
                <a:solidFill>
                  <a:schemeClr val="bg1"/>
                </a:solidFill>
                <a:latin typeface="Nunito Sans" pitchFamily="2" charset="0"/>
                <a:cs typeface="Courier New" panose="02070309020205020404" pitchFamily="49" charset="0"/>
              </a:rPr>
              <a:t>sorted_string = sort_string(input_str, key)</a:t>
            </a:r>
          </a:p>
          <a:p>
            <a:r>
              <a:rPr lang="en-US" sz="2000" b="1" dirty="0">
                <a:solidFill>
                  <a:schemeClr val="bg1"/>
                </a:solidFill>
                <a:latin typeface="Nunito Sans" pitchFamily="2" charset="0"/>
                <a:cs typeface="Courier New" panose="02070309020205020404" pitchFamily="49" charset="0"/>
              </a:rPr>
              <a:t>print(sorted_string)</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6247130"/>
          </a:xfrm>
          <a:prstGeom prst="rect">
            <a:avLst/>
          </a:prstGeom>
          <a:noFill/>
        </p:spPr>
        <p:txBody>
          <a:bodyPr wrap="square" rtlCol="0">
            <a:spAutoFit/>
          </a:bodyPr>
          <a:lstStyle/>
          <a:p>
            <a:r>
              <a:rPr lang="en-US" sz="2500" dirty="0">
                <a:latin typeface="Nunito Sans" panose="00000500000000000000" pitchFamily="2" charset="0"/>
              </a:rPr>
              <a:t>Mikes likes to play with numbers. His friends are also good with numbers and often plays mathematical games. They made a small game where they will spell the last digit of a factorial of a number other than 0. Let say the given number is 5, so 5! (5 factorial) will be</a:t>
            </a:r>
          </a:p>
          <a:p>
            <a:r>
              <a:rPr lang="en-US" sz="2500" dirty="0">
                <a:latin typeface="Nunito Sans" panose="00000500000000000000" pitchFamily="2" charset="0"/>
              </a:rPr>
              <a:t>5 *4* 3* 2* 1= 120.</a:t>
            </a:r>
          </a:p>
          <a:p>
            <a:r>
              <a:rPr lang="en-US" sz="2500" dirty="0">
                <a:latin typeface="Nunito Sans" panose="00000500000000000000" pitchFamily="2" charset="0"/>
              </a:rPr>
              <a:t>Here 0 is the last digit. But, we don't want 0, we want a</a:t>
            </a:r>
          </a:p>
          <a:p>
            <a:r>
              <a:rPr lang="en-US" sz="2500" dirty="0">
                <a:latin typeface="Nunito Sans" panose="00000500000000000000" pitchFamily="2" charset="0"/>
              </a:rPr>
              <a:t>number other than 0.</a:t>
            </a:r>
          </a:p>
          <a:p>
            <a:r>
              <a:rPr lang="en-US" sz="2500" dirty="0">
                <a:latin typeface="Nunito Sans" panose="00000500000000000000" pitchFamily="2" charset="0"/>
              </a:rPr>
              <a:t>Then the last digit is 2. This is what we have to output</a:t>
            </a:r>
          </a:p>
          <a:p>
            <a:endParaRPr lang="en-US" sz="2500" dirty="0">
              <a:latin typeface="Nunito Sans" panose="00000500000000000000" pitchFamily="2" charset="0"/>
            </a:endParaRPr>
          </a:p>
          <a:p>
            <a:r>
              <a:rPr lang="en-US" sz="2500" dirty="0">
                <a:latin typeface="Nunito Sans" panose="00000500000000000000" pitchFamily="2" charset="0"/>
              </a:rPr>
              <a:t>Example 1:</a:t>
            </a:r>
          </a:p>
          <a:p>
            <a:r>
              <a:rPr lang="en-US" sz="2500" b="1" dirty="0">
                <a:latin typeface="Nunito Sans" pitchFamily="2" charset="0"/>
              </a:rPr>
              <a:t>Input</a:t>
            </a:r>
          </a:p>
          <a:p>
            <a:r>
              <a:rPr lang="en-US" sz="2500" dirty="0">
                <a:latin typeface="Nunito Sans" pitchFamily="2" charset="0"/>
              </a:rPr>
              <a:t>5 -&gt;Input number</a:t>
            </a:r>
          </a:p>
          <a:p>
            <a:r>
              <a:rPr lang="en-US" sz="2500" b="1" dirty="0">
                <a:latin typeface="Nunito Sans" pitchFamily="2" charset="0"/>
              </a:rPr>
              <a:t>Output</a:t>
            </a:r>
          </a:p>
          <a:p>
            <a:r>
              <a:rPr lang="en-US" sz="2500" dirty="0">
                <a:latin typeface="Nunito Sans" panose="00000500000000000000" pitchFamily="2" charset="0"/>
              </a:rPr>
              <a:t>2-&gt;last non-zero digit</a:t>
            </a:r>
          </a:p>
          <a:p>
            <a:endParaRPr lang="en-US" sz="2500" dirty="0">
              <a:latin typeface="Nunito Sans" panose="00000500000000000000" pitchFamily="2" charset="0"/>
            </a:endParaRPr>
          </a:p>
          <a:p>
            <a:endParaRPr lang="en-US" sz="2500" dirty="0">
              <a:latin typeface="Nunito Sans" panose="00000500000000000000" pitchFamily="2" charset="0"/>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093702"/>
          </a:xfrm>
          <a:prstGeom prst="rect">
            <a:avLst/>
          </a:prstGeom>
          <a:noFill/>
        </p:spPr>
        <p:txBody>
          <a:bodyPr wrap="square" rtlCol="0">
            <a:spAutoFit/>
          </a:bodyPr>
          <a:lstStyle/>
          <a:p>
            <a:r>
              <a:rPr lang="en-US" sz="2500" b="1" dirty="0">
                <a:latin typeface="Nunito Sans" pitchFamily="2" charset="0"/>
              </a:rPr>
              <a:t>Explanation:</a:t>
            </a:r>
          </a:p>
          <a:p>
            <a:r>
              <a:rPr lang="en-US" sz="2500" dirty="0">
                <a:latin typeface="Nunito Sans" panose="00000500000000000000" pitchFamily="2" charset="0"/>
              </a:rPr>
              <a:t>Input number is 5, so 5!=120. The last nonzero digit is 2. And this is the output.</a:t>
            </a:r>
          </a:p>
          <a:p>
            <a:endParaRPr lang="en-US" sz="2500" dirty="0">
              <a:latin typeface="Nunito Sans" panose="00000500000000000000" pitchFamily="2" charset="0"/>
            </a:endParaRPr>
          </a:p>
          <a:p>
            <a:r>
              <a:rPr lang="en-US" sz="2500" b="1" dirty="0">
                <a:latin typeface="Nunito Sans" pitchFamily="2" charset="0"/>
              </a:rPr>
              <a:t>Example 2</a:t>
            </a:r>
          </a:p>
          <a:p>
            <a:endParaRPr lang="en-US" sz="2500" dirty="0">
              <a:latin typeface="Nunito Sans" pitchFamily="2" charset="0"/>
            </a:endParaRPr>
          </a:p>
          <a:p>
            <a:r>
              <a:rPr lang="en-US" sz="2500" b="1" dirty="0">
                <a:latin typeface="Nunito Sans" pitchFamily="2" charset="0"/>
              </a:rPr>
              <a:t>Input:</a:t>
            </a:r>
          </a:p>
          <a:p>
            <a:r>
              <a:rPr lang="en-US" sz="2500" dirty="0">
                <a:latin typeface="Nunito Sans" panose="00000500000000000000" pitchFamily="2" charset="0"/>
              </a:rPr>
              <a:t>9-&gt; Input number.</a:t>
            </a:r>
          </a:p>
          <a:p>
            <a:endParaRPr lang="en-US" sz="2500" dirty="0">
              <a:latin typeface="Nunito Sans" panose="00000500000000000000" pitchFamily="2" charset="0"/>
            </a:endParaRPr>
          </a:p>
          <a:p>
            <a:r>
              <a:rPr lang="en-US" sz="2500" b="1" dirty="0">
                <a:latin typeface="Nunito Sans" pitchFamily="2" charset="0"/>
              </a:rPr>
              <a:t>Output:</a:t>
            </a:r>
            <a:endParaRPr lang="en-US" sz="2500" dirty="0">
              <a:latin typeface="Nunito Sans" panose="00000500000000000000" pitchFamily="2" charset="0"/>
            </a:endParaRPr>
          </a:p>
          <a:p>
            <a:r>
              <a:rPr lang="en-US" sz="2500" dirty="0">
                <a:latin typeface="Nunito Sans" panose="00000500000000000000" pitchFamily="2" charset="0"/>
              </a:rPr>
              <a:t>8-&gt; last non-zero digit</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itchFamily="2" charset="0"/>
              </a:rPr>
              <a:t>Input number is 9, so 9!=362880. The last nonzero digit is 8. And this is the output.</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1</a:t>
            </a:r>
            <a:r>
              <a:rPr lang="en-US" altLang="en-IN" sz="4800" b="1" dirty="0">
                <a:solidFill>
                  <a:schemeClr val="bg1"/>
                </a:solidFill>
                <a:latin typeface="Nunito Sans" pitchFamily="2" charset="0"/>
                <a:sym typeface="+mn-ea"/>
              </a:rPr>
              <a:t>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862320"/>
          </a:xfrm>
          <a:prstGeom prst="rect">
            <a:avLst/>
          </a:prstGeom>
          <a:noFill/>
        </p:spPr>
        <p:txBody>
          <a:bodyPr wrap="square" rtlCol="0">
            <a:spAutoFit/>
          </a:bodyPr>
          <a:lstStyle/>
          <a:p>
            <a:r>
              <a:rPr lang="en-US" sz="2500" b="1" dirty="0">
                <a:latin typeface="Nunito Sans" pitchFamily="2" charset="0"/>
              </a:rPr>
              <a:t>Constraints:</a:t>
            </a:r>
          </a:p>
          <a:p>
            <a:r>
              <a:rPr lang="en-US" sz="2500" dirty="0">
                <a:latin typeface="Nunito Sans" panose="00000500000000000000" pitchFamily="2" charset="0"/>
              </a:rPr>
              <a:t>•1&lt;=input number&lt;105</a:t>
            </a:r>
          </a:p>
          <a:p>
            <a:r>
              <a:rPr lang="en-US" sz="2500" dirty="0">
                <a:latin typeface="Nunito Sans" panose="00000500000000000000" pitchFamily="2" charset="0"/>
              </a:rPr>
              <a:t>•Only integers</a:t>
            </a:r>
          </a:p>
          <a:p>
            <a:r>
              <a:rPr lang="en-US" sz="2500" dirty="0">
                <a:latin typeface="Nunito Sans" panose="00000500000000000000" pitchFamily="2" charset="0"/>
              </a:rPr>
              <a:t>The candidate has to write the code to accept 2 input(s)</a:t>
            </a:r>
          </a:p>
          <a:p>
            <a:r>
              <a:rPr lang="en-US" sz="2500" dirty="0">
                <a:latin typeface="Nunito Sans" panose="00000500000000000000" pitchFamily="2" charset="0"/>
              </a:rPr>
              <a:t>•First input-Accept the value of integer</a:t>
            </a:r>
          </a:p>
          <a:p>
            <a:endParaRPr lang="en-US" sz="2500" dirty="0">
              <a:latin typeface="Nunito Sans" panose="00000500000000000000" pitchFamily="2" charset="0"/>
            </a:endParaRPr>
          </a:p>
          <a:p>
            <a:r>
              <a:rPr lang="en-US" sz="2500" b="1" dirty="0">
                <a:latin typeface="Nunito Sans" pitchFamily="2" charset="0"/>
              </a:rPr>
              <a:t>The output format for testing</a:t>
            </a:r>
          </a:p>
          <a:p>
            <a:r>
              <a:rPr lang="en-US" sz="2500" dirty="0">
                <a:latin typeface="Nunito Sans" panose="00000500000000000000" pitchFamily="2" charset="0"/>
              </a:rPr>
              <a:t>•The output is the last nonzero digit, of a factorial of the input number (Checks the output in Example 1, Example 2).</a:t>
            </a:r>
          </a:p>
          <a:p>
            <a:r>
              <a:rPr lang="en-US" sz="2500" dirty="0">
                <a:latin typeface="Nunito Sans" panose="00000500000000000000" pitchFamily="2" charset="0"/>
              </a:rPr>
              <a:t>Additional messages in output will cause the failure of test cases.</a:t>
            </a:r>
          </a:p>
          <a:p>
            <a:endParaRPr lang="en-US" sz="2500" dirty="0">
              <a:latin typeface="Nunito Sans" panose="00000500000000000000" pitchFamily="2" charset="0"/>
            </a:endParaRPr>
          </a:p>
          <a:p>
            <a:r>
              <a:rPr lang="en-US" sz="2500" dirty="0">
                <a:latin typeface="Nunito Sans" panose="00000500000000000000" pitchFamily="2" charset="0"/>
              </a:rPr>
              <a:t>Instructions</a:t>
            </a:r>
          </a:p>
          <a:p>
            <a:r>
              <a:rPr lang="en-US" sz="2500" dirty="0">
                <a:latin typeface="Nunito Sans" panose="00000500000000000000" pitchFamily="2" charset="0"/>
              </a:rPr>
              <a:t>•System doesn’t allow any kind of hard coded input.</a:t>
            </a:r>
          </a:p>
          <a:p>
            <a:r>
              <a:rPr lang="en-US" sz="2500" dirty="0">
                <a:latin typeface="Nunito Sans" panose="00000500000000000000" pitchFamily="2" charset="0"/>
              </a:rPr>
              <a:t>•Written program cade by the candidate will be verified against inputs which are supplied from the system. </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//Recursive function to calculate the factorial</a:t>
            </a:r>
          </a:p>
          <a:p>
            <a:r>
              <a:rPr lang="en-US" sz="2000" b="1" dirty="0">
                <a:solidFill>
                  <a:schemeClr val="bg1"/>
                </a:solidFill>
                <a:latin typeface="Nunito Sans" pitchFamily="2" charset="0"/>
                <a:cs typeface="Courier New" panose="02070309020205020404" pitchFamily="49" charset="0"/>
              </a:rPr>
              <a:t>int fact(int n)</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if(n &lt;= 1) //Base Condition</a:t>
            </a:r>
          </a:p>
          <a:p>
            <a:r>
              <a:rPr lang="en-US" sz="2000" b="1" dirty="0">
                <a:solidFill>
                  <a:schemeClr val="bg1"/>
                </a:solidFill>
                <a:latin typeface="Nunito Sans" pitchFamily="2" charset="0"/>
                <a:cs typeface="Courier New" panose="02070309020205020404" pitchFamily="49" charset="0"/>
              </a:rPr>
              <a:t>        return 1;</a:t>
            </a:r>
          </a:p>
          <a:p>
            <a:r>
              <a:rPr lang="en-US" sz="2000" b="1" dirty="0">
                <a:solidFill>
                  <a:schemeClr val="bg1"/>
                </a:solidFill>
                <a:latin typeface="Nunito Sans" pitchFamily="2" charset="0"/>
                <a:cs typeface="Courier New" panose="02070309020205020404" pitchFamily="49" charset="0"/>
              </a:rPr>
              <a:t>    return n*fact(n-1);</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a:t>
            </a:r>
          </a:p>
          <a:p>
            <a:r>
              <a:rPr lang="en-US" sz="2000" b="1" dirty="0">
                <a:solidFill>
                  <a:schemeClr val="bg1"/>
                </a:solidFill>
                <a:latin typeface="Nunito Sans" pitchFamily="2" charset="0"/>
                <a:cs typeface="Courier New" panose="02070309020205020404" pitchFamily="49" charset="0"/>
              </a:rPr>
              <a:t>   scanf("%d",&amp;n);</a:t>
            </a:r>
          </a:p>
          <a:p>
            <a:r>
              <a:rPr lang="en-US" sz="2000" b="1" dirty="0">
                <a:solidFill>
                  <a:schemeClr val="bg1"/>
                </a:solidFill>
                <a:latin typeface="Nunito Sans" pitchFamily="2" charset="0"/>
                <a:cs typeface="Courier New" panose="02070309020205020404" pitchFamily="49" charset="0"/>
              </a:rPr>
              <a:t>   int factorial = fact(n);</a:t>
            </a:r>
          </a:p>
          <a:p>
            <a:r>
              <a:rPr lang="en-US" sz="2000" b="1" dirty="0">
                <a:solidFill>
                  <a:schemeClr val="bg1"/>
                </a:solidFill>
                <a:latin typeface="Nunito Sans" pitchFamily="2" charset="0"/>
                <a:cs typeface="Courier New" panose="02070309020205020404" pitchFamily="49" charset="0"/>
              </a:rPr>
              <a:t>   while(factorial%10==0)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factorial /= 10;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printf("%d",factorial%10);</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fact(int 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if (n &lt;= 1) // Base Condition</a:t>
            </a:r>
          </a:p>
          <a:p>
            <a:r>
              <a:rPr lang="en-US" sz="2000" b="1" dirty="0">
                <a:solidFill>
                  <a:schemeClr val="bg1"/>
                </a:solidFill>
                <a:latin typeface="Nunito Sans" pitchFamily="2" charset="0"/>
                <a:cs typeface="Courier New" panose="02070309020205020404" pitchFamily="49" charset="0"/>
              </a:rPr>
              <a:t>        return 1;</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return n * fact(n - 1);</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a:t>
            </a:r>
          </a:p>
          <a:p>
            <a:r>
              <a:rPr lang="en-US" sz="2000" b="1" dirty="0">
                <a:solidFill>
                  <a:schemeClr val="bg1"/>
                </a:solidFill>
                <a:latin typeface="Nunito Sans" pitchFamily="2" charset="0"/>
                <a:cs typeface="Courier New" panose="02070309020205020404" pitchFamily="49" charset="0"/>
              </a:rPr>
              <a:t>    cin&gt;&gt;n;</a:t>
            </a:r>
          </a:p>
          <a:p>
            <a:r>
              <a:rPr lang="en-US" sz="2000" b="1" dirty="0">
                <a:solidFill>
                  <a:schemeClr val="bg1"/>
                </a:solidFill>
                <a:latin typeface="Nunito Sans" pitchFamily="2" charset="0"/>
                <a:cs typeface="Courier New" panose="02070309020205020404" pitchFamily="49" charset="0"/>
              </a:rPr>
              <a:t>    int factorial = fact(n);</a:t>
            </a:r>
          </a:p>
          <a:p>
            <a:r>
              <a:rPr lang="en-US" sz="2000" b="1" dirty="0">
                <a:solidFill>
                  <a:schemeClr val="bg1"/>
                </a:solidFill>
                <a:latin typeface="Nunito Sans" pitchFamily="2" charset="0"/>
                <a:cs typeface="Courier New" panose="02070309020205020404" pitchFamily="49" charset="0"/>
              </a:rPr>
              <a:t>    while (factorial % 10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factorial /= 10;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cout &lt;&lt; factorial % 10;</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 Recursive function to calculate the factorial</a:t>
            </a:r>
          </a:p>
          <a:p>
            <a:r>
              <a:rPr lang="en-US" sz="2000" b="1" dirty="0">
                <a:solidFill>
                  <a:schemeClr val="bg1"/>
                </a:solidFill>
                <a:latin typeface="Nunito Sans" pitchFamily="2" charset="0"/>
                <a:cs typeface="Courier New" panose="02070309020205020404" pitchFamily="49" charset="0"/>
              </a:rPr>
              <a:t>    public static int fact(int n)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(n &lt;= 1) // Base Condition</a:t>
            </a:r>
          </a:p>
          <a:p>
            <a:r>
              <a:rPr lang="en-US" sz="2000" b="1" dirty="0">
                <a:solidFill>
                  <a:schemeClr val="bg1"/>
                </a:solidFill>
                <a:latin typeface="Nunito Sans" pitchFamily="2" charset="0"/>
                <a:cs typeface="Courier New" panose="02070309020205020404" pitchFamily="49" charset="0"/>
              </a:rPr>
              <a:t>            return 1;</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return n * fact(n - 1);</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n = scanner.nextInt();</a:t>
            </a:r>
          </a:p>
          <a:p>
            <a:r>
              <a:rPr lang="en-US" sz="2000" b="1" dirty="0">
                <a:solidFill>
                  <a:schemeClr val="bg1"/>
                </a:solidFill>
                <a:latin typeface="Nunito Sans" pitchFamily="2" charset="0"/>
                <a:cs typeface="Courier New" panose="02070309020205020404" pitchFamily="49" charset="0"/>
              </a:rPr>
              <a:t>        int factorial = fact(n);</a:t>
            </a:r>
          </a:p>
          <a:p>
            <a:r>
              <a:rPr lang="en-US" sz="2000" b="1" dirty="0">
                <a:solidFill>
                  <a:schemeClr val="bg1"/>
                </a:solidFill>
                <a:latin typeface="Nunito Sans" pitchFamily="2" charset="0"/>
                <a:cs typeface="Courier New" panose="02070309020205020404" pitchFamily="49" charset="0"/>
              </a:rPr>
              <a:t>        while (factorial % 10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factorial /= 10;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System.out.println(factorial % 10);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fact(n):</a:t>
            </a:r>
          </a:p>
          <a:p>
            <a:r>
              <a:rPr lang="en-US" sz="2000" b="1" dirty="0">
                <a:solidFill>
                  <a:schemeClr val="bg1"/>
                </a:solidFill>
                <a:latin typeface="Nunito Sans" pitchFamily="2" charset="0"/>
                <a:cs typeface="Courier New" panose="02070309020205020404" pitchFamily="49" charset="0"/>
              </a:rPr>
              <a:t>    if n &lt;= 1:  # Base Condition</a:t>
            </a:r>
          </a:p>
          <a:p>
            <a:r>
              <a:rPr lang="en-US" sz="2000" b="1" dirty="0">
                <a:solidFill>
                  <a:schemeClr val="bg1"/>
                </a:solidFill>
                <a:latin typeface="Nunito Sans" pitchFamily="2" charset="0"/>
                <a:cs typeface="Courier New" panose="02070309020205020404" pitchFamily="49" charset="0"/>
              </a:rPr>
              <a:t>        return 1</a:t>
            </a:r>
          </a:p>
          <a:p>
            <a:r>
              <a:rPr lang="en-US" sz="2000" b="1" dirty="0">
                <a:solidFill>
                  <a:schemeClr val="bg1"/>
                </a:solidFill>
                <a:latin typeface="Nunito Sans" pitchFamily="2" charset="0"/>
                <a:cs typeface="Courier New" panose="02070309020205020404" pitchFamily="49" charset="0"/>
              </a:rPr>
              <a:t>    return n * fact(n - 1)</a:t>
            </a:r>
          </a:p>
          <a:p>
            <a:r>
              <a:rPr lang="en-US" sz="2000" b="1" dirty="0">
                <a:solidFill>
                  <a:schemeClr val="bg1"/>
                </a:solidFill>
                <a:latin typeface="Nunito Sans" pitchFamily="2" charset="0"/>
                <a:cs typeface="Courier New" panose="02070309020205020404" pitchFamily="49" charset="0"/>
              </a:rPr>
              <a:t>n = int(input())</a:t>
            </a:r>
          </a:p>
          <a:p>
            <a:r>
              <a:rPr lang="en-US" sz="2000" b="1" dirty="0">
                <a:solidFill>
                  <a:schemeClr val="bg1"/>
                </a:solidFill>
                <a:latin typeface="Nunito Sans" pitchFamily="2" charset="0"/>
                <a:cs typeface="Courier New" panose="02070309020205020404" pitchFamily="49" charset="0"/>
              </a:rPr>
              <a:t>factorial = fact(n)</a:t>
            </a:r>
          </a:p>
          <a:p>
            <a:r>
              <a:rPr lang="en-US" sz="2000" b="1" dirty="0">
                <a:solidFill>
                  <a:schemeClr val="bg1"/>
                </a:solidFill>
                <a:latin typeface="Nunito Sans" pitchFamily="2" charset="0"/>
                <a:cs typeface="Courier New" panose="02070309020205020404" pitchFamily="49" charset="0"/>
              </a:rPr>
              <a:t>while factorial % 10 == 0:</a:t>
            </a:r>
          </a:p>
          <a:p>
            <a:r>
              <a:rPr lang="en-US" sz="2000" b="1" dirty="0">
                <a:solidFill>
                  <a:schemeClr val="bg1"/>
                </a:solidFill>
                <a:latin typeface="Nunito Sans" pitchFamily="2" charset="0"/>
                <a:cs typeface="Courier New" panose="02070309020205020404" pitchFamily="49" charset="0"/>
              </a:rPr>
              <a:t>    factorial //= 10</a:t>
            </a:r>
          </a:p>
          <a:p>
            <a:r>
              <a:rPr lang="en-US" sz="2000" b="1" dirty="0">
                <a:solidFill>
                  <a:schemeClr val="bg1"/>
                </a:solidFill>
                <a:latin typeface="Nunito Sans" pitchFamily="2" charset="0"/>
                <a:cs typeface="Courier New" panose="02070309020205020404" pitchFamily="49" charset="0"/>
              </a:rPr>
              <a:t>print(factorial % 10)</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altLang="en-IN" sz="2000" b="1" dirty="0">
                <a:solidFill>
                  <a:schemeClr val="bg1"/>
                </a:solidFill>
                <a:latin typeface="Nunito Sans" pitchFamily="2" charset="0"/>
                <a:cs typeface="Courier New" panose="02070309020205020404" pitchFamily="49" charset="0"/>
                <a:sym typeface="+mn-ea"/>
              </a:rPr>
              <a:t>	sortedString[i] = sortedString[j];</a:t>
            </a:r>
          </a:p>
          <a:p>
            <a:r>
              <a:rPr lang="en-US" altLang="en-IN" sz="2000" b="1" dirty="0">
                <a:solidFill>
                  <a:schemeClr val="bg1"/>
                </a:solidFill>
                <a:latin typeface="Nunito Sans" pitchFamily="2" charset="0"/>
                <a:cs typeface="Courier New" panose="02070309020205020404" pitchFamily="49" charset="0"/>
                <a:sym typeface="+mn-ea"/>
              </a:rPr>
              <a:t>                sortedString[j] = temp;</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endParaRPr lang="en-US" altLang="en-IN" sz="2000" b="1" dirty="0">
              <a:solidFill>
                <a:schemeClr val="bg1"/>
              </a:solidFill>
              <a:latin typeface="Nunito Sans" pitchFamily="2" charset="0"/>
              <a:cs typeface="Courier New" panose="02070309020205020404" pitchFamily="49" charset="0"/>
              <a:sym typeface="+mn-ea"/>
            </a:endParaRPr>
          </a:p>
          <a:p>
            <a:r>
              <a:rPr lang="en-US" altLang="en-IN" sz="2000" b="1" dirty="0">
                <a:solidFill>
                  <a:schemeClr val="bg1"/>
                </a:solidFill>
                <a:latin typeface="Nunito Sans" pitchFamily="2" charset="0"/>
                <a:cs typeface="Courier New" panose="02070309020205020404" pitchFamily="49" charset="0"/>
                <a:sym typeface="+mn-ea"/>
              </a:rPr>
              <a:t>    return sortedString;</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int main()</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    char input[100];</a:t>
            </a:r>
          </a:p>
          <a:p>
            <a:r>
              <a:rPr lang="en-US" altLang="en-IN" sz="2000" b="1" dirty="0">
                <a:solidFill>
                  <a:schemeClr val="bg1"/>
                </a:solidFill>
                <a:latin typeface="Nunito Sans" pitchFamily="2" charset="0"/>
                <a:cs typeface="Courier New" panose="02070309020205020404" pitchFamily="49" charset="0"/>
                <a:sym typeface="+mn-ea"/>
              </a:rPr>
              <a:t>    char key[100];</a:t>
            </a:r>
          </a:p>
          <a:p>
            <a:r>
              <a:rPr lang="en-US" altLang="en-IN" sz="2000" b="1" dirty="0">
                <a:solidFill>
                  <a:schemeClr val="bg1"/>
                </a:solidFill>
                <a:latin typeface="Nunito Sans" pitchFamily="2" charset="0"/>
                <a:cs typeface="Courier New" panose="02070309020205020404" pitchFamily="49" charset="0"/>
                <a:sym typeface="+mn-ea"/>
              </a:rPr>
              <a:t>    scanf("%s %s", input, key);</a:t>
            </a:r>
          </a:p>
          <a:p>
            <a:r>
              <a:rPr lang="en-US" altLang="en-IN" sz="2000" b="1" dirty="0">
                <a:solidFill>
                  <a:schemeClr val="bg1"/>
                </a:solidFill>
                <a:latin typeface="Nunito Sans" pitchFamily="2" charset="0"/>
                <a:cs typeface="Courier New" panose="02070309020205020404" pitchFamily="49" charset="0"/>
                <a:sym typeface="+mn-ea"/>
              </a:rPr>
              <a:t>    char* sortedString = sortString(input, key);</a:t>
            </a:r>
          </a:p>
          <a:p>
            <a:r>
              <a:rPr lang="en-US" altLang="en-IN" sz="2000" b="1" dirty="0">
                <a:solidFill>
                  <a:schemeClr val="bg1"/>
                </a:solidFill>
                <a:latin typeface="Nunito Sans" pitchFamily="2" charset="0"/>
                <a:cs typeface="Courier New" panose="02070309020205020404" pitchFamily="49" charset="0"/>
                <a:sym typeface="+mn-ea"/>
              </a:rPr>
              <a:t>    printf("%s\n", sortedString);</a:t>
            </a:r>
          </a:p>
          <a:p>
            <a:r>
              <a:rPr lang="en-US" altLang="en-IN" sz="2000" b="1" dirty="0">
                <a:solidFill>
                  <a:schemeClr val="bg1"/>
                </a:solidFill>
                <a:latin typeface="Nunito Sans" pitchFamily="2" charset="0"/>
                <a:cs typeface="Courier New" panose="02070309020205020404" pitchFamily="49" charset="0"/>
                <a:sym typeface="+mn-ea"/>
              </a:rPr>
              <a:t>    free(sortedString);</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itchFamily="2" charset="0"/>
                <a:sym typeface="+mn-ea"/>
              </a:rPr>
              <a:t>20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862320"/>
          </a:xfrm>
          <a:prstGeom prst="rect">
            <a:avLst/>
          </a:prstGeom>
          <a:noFill/>
        </p:spPr>
        <p:txBody>
          <a:bodyPr wrap="square" rtlCol="0">
            <a:spAutoFit/>
          </a:bodyPr>
          <a:lstStyle/>
          <a:p>
            <a:r>
              <a:rPr lang="en-US" sz="2500" dirty="0">
                <a:latin typeface="Nunito Sans" panose="00000500000000000000" pitchFamily="2" charset="0"/>
              </a:rPr>
              <a:t>Raju is a traveller and travels to many different places around the world.</a:t>
            </a:r>
          </a:p>
          <a:p>
            <a:r>
              <a:rPr lang="en-US" sz="2500" dirty="0">
                <a:latin typeface="Nunito Sans" panose="00000500000000000000" pitchFamily="2" charset="0"/>
              </a:rPr>
              <a:t>This time he went to an island that had its own currency. They only have 2 coin system currency. They call Aana, and these are coins. So in this islands they have either 1-Aana or 2- Aana.</a:t>
            </a:r>
          </a:p>
          <a:p>
            <a:r>
              <a:rPr lang="en-US" sz="2500" dirty="0">
                <a:latin typeface="Nunito Sans" panose="00000500000000000000" pitchFamily="2" charset="0"/>
              </a:rPr>
              <a:t>Just like all the other coins these Aana also have their heads and tails.</a:t>
            </a:r>
          </a:p>
          <a:p>
            <a:r>
              <a:rPr lang="en-US" sz="2500" dirty="0">
                <a:latin typeface="Nunito Sans" panose="00000500000000000000" pitchFamily="2" charset="0"/>
              </a:rPr>
              <a:t>Also, while paying anything to the shopkeeper here, you have tofollow their ritual and ritual says,</a:t>
            </a:r>
          </a:p>
          <a:p>
            <a:r>
              <a:rPr lang="en-US" sz="2500" dirty="0">
                <a:latin typeface="Nunito Sans" panose="00000500000000000000" pitchFamily="2" charset="0"/>
              </a:rPr>
              <a:t>•There is a wooden board at each shop where a customer places the coins in a squences while paying to shopkeeper.</a:t>
            </a:r>
          </a:p>
          <a:p>
            <a:r>
              <a:rPr lang="en-US" sz="2500" dirty="0">
                <a:latin typeface="Nunito Sans" panose="00000500000000000000" pitchFamily="2" charset="0"/>
              </a:rPr>
              <a:t>•You should always place the coin on a wooden board just like a squences.</a:t>
            </a:r>
          </a:p>
          <a:p>
            <a:r>
              <a:rPr lang="en-US" sz="2500" dirty="0">
                <a:latin typeface="Nunito Sans" panose="00000500000000000000" pitchFamily="2" charset="0"/>
              </a:rPr>
              <a:t>•The first coin in the sequence should always be facing the side of head.</a:t>
            </a:r>
          </a:p>
          <a:p>
            <a:r>
              <a:rPr lang="en-US" sz="2500" dirty="0">
                <a:latin typeface="Nunito Sans" panose="00000500000000000000" pitchFamily="2" charset="0"/>
              </a:rPr>
              <a:t>Now your task is to find out in how many ways he can pay the shopkeeper here, given some Xamount. The answer can be huge, so you can give an output with module 109+7.</a:t>
            </a:r>
          </a:p>
          <a:p>
            <a:r>
              <a:rPr lang="en-US" sz="2500" dirty="0">
                <a:latin typeface="Nunito Sans" panose="00000500000000000000" pitchFamily="2" charset="0"/>
              </a:rPr>
              <a:t>Let us try understand it with an example.</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altLang="en-US" sz="4500" b="1" dirty="0">
                <a:solidFill>
                  <a:schemeClr val="bg1"/>
                </a:solidFill>
                <a:latin typeface="Nunito Sans" pitchFamily="2" charset="0"/>
                <a:sym typeface="+mn-ea"/>
              </a:rPr>
              <a:t>question </a:t>
            </a:r>
            <a:r>
              <a:rPr lang="en-US" altLang="en-IN" sz="4500" b="1" dirty="0">
                <a:solidFill>
                  <a:schemeClr val="bg1"/>
                </a:solidFill>
                <a:latin typeface="Nunito Sans" pitchFamily="2" charset="0"/>
                <a:sym typeface="+mn-ea"/>
              </a:rPr>
              <a:t>20</a:t>
            </a:r>
            <a:endParaRPr lang="en-US" sz="4500" dirty="0">
              <a:latin typeface="Nunito Sans" pitchFamily="2"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478423"/>
          </a:xfrm>
          <a:prstGeom prst="rect">
            <a:avLst/>
          </a:prstGeom>
          <a:noFill/>
        </p:spPr>
        <p:txBody>
          <a:bodyPr wrap="square" rtlCol="0">
            <a:spAutoFit/>
          </a:bodyPr>
          <a:lstStyle/>
          <a:p>
            <a:r>
              <a:rPr lang="en-US" sz="2500" dirty="0">
                <a:latin typeface="Nunito Sans" panose="00000500000000000000" pitchFamily="2" charset="0"/>
              </a:rPr>
              <a:t>Consider that Raj has to pay 2 cents to the shopkeeper, so X=10.</a:t>
            </a:r>
          </a:p>
          <a:p>
            <a:r>
              <a:rPr lang="en-US" sz="2500" dirty="0">
                <a:latin typeface="Nunito Sans" panose="00000500000000000000" pitchFamily="2" charset="0"/>
              </a:rPr>
              <a:t>He can pay it as either 2coins of 1-Aana or 1coin of 2-Aana.</a:t>
            </a:r>
          </a:p>
          <a:p>
            <a:r>
              <a:rPr lang="en-US" sz="2500" dirty="0">
                <a:latin typeface="Nunito Sans" panose="00000500000000000000" pitchFamily="2" charset="0"/>
              </a:rPr>
              <a:t>2coins of 1-Aana can be given as below:</a:t>
            </a:r>
          </a:p>
          <a:p>
            <a:r>
              <a:rPr lang="en-US" sz="2500" dirty="0">
                <a:latin typeface="Nunito Sans" panose="00000500000000000000" pitchFamily="2" charset="0"/>
              </a:rPr>
              <a:t>•First coin placed as H, other coin can be as H(heads).</a:t>
            </a:r>
          </a:p>
          <a:p>
            <a:r>
              <a:rPr lang="en-US" sz="2500" dirty="0">
                <a:latin typeface="Nunito Sans" panose="00000500000000000000" pitchFamily="2" charset="0"/>
              </a:rPr>
              <a:t>•First coin placed as H, other coin be as T(tails).</a:t>
            </a:r>
          </a:p>
          <a:p>
            <a:r>
              <a:rPr lang="en-US" sz="2500" dirty="0">
                <a:latin typeface="Nunito Sans" panose="00000500000000000000" pitchFamily="2" charset="0"/>
              </a:rPr>
              <a:t>1coin of 2-Aana can be given as below:</a:t>
            </a:r>
          </a:p>
          <a:p>
            <a:r>
              <a:rPr lang="en-US" sz="2500" dirty="0">
                <a:latin typeface="Nunito Sans" panose="00000500000000000000" pitchFamily="2" charset="0"/>
              </a:rPr>
              <a:t>•Firstcoin placed as H.</a:t>
            </a:r>
          </a:p>
          <a:p>
            <a:r>
              <a:rPr lang="en-US" sz="2500" dirty="0">
                <a:latin typeface="Nunito Sans" panose="00000500000000000000" pitchFamily="2" charset="0"/>
              </a:rPr>
              <a:t>•No other combination for 2-Aana coin can exists.</a:t>
            </a:r>
          </a:p>
          <a:p>
            <a:r>
              <a:rPr lang="en-US" sz="2500" dirty="0">
                <a:latin typeface="Nunito Sans" panose="00000500000000000000" pitchFamily="2" charset="0"/>
              </a:rPr>
              <a:t>Hence total of 3 different combinations can exist to pay a sum of 3-Aana value. Hence the answer is 3.</a:t>
            </a:r>
          </a:p>
          <a:p>
            <a:r>
              <a:rPr lang="en-US" sz="2500" dirty="0">
                <a:latin typeface="Nunito Sans" panose="00000500000000000000" pitchFamily="2" charset="0"/>
              </a:rPr>
              <a:t>Given X, find out different number of ways in which Raj can pay to the shopkeeper.</a:t>
            </a:r>
          </a:p>
          <a:p>
            <a:r>
              <a:rPr lang="en-US" sz="2500" b="1" dirty="0">
                <a:latin typeface="Nunito Sans" pitchFamily="2" charset="0"/>
              </a:rPr>
              <a:t>Example 1:</a:t>
            </a:r>
          </a:p>
          <a:p>
            <a:r>
              <a:rPr lang="en-US" sz="2500" dirty="0">
                <a:latin typeface="Nunito Sans" panose="00000500000000000000" pitchFamily="2" charset="0"/>
              </a:rPr>
              <a:t>Input:</a:t>
            </a:r>
          </a:p>
          <a:p>
            <a:r>
              <a:rPr lang="en-US" sz="2500" dirty="0">
                <a:latin typeface="Nunito Sans" panose="00000500000000000000" pitchFamily="2" charset="0"/>
              </a:rPr>
              <a:t>1-&gt;Input integer, X</a:t>
            </a:r>
          </a:p>
        </p:txBody>
      </p:sp>
    </p:spTree>
    <p:extLst>
      <p:ext uri="{BB962C8B-B14F-4D97-AF65-F5344CB8AC3E}">
        <p14:creationId xmlns:p14="http://schemas.microsoft.com/office/powerpoint/2010/main" val="281583302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IN" altLang="en-US" sz="4500" b="1" dirty="0">
                <a:solidFill>
                  <a:schemeClr val="bg1"/>
                </a:solidFill>
                <a:latin typeface="Nunito Sans" pitchFamily="2" charset="0"/>
                <a:sym typeface="+mn-ea"/>
              </a:rPr>
              <a:t>question </a:t>
            </a:r>
            <a:r>
              <a:rPr lang="en-US" altLang="en-IN" sz="4500" b="1" dirty="0">
                <a:solidFill>
                  <a:schemeClr val="bg1"/>
                </a:solidFill>
                <a:latin typeface="Nunito Sans" pitchFamily="2" charset="0"/>
                <a:sym typeface="+mn-ea"/>
              </a:rPr>
              <a:t>20</a:t>
            </a:r>
            <a:endParaRPr lang="en-US" sz="4500" dirty="0">
              <a:latin typeface="Nunito Sans" pitchFamily="2" charset="0"/>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862320"/>
          </a:xfrm>
          <a:prstGeom prst="rect">
            <a:avLst/>
          </a:prstGeom>
          <a:noFill/>
        </p:spPr>
        <p:txBody>
          <a:bodyPr wrap="square" rtlCol="0">
            <a:spAutoFit/>
          </a:bodyPr>
          <a:lstStyle/>
          <a:p>
            <a:r>
              <a:rPr lang="en-US" sz="2500" b="1" dirty="0">
                <a:latin typeface="Nunito Sans" pitchFamily="2" charset="0"/>
              </a:rPr>
              <a:t>Output:</a:t>
            </a:r>
          </a:p>
          <a:p>
            <a:endParaRPr lang="en-US" sz="2500" dirty="0">
              <a:latin typeface="Nunito Sans" panose="00000500000000000000" pitchFamily="2" charset="0"/>
            </a:endParaRPr>
          </a:p>
          <a:p>
            <a:r>
              <a:rPr lang="en-US" sz="2500" dirty="0">
                <a:latin typeface="Nunito Sans" panose="00000500000000000000" pitchFamily="2" charset="0"/>
              </a:rPr>
              <a:t>1-&gt;output</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anose="00000500000000000000" pitchFamily="2" charset="0"/>
              </a:rPr>
              <a:t>If the amount which we have to pay is just 1, then we can pay it with just one coin, which 1-Aana and the combination for it will be just 1-H</a:t>
            </a:r>
          </a:p>
          <a:p>
            <a:r>
              <a:rPr lang="en-US" sz="2500" dirty="0">
                <a:latin typeface="Nunito Sans" panose="00000500000000000000" pitchFamily="2" charset="0"/>
              </a:rPr>
              <a:t>Hence the answer is 1.</a:t>
            </a:r>
          </a:p>
          <a:p>
            <a:endParaRPr lang="en-US" sz="2500" dirty="0">
              <a:latin typeface="Nunito Sans" panose="00000500000000000000" pitchFamily="2" charset="0"/>
            </a:endParaRPr>
          </a:p>
          <a:p>
            <a:r>
              <a:rPr lang="en-US" sz="2500" b="1" dirty="0">
                <a:latin typeface="Nunito Sans" panose="00000500000000000000" pitchFamily="2" charset="0"/>
              </a:rPr>
              <a:t>Example 2:</a:t>
            </a:r>
          </a:p>
          <a:p>
            <a:r>
              <a:rPr lang="en-US" sz="2500" b="1" dirty="0">
                <a:latin typeface="Nunito Sans" panose="00000500000000000000" pitchFamily="2" charset="0"/>
              </a:rPr>
              <a:t>Input:</a:t>
            </a:r>
          </a:p>
          <a:p>
            <a:r>
              <a:rPr lang="en-US" sz="2500" dirty="0">
                <a:latin typeface="Nunito Sans" panose="00000500000000000000" pitchFamily="2" charset="0"/>
              </a:rPr>
              <a:t>2-&gt;Input integer, </a:t>
            </a:r>
          </a:p>
          <a:p>
            <a:endParaRPr lang="en-US" sz="2500" dirty="0">
              <a:latin typeface="Nunito Sans" panose="00000500000000000000" pitchFamily="2" charset="0"/>
            </a:endParaRPr>
          </a:p>
          <a:p>
            <a:r>
              <a:rPr lang="en-US" sz="2500" b="1" dirty="0">
                <a:latin typeface="Nunito Sans" pitchFamily="2" charset="0"/>
              </a:rPr>
              <a:t>Output:</a:t>
            </a:r>
          </a:p>
          <a:p>
            <a:r>
              <a:rPr lang="en-US" sz="2500" dirty="0">
                <a:latin typeface="Nunito Sans" pitchFamily="2" charset="0"/>
              </a:rPr>
              <a:t>3-&gt;Output</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20</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3938270"/>
          </a:xfrm>
          <a:prstGeom prst="rect">
            <a:avLst/>
          </a:prstGeom>
          <a:noFill/>
        </p:spPr>
        <p:txBody>
          <a:bodyPr wrap="square" rtlCol="0">
            <a:spAutoFit/>
          </a:bodyPr>
          <a:lstStyle/>
          <a:p>
            <a:r>
              <a:rPr lang="en-US" sz="2500" b="1" dirty="0">
                <a:latin typeface="Nunito Sans" panose="00000500000000000000" pitchFamily="2" charset="0"/>
              </a:rPr>
              <a:t>Explanation:</a:t>
            </a:r>
          </a:p>
          <a:p>
            <a:endParaRPr lang="en-US" sz="2500" b="1" dirty="0">
              <a:latin typeface="Nunito Sans" panose="00000500000000000000" pitchFamily="2" charset="0"/>
            </a:endParaRPr>
          </a:p>
          <a:p>
            <a:r>
              <a:rPr lang="en-US" sz="2500" dirty="0">
                <a:latin typeface="Nunito Sans" panose="00000500000000000000" pitchFamily="2" charset="0"/>
              </a:rPr>
              <a:t>In this scenario where, he need to pay 2-Aana to the shopkeeper, he can pay it as either 2 coins of 1-Aana or one coin of 2-Aana</a:t>
            </a:r>
          </a:p>
          <a:p>
            <a:endParaRPr lang="en-US" sz="2500" dirty="0">
              <a:latin typeface="Nunito Sans" panose="00000500000000000000" pitchFamily="2" charset="0"/>
            </a:endParaRPr>
          </a:p>
          <a:p>
            <a:r>
              <a:rPr lang="en-US" sz="2500" dirty="0">
                <a:latin typeface="Nunito Sans" panose="00000500000000000000" pitchFamily="2" charset="0"/>
              </a:rPr>
              <a:t>2 coin of 1-Aana can be given as below:</a:t>
            </a:r>
          </a:p>
          <a:p>
            <a:r>
              <a:rPr lang="en-US" sz="2500" dirty="0">
                <a:latin typeface="Nunito Sans" panose="00000500000000000000" pitchFamily="2" charset="0"/>
              </a:rPr>
              <a:t>•First coin placed as H, other coins can be as H(heads)</a:t>
            </a:r>
          </a:p>
          <a:p>
            <a:r>
              <a:rPr lang="en-US" sz="2500" dirty="0">
                <a:latin typeface="Nunito Sans" panose="00000500000000000000" pitchFamily="2" charset="0"/>
              </a:rPr>
              <a:t>•First coin placed as H, other coins can be as T(tails)</a:t>
            </a:r>
          </a:p>
          <a:p>
            <a:r>
              <a:rPr lang="en-US" sz="2500" dirty="0">
                <a:latin typeface="Nunito Sans" panose="00000500000000000000" pitchFamily="2" charset="0"/>
              </a:rPr>
              <a:t>1 coin of 2-Aana can be given as below:</a:t>
            </a:r>
          </a:p>
          <a:p>
            <a:r>
              <a:rPr lang="en-US" sz="2500" dirty="0">
                <a:latin typeface="Nunito Sans" panose="00000500000000000000" pitchFamily="2" charset="0"/>
              </a:rPr>
              <a:t>•First coin placed as H.</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&lt;stdlib.h&gt;</a:t>
            </a:r>
          </a:p>
          <a:p>
            <a:r>
              <a:rPr lang="en-US" sz="2000" b="1" dirty="0">
                <a:solidFill>
                  <a:schemeClr val="bg1"/>
                </a:solidFill>
                <a:latin typeface="Nunito Sans" pitchFamily="2" charset="0"/>
                <a:cs typeface="Courier New" panose="02070309020205020404" pitchFamily="49" charset="0"/>
              </a:rPr>
              <a:t>#define MOD 1000000007</a:t>
            </a:r>
          </a:p>
          <a:p>
            <a:r>
              <a:rPr lang="en-US" sz="2000" b="1" dirty="0">
                <a:solidFill>
                  <a:schemeClr val="bg1"/>
                </a:solidFill>
                <a:latin typeface="Nunito Sans" pitchFamily="2" charset="0"/>
                <a:cs typeface="Courier New" panose="02070309020205020404" pitchFamily="49" charset="0"/>
              </a:rPr>
              <a:t>int countPaymentWays(int X)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if (X == 1)</a:t>
            </a:r>
          </a:p>
          <a:p>
            <a:r>
              <a:rPr lang="en-US" sz="2000" b="1" dirty="0">
                <a:solidFill>
                  <a:schemeClr val="bg1"/>
                </a:solidFill>
                <a:latin typeface="Nunito Sans" pitchFamily="2" charset="0"/>
                <a:cs typeface="Courier New" panose="02070309020205020404" pitchFamily="49" charset="0"/>
              </a:rPr>
              <a:t>        return 1;</a:t>
            </a:r>
          </a:p>
          <a:p>
            <a:r>
              <a:rPr lang="en-US" sz="2000" b="1" dirty="0">
                <a:solidFill>
                  <a:schemeClr val="bg1"/>
                </a:solidFill>
                <a:latin typeface="Nunito Sans" pitchFamily="2" charset="0"/>
                <a:cs typeface="Courier New" panose="02070309020205020404" pitchFamily="49" charset="0"/>
              </a:rPr>
              <a:t>    if (X == 2)</a:t>
            </a:r>
          </a:p>
          <a:p>
            <a:r>
              <a:rPr lang="en-US" sz="2000" b="1" dirty="0">
                <a:solidFill>
                  <a:schemeClr val="bg1"/>
                </a:solidFill>
                <a:latin typeface="Nunito Sans" pitchFamily="2" charset="0"/>
                <a:cs typeface="Courier New" panose="02070309020205020404" pitchFamily="49" charset="0"/>
              </a:rPr>
              <a:t>        return 3;</a:t>
            </a:r>
          </a:p>
          <a:p>
            <a:r>
              <a:rPr lang="en-US" sz="2000" b="1" dirty="0">
                <a:solidFill>
                  <a:schemeClr val="bg1"/>
                </a:solidFill>
                <a:latin typeface="Nunito Sans" pitchFamily="2" charset="0"/>
                <a:cs typeface="Courier New" panose="02070309020205020404" pitchFamily="49" charset="0"/>
              </a:rPr>
              <a:t>    int* dp = (int*)malloc((X + 1) * sizeof(int));</a:t>
            </a:r>
          </a:p>
          <a:p>
            <a:r>
              <a:rPr lang="en-US" sz="2000" b="1" dirty="0">
                <a:solidFill>
                  <a:schemeClr val="bg1"/>
                </a:solidFill>
                <a:latin typeface="Nunito Sans" pitchFamily="2" charset="0"/>
                <a:cs typeface="Courier New" panose="02070309020205020404" pitchFamily="49" charset="0"/>
              </a:rPr>
              <a:t>    dp[0] = 1;</a:t>
            </a:r>
          </a:p>
          <a:p>
            <a:r>
              <a:rPr lang="en-US" sz="2000" b="1" dirty="0">
                <a:solidFill>
                  <a:schemeClr val="bg1"/>
                </a:solidFill>
                <a:latin typeface="Nunito Sans" pitchFamily="2" charset="0"/>
                <a:cs typeface="Courier New" panose="02070309020205020404" pitchFamily="49" charset="0"/>
              </a:rPr>
              <a:t>    dp[1] = 1;</a:t>
            </a:r>
          </a:p>
          <a:p>
            <a:r>
              <a:rPr lang="en-US" sz="2000" b="1" dirty="0">
                <a:solidFill>
                  <a:schemeClr val="bg1"/>
                </a:solidFill>
                <a:latin typeface="Nunito Sans" pitchFamily="2" charset="0"/>
                <a:cs typeface="Courier New" panose="02070309020205020404" pitchFamily="49" charset="0"/>
              </a:rPr>
              <a:t>    dp[2] = 3;</a:t>
            </a:r>
          </a:p>
          <a:p>
            <a:r>
              <a:rPr lang="en-US" sz="2000" b="1" dirty="0">
                <a:solidFill>
                  <a:schemeClr val="bg1"/>
                </a:solidFill>
                <a:latin typeface="Nunito Sans" pitchFamily="2" charset="0"/>
                <a:cs typeface="Courier New" panose="02070309020205020404" pitchFamily="49" charset="0"/>
              </a:rPr>
              <a:t>    for (int i = 3; i &lt;= X;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dp[i] = (dp[i - 1] + dp[i - 2]) % MOD;</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ways = dp[X];</a:t>
            </a:r>
          </a:p>
          <a:p>
            <a:r>
              <a:rPr lang="en-US" sz="2000" b="1" dirty="0">
                <a:solidFill>
                  <a:schemeClr val="bg1"/>
                </a:solidFill>
                <a:latin typeface="Nunito Sans" pitchFamily="2" charset="0"/>
                <a:cs typeface="Courier New" panose="02070309020205020404" pitchFamily="49" charset="0"/>
              </a:rPr>
              <a:t>    free(dp);</a:t>
            </a:r>
          </a:p>
          <a:p>
            <a:r>
              <a:rPr lang="en-US" sz="2000" b="1" dirty="0">
                <a:solidFill>
                  <a:schemeClr val="bg1"/>
                </a:solidFill>
                <a:latin typeface="Nunito Sans" pitchFamily="2" charset="0"/>
                <a:cs typeface="Courier New" panose="02070309020205020404" pitchFamily="49" charset="0"/>
              </a:rPr>
              <a:t>    return ways;</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X;</a:t>
            </a:r>
          </a:p>
          <a:p>
            <a:r>
              <a:rPr lang="en-US" altLang="en-IN" sz="2000" b="1" dirty="0">
                <a:solidFill>
                  <a:schemeClr val="bg1"/>
                </a:solidFill>
                <a:latin typeface="Nunito Sans" pitchFamily="2" charset="0"/>
                <a:cs typeface="Courier New" panose="02070309020205020404" pitchFamily="49" charset="0"/>
                <a:sym typeface="+mn-ea"/>
              </a:rPr>
              <a:t>    scanf("%d", &amp;X);</a:t>
            </a:r>
          </a:p>
          <a:p>
            <a:r>
              <a:rPr lang="en-US" altLang="en-IN" sz="2000" b="1" dirty="0">
                <a:solidFill>
                  <a:schemeClr val="bg1"/>
                </a:solidFill>
                <a:latin typeface="Nunito Sans" pitchFamily="2" charset="0"/>
                <a:cs typeface="Courier New" panose="02070309020205020404" pitchFamily="49" charset="0"/>
                <a:sym typeface="+mn-ea"/>
              </a:rPr>
              <a:t>    int ways = countPaymentWays(X);</a:t>
            </a:r>
          </a:p>
          <a:p>
            <a:r>
              <a:rPr lang="en-US" altLang="en-IN" sz="2000" b="1" dirty="0">
                <a:solidFill>
                  <a:schemeClr val="bg1"/>
                </a:solidFill>
                <a:latin typeface="Nunito Sans" pitchFamily="2" charset="0"/>
                <a:cs typeface="Courier New" panose="02070309020205020404" pitchFamily="49" charset="0"/>
                <a:sym typeface="+mn-ea"/>
              </a:rPr>
              <a:t>    printf("%d\n", ways);</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&lt;vector&gt;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const int MOD = 1e9 + 7;</a:t>
            </a:r>
          </a:p>
          <a:p>
            <a:r>
              <a:rPr lang="en-US" sz="2000" b="1" dirty="0">
                <a:solidFill>
                  <a:schemeClr val="bg1"/>
                </a:solidFill>
                <a:latin typeface="Nunito Sans" pitchFamily="2" charset="0"/>
                <a:cs typeface="Courier New" panose="02070309020205020404" pitchFamily="49" charset="0"/>
              </a:rPr>
              <a:t>int countPaymentWays(int X)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if (X == 1)</a:t>
            </a:r>
          </a:p>
          <a:p>
            <a:r>
              <a:rPr lang="en-US" sz="2000" b="1" dirty="0">
                <a:solidFill>
                  <a:schemeClr val="bg1"/>
                </a:solidFill>
                <a:latin typeface="Nunito Sans" pitchFamily="2" charset="0"/>
                <a:cs typeface="Courier New" panose="02070309020205020404" pitchFamily="49" charset="0"/>
              </a:rPr>
              <a:t>        return 1;</a:t>
            </a:r>
          </a:p>
          <a:p>
            <a:r>
              <a:rPr lang="en-US" sz="2000" b="1" dirty="0">
                <a:solidFill>
                  <a:schemeClr val="bg1"/>
                </a:solidFill>
                <a:latin typeface="Nunito Sans" pitchFamily="2" charset="0"/>
                <a:cs typeface="Courier New" panose="02070309020205020404" pitchFamily="49" charset="0"/>
              </a:rPr>
              <a:t>    if (X == 2)</a:t>
            </a:r>
          </a:p>
          <a:p>
            <a:r>
              <a:rPr lang="en-US" sz="2000" b="1" dirty="0">
                <a:solidFill>
                  <a:schemeClr val="bg1"/>
                </a:solidFill>
                <a:latin typeface="Nunito Sans" pitchFamily="2" charset="0"/>
                <a:cs typeface="Courier New" panose="02070309020205020404" pitchFamily="49" charset="0"/>
              </a:rPr>
              <a:t>        return 3;</a:t>
            </a:r>
          </a:p>
          <a:p>
            <a:r>
              <a:rPr lang="en-US" sz="2000" b="1" dirty="0">
                <a:solidFill>
                  <a:schemeClr val="bg1"/>
                </a:solidFill>
                <a:latin typeface="Nunito Sans" pitchFamily="2" charset="0"/>
                <a:cs typeface="Courier New" panose="02070309020205020404" pitchFamily="49" charset="0"/>
              </a:rPr>
              <a:t>    vector&lt;int&gt; dp(X + 1, 0);</a:t>
            </a:r>
          </a:p>
          <a:p>
            <a:r>
              <a:rPr lang="en-US" sz="2000" b="1" dirty="0">
                <a:solidFill>
                  <a:schemeClr val="bg1"/>
                </a:solidFill>
                <a:latin typeface="Nunito Sans" pitchFamily="2" charset="0"/>
                <a:cs typeface="Courier New" panose="02070309020205020404" pitchFamily="49" charset="0"/>
              </a:rPr>
              <a:t>    dp[0] = 1;</a:t>
            </a:r>
          </a:p>
          <a:p>
            <a:r>
              <a:rPr lang="en-US" sz="2000" b="1" dirty="0">
                <a:solidFill>
                  <a:schemeClr val="bg1"/>
                </a:solidFill>
                <a:latin typeface="Nunito Sans" pitchFamily="2" charset="0"/>
                <a:cs typeface="Courier New" panose="02070309020205020404" pitchFamily="49" charset="0"/>
              </a:rPr>
              <a:t>    dp[1] = 1;</a:t>
            </a:r>
          </a:p>
          <a:p>
            <a:r>
              <a:rPr lang="en-US" sz="2000" b="1" dirty="0">
                <a:solidFill>
                  <a:schemeClr val="bg1"/>
                </a:solidFill>
                <a:latin typeface="Nunito Sans" pitchFamily="2" charset="0"/>
                <a:cs typeface="Courier New" panose="02070309020205020404" pitchFamily="49" charset="0"/>
              </a:rPr>
              <a:t>    dp[2] = 3;</a:t>
            </a:r>
          </a:p>
          <a:p>
            <a:r>
              <a:rPr lang="en-US" sz="2000" b="1" dirty="0">
                <a:solidFill>
                  <a:schemeClr val="bg1"/>
                </a:solidFill>
                <a:latin typeface="Nunito Sans" pitchFamily="2" charset="0"/>
                <a:cs typeface="Courier New" panose="02070309020205020404" pitchFamily="49" charset="0"/>
              </a:rPr>
              <a:t>    for (int i = 3; i &lt;= X;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dp[i] = (dp[i - 1] + dp[i - 2]) % MOD;</a:t>
            </a:r>
          </a:p>
          <a:p>
            <a:r>
              <a:rPr lang="en-US" sz="2000" b="1" dirty="0">
                <a:solidFill>
                  <a:schemeClr val="bg1"/>
                </a:solidFill>
                <a:latin typeface="Nunito Sans" pitchFamily="2" charset="0"/>
                <a:cs typeface="Courier New" panose="02070309020205020404" pitchFamily="49" charset="0"/>
              </a:rPr>
              <a:t>    }</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return dp[X];</a:t>
            </a: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int main() </a:t>
            </a:r>
          </a:p>
          <a:p>
            <a:r>
              <a:rPr lang="en-US" altLang="en-IN" sz="2000" b="1" dirty="0">
                <a:solidFill>
                  <a:schemeClr val="bg1"/>
                </a:solidFill>
                <a:latin typeface="Nunito Sans" pitchFamily="2" charset="0"/>
                <a:cs typeface="Courier New" panose="02070309020205020404" pitchFamily="49" charset="0"/>
                <a:sym typeface="+mn-ea"/>
              </a:rPr>
              <a:t>{</a:t>
            </a:r>
          </a:p>
          <a:p>
            <a:r>
              <a:rPr lang="en-US" altLang="en-IN" sz="2000" b="1" dirty="0">
                <a:solidFill>
                  <a:schemeClr val="bg1"/>
                </a:solidFill>
                <a:latin typeface="Nunito Sans" pitchFamily="2" charset="0"/>
                <a:cs typeface="Courier New" panose="02070309020205020404" pitchFamily="49" charset="0"/>
                <a:sym typeface="+mn-ea"/>
              </a:rPr>
              <a:t>    int X;</a:t>
            </a:r>
          </a:p>
          <a:p>
            <a:r>
              <a:rPr lang="en-US" altLang="en-IN" sz="2000" b="1" dirty="0">
                <a:solidFill>
                  <a:schemeClr val="bg1"/>
                </a:solidFill>
                <a:latin typeface="Nunito Sans" pitchFamily="2" charset="0"/>
                <a:cs typeface="Courier New" panose="02070309020205020404" pitchFamily="49" charset="0"/>
                <a:sym typeface="+mn-ea"/>
              </a:rPr>
              <a:t>    cin &gt;&gt; X;</a:t>
            </a:r>
          </a:p>
          <a:p>
            <a:r>
              <a:rPr lang="en-US" altLang="en-IN" sz="2000" b="1" dirty="0">
                <a:solidFill>
                  <a:schemeClr val="bg1"/>
                </a:solidFill>
                <a:latin typeface="Nunito Sans" pitchFamily="2" charset="0"/>
                <a:cs typeface="Courier New" panose="02070309020205020404" pitchFamily="49" charset="0"/>
                <a:sym typeface="+mn-ea"/>
              </a:rPr>
              <a:t>    int ways = countPaymentWays(X);</a:t>
            </a:r>
          </a:p>
          <a:p>
            <a:r>
              <a:rPr lang="en-US" altLang="en-IN" sz="2000" b="1" dirty="0">
                <a:solidFill>
                  <a:schemeClr val="bg1"/>
                </a:solidFill>
                <a:latin typeface="Nunito Sans" pitchFamily="2" charset="0"/>
                <a:cs typeface="Courier New" panose="02070309020205020404" pitchFamily="49" charset="0"/>
                <a:sym typeface="+mn-ea"/>
              </a:rPr>
              <a:t>    cout &lt;&lt;ways;</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private static final int MOD = 1000000007;</a:t>
            </a:r>
          </a:p>
          <a:p>
            <a:r>
              <a:rPr lang="en-US" sz="2000" b="1" dirty="0">
                <a:solidFill>
                  <a:schemeClr val="bg1"/>
                </a:solidFill>
                <a:latin typeface="Nunito Sans" pitchFamily="2" charset="0"/>
                <a:cs typeface="Courier New" panose="02070309020205020404" pitchFamily="49" charset="0"/>
              </a:rPr>
              <a:t>    public static int countPaymentWays(int X)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(X == 1)</a:t>
            </a:r>
          </a:p>
          <a:p>
            <a:r>
              <a:rPr lang="en-US" sz="2000" b="1" dirty="0">
                <a:solidFill>
                  <a:schemeClr val="bg1"/>
                </a:solidFill>
                <a:latin typeface="Nunito Sans" pitchFamily="2" charset="0"/>
                <a:cs typeface="Courier New" panose="02070309020205020404" pitchFamily="49" charset="0"/>
              </a:rPr>
              <a:t>            return 1;</a:t>
            </a:r>
          </a:p>
          <a:p>
            <a:r>
              <a:rPr lang="en-US" sz="2000" b="1" dirty="0">
                <a:solidFill>
                  <a:schemeClr val="bg1"/>
                </a:solidFill>
                <a:latin typeface="Nunito Sans" pitchFamily="2" charset="0"/>
                <a:cs typeface="Courier New" panose="02070309020205020404" pitchFamily="49" charset="0"/>
              </a:rPr>
              <a:t>        if (X == 2)</a:t>
            </a:r>
          </a:p>
          <a:p>
            <a:r>
              <a:rPr lang="en-US" sz="2000" b="1" dirty="0">
                <a:solidFill>
                  <a:schemeClr val="bg1"/>
                </a:solidFill>
                <a:latin typeface="Nunito Sans" pitchFamily="2" charset="0"/>
                <a:cs typeface="Courier New" panose="02070309020205020404" pitchFamily="49" charset="0"/>
              </a:rPr>
              <a:t>            return 3;</a:t>
            </a:r>
          </a:p>
          <a:p>
            <a:r>
              <a:rPr lang="en-US" sz="2000" b="1" dirty="0">
                <a:solidFill>
                  <a:schemeClr val="bg1"/>
                </a:solidFill>
                <a:latin typeface="Nunito Sans" pitchFamily="2" charset="0"/>
                <a:cs typeface="Courier New" panose="02070309020205020404" pitchFamily="49" charset="0"/>
              </a:rPr>
              <a:t>        int[] dp = new int[X + 1];</a:t>
            </a:r>
          </a:p>
          <a:p>
            <a:r>
              <a:rPr lang="en-US" sz="2000" b="1" dirty="0">
                <a:solidFill>
                  <a:schemeClr val="bg1"/>
                </a:solidFill>
                <a:latin typeface="Nunito Sans" pitchFamily="2" charset="0"/>
                <a:cs typeface="Courier New" panose="02070309020205020404" pitchFamily="49" charset="0"/>
              </a:rPr>
              <a:t>        dp[0] = 1;</a:t>
            </a:r>
          </a:p>
          <a:p>
            <a:r>
              <a:rPr lang="en-US" sz="2000" b="1" dirty="0">
                <a:solidFill>
                  <a:schemeClr val="bg1"/>
                </a:solidFill>
                <a:latin typeface="Nunito Sans" pitchFamily="2" charset="0"/>
                <a:cs typeface="Courier New" panose="02070309020205020404" pitchFamily="49" charset="0"/>
              </a:rPr>
              <a:t>        dp[1] = 1;</a:t>
            </a:r>
          </a:p>
          <a:p>
            <a:r>
              <a:rPr lang="en-US" sz="2000" b="1" dirty="0">
                <a:solidFill>
                  <a:schemeClr val="bg1"/>
                </a:solidFill>
                <a:latin typeface="Nunito Sans" pitchFamily="2" charset="0"/>
                <a:cs typeface="Courier New" panose="02070309020205020404" pitchFamily="49" charset="0"/>
              </a:rPr>
              <a:t>        dp[2] = 3;</a:t>
            </a:r>
          </a:p>
          <a:p>
            <a:r>
              <a:rPr lang="en-US" sz="2000" b="1" dirty="0">
                <a:solidFill>
                  <a:schemeClr val="bg1"/>
                </a:solidFill>
                <a:latin typeface="Nunito Sans" pitchFamily="2" charset="0"/>
                <a:cs typeface="Courier New" panose="02070309020205020404" pitchFamily="49" charset="0"/>
              </a:rPr>
              <a:t>        for (int i = 3; i &lt;= X;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dp[i] = (dp[i - 1] + dp[i - 2]) % MOD;</a:t>
            </a:r>
          </a:p>
          <a:p>
            <a:r>
              <a:rPr lang="en-US" sz="2000" b="1" dirty="0">
                <a:solidFill>
                  <a:schemeClr val="bg1"/>
                </a:solidFill>
                <a:latin typeface="Nunito Sans" pitchFamily="2" charset="0"/>
                <a:cs typeface="Courier New" panose="02070309020205020404" pitchFamily="49" charset="0"/>
              </a:rPr>
              <a:t>        }</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return dp[X];</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public static void main(String[] args)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Scanner scanner = new Scanner(System.in);</a:t>
            </a:r>
          </a:p>
          <a:p>
            <a:r>
              <a:rPr lang="en-US" altLang="en-IN" sz="2000" b="1" dirty="0">
                <a:solidFill>
                  <a:schemeClr val="bg1"/>
                </a:solidFill>
                <a:latin typeface="Nunito Sans" pitchFamily="2" charset="0"/>
                <a:cs typeface="Courier New" panose="02070309020205020404" pitchFamily="49" charset="0"/>
                <a:sym typeface="+mn-ea"/>
              </a:rPr>
              <a:t>        int X = scanner.nextInt();</a:t>
            </a:r>
          </a:p>
          <a:p>
            <a:r>
              <a:rPr lang="en-US" altLang="en-IN" sz="2000" b="1" dirty="0">
                <a:solidFill>
                  <a:schemeClr val="bg1"/>
                </a:solidFill>
                <a:latin typeface="Nunito Sans" pitchFamily="2" charset="0"/>
                <a:cs typeface="Courier New" panose="02070309020205020404" pitchFamily="49" charset="0"/>
                <a:sym typeface="+mn-ea"/>
              </a:rPr>
              <a:t>        int ways = countPaymentWays(X);</a:t>
            </a:r>
          </a:p>
          <a:p>
            <a:r>
              <a:rPr lang="en-US" altLang="en-IN" sz="2000" b="1" dirty="0">
                <a:solidFill>
                  <a:schemeClr val="bg1"/>
                </a:solidFill>
                <a:latin typeface="Nunito Sans" pitchFamily="2" charset="0"/>
                <a:cs typeface="Courier New" panose="02070309020205020404" pitchFamily="49" charset="0"/>
                <a:sym typeface="+mn-ea"/>
              </a:rPr>
              <a:t>        System.out.println(ways);</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MOD = 1000000007</a:t>
            </a:r>
          </a:p>
          <a:p>
            <a:r>
              <a:rPr lang="en-US" sz="2000" b="1" dirty="0">
                <a:solidFill>
                  <a:schemeClr val="bg1"/>
                </a:solidFill>
                <a:latin typeface="Nunito Sans" pitchFamily="2" charset="0"/>
                <a:cs typeface="Courier New" panose="02070309020205020404" pitchFamily="49" charset="0"/>
              </a:rPr>
              <a:t>def countPaymentWays(X):</a:t>
            </a:r>
          </a:p>
          <a:p>
            <a:r>
              <a:rPr lang="en-US" sz="2000" b="1" dirty="0">
                <a:solidFill>
                  <a:schemeClr val="bg1"/>
                </a:solidFill>
                <a:latin typeface="Nunito Sans" pitchFamily="2" charset="0"/>
                <a:cs typeface="Courier New" panose="02070309020205020404" pitchFamily="49" charset="0"/>
              </a:rPr>
              <a:t>    if X == 1:</a:t>
            </a:r>
          </a:p>
          <a:p>
            <a:r>
              <a:rPr lang="en-US" sz="2000" b="1" dirty="0">
                <a:solidFill>
                  <a:schemeClr val="bg1"/>
                </a:solidFill>
                <a:latin typeface="Nunito Sans" pitchFamily="2" charset="0"/>
                <a:cs typeface="Courier New" panose="02070309020205020404" pitchFamily="49" charset="0"/>
              </a:rPr>
              <a:t>        return 1</a:t>
            </a:r>
          </a:p>
          <a:p>
            <a:r>
              <a:rPr lang="en-US" sz="2000" b="1" dirty="0">
                <a:solidFill>
                  <a:schemeClr val="bg1"/>
                </a:solidFill>
                <a:latin typeface="Nunito Sans" pitchFamily="2" charset="0"/>
                <a:cs typeface="Courier New" panose="02070309020205020404" pitchFamily="49" charset="0"/>
              </a:rPr>
              <a:t>    if X == 2:</a:t>
            </a:r>
          </a:p>
          <a:p>
            <a:r>
              <a:rPr lang="en-US" sz="2000" b="1" dirty="0">
                <a:solidFill>
                  <a:schemeClr val="bg1"/>
                </a:solidFill>
                <a:latin typeface="Nunito Sans" pitchFamily="2" charset="0"/>
                <a:cs typeface="Courier New" panose="02070309020205020404" pitchFamily="49" charset="0"/>
              </a:rPr>
              <a:t>        return 3</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dp = [0] * (X + 1)</a:t>
            </a:r>
          </a:p>
          <a:p>
            <a:r>
              <a:rPr lang="en-US" sz="2000" b="1" dirty="0">
                <a:solidFill>
                  <a:schemeClr val="bg1"/>
                </a:solidFill>
                <a:latin typeface="Nunito Sans" pitchFamily="2" charset="0"/>
                <a:cs typeface="Courier New" panose="02070309020205020404" pitchFamily="49" charset="0"/>
              </a:rPr>
              <a:t>    dp[0] = 1</a:t>
            </a:r>
          </a:p>
          <a:p>
            <a:r>
              <a:rPr lang="en-US" sz="2000" b="1" dirty="0">
                <a:solidFill>
                  <a:schemeClr val="bg1"/>
                </a:solidFill>
                <a:latin typeface="Nunito Sans" pitchFamily="2" charset="0"/>
                <a:cs typeface="Courier New" panose="02070309020205020404" pitchFamily="49" charset="0"/>
              </a:rPr>
              <a:t>    dp[1] = 1</a:t>
            </a:r>
          </a:p>
          <a:p>
            <a:r>
              <a:rPr lang="en-US" sz="2000" b="1" dirty="0">
                <a:solidFill>
                  <a:schemeClr val="bg1"/>
                </a:solidFill>
                <a:latin typeface="Nunito Sans" pitchFamily="2" charset="0"/>
                <a:cs typeface="Courier New" panose="02070309020205020404" pitchFamily="49" charset="0"/>
              </a:rPr>
              <a:t>    dp[2] = 3</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for i in range(3, X + 1):</a:t>
            </a:r>
          </a:p>
          <a:p>
            <a:r>
              <a:rPr lang="en-US" sz="2000" b="1" dirty="0">
                <a:solidFill>
                  <a:schemeClr val="bg1"/>
                </a:solidFill>
                <a:latin typeface="Nunito Sans" pitchFamily="2" charset="0"/>
                <a:cs typeface="Courier New" panose="02070309020205020404" pitchFamily="49" charset="0"/>
              </a:rPr>
              <a:t>        dp[i] = (dp[i - 1] + dp[i - 2]) % MOD</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    return dp[X]</a:t>
            </a:r>
          </a:p>
          <a:p>
            <a:r>
              <a:rPr lang="en-US" sz="2000" b="1" dirty="0">
                <a:solidFill>
                  <a:schemeClr val="bg1"/>
                </a:solidFill>
                <a:latin typeface="Nunito Sans" pitchFamily="2" charset="0"/>
                <a:cs typeface="Courier New" panose="02070309020205020404" pitchFamily="49" charset="0"/>
              </a:rPr>
              <a:t>X = int(input())</a:t>
            </a:r>
          </a:p>
          <a:p>
            <a:r>
              <a:rPr lang="en-US" sz="2000" b="1" dirty="0">
                <a:solidFill>
                  <a:schemeClr val="bg1"/>
                </a:solidFill>
                <a:latin typeface="Nunito Sans" pitchFamily="2" charset="0"/>
                <a:cs typeface="Courier New" panose="02070309020205020404" pitchFamily="49" charset="0"/>
              </a:rPr>
              <a:t>ways = countPaymentWays(X)</a:t>
            </a:r>
          </a:p>
          <a:p>
            <a:r>
              <a:rPr lang="en-US" sz="2000" b="1" dirty="0">
                <a:solidFill>
                  <a:schemeClr val="bg1"/>
                </a:solidFill>
                <a:latin typeface="Nunito Sans" pitchFamily="2" charset="0"/>
                <a:cs typeface="Courier New" panose="02070309020205020404" pitchFamily="49" charset="0"/>
              </a:rPr>
              <a:t>print(ways)</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350645" y="2360930"/>
            <a:ext cx="2238113" cy="1092607"/>
          </a:xfrm>
          <a:prstGeom prst="rect">
            <a:avLst/>
          </a:prstGeom>
          <a:noFill/>
        </p:spPr>
        <p:txBody>
          <a:bodyPr wrap="none" rtlCol="0" anchor="t">
            <a:spAutoFit/>
          </a:bodyPr>
          <a:lstStyle/>
          <a:p>
            <a:r>
              <a:rPr lang="en-US" sz="6500" dirty="0">
                <a:latin typeface="Nunito Sans SemiBold" panose="00000700000000000000" pitchFamily="2" charset="0"/>
                <a:sym typeface="+mn-ea"/>
              </a:rPr>
              <a:t>Set C</a:t>
            </a:r>
            <a:endParaRPr lang="en-US" sz="6500" dirty="0">
              <a:latin typeface="Nunito Sans" pitchFamily="2" charset="0"/>
            </a:endParaRPr>
          </a:p>
        </p:txBody>
      </p:sp>
      <p:cxnSp>
        <p:nvCxnSpPr>
          <p:cNvPr id="3" name="Straight Connector 2"/>
          <p:cNvCxnSpPr/>
          <p:nvPr/>
        </p:nvCxnSpPr>
        <p:spPr>
          <a:xfrm flipV="1">
            <a:off x="1581150" y="2383155"/>
            <a:ext cx="1953895" cy="9525"/>
          </a:xfrm>
          <a:prstGeom prst="line">
            <a:avLst/>
          </a:prstGeom>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1C587017-ED42-2F38-7EFB-5D35C044BE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21</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96520" y="883920"/>
            <a:ext cx="12095480" cy="5863144"/>
          </a:xfrm>
          <a:prstGeom prst="rect">
            <a:avLst/>
          </a:prstGeom>
          <a:noFill/>
        </p:spPr>
        <p:txBody>
          <a:bodyPr wrap="square" rtlCol="0">
            <a:spAutoFit/>
          </a:bodyPr>
          <a:lstStyle/>
          <a:p>
            <a:r>
              <a:rPr lang="en-US" sz="2500" dirty="0">
                <a:solidFill>
                  <a:srgbClr val="000000"/>
                </a:solidFill>
                <a:effectLst/>
                <a:latin typeface="Nunito Sans" pitchFamily="2" charset="0"/>
                <a:ea typeface="Times New Roman" panose="02020603050405020304" pitchFamily="18" charset="0"/>
              </a:rPr>
              <a:t>A game company has designed an online lottery game. Bingo, in this game, N number cards are displayed. Each card has a value on it. The value can be negative or positive. The player must choose two cards. To win one game, the product of the values of the two cards must be maximum value possible for any pair of cards in the display. The winning </a:t>
            </a:r>
            <a:r>
              <a:rPr lang="en-US" sz="2500" dirty="0" err="1">
                <a:solidFill>
                  <a:srgbClr val="000000"/>
                </a:solidFill>
                <a:effectLst/>
                <a:latin typeface="Nunito Sans" pitchFamily="2" charset="0"/>
                <a:ea typeface="Times New Roman" panose="02020603050405020304" pitchFamily="18" charset="0"/>
              </a:rPr>
              <a:t>amoint</a:t>
            </a:r>
            <a:r>
              <a:rPr lang="en-US" sz="2500" dirty="0">
                <a:solidFill>
                  <a:srgbClr val="000000"/>
                </a:solidFill>
                <a:effectLst/>
                <a:latin typeface="Nunito Sans" pitchFamily="2" charset="0"/>
                <a:ea typeface="Times New Roman" panose="02020603050405020304" pitchFamily="18" charset="0"/>
              </a:rPr>
              <a:t> will be the sum of the two cards chosen by the player.</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Write an algorithm to find the winning amount as the sum of the value of the cards whose product value is maximum.</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Input</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The second line consists of N space-separated integers - val1, val2....., </a:t>
            </a:r>
            <a:r>
              <a:rPr lang="en-US" sz="2500" dirty="0" err="1">
                <a:solidFill>
                  <a:srgbClr val="000000"/>
                </a:solidFill>
                <a:effectLst/>
                <a:latin typeface="Nunito Sans" pitchFamily="2" charset="0"/>
                <a:ea typeface="Times New Roman" panose="02020603050405020304" pitchFamily="18" charset="0"/>
              </a:rPr>
              <a:t>valN</a:t>
            </a:r>
            <a:r>
              <a:rPr lang="en-US" sz="2500" dirty="0">
                <a:solidFill>
                  <a:srgbClr val="000000"/>
                </a:solidFill>
                <a:effectLst/>
                <a:latin typeface="Nunito Sans" pitchFamily="2" charset="0"/>
                <a:ea typeface="Times New Roman" panose="02020603050405020304" pitchFamily="18" charset="0"/>
              </a:rPr>
              <a:t> representing the values on the cards.</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Output</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Print an integer representing the sum of the values of the two cards whose product value is maximum.</a:t>
            </a:r>
            <a:endParaRPr lang="en-IN" sz="2500" dirty="0">
              <a:effectLst/>
              <a:latin typeface="Nunito Sans" pitchFamily="2" charset="0"/>
              <a:ea typeface="Times New Roman" panose="02020603050405020304" pitchFamily="18" charset="0"/>
            </a:endParaRPr>
          </a:p>
          <a:p>
            <a:endParaRPr lang="en-US" sz="2500" dirty="0">
              <a:latin typeface="Nunito Sans" pitchFamily="2" charset="0"/>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21</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278765" y="1186815"/>
            <a:ext cx="11459210" cy="5478423"/>
          </a:xfrm>
          <a:prstGeom prst="rect">
            <a:avLst/>
          </a:prstGeom>
          <a:noFill/>
        </p:spPr>
        <p:txBody>
          <a:bodyPr wrap="square" rtlCol="0">
            <a:spAutoFit/>
          </a:bodyPr>
          <a:lstStyle/>
          <a:p>
            <a:r>
              <a:rPr lang="en-US" sz="2500" b="1" dirty="0">
                <a:solidFill>
                  <a:srgbClr val="000000"/>
                </a:solidFill>
                <a:effectLst/>
                <a:latin typeface="Nunito Sans" pitchFamily="2" charset="0"/>
                <a:ea typeface="Times New Roman" panose="02020603050405020304" pitchFamily="18" charset="0"/>
              </a:rPr>
              <a:t>Constraints</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0 </a:t>
            </a:r>
            <a:r>
              <a:rPr lang="en-US" sz="2500" u="sng" dirty="0">
                <a:solidFill>
                  <a:srgbClr val="000000"/>
                </a:solidFill>
                <a:effectLst/>
                <a:latin typeface="Nunito Sans" pitchFamily="2" charset="0"/>
                <a:ea typeface="Times New Roman" panose="02020603050405020304" pitchFamily="18" charset="0"/>
              </a:rPr>
              <a:t>&lt;</a:t>
            </a:r>
            <a:r>
              <a:rPr lang="en-US" sz="2500" dirty="0">
                <a:solidFill>
                  <a:srgbClr val="000000"/>
                </a:solidFill>
                <a:effectLst/>
                <a:latin typeface="Nunito Sans" pitchFamily="2" charset="0"/>
                <a:ea typeface="Times New Roman" panose="02020603050405020304" pitchFamily="18" charset="0"/>
              </a:rPr>
              <a:t> </a:t>
            </a:r>
            <a:r>
              <a:rPr lang="en-US" sz="2500" dirty="0" err="1">
                <a:solidFill>
                  <a:srgbClr val="000000"/>
                </a:solidFill>
                <a:effectLst/>
                <a:latin typeface="Nunito Sans" pitchFamily="2" charset="0"/>
                <a:ea typeface="Times New Roman" panose="02020603050405020304" pitchFamily="18" charset="0"/>
              </a:rPr>
              <a:t>numCards</a:t>
            </a:r>
            <a:r>
              <a:rPr lang="en-US" sz="2500" dirty="0">
                <a:solidFill>
                  <a:srgbClr val="000000"/>
                </a:solidFill>
                <a:effectLst/>
                <a:latin typeface="Nunito Sans" pitchFamily="2" charset="0"/>
                <a:ea typeface="Times New Roman" panose="02020603050405020304" pitchFamily="18" charset="0"/>
              </a:rPr>
              <a:t> </a:t>
            </a:r>
            <a:r>
              <a:rPr lang="en-US" sz="2500" u="sng" dirty="0">
                <a:solidFill>
                  <a:srgbClr val="000000"/>
                </a:solidFill>
                <a:effectLst/>
                <a:latin typeface="Nunito Sans" pitchFamily="2" charset="0"/>
                <a:ea typeface="Times New Roman" panose="02020603050405020304" pitchFamily="18" charset="0"/>
              </a:rPr>
              <a:t>&lt;</a:t>
            </a:r>
            <a:r>
              <a:rPr lang="en-US" sz="2500" dirty="0">
                <a:solidFill>
                  <a:srgbClr val="000000"/>
                </a:solidFill>
                <a:effectLst/>
                <a:latin typeface="Nunito Sans" pitchFamily="2" charset="0"/>
                <a:ea typeface="Times New Roman" panose="02020603050405020304" pitchFamily="18" charset="0"/>
              </a:rPr>
              <a:t> 106</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-106 </a:t>
            </a:r>
            <a:r>
              <a:rPr lang="en-US" sz="2500" u="sng" dirty="0">
                <a:solidFill>
                  <a:srgbClr val="000000"/>
                </a:solidFill>
                <a:effectLst/>
                <a:latin typeface="Nunito Sans" pitchFamily="2" charset="0"/>
                <a:ea typeface="Times New Roman" panose="02020603050405020304" pitchFamily="18" charset="0"/>
              </a:rPr>
              <a:t>&lt;</a:t>
            </a:r>
            <a:r>
              <a:rPr lang="en-US" sz="2500" dirty="0">
                <a:solidFill>
                  <a:srgbClr val="000000"/>
                </a:solidFill>
                <a:effectLst/>
                <a:latin typeface="Nunito Sans" pitchFamily="2" charset="0"/>
                <a:ea typeface="Times New Roman" panose="02020603050405020304" pitchFamily="18" charset="0"/>
              </a:rPr>
              <a:t> vali </a:t>
            </a:r>
            <a:r>
              <a:rPr lang="en-US" sz="2500" u="sng" dirty="0">
                <a:solidFill>
                  <a:srgbClr val="000000"/>
                </a:solidFill>
                <a:effectLst/>
                <a:latin typeface="Nunito Sans" pitchFamily="2" charset="0"/>
                <a:ea typeface="Times New Roman" panose="02020603050405020304" pitchFamily="18" charset="0"/>
              </a:rPr>
              <a:t>&lt;</a:t>
            </a:r>
            <a:r>
              <a:rPr lang="en-US" sz="2500" dirty="0">
                <a:solidFill>
                  <a:srgbClr val="000000"/>
                </a:solidFill>
                <a:effectLst/>
                <a:latin typeface="Nunito Sans" pitchFamily="2" charset="0"/>
                <a:ea typeface="Times New Roman" panose="02020603050405020304" pitchFamily="18" charset="0"/>
              </a:rPr>
              <a:t> 106</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0 </a:t>
            </a:r>
            <a:r>
              <a:rPr lang="en-US" sz="2500" u="sng" dirty="0">
                <a:solidFill>
                  <a:srgbClr val="000000"/>
                </a:solidFill>
                <a:effectLst/>
                <a:latin typeface="Nunito Sans" pitchFamily="2" charset="0"/>
                <a:ea typeface="Times New Roman" panose="02020603050405020304" pitchFamily="18" charset="0"/>
              </a:rPr>
              <a:t>&lt;</a:t>
            </a:r>
            <a:r>
              <a:rPr lang="en-US" sz="2500" dirty="0">
                <a:solidFill>
                  <a:srgbClr val="000000"/>
                </a:solidFill>
                <a:effectLst/>
                <a:latin typeface="Nunito Sans" pitchFamily="2" charset="0"/>
                <a:ea typeface="Times New Roman" panose="02020603050405020304" pitchFamily="18" charset="0"/>
              </a:rPr>
              <a:t> </a:t>
            </a:r>
            <a:r>
              <a:rPr lang="en-US" sz="2500" dirty="0" err="1">
                <a:solidFill>
                  <a:srgbClr val="000000"/>
                </a:solidFill>
                <a:effectLst/>
                <a:latin typeface="Nunito Sans" pitchFamily="2" charset="0"/>
                <a:ea typeface="Times New Roman" panose="02020603050405020304" pitchFamily="18" charset="0"/>
              </a:rPr>
              <a:t>i</a:t>
            </a:r>
            <a:r>
              <a:rPr lang="en-US" sz="2500" dirty="0">
                <a:solidFill>
                  <a:srgbClr val="000000"/>
                </a:solidFill>
                <a:effectLst/>
                <a:latin typeface="Nunito Sans" pitchFamily="2" charset="0"/>
                <a:ea typeface="Times New Roman" panose="02020603050405020304" pitchFamily="18" charset="0"/>
              </a:rPr>
              <a:t> &lt; </a:t>
            </a:r>
            <a:r>
              <a:rPr lang="en-US" sz="2500" dirty="0" err="1">
                <a:solidFill>
                  <a:srgbClr val="000000"/>
                </a:solidFill>
                <a:effectLst/>
                <a:latin typeface="Nunito Sans" pitchFamily="2" charset="0"/>
                <a:ea typeface="Times New Roman" panose="02020603050405020304" pitchFamily="18" charset="0"/>
              </a:rPr>
              <a:t>numCards</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Example</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Input:</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7</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9 -3 8 -6 -7 8 10</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Output:</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19</a:t>
            </a:r>
            <a:endParaRPr lang="en-IN" sz="2500" dirty="0">
              <a:effectLst/>
              <a:latin typeface="Nunito Sans" pitchFamily="2" charset="0"/>
              <a:ea typeface="Times New Roman" panose="02020603050405020304" pitchFamily="18" charset="0"/>
            </a:endParaRPr>
          </a:p>
          <a:p>
            <a:r>
              <a:rPr lang="en-US" sz="2500" b="1" dirty="0">
                <a:solidFill>
                  <a:srgbClr val="000000"/>
                </a:solidFill>
                <a:effectLst/>
                <a:latin typeface="Nunito Sans" pitchFamily="2" charset="0"/>
                <a:ea typeface="Times New Roman" panose="02020603050405020304" pitchFamily="18" charset="0"/>
              </a:rPr>
              <a:t>Explanation:</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The maximum product of the values of is 90, i.e. 9*10.</a:t>
            </a:r>
            <a:endParaRPr lang="en-IN" sz="2500" dirty="0">
              <a:effectLst/>
              <a:latin typeface="Nunito Sans" pitchFamily="2" charset="0"/>
              <a:ea typeface="Times New Roman" panose="02020603050405020304" pitchFamily="18" charset="0"/>
            </a:endParaRPr>
          </a:p>
          <a:p>
            <a:r>
              <a:rPr lang="en-US" sz="2500" dirty="0">
                <a:solidFill>
                  <a:srgbClr val="000000"/>
                </a:solidFill>
                <a:effectLst/>
                <a:latin typeface="Nunito Sans" pitchFamily="2" charset="0"/>
                <a:ea typeface="Times New Roman" panose="02020603050405020304" pitchFamily="18" charset="0"/>
              </a:rPr>
              <a:t>So the sum of the values of the selected cards is 19.</a:t>
            </a:r>
            <a:endParaRPr lang="en-IN" sz="2500" dirty="0">
              <a:effectLst/>
              <a:latin typeface="Nunito Sans" pitchFamily="2" charset="0"/>
              <a:ea typeface="Times New Roman" panose="02020603050405020304" pitchFamily="18" charset="0"/>
            </a:endParaRPr>
          </a:p>
          <a:p>
            <a:endParaRPr lang="en-US" sz="2500" dirty="0">
              <a:latin typeface="Nunito Sans" panose="00000500000000000000" pitchFamily="2" charset="0"/>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#include</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err="1">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stdio.h</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scanf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"%d"</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&amp;</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scanf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"%d"</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&amp;</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smallest product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sum of two balance values whose product is the smallest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j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j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display output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"%d\n"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b="1" dirty="0">
              <a:solidFill>
                <a:schemeClr val="bg1"/>
              </a:solidFill>
              <a:latin typeface="Nunito Sans" pitchFamily="2" charset="0"/>
              <a:cs typeface="Courier New" panose="02070309020205020404" pitchFamily="49"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#include</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iostream</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#include</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CE9178"/>
                </a:solidFill>
                <a:effectLst/>
                <a:latin typeface="Consolas" panose="020B0609020204030204" pitchFamily="49" charset="0"/>
                <a:ea typeface="Times New Roman" panose="02020603050405020304" pitchFamily="18" charset="0"/>
                <a:cs typeface="Times New Roman" panose="02020603050405020304" pitchFamily="18" charset="0"/>
              </a:rPr>
              <a:t>vector</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std::</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cin</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&gt;&gt;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std::vector</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std::</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cin</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&gt;&gt;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smallest product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sum of two balance values whose product is the smallest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j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j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display output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std::</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cout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std::</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endl</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return</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b="1" dirty="0">
              <a:solidFill>
                <a:schemeClr val="bg1"/>
              </a:solidFill>
              <a:latin typeface="Nunito Sans" pitchFamily="2" charset="0"/>
              <a:cs typeface="Courier New" panose="02070309020205020404" pitchFamily="49"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import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java</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util</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Scanner</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class</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public</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static</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void</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main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String</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args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 scan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Scanner</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scan</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nextInt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new</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scan</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nextInt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//smallest product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//sum of 2 balance values whose product is the smallest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&lt;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&gt;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//display output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System</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out</a:t>
            </a:r>
            <a:r>
              <a:rPr lang="en-US" sz="1800" dirty="0" err="1">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err="1">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println</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dirty="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dirty="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b="1" dirty="0">
                <a:solidFill>
                  <a:schemeClr val="bg1"/>
                </a:solidFill>
                <a:latin typeface="Nunito Sans" pitchFamily="2" charset="0"/>
                <a:cs typeface="Courier New" panose="02070309020205020404" pitchFamily="49" charset="0"/>
              </a:rPr>
              <a: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 =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input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balance = </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_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range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balance.append</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input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product =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smallest product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sum_values =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0</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sum of two balance values whose product is the smallest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i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range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numCustomers -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for</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j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in</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range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 + </a:t>
            </a:r>
            <a:r>
              <a:rPr lang="en-US" sz="1800">
                <a:solidFill>
                  <a:srgbClr val="B5CEA8"/>
                </a:solidFill>
                <a:effectLst/>
                <a:latin typeface="Consolas" panose="020B0609020204030204" pitchFamily="49" charset="0"/>
                <a:ea typeface="Times New Roman" panose="02020603050405020304" pitchFamily="18" charset="0"/>
                <a:cs typeface="Times New Roman" panose="02020603050405020304" pitchFamily="18" charset="0"/>
              </a:rPr>
              <a:t>1</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numCustomers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if</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balance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balance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&gt; product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product = balance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balance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sum_values = balance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i</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 balance</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j</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608B4E"/>
                </a:solidFill>
                <a:effectLst/>
                <a:latin typeface="Consolas" panose="020B0609020204030204" pitchFamily="49" charset="0"/>
                <a:ea typeface="Times New Roman" panose="02020603050405020304" pitchFamily="18" charset="0"/>
                <a:cs typeface="Times New Roman" panose="02020603050405020304" pitchFamily="18" charset="0"/>
              </a:rPr>
              <a:t># display output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p>
            <a:pPr>
              <a:lnSpc>
                <a:spcPts val="1425"/>
              </a:lnSpc>
              <a:spcAft>
                <a:spcPts val="800"/>
              </a:spcAft>
            </a:pPr>
            <a:r>
              <a:rPr lang="en-US" sz="1800">
                <a:solidFill>
                  <a:srgbClr val="569CD6"/>
                </a:solidFill>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800">
                <a:solidFill>
                  <a:srgbClr val="D4D4D4"/>
                </a:solidFill>
                <a:effectLst/>
                <a:latin typeface="Consolas" panose="020B0609020204030204" pitchFamily="49" charset="0"/>
                <a:ea typeface="Times New Roman" panose="02020603050405020304" pitchFamily="18" charset="0"/>
                <a:cs typeface="Times New Roman" panose="02020603050405020304" pitchFamily="18" charset="0"/>
              </a:rPr>
              <a:t>sum_values</a:t>
            </a:r>
            <a:r>
              <a:rPr lang="en-US" sz="1800">
                <a:solidFill>
                  <a:srgbClr val="DCDCDC"/>
                </a:solidFill>
                <a:effectLst/>
                <a:latin typeface="Consolas" panose="020B0609020204030204" pitchFamily="49" charset="0"/>
                <a:ea typeface="Times New Roman" panose="02020603050405020304" pitchFamily="18" charset="0"/>
                <a:cs typeface="Times New Roman" panose="02020603050405020304" pitchFamily="18" charset="0"/>
              </a:rPr>
              <a: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22</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278765" y="1186815"/>
            <a:ext cx="11749405" cy="5093702"/>
          </a:xfrm>
          <a:prstGeom prst="rect">
            <a:avLst/>
          </a:prstGeom>
          <a:noFill/>
        </p:spPr>
        <p:txBody>
          <a:bodyPr wrap="square" rtlCol="0">
            <a:spAutoFit/>
          </a:bodyPr>
          <a:lstStyle/>
          <a:p>
            <a:r>
              <a:rPr lang="en-US" sz="2500" dirty="0">
                <a:latin typeface="Nunito Sans" panose="00000500000000000000" pitchFamily="2" charset="0"/>
              </a:rPr>
              <a:t>A new medicine named "Medio-cine" is out in the market which helps in treating auto-immune diseases in humans. These are very common in 0-10 year old kids or greater than or equal to 81 year old senior citizens. Both these age groups are considered at a very high risk.</a:t>
            </a:r>
          </a:p>
          <a:p>
            <a:r>
              <a:rPr lang="en-US" sz="2500" dirty="0">
                <a:latin typeface="Nunito Sans" panose="00000500000000000000" pitchFamily="2" charset="0"/>
              </a:rPr>
              <a:t>The government wants to distribute the medicine as soon as possible among all age groups. There is only one(1) political center from where this medicine is distributed. In a single day we cannot provide to both high risk and non high risk age groups.Each person requires only one capsule and there can be L capsules distributed in a day. The high risk humans are supposed to be considered first.There are 'N' humans and 'L' capsules per day. Find the minimum number of days required to medicate all the N humans.</a:t>
            </a:r>
          </a:p>
          <a:p>
            <a:endParaRPr lang="en-US" sz="2500" dirty="0">
              <a:latin typeface="Nunito Sans" panose="00000500000000000000" pitchFamily="2" charset="0"/>
            </a:endParaRPr>
          </a:p>
          <a:p>
            <a:r>
              <a:rPr lang="en-US" sz="2500" b="1" dirty="0">
                <a:latin typeface="Nunito Sans" pitchFamily="2" charset="0"/>
              </a:rPr>
              <a:t>Input format</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22</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88392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221615" y="1068070"/>
            <a:ext cx="11749405" cy="5478423"/>
          </a:xfrm>
          <a:prstGeom prst="rect">
            <a:avLst/>
          </a:prstGeom>
          <a:noFill/>
        </p:spPr>
        <p:txBody>
          <a:bodyPr wrap="square" rtlCol="0">
            <a:spAutoFit/>
          </a:bodyPr>
          <a:lstStyle/>
          <a:p>
            <a:r>
              <a:rPr lang="en-US" sz="2500" b="1" dirty="0">
                <a:latin typeface="Nunito Sans" pitchFamily="2" charset="0"/>
              </a:rPr>
              <a:t>Input format</a:t>
            </a:r>
          </a:p>
          <a:p>
            <a:r>
              <a:rPr lang="en-US" sz="2500" dirty="0">
                <a:latin typeface="Nunito Sans" panose="00000500000000000000" pitchFamily="2" charset="0"/>
              </a:rPr>
              <a:t>First Line: Contains a Positive Integer denoting N and L denoting number of medicines.</a:t>
            </a:r>
          </a:p>
          <a:p>
            <a:r>
              <a:rPr lang="en-US" sz="2500" dirty="0">
                <a:latin typeface="Nunito Sans" panose="00000500000000000000" pitchFamily="2" charset="0"/>
              </a:rPr>
              <a:t>Next line Contains N elements of the array A space separated denoting age.</a:t>
            </a:r>
          </a:p>
          <a:p>
            <a:endParaRPr lang="en-US" sz="2500" dirty="0">
              <a:latin typeface="Nunito Sans" panose="00000500000000000000" pitchFamily="2" charset="0"/>
            </a:endParaRPr>
          </a:p>
          <a:p>
            <a:r>
              <a:rPr lang="en-US" sz="2500" b="1" dirty="0">
                <a:latin typeface="Nunito Sans" pitchFamily="2" charset="0"/>
              </a:rPr>
              <a:t>Constraints:</a:t>
            </a:r>
          </a:p>
          <a:p>
            <a:r>
              <a:rPr lang="en-US" sz="2500" dirty="0">
                <a:latin typeface="Nunito Sans" panose="00000500000000000000" pitchFamily="2" charset="0"/>
              </a:rPr>
              <a:t>1&lt;=N&lt;10000</a:t>
            </a:r>
          </a:p>
          <a:p>
            <a:r>
              <a:rPr lang="en-US" sz="2500" dirty="0">
                <a:latin typeface="Nunito Sans" panose="00000500000000000000" pitchFamily="2" charset="0"/>
              </a:rPr>
              <a:t>1&lt;=L=1000</a:t>
            </a:r>
          </a:p>
          <a:p>
            <a:r>
              <a:rPr lang="en-US" sz="2500" dirty="0">
                <a:latin typeface="Nunito Sans" panose="00000500000000000000" pitchFamily="2" charset="0"/>
              </a:rPr>
              <a:t>1&lt;=A[i]=1000</a:t>
            </a:r>
          </a:p>
          <a:p>
            <a:endParaRPr lang="en-US" sz="2500" dirty="0">
              <a:latin typeface="Nunito Sans" panose="00000500000000000000" pitchFamily="2" charset="0"/>
            </a:endParaRPr>
          </a:p>
          <a:p>
            <a:r>
              <a:rPr lang="en-US" sz="2500" b="1" dirty="0">
                <a:latin typeface="Nunito Sans" panose="00000500000000000000" pitchFamily="2" charset="0"/>
              </a:rPr>
              <a:t>Example 1:</a:t>
            </a:r>
          </a:p>
          <a:p>
            <a:r>
              <a:rPr lang="en-US" sz="2500" b="1" dirty="0">
                <a:latin typeface="Nunito Sans" panose="00000500000000000000" pitchFamily="2" charset="0"/>
              </a:rPr>
              <a:t>Input:</a:t>
            </a:r>
          </a:p>
          <a:p>
            <a:r>
              <a:rPr lang="en-US" sz="2500" dirty="0">
                <a:latin typeface="Nunito Sans" panose="00000500000000000000" pitchFamily="2" charset="0"/>
              </a:rPr>
              <a:t>5 2  -&gt; N, L</a:t>
            </a:r>
          </a:p>
          <a:p>
            <a:r>
              <a:rPr lang="en-US" sz="2500" dirty="0">
                <a:latin typeface="Nunito Sans" panose="00000500000000000000" pitchFamily="2" charset="0"/>
              </a:rPr>
              <a:t>11 81 27 72 79 -&gt; array A (age of N humans respectively)</a:t>
            </a:r>
            <a:endParaRPr lang="en-US" sz="2500" b="1" dirty="0">
              <a:latin typeface="Nunito Sans" pitchFamily="2" charset="0"/>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22</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332740" y="995680"/>
            <a:ext cx="11749405" cy="5477510"/>
          </a:xfrm>
          <a:prstGeom prst="rect">
            <a:avLst/>
          </a:prstGeom>
          <a:noFill/>
        </p:spPr>
        <p:txBody>
          <a:bodyPr wrap="square" rtlCol="0">
            <a:spAutoFit/>
          </a:bodyPr>
          <a:lstStyle/>
          <a:p>
            <a:r>
              <a:rPr lang="en-US" sz="2500" b="1" dirty="0">
                <a:latin typeface="Nunito Sans" pitchFamily="2" charset="0"/>
              </a:rPr>
              <a:t>Output:</a:t>
            </a:r>
          </a:p>
          <a:p>
            <a:r>
              <a:rPr lang="en-US" sz="2500" dirty="0">
                <a:latin typeface="Nunito Sans" pitchFamily="2" charset="0"/>
              </a:rPr>
              <a:t>3 Days</a:t>
            </a:r>
          </a:p>
          <a:p>
            <a:r>
              <a:rPr lang="en-US" sz="2500" b="1" dirty="0">
                <a:latin typeface="Nunito Sans" pitchFamily="2" charset="0"/>
              </a:rPr>
              <a:t>Explanation:</a:t>
            </a:r>
          </a:p>
          <a:p>
            <a:r>
              <a:rPr lang="en-US" sz="2500" dirty="0">
                <a:latin typeface="Nunito Sans" panose="00000500000000000000" pitchFamily="2" charset="0"/>
              </a:rPr>
              <a:t>At max 2 can be medicated on a single day One of the optimal solution is 81 on day 11,27 and 72 on day 2. Remaining on day 3</a:t>
            </a:r>
          </a:p>
          <a:p>
            <a:endParaRPr lang="en-US" sz="2500" dirty="0">
              <a:latin typeface="Nunito Sans" panose="00000500000000000000" pitchFamily="2" charset="0"/>
            </a:endParaRPr>
          </a:p>
          <a:p>
            <a:r>
              <a:rPr lang="en-US" sz="2500" b="1" dirty="0">
                <a:latin typeface="Nunito Sans" panose="00000500000000000000" pitchFamily="2" charset="0"/>
              </a:rPr>
              <a:t>Example 2:</a:t>
            </a:r>
          </a:p>
          <a:p>
            <a:r>
              <a:rPr lang="en-US" sz="2500" b="1" dirty="0">
                <a:latin typeface="Nunito Sans" panose="00000500000000000000" pitchFamily="2" charset="0"/>
              </a:rPr>
              <a:t>Input:</a:t>
            </a:r>
          </a:p>
          <a:p>
            <a:r>
              <a:rPr lang="en-US" sz="2500" dirty="0">
                <a:latin typeface="Nunito Sans" panose="00000500000000000000" pitchFamily="2" charset="0"/>
              </a:rPr>
              <a:t>11 1</a:t>
            </a:r>
          </a:p>
          <a:p>
            <a:r>
              <a:rPr lang="en-US" sz="2500" dirty="0">
                <a:latin typeface="Nunito Sans" panose="00000500000000000000" pitchFamily="2" charset="0"/>
              </a:rPr>
              <a:t>10 10 10 10 14 15 57 38 49 28 32</a:t>
            </a:r>
          </a:p>
          <a:p>
            <a:r>
              <a:rPr lang="en-US" sz="2500" b="1" dirty="0">
                <a:latin typeface="Nunito Sans" pitchFamily="2" charset="0"/>
              </a:rPr>
              <a:t>Output:</a:t>
            </a:r>
          </a:p>
          <a:p>
            <a:r>
              <a:rPr lang="en-US" sz="2500" dirty="0">
                <a:latin typeface="Nunito Sans" pitchFamily="2" charset="0"/>
              </a:rPr>
              <a:t>11</a:t>
            </a:r>
          </a:p>
          <a:p>
            <a:r>
              <a:rPr lang="en-US" sz="2500" b="1" dirty="0">
                <a:latin typeface="Nunito Sans" pitchFamily="2" charset="0"/>
              </a:rPr>
              <a:t>Explanation:</a:t>
            </a:r>
          </a:p>
          <a:p>
            <a:r>
              <a:rPr lang="en-US" sz="2500" dirty="0">
                <a:latin typeface="Nunito Sans" pitchFamily="2" charset="0"/>
              </a:rPr>
              <a:t>At max 1 can be medicated on a single day</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&lt;stdlib.h&gt;</a:t>
            </a:r>
          </a:p>
          <a:p>
            <a:r>
              <a:rPr lang="en-US" sz="2000" b="1" dirty="0">
                <a:solidFill>
                  <a:schemeClr val="bg1"/>
                </a:solidFill>
                <a:latin typeface="Nunito Sans" pitchFamily="2" charset="0"/>
                <a:cs typeface="Courier New" panose="02070309020205020404" pitchFamily="49" charset="0"/>
              </a:rPr>
              <a:t>int compare(const void *a, const void *b)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return (*(int*)a - *(int*)b);</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minimumDays(int N, int L, int *ages)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qsort(ages, N, sizeof(int), compare); // Sort the ages in ascending order</a:t>
            </a:r>
          </a:p>
          <a:p>
            <a:r>
              <a:rPr lang="en-US" sz="2000" b="1" dirty="0">
                <a:solidFill>
                  <a:schemeClr val="bg1"/>
                </a:solidFill>
                <a:latin typeface="Nunito Sans" pitchFamily="2" charset="0"/>
                <a:cs typeface="Courier New" panose="02070309020205020404" pitchFamily="49" charset="0"/>
              </a:rPr>
              <a:t>    int highRiskCount = 0;</a:t>
            </a:r>
          </a:p>
          <a:p>
            <a:r>
              <a:rPr lang="en-US" sz="2000" b="1" dirty="0">
                <a:solidFill>
                  <a:schemeClr val="bg1"/>
                </a:solidFill>
                <a:latin typeface="Nunito Sans" pitchFamily="2" charset="0"/>
                <a:cs typeface="Courier New" panose="02070309020205020404" pitchFamily="49" charset="0"/>
              </a:rPr>
              <a:t>    int nonHighRiskCount = 0;</a:t>
            </a:r>
          </a:p>
          <a:p>
            <a:r>
              <a:rPr lang="en-US" sz="2000" b="1" dirty="0">
                <a:solidFill>
                  <a:schemeClr val="bg1"/>
                </a:solidFill>
                <a:latin typeface="Nunito Sans" pitchFamily="2" charset="0"/>
                <a:cs typeface="Courier New" panose="02070309020205020404" pitchFamily="49" charset="0"/>
              </a:rPr>
              <a:t>    // Count the number of high-risk and non-high-risk individuals</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(ages[i] &lt;= 10 || ages[i] &gt;= 81)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highRiskCount++;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nonHighRiskCount++;</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days = 0;</a:t>
            </a:r>
          </a:p>
          <a:p>
            <a:r>
              <a:rPr lang="en-US" altLang="en-IN" sz="2000" b="1" dirty="0">
                <a:solidFill>
                  <a:schemeClr val="bg1"/>
                </a:solidFill>
                <a:latin typeface="Nunito Sans" pitchFamily="2" charset="0"/>
                <a:cs typeface="Courier New" panose="02070309020205020404" pitchFamily="49" charset="0"/>
                <a:sym typeface="+mn-ea"/>
              </a:rPr>
              <a:t>    while (highRiskCount &gt; 0 || nonHighRiskCount &gt; 0)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capsules = L; // Number of capsules available for the day</a:t>
            </a:r>
          </a:p>
          <a:p>
            <a:r>
              <a:rPr lang="en-US" altLang="en-IN" sz="2000" b="1" dirty="0">
                <a:solidFill>
                  <a:schemeClr val="bg1"/>
                </a:solidFill>
                <a:latin typeface="Nunito Sans" pitchFamily="2" charset="0"/>
                <a:cs typeface="Courier New" panose="02070309020205020404" pitchFamily="49" charset="0"/>
                <a:sym typeface="+mn-ea"/>
              </a:rPr>
              <a:t>        // Distribute capsules to high-risk individuals first</a:t>
            </a:r>
          </a:p>
          <a:p>
            <a:r>
              <a:rPr lang="en-US" altLang="en-IN" sz="2000" b="1" dirty="0">
                <a:solidFill>
                  <a:schemeClr val="bg1"/>
                </a:solidFill>
                <a:latin typeface="Nunito Sans" pitchFamily="2" charset="0"/>
                <a:cs typeface="Courier New" panose="02070309020205020404" pitchFamily="49" charset="0"/>
                <a:sym typeface="+mn-ea"/>
              </a:rPr>
              <a:t>        while (capsules &gt; 0 &amp;&amp; highRiskCount &gt; 0)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capsules--;</a:t>
            </a:r>
          </a:p>
          <a:p>
            <a:r>
              <a:rPr lang="en-US" altLang="en-IN" sz="2000" b="1" dirty="0">
                <a:solidFill>
                  <a:schemeClr val="bg1"/>
                </a:solidFill>
                <a:latin typeface="Nunito Sans" pitchFamily="2" charset="0"/>
                <a:cs typeface="Courier New" panose="02070309020205020404" pitchFamily="49" charset="0"/>
                <a:sym typeface="+mn-ea"/>
              </a:rPr>
              <a:t>            highRiskCount--;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Distribute capsules to non-high-risk individuals</a:t>
            </a:r>
          </a:p>
          <a:p>
            <a:r>
              <a:rPr lang="en-US" altLang="en-IN" sz="2000" b="1" dirty="0">
                <a:solidFill>
                  <a:schemeClr val="bg1"/>
                </a:solidFill>
                <a:latin typeface="Nunito Sans" pitchFamily="2" charset="0"/>
                <a:cs typeface="Courier New" panose="02070309020205020404" pitchFamily="49" charset="0"/>
                <a:sym typeface="+mn-ea"/>
              </a:rPr>
              <a:t>        while (capsules &gt; 0 &amp;&amp; nonHighRiskCount &gt; 0)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capsules--;</a:t>
            </a:r>
          </a:p>
          <a:p>
            <a:r>
              <a:rPr lang="en-US" altLang="en-IN" sz="2000" b="1" dirty="0">
                <a:solidFill>
                  <a:schemeClr val="bg1"/>
                </a:solidFill>
                <a:latin typeface="Nunito Sans" pitchFamily="2" charset="0"/>
                <a:cs typeface="Courier New" panose="02070309020205020404" pitchFamily="49" charset="0"/>
                <a:sym typeface="+mn-ea"/>
              </a:rPr>
              <a:t>            nonHighRiskCount--;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days++; // Increment the number of days</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return days;</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 L;</a:t>
            </a:r>
          </a:p>
          <a:p>
            <a:r>
              <a:rPr lang="en-US" sz="2000" b="1" dirty="0">
                <a:solidFill>
                  <a:schemeClr val="bg1"/>
                </a:solidFill>
                <a:latin typeface="Nunito Sans" pitchFamily="2" charset="0"/>
                <a:cs typeface="Courier New" panose="02070309020205020404" pitchFamily="49" charset="0"/>
              </a:rPr>
              <a:t>    scanf("%d %d", &amp;N, &amp;L);</a:t>
            </a:r>
          </a:p>
          <a:p>
            <a:r>
              <a:rPr lang="en-US" sz="2000" b="1" dirty="0">
                <a:solidFill>
                  <a:schemeClr val="bg1"/>
                </a:solidFill>
                <a:latin typeface="Nunito Sans" pitchFamily="2" charset="0"/>
                <a:cs typeface="Courier New" panose="02070309020205020404" pitchFamily="49" charset="0"/>
              </a:rPr>
              <a:t>    int *ages = (int*)malloc(N * sizeof(int));</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scanf("%d", &amp;ages[i]);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result = minimumDays(N, L, ages);</a:t>
            </a:r>
          </a:p>
          <a:p>
            <a:r>
              <a:rPr lang="en-US" sz="2000" b="1" dirty="0">
                <a:solidFill>
                  <a:schemeClr val="bg1"/>
                </a:solidFill>
                <a:latin typeface="Nunito Sans" pitchFamily="2" charset="0"/>
                <a:cs typeface="Courier New" panose="02070309020205020404" pitchFamily="49" charset="0"/>
              </a:rPr>
              <a:t>    printf("%d Days\n", result);</a:t>
            </a:r>
          </a:p>
          <a:p>
            <a:r>
              <a:rPr lang="en-US" sz="2000" b="1" dirty="0">
                <a:solidFill>
                  <a:schemeClr val="bg1"/>
                </a:solidFill>
                <a:latin typeface="Nunito Sans" pitchFamily="2" charset="0"/>
                <a:cs typeface="Courier New" panose="02070309020205020404" pitchFamily="49" charset="0"/>
              </a:rPr>
              <a:t>    free(ages);</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258445" y="26924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&lt;vector&gt;</a:t>
            </a:r>
          </a:p>
          <a:p>
            <a:r>
              <a:rPr lang="en-US" sz="2000" b="1" dirty="0">
                <a:solidFill>
                  <a:schemeClr val="bg1"/>
                </a:solidFill>
                <a:latin typeface="Nunito Sans" pitchFamily="2" charset="0"/>
                <a:cs typeface="Courier New" panose="02070309020205020404" pitchFamily="49" charset="0"/>
              </a:rPr>
              <a:t>#include &lt;algorithm&gt;</a:t>
            </a:r>
          </a:p>
          <a:p>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rPr>
              <a:t>int minimumDays(int N, int L, std::vector&lt;int&gt;&amp; ages) {</a:t>
            </a:r>
          </a:p>
          <a:p>
            <a:r>
              <a:rPr lang="en-US" sz="2000" b="1" dirty="0">
                <a:solidFill>
                  <a:schemeClr val="bg1"/>
                </a:solidFill>
                <a:latin typeface="Nunito Sans" pitchFamily="2" charset="0"/>
                <a:cs typeface="Courier New" panose="02070309020205020404" pitchFamily="49" charset="0"/>
              </a:rPr>
              <a:t>    std::sort(ages.begin(), ages.end()); // Sort the ages in ascending order</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highRiskCount = 0;</a:t>
            </a:r>
          </a:p>
          <a:p>
            <a:r>
              <a:rPr lang="en-US" sz="2000" b="1" dirty="0">
                <a:solidFill>
                  <a:schemeClr val="bg1"/>
                </a:solidFill>
                <a:latin typeface="Nunito Sans" pitchFamily="2" charset="0"/>
                <a:cs typeface="Courier New" panose="02070309020205020404" pitchFamily="49" charset="0"/>
              </a:rPr>
              <a:t>    int nonHighRiskCount = 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Count the number of high-risk and non-high-risk individuals</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if (ages[i] &lt;= 10 || ages[i] &gt;= 81) {</a:t>
            </a:r>
          </a:p>
          <a:p>
            <a:r>
              <a:rPr lang="en-US" sz="2000" b="1" dirty="0">
                <a:solidFill>
                  <a:schemeClr val="bg1"/>
                </a:solidFill>
                <a:latin typeface="Nunito Sans" pitchFamily="2" charset="0"/>
                <a:cs typeface="Courier New" panose="02070309020205020404" pitchFamily="49" charset="0"/>
              </a:rPr>
              <a:t>            highRiskCount++;</a:t>
            </a:r>
          </a:p>
          <a:p>
            <a:r>
              <a:rPr lang="en-US" sz="2000" b="1" dirty="0">
                <a:solidFill>
                  <a:schemeClr val="bg1"/>
                </a:solidFill>
                <a:latin typeface="Nunito Sans" pitchFamily="2" charset="0"/>
                <a:cs typeface="Courier New" panose="02070309020205020404" pitchFamily="49" charset="0"/>
              </a:rPr>
              <a:t>        } else {</a:t>
            </a:r>
          </a:p>
          <a:p>
            <a:r>
              <a:rPr lang="en-US" sz="2000" b="1" dirty="0">
                <a:solidFill>
                  <a:schemeClr val="bg1"/>
                </a:solidFill>
                <a:latin typeface="Nunito Sans" pitchFamily="2" charset="0"/>
                <a:cs typeface="Courier New" panose="02070309020205020404" pitchFamily="49" charset="0"/>
              </a:rPr>
              <a:t>            nonHighRiskCount++;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days = 0;</a:t>
            </a:r>
          </a:p>
          <a:p>
            <a:r>
              <a:rPr lang="en-US" sz="2000" b="1" dirty="0">
                <a:solidFill>
                  <a:schemeClr val="bg1"/>
                </a:solidFill>
                <a:latin typeface="Nunito Sans" pitchFamily="2" charset="0"/>
                <a:cs typeface="Courier New" panose="02070309020205020404" pitchFamily="49" charset="0"/>
              </a:rPr>
              <a:t>    while (highRiskCount &gt; 0 || nonHighRiskCount &gt; 0) {</a:t>
            </a:r>
          </a:p>
          <a:p>
            <a:r>
              <a:rPr lang="en-US" sz="2000" b="1" dirty="0">
                <a:solidFill>
                  <a:schemeClr val="bg1"/>
                </a:solidFill>
                <a:latin typeface="Nunito Sans" pitchFamily="2" charset="0"/>
                <a:cs typeface="Courier New" panose="02070309020205020404" pitchFamily="49" charset="0"/>
              </a:rPr>
              <a:t>        int capsules = L; // Number of capsules available for the day</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3" name="Picture 2">
            <a:extLst>
              <a:ext uri="{FF2B5EF4-FFF2-40B4-BE49-F238E27FC236}">
                <a16:creationId xmlns:a16="http://schemas.microsoft.com/office/drawing/2014/main" id="{01E1F9AD-C5B3-1F90-D1C4-654A32B47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 Distribute capsules to high-risk individuals first</a:t>
            </a:r>
          </a:p>
          <a:p>
            <a:r>
              <a:rPr lang="en-US" altLang="en-IN" sz="2000" b="1" dirty="0">
                <a:solidFill>
                  <a:schemeClr val="bg1"/>
                </a:solidFill>
                <a:latin typeface="Nunito Sans" pitchFamily="2" charset="0"/>
                <a:cs typeface="Courier New" panose="02070309020205020404" pitchFamily="49" charset="0"/>
                <a:sym typeface="+mn-ea"/>
              </a:rPr>
              <a:t>        while (capsules &gt; 0 &amp;&amp; highRiskCount &gt; 0) {</a:t>
            </a:r>
          </a:p>
          <a:p>
            <a:r>
              <a:rPr lang="en-US" altLang="en-IN" sz="2000" b="1" dirty="0">
                <a:solidFill>
                  <a:schemeClr val="bg1"/>
                </a:solidFill>
                <a:latin typeface="Nunito Sans" pitchFamily="2" charset="0"/>
                <a:cs typeface="Courier New" panose="02070309020205020404" pitchFamily="49" charset="0"/>
                <a:sym typeface="+mn-ea"/>
              </a:rPr>
              <a:t>            capsules--;</a:t>
            </a:r>
          </a:p>
          <a:p>
            <a:r>
              <a:rPr lang="en-US" altLang="en-IN" sz="2000" b="1" dirty="0">
                <a:solidFill>
                  <a:schemeClr val="bg1"/>
                </a:solidFill>
                <a:latin typeface="Nunito Sans" pitchFamily="2" charset="0"/>
                <a:cs typeface="Courier New" panose="02070309020205020404" pitchFamily="49" charset="0"/>
                <a:sym typeface="+mn-ea"/>
              </a:rPr>
              <a:t>            highRiskCount--;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Distribute capsules to non-high-risk individuals</a:t>
            </a:r>
          </a:p>
          <a:p>
            <a:r>
              <a:rPr lang="en-US" altLang="en-IN" sz="2000" b="1" dirty="0">
                <a:solidFill>
                  <a:schemeClr val="bg1"/>
                </a:solidFill>
                <a:latin typeface="Nunito Sans" pitchFamily="2" charset="0"/>
                <a:cs typeface="Courier New" panose="02070309020205020404" pitchFamily="49" charset="0"/>
                <a:sym typeface="+mn-ea"/>
              </a:rPr>
              <a:t>        while (capsules &gt; 0 &amp;&amp; nonHighRiskCount &gt; 0) {</a:t>
            </a:r>
          </a:p>
          <a:p>
            <a:r>
              <a:rPr lang="en-US" altLang="en-IN" sz="2000" b="1" dirty="0">
                <a:solidFill>
                  <a:schemeClr val="bg1"/>
                </a:solidFill>
                <a:latin typeface="Nunito Sans" pitchFamily="2" charset="0"/>
                <a:cs typeface="Courier New" panose="02070309020205020404" pitchFamily="49" charset="0"/>
                <a:sym typeface="+mn-ea"/>
              </a:rPr>
              <a:t>            capsules--;</a:t>
            </a:r>
          </a:p>
          <a:p>
            <a:r>
              <a:rPr lang="en-US" altLang="en-IN" sz="2000" b="1" dirty="0">
                <a:solidFill>
                  <a:schemeClr val="bg1"/>
                </a:solidFill>
                <a:latin typeface="Nunito Sans" pitchFamily="2" charset="0"/>
                <a:cs typeface="Courier New" panose="02070309020205020404" pitchFamily="49" charset="0"/>
                <a:sym typeface="+mn-ea"/>
              </a:rPr>
              <a:t>            nonHighRiskCount--;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days++; // Increment the number of days</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return days;</a:t>
            </a:r>
          </a:p>
          <a:p>
            <a:r>
              <a:rPr lang="en-US" altLang="en-IN" sz="2000" b="1" dirty="0">
                <a:solidFill>
                  <a:schemeClr val="bg1"/>
                </a:solidFill>
                <a:latin typeface="Nunito Sans" pitchFamily="2" charset="0"/>
                <a:cs typeface="Courier New" panose="02070309020205020404" pitchFamily="49" charset="0"/>
                <a:sym typeface="+mn-ea"/>
              </a:rPr>
              <a:t>}</a:t>
            </a:r>
          </a:p>
          <a:p>
            <a:endParaRPr lang="en-US" altLang="en-IN" sz="2000" b="1" dirty="0">
              <a:solidFill>
                <a:schemeClr val="bg1"/>
              </a:solidFill>
              <a:latin typeface="Nunito Sans" pitchFamily="2" charset="0"/>
              <a:cs typeface="Courier New" panose="02070309020205020404" pitchFamily="49" charset="0"/>
              <a:sym typeface="+mn-ea"/>
            </a:endParaRPr>
          </a:p>
          <a:p>
            <a:r>
              <a:rPr lang="en-US" altLang="en-IN" sz="2000" b="1" dirty="0">
                <a:solidFill>
                  <a:schemeClr val="bg1"/>
                </a:solidFill>
                <a:latin typeface="Nunito Sans" pitchFamily="2" charset="0"/>
                <a:cs typeface="Courier New" panose="02070309020205020404" pitchFamily="49" charset="0"/>
                <a:sym typeface="+mn-ea"/>
              </a:rPr>
              <a:t>int main() {</a:t>
            </a:r>
          </a:p>
          <a:p>
            <a:r>
              <a:rPr lang="en-US" altLang="en-IN" sz="2000" b="1" dirty="0">
                <a:solidFill>
                  <a:schemeClr val="bg1"/>
                </a:solidFill>
                <a:latin typeface="Nunito Sans" pitchFamily="2" charset="0"/>
                <a:cs typeface="Courier New" panose="02070309020205020404" pitchFamily="49" charset="0"/>
                <a:sym typeface="+mn-ea"/>
              </a:rPr>
              <a:t>    int N, L;</a:t>
            </a:r>
          </a:p>
          <a:p>
            <a:r>
              <a:rPr lang="en-US" altLang="en-IN" sz="2000" b="1" dirty="0">
                <a:solidFill>
                  <a:schemeClr val="bg1"/>
                </a:solidFill>
                <a:latin typeface="Nunito Sans" pitchFamily="2" charset="0"/>
                <a:cs typeface="Courier New" panose="02070309020205020404" pitchFamily="49" charset="0"/>
                <a:sym typeface="+mn-ea"/>
              </a:rPr>
              <a:t>    std::cin &gt;&gt; N &gt;&gt; L;</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3" name="Picture 2">
            <a:extLst>
              <a:ext uri="{FF2B5EF4-FFF2-40B4-BE49-F238E27FC236}">
                <a16:creationId xmlns:a16="http://schemas.microsoft.com/office/drawing/2014/main" id="{32AE07E5-0185-E4DC-2D4E-7A5CC0955C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std::vector&lt;int&gt; ages(N);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std::cin &gt;&gt; ages[i];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result = minimumDays(N, L, ages);</a:t>
            </a:r>
          </a:p>
          <a:p>
            <a:r>
              <a:rPr lang="en-US" sz="2000" b="1" dirty="0">
                <a:solidFill>
                  <a:schemeClr val="bg1"/>
                </a:solidFill>
                <a:latin typeface="Nunito Sans" pitchFamily="2" charset="0"/>
                <a:cs typeface="Courier New" panose="02070309020205020404" pitchFamily="49" charset="0"/>
              </a:rPr>
              <a:t>    std::cout &lt;&lt; result &lt;&lt; " Days" &lt;&lt; std::endl;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java.util.ArrayList;</a:t>
            </a:r>
          </a:p>
          <a:p>
            <a:r>
              <a:rPr lang="en-US" sz="2000" b="1" dirty="0">
                <a:solidFill>
                  <a:schemeClr val="bg1"/>
                </a:solidFill>
                <a:latin typeface="Nunito Sans" pitchFamily="2" charset="0"/>
                <a:cs typeface="Courier New" panose="02070309020205020404" pitchFamily="49" charset="0"/>
              </a:rPr>
              <a:t>import java.util.Collections;</a:t>
            </a:r>
          </a:p>
          <a:p>
            <a:r>
              <a:rPr lang="en-US" sz="2000" b="1" dirty="0">
                <a:solidFill>
                  <a:schemeClr val="bg1"/>
                </a:solidFill>
                <a:latin typeface="Nunito Sans" pitchFamily="2" charset="0"/>
                <a:cs typeface="Courier New" panose="02070309020205020404" pitchFamily="49" charset="0"/>
              </a:rPr>
              <a:t>import java.util.List;</a:t>
            </a:r>
          </a:p>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int minimumDays(int N, int L, List&lt;Integer&gt; ages)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Collections.sort(ages); // Sort the ages in ascending order</a:t>
            </a:r>
          </a:p>
          <a:p>
            <a:r>
              <a:rPr lang="en-US" sz="2000" b="1" dirty="0">
                <a:solidFill>
                  <a:schemeClr val="bg1"/>
                </a:solidFill>
                <a:latin typeface="Nunito Sans" pitchFamily="2" charset="0"/>
                <a:cs typeface="Courier New" panose="02070309020205020404" pitchFamily="49" charset="0"/>
              </a:rPr>
              <a:t>        int highRiskCount = 0;</a:t>
            </a:r>
          </a:p>
          <a:p>
            <a:r>
              <a:rPr lang="en-US" sz="2000" b="1" dirty="0">
                <a:solidFill>
                  <a:schemeClr val="bg1"/>
                </a:solidFill>
                <a:latin typeface="Nunito Sans" pitchFamily="2" charset="0"/>
                <a:cs typeface="Courier New" panose="02070309020205020404" pitchFamily="49" charset="0"/>
              </a:rPr>
              <a:t>        int nonHighRiskCount = 0;</a:t>
            </a:r>
          </a:p>
          <a:p>
            <a:r>
              <a:rPr lang="en-US" sz="2000" b="1" dirty="0">
                <a:solidFill>
                  <a:schemeClr val="bg1"/>
                </a:solidFill>
                <a:latin typeface="Nunito Sans" pitchFamily="2" charset="0"/>
                <a:cs typeface="Courier New" panose="02070309020205020404" pitchFamily="49" charset="0"/>
              </a:rPr>
              <a:t>        // Count the number of high-risk and non-high-risk individuals</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(ages.get(i) &lt;= 10 || ages.get(i) &gt;= 81)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highRiskCount++;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nonHighRiskCount++;</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days = 0;</a:t>
            </a:r>
          </a:p>
          <a:p>
            <a:r>
              <a:rPr lang="en-US" altLang="en-IN" sz="2000" b="1" dirty="0">
                <a:solidFill>
                  <a:schemeClr val="bg1"/>
                </a:solidFill>
                <a:latin typeface="Nunito Sans" pitchFamily="2" charset="0"/>
                <a:cs typeface="Courier New" panose="02070309020205020404" pitchFamily="49" charset="0"/>
                <a:sym typeface="+mn-ea"/>
              </a:rPr>
              <a:t>        while (highRiskCount &gt; 0 || nonHighRiskCount &gt; 0)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capsules = L; // Number of capsules available for the day</a:t>
            </a:r>
          </a:p>
          <a:p>
            <a:r>
              <a:rPr lang="en-US" altLang="en-IN" sz="2000" b="1" dirty="0">
                <a:solidFill>
                  <a:schemeClr val="bg1"/>
                </a:solidFill>
                <a:latin typeface="Nunito Sans" pitchFamily="2" charset="0"/>
                <a:cs typeface="Courier New" panose="02070309020205020404" pitchFamily="49" charset="0"/>
                <a:sym typeface="+mn-ea"/>
              </a:rPr>
              <a:t>            // Distribute capsules to high-risk individuals first</a:t>
            </a:r>
          </a:p>
          <a:p>
            <a:r>
              <a:rPr lang="en-US" altLang="en-IN" sz="2000" b="1" dirty="0">
                <a:solidFill>
                  <a:schemeClr val="bg1"/>
                </a:solidFill>
                <a:latin typeface="Nunito Sans" pitchFamily="2" charset="0"/>
                <a:cs typeface="Courier New" panose="02070309020205020404" pitchFamily="49" charset="0"/>
                <a:sym typeface="+mn-ea"/>
              </a:rPr>
              <a:t>            while (capsules &gt; 0 &amp;&amp; highRiskCount &gt; 0)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capsules--;</a:t>
            </a:r>
          </a:p>
          <a:p>
            <a:r>
              <a:rPr lang="en-US" altLang="en-IN" sz="2000" b="1" dirty="0">
                <a:solidFill>
                  <a:schemeClr val="bg1"/>
                </a:solidFill>
                <a:latin typeface="Nunito Sans" pitchFamily="2" charset="0"/>
                <a:cs typeface="Courier New" panose="02070309020205020404" pitchFamily="49" charset="0"/>
                <a:sym typeface="+mn-ea"/>
              </a:rPr>
              <a:t>                highRiskCount--;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Distribute capsules to non-high-risk individuals</a:t>
            </a:r>
          </a:p>
          <a:p>
            <a:r>
              <a:rPr lang="en-US" altLang="en-IN" sz="2000" b="1" dirty="0">
                <a:solidFill>
                  <a:schemeClr val="bg1"/>
                </a:solidFill>
                <a:latin typeface="Nunito Sans" pitchFamily="2" charset="0"/>
                <a:cs typeface="Courier New" panose="02070309020205020404" pitchFamily="49" charset="0"/>
                <a:sym typeface="+mn-ea"/>
              </a:rPr>
              <a:t>            while (capsules &gt; 0 &amp;&amp; nonHighRiskCount &gt; 0)</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capsules--;</a:t>
            </a:r>
          </a:p>
          <a:p>
            <a:r>
              <a:rPr lang="en-US" altLang="en-IN" sz="2000" b="1" dirty="0">
                <a:solidFill>
                  <a:schemeClr val="bg1"/>
                </a:solidFill>
                <a:latin typeface="Nunito Sans" pitchFamily="2" charset="0"/>
                <a:cs typeface="Courier New" panose="02070309020205020404" pitchFamily="49" charset="0"/>
                <a:sym typeface="+mn-ea"/>
              </a:rPr>
              <a:t>                nonHighRiskCount--;</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days++; // Increment the number of days</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return days;</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public static void main(String[] args)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N = scanner.nextInt();</a:t>
            </a:r>
          </a:p>
          <a:p>
            <a:r>
              <a:rPr lang="en-US" sz="2000" b="1" dirty="0">
                <a:solidFill>
                  <a:schemeClr val="bg1"/>
                </a:solidFill>
                <a:latin typeface="Nunito Sans" pitchFamily="2" charset="0"/>
                <a:cs typeface="Courier New" panose="02070309020205020404" pitchFamily="49" charset="0"/>
              </a:rPr>
              <a:t>        int L = scanner.nextInt();</a:t>
            </a:r>
          </a:p>
          <a:p>
            <a:r>
              <a:rPr lang="en-US" sz="2000" b="1" dirty="0">
                <a:solidFill>
                  <a:schemeClr val="bg1"/>
                </a:solidFill>
                <a:latin typeface="Nunito Sans" pitchFamily="2" charset="0"/>
                <a:cs typeface="Courier New" panose="02070309020205020404" pitchFamily="49" charset="0"/>
              </a:rPr>
              <a:t>        List&lt;Integer&gt; ages = new ArrayList&lt;&gt;();</a:t>
            </a:r>
          </a:p>
          <a:p>
            <a:r>
              <a:rPr lang="en-US" sz="2000" b="1" dirty="0">
                <a:solidFill>
                  <a:schemeClr val="bg1"/>
                </a:solidFill>
                <a:latin typeface="Nunito Sans" pitchFamily="2" charset="0"/>
                <a:cs typeface="Courier New" panose="02070309020205020404" pitchFamily="49" charset="0"/>
              </a:rPr>
              <a:t>        for (int i = 0; i &lt; N; 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ages.add(scanner.nextInt());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result = minimumDays(N, L, ages);</a:t>
            </a:r>
          </a:p>
          <a:p>
            <a:r>
              <a:rPr lang="en-US" sz="2000" b="1" dirty="0">
                <a:solidFill>
                  <a:schemeClr val="bg1"/>
                </a:solidFill>
                <a:latin typeface="Nunito Sans" pitchFamily="2" charset="0"/>
                <a:cs typeface="Courier New" panose="02070309020205020404" pitchFamily="49" charset="0"/>
              </a:rPr>
              <a:t>        System.out.println(result + " Days");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minimum_days(N, L, ages):</a:t>
            </a:r>
          </a:p>
          <a:p>
            <a:r>
              <a:rPr lang="en-US" sz="2000" b="1" dirty="0">
                <a:solidFill>
                  <a:schemeClr val="bg1"/>
                </a:solidFill>
                <a:latin typeface="Nunito Sans" pitchFamily="2" charset="0"/>
                <a:cs typeface="Courier New" panose="02070309020205020404" pitchFamily="49" charset="0"/>
              </a:rPr>
              <a:t>    ages.sort()  # Sort the ages in ascending order</a:t>
            </a:r>
          </a:p>
          <a:p>
            <a:r>
              <a:rPr lang="en-US" sz="2000" b="1" dirty="0">
                <a:solidFill>
                  <a:schemeClr val="bg1"/>
                </a:solidFill>
                <a:latin typeface="Nunito Sans" pitchFamily="2" charset="0"/>
                <a:cs typeface="Courier New" panose="02070309020205020404" pitchFamily="49" charset="0"/>
              </a:rPr>
              <a:t>    high_risk_count = 0</a:t>
            </a:r>
          </a:p>
          <a:p>
            <a:r>
              <a:rPr lang="en-US" sz="2000" b="1" dirty="0">
                <a:solidFill>
                  <a:schemeClr val="bg1"/>
                </a:solidFill>
                <a:latin typeface="Nunito Sans" pitchFamily="2" charset="0"/>
                <a:cs typeface="Courier New" panose="02070309020205020404" pitchFamily="49" charset="0"/>
              </a:rPr>
              <a:t>    non_high_risk_count = 0</a:t>
            </a:r>
          </a:p>
          <a:p>
            <a:r>
              <a:rPr lang="en-US" sz="2000" b="1" dirty="0">
                <a:solidFill>
                  <a:schemeClr val="bg1"/>
                </a:solidFill>
                <a:latin typeface="Nunito Sans" pitchFamily="2" charset="0"/>
                <a:cs typeface="Courier New" panose="02070309020205020404" pitchFamily="49" charset="0"/>
              </a:rPr>
              <a:t>    # Count the number of high-risk and non-high-risk individuals</a:t>
            </a:r>
          </a:p>
          <a:p>
            <a:r>
              <a:rPr lang="en-US" sz="2000" b="1" dirty="0">
                <a:solidFill>
                  <a:schemeClr val="bg1"/>
                </a:solidFill>
                <a:latin typeface="Nunito Sans" pitchFamily="2" charset="0"/>
                <a:cs typeface="Courier New" panose="02070309020205020404" pitchFamily="49" charset="0"/>
              </a:rPr>
              <a:t>    for age in ages:</a:t>
            </a:r>
          </a:p>
          <a:p>
            <a:r>
              <a:rPr lang="en-US" sz="2000" b="1" dirty="0">
                <a:solidFill>
                  <a:schemeClr val="bg1"/>
                </a:solidFill>
                <a:latin typeface="Nunito Sans" pitchFamily="2" charset="0"/>
                <a:cs typeface="Courier New" panose="02070309020205020404" pitchFamily="49" charset="0"/>
              </a:rPr>
              <a:t>        if age &lt;= 10 or age &gt;= 81:</a:t>
            </a:r>
          </a:p>
          <a:p>
            <a:r>
              <a:rPr lang="en-US" sz="2000" b="1" dirty="0">
                <a:solidFill>
                  <a:schemeClr val="bg1"/>
                </a:solidFill>
                <a:latin typeface="Nunito Sans" pitchFamily="2" charset="0"/>
                <a:cs typeface="Courier New" panose="02070309020205020404" pitchFamily="49" charset="0"/>
              </a:rPr>
              <a:t>            high_risk_count += 1</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non_high_risk_count += 1</a:t>
            </a:r>
          </a:p>
          <a:p>
            <a:r>
              <a:rPr lang="en-US" sz="2000" b="1" dirty="0">
                <a:solidFill>
                  <a:schemeClr val="bg1"/>
                </a:solidFill>
                <a:latin typeface="Nunito Sans" pitchFamily="2" charset="0"/>
                <a:cs typeface="Courier New" panose="02070309020205020404" pitchFamily="49" charset="0"/>
              </a:rPr>
              <a:t>    days = 0</a:t>
            </a:r>
          </a:p>
          <a:p>
            <a:r>
              <a:rPr lang="en-US" sz="2000" b="1" dirty="0">
                <a:solidFill>
                  <a:schemeClr val="bg1"/>
                </a:solidFill>
                <a:latin typeface="Nunito Sans" pitchFamily="2" charset="0"/>
                <a:cs typeface="Courier New" panose="02070309020205020404" pitchFamily="49" charset="0"/>
              </a:rPr>
              <a:t>    while high_risk_count &gt; 0 or non_high_risk_count &gt; 0:</a:t>
            </a:r>
          </a:p>
          <a:p>
            <a:r>
              <a:rPr lang="en-US" sz="2000" b="1" dirty="0">
                <a:solidFill>
                  <a:schemeClr val="bg1"/>
                </a:solidFill>
                <a:latin typeface="Nunito Sans" pitchFamily="2" charset="0"/>
                <a:cs typeface="Courier New" panose="02070309020205020404" pitchFamily="49" charset="0"/>
              </a:rPr>
              <a:t>        capsules = L  # Number of capsules available for the day</a:t>
            </a:r>
          </a:p>
          <a:p>
            <a:r>
              <a:rPr lang="en-US" sz="2000" b="1" dirty="0">
                <a:solidFill>
                  <a:schemeClr val="bg1"/>
                </a:solidFill>
                <a:latin typeface="Nunito Sans" pitchFamily="2" charset="0"/>
                <a:cs typeface="Courier New" panose="02070309020205020404" pitchFamily="49" charset="0"/>
              </a:rPr>
              <a:t>        # Distribute capsules to high-risk individuals first</a:t>
            </a:r>
          </a:p>
          <a:p>
            <a:r>
              <a:rPr lang="en-US" sz="2000" b="1" dirty="0">
                <a:solidFill>
                  <a:schemeClr val="bg1"/>
                </a:solidFill>
                <a:latin typeface="Nunito Sans" pitchFamily="2" charset="0"/>
                <a:cs typeface="Courier New" panose="02070309020205020404" pitchFamily="49" charset="0"/>
              </a:rPr>
              <a:t>        while capsules &gt; 0 and high_risk_count &gt; 0:</a:t>
            </a:r>
          </a:p>
          <a:p>
            <a:r>
              <a:rPr lang="en-US" sz="2000" b="1" dirty="0">
                <a:solidFill>
                  <a:schemeClr val="bg1"/>
                </a:solidFill>
                <a:latin typeface="Nunito Sans" pitchFamily="2" charset="0"/>
                <a:cs typeface="Courier New" panose="02070309020205020404" pitchFamily="49" charset="0"/>
              </a:rPr>
              <a:t>            capsules -= 1</a:t>
            </a:r>
          </a:p>
          <a:p>
            <a:r>
              <a:rPr lang="en-US" sz="2000" b="1" dirty="0">
                <a:solidFill>
                  <a:schemeClr val="bg1"/>
                </a:solidFill>
                <a:latin typeface="Nunito Sans" pitchFamily="2" charset="0"/>
                <a:cs typeface="Courier New" panose="02070309020205020404" pitchFamily="49" charset="0"/>
              </a:rPr>
              <a:t>            high_risk_count -= 1</a:t>
            </a:r>
          </a:p>
          <a:p>
            <a:r>
              <a:rPr lang="en-US" sz="2000" b="1" dirty="0">
                <a:solidFill>
                  <a:schemeClr val="bg1"/>
                </a:solidFill>
                <a:latin typeface="Nunito Sans" pitchFamily="2" charset="0"/>
                <a:cs typeface="Courier New" panose="02070309020205020404" pitchFamily="49" charset="0"/>
              </a:rPr>
              <a:t>        # Distribute capsules to non-high-risk individuals</a:t>
            </a:r>
          </a:p>
          <a:p>
            <a:r>
              <a:rPr lang="en-US" sz="2000" b="1" dirty="0">
                <a:solidFill>
                  <a:schemeClr val="bg1"/>
                </a:solidFill>
                <a:latin typeface="Nunito Sans" pitchFamily="2" charset="0"/>
                <a:cs typeface="Courier New" panose="02070309020205020404" pitchFamily="49" charset="0"/>
              </a:rPr>
              <a:t>        while capsules &gt; 0 and non_high_risk_count &gt; 0:</a:t>
            </a:r>
          </a:p>
          <a:p>
            <a:r>
              <a:rPr lang="en-US" sz="2000" b="1" dirty="0">
                <a:solidFill>
                  <a:schemeClr val="bg1"/>
                </a:solidFill>
                <a:latin typeface="Nunito Sans" pitchFamily="2" charset="0"/>
                <a:cs typeface="Courier New" panose="02070309020205020404" pitchFamily="49" charset="0"/>
              </a:rPr>
              <a:t>            capsules -= 1</a:t>
            </a:r>
          </a:p>
          <a:p>
            <a:r>
              <a:rPr lang="en-US" sz="2000" b="1" dirty="0">
                <a:solidFill>
                  <a:schemeClr val="bg1"/>
                </a:solidFill>
                <a:latin typeface="Nunito Sans" pitchFamily="2" charset="0"/>
                <a:cs typeface="Courier New" panose="02070309020205020404" pitchFamily="49" charset="0"/>
              </a:rPr>
              <a:t>            non_high_risk_count -= 1</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days += 1  # Increment the number of days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    return days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N, L = map(int, input().split())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ages = list(map(int, input().split()))</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result = minimum_days(N, L, ages)</a:t>
            </a:r>
            <a:endParaRPr lang="en-US" sz="2000" b="1" dirty="0">
              <a:solidFill>
                <a:schemeClr val="bg1"/>
              </a:solidFill>
              <a:latin typeface="Nunito Sans" pitchFamily="2" charset="0"/>
              <a:cs typeface="Courier New" panose="02070309020205020404" pitchFamily="49" charset="0"/>
            </a:endParaRPr>
          </a:p>
          <a:p>
            <a:r>
              <a:rPr lang="en-US" sz="2000" b="1" dirty="0">
                <a:solidFill>
                  <a:schemeClr val="bg1"/>
                </a:solidFill>
                <a:latin typeface="Nunito Sans" pitchFamily="2" charset="0"/>
                <a:cs typeface="Courier New" panose="02070309020205020404" pitchFamily="49" charset="0"/>
                <a:sym typeface="+mn-ea"/>
              </a:rPr>
              <a:t>print(result, "Days")</a:t>
            </a:r>
            <a:endParaRPr lang="en-US" sz="2000" b="1" dirty="0">
              <a:solidFill>
                <a:schemeClr val="bg1"/>
              </a:solidFill>
              <a:latin typeface="Nunito Sans" pitchFamily="2" charset="0"/>
              <a:cs typeface="Courier New" panose="02070309020205020404" pitchFamily="49" charset="0"/>
            </a:endParaRPr>
          </a:p>
          <a:p>
            <a:endParaRPr lang="en-US" altLang="en-IN" sz="2000" b="1" dirty="0">
              <a:solidFill>
                <a:schemeClr val="bg1"/>
              </a:solidFill>
              <a:latin typeface="Nunito Sans" pitchFamily="2" charset="0"/>
              <a:cs typeface="Courier New" panose="02070309020205020404" pitchFamily="49" charset="0"/>
              <a:sym typeface="+mn-ea"/>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23</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0" y="1059815"/>
            <a:ext cx="12028170" cy="5478423"/>
          </a:xfrm>
          <a:prstGeom prst="rect">
            <a:avLst/>
          </a:prstGeom>
          <a:noFill/>
        </p:spPr>
        <p:txBody>
          <a:bodyPr wrap="square" rtlCol="0">
            <a:spAutoFit/>
          </a:bodyPr>
          <a:lstStyle/>
          <a:p>
            <a:r>
              <a:rPr lang="en-US" sz="2500" dirty="0">
                <a:latin typeface="Nunito Sans" panose="00000500000000000000" pitchFamily="2" charset="0"/>
              </a:rPr>
              <a:t>Jack and Jill went to a carnival, there are many games counter in the carnival. And if you win you may get good prizes.</a:t>
            </a:r>
          </a:p>
          <a:p>
            <a:r>
              <a:rPr lang="en-US" sz="2500" dirty="0">
                <a:latin typeface="Nunito Sans" panose="00000500000000000000" pitchFamily="2" charset="0"/>
              </a:rPr>
              <a:t>One of the games there was Check-and-win. The game was simple but a bit tricky. Below are the rules of the game:</a:t>
            </a:r>
          </a:p>
          <a:p>
            <a:r>
              <a:rPr lang="en-US" sz="2500" dirty="0">
                <a:latin typeface="Nunito Sans" panose="00000500000000000000" pitchFamily="2" charset="0"/>
              </a:rPr>
              <a:t>• There will be a strip with N integers mentioned on it.</a:t>
            </a:r>
          </a:p>
          <a:p>
            <a:r>
              <a:rPr lang="en-US" sz="2500" dirty="0">
                <a:latin typeface="Nunito Sans" panose="00000500000000000000" pitchFamily="2" charset="0"/>
              </a:rPr>
              <a:t>•Each player will get their respective number strips.Each time one player has to pick a number from the strip. The index chosen by the one player cannot be used further in the game. We will understand more in below example.</a:t>
            </a:r>
          </a:p>
          <a:p>
            <a:r>
              <a:rPr lang="en-US" sz="2500" dirty="0">
                <a:latin typeface="Nunito Sans" panose="00000500000000000000" pitchFamily="2" charset="0"/>
              </a:rPr>
              <a:t>•The next player has to pick a number from another index from their respective strip. Once that index is used, it won't be used again in the game by either of the payers.</a:t>
            </a:r>
          </a:p>
          <a:p>
            <a:r>
              <a:rPr lang="en-US" sz="2500" dirty="0">
                <a:latin typeface="Nunito Sans" panose="00000500000000000000" pitchFamily="2" charset="0"/>
              </a:rPr>
              <a:t>• At the end of the when all the indexes are checked. The sum will be calculated for each player.</a:t>
            </a:r>
          </a:p>
          <a:p>
            <a:r>
              <a:rPr lang="en-US" sz="2500" dirty="0">
                <a:latin typeface="Nunito Sans" panose="00000500000000000000" pitchFamily="2" charset="0"/>
              </a:rPr>
              <a:t>• The player with the maximum sum will be the winner.</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23</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0" y="1059815"/>
            <a:ext cx="12028170" cy="5478423"/>
          </a:xfrm>
          <a:prstGeom prst="rect">
            <a:avLst/>
          </a:prstGeom>
          <a:noFill/>
        </p:spPr>
        <p:txBody>
          <a:bodyPr wrap="square" rtlCol="0">
            <a:spAutoFit/>
          </a:bodyPr>
          <a:lstStyle/>
          <a:p>
            <a:r>
              <a:rPr lang="en-US" sz="2500" dirty="0">
                <a:latin typeface="Nunito Sans" panose="00000500000000000000" pitchFamily="2" charset="0"/>
              </a:rPr>
              <a:t>Jack decided a rule, that he will always start first. Print Jack if he wins, or Jill when Jill wins. If there is a tie, print Tie.</a:t>
            </a:r>
          </a:p>
          <a:p>
            <a:r>
              <a:rPr lang="en-US" sz="2500" dirty="0">
                <a:latin typeface="Nunito Sans" panose="00000500000000000000" pitchFamily="2" charset="0"/>
              </a:rPr>
              <a:t>Considering that both the players are playing optimally. find the output.</a:t>
            </a:r>
          </a:p>
          <a:p>
            <a:r>
              <a:rPr lang="en-US" sz="2500" dirty="0">
                <a:latin typeface="Nunito Sans" panose="00000500000000000000" pitchFamily="2" charset="0"/>
              </a:rPr>
              <a:t>Let us try to understand it with an example. Consider the strip of 3 integers. Means N = 3. Respective strip for Jack and Jill is as follows:</a:t>
            </a:r>
          </a:p>
          <a:p>
            <a:r>
              <a:rPr lang="en-US" sz="2500" dirty="0">
                <a:latin typeface="Nunito Sans" panose="00000500000000000000" pitchFamily="2" charset="0"/>
              </a:rPr>
              <a:t>JK: [134]</a:t>
            </a:r>
          </a:p>
          <a:p>
            <a:r>
              <a:rPr lang="en-US" sz="2500" dirty="0">
                <a:latin typeface="Nunito Sans" panose="00000500000000000000" pitchFamily="2" charset="0"/>
              </a:rPr>
              <a:t>JL: (531)</a:t>
            </a:r>
          </a:p>
          <a:p>
            <a:r>
              <a:rPr lang="en-US" sz="2500" dirty="0">
                <a:latin typeface="Nunito Sans" panose="00000500000000000000" pitchFamily="2" charset="0"/>
              </a:rPr>
              <a:t>The rule says that Jack always plays first.</a:t>
            </a:r>
          </a:p>
          <a:p>
            <a:r>
              <a:rPr lang="en-US" sz="2500" dirty="0">
                <a:latin typeface="Nunito Sans" panose="00000500000000000000" pitchFamily="2" charset="0"/>
              </a:rPr>
              <a:t>Step 1: Jack plays first and chooses the largest element his number-strip JK[3] = 4.</a:t>
            </a:r>
          </a:p>
          <a:p>
            <a:r>
              <a:rPr lang="en-US" sz="2500" dirty="0">
                <a:latin typeface="Nunito Sans" panose="00000500000000000000" pitchFamily="2" charset="0"/>
              </a:rPr>
              <a:t>Now index 3 is checked.</a:t>
            </a:r>
          </a:p>
          <a:p>
            <a:r>
              <a:rPr lang="en-US" sz="2500" dirty="0">
                <a:latin typeface="Nunito Sans" panose="00000500000000000000" pitchFamily="2" charset="0"/>
              </a:rPr>
              <a:t>Step 2: Jill plays next, now she has to find the largest number among index 1 and 2. Within these 2 indices she has the largest number at index 1. So, she chooses JL[1] Now index 1 is checked.</a:t>
            </a:r>
          </a:p>
          <a:p>
            <a:endParaRPr lang="en-US" sz="2500" dirty="0">
              <a:latin typeface="Nunito Sans" panose="00000500000000000000" pitchFamily="2" charset="0"/>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23</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0" y="1059815"/>
            <a:ext cx="12028170" cy="5093702"/>
          </a:xfrm>
          <a:prstGeom prst="rect">
            <a:avLst/>
          </a:prstGeom>
          <a:noFill/>
        </p:spPr>
        <p:txBody>
          <a:bodyPr wrap="square" rtlCol="0">
            <a:spAutoFit/>
          </a:bodyPr>
          <a:lstStyle/>
          <a:p>
            <a:r>
              <a:rPr lang="en-US" sz="2500" dirty="0">
                <a:latin typeface="Nunito Sans" panose="00000500000000000000" pitchFamily="2" charset="0"/>
              </a:rPr>
              <a:t>Step 3: Its Jack's turn now, and the only index left is 2. So, he chooses JK[2]</a:t>
            </a:r>
          </a:p>
          <a:p>
            <a:r>
              <a:rPr lang="en-US" sz="2500" dirty="0">
                <a:latin typeface="Nunito Sans" panose="00000500000000000000" pitchFamily="2" charset="0"/>
              </a:rPr>
              <a:t>Sum of each:</a:t>
            </a:r>
          </a:p>
          <a:p>
            <a:r>
              <a:rPr lang="en-US" sz="2500" dirty="0">
                <a:latin typeface="Nunito Sans" panose="00000500000000000000" pitchFamily="2" charset="0"/>
              </a:rPr>
              <a:t>Jack : 4 + 3 =7</a:t>
            </a:r>
          </a:p>
          <a:p>
            <a:r>
              <a:rPr lang="en-US" sz="2500" dirty="0">
                <a:latin typeface="Nunito Sans" panose="00000500000000000000" pitchFamily="2" charset="0"/>
              </a:rPr>
              <a:t>jill :5</a:t>
            </a:r>
          </a:p>
          <a:p>
            <a:r>
              <a:rPr lang="en-US" sz="2500" dirty="0">
                <a:latin typeface="Nunito Sans" panose="00000500000000000000" pitchFamily="2" charset="0"/>
              </a:rPr>
              <a:t>Clearly jack wins.</a:t>
            </a:r>
          </a:p>
          <a:p>
            <a:r>
              <a:rPr lang="en-US" sz="2500" dirty="0">
                <a:latin typeface="Nunito Sans" panose="00000500000000000000" pitchFamily="2" charset="0"/>
              </a:rPr>
              <a:t>Hence the answer is jack.</a:t>
            </a:r>
          </a:p>
          <a:p>
            <a:endParaRPr lang="en-US" sz="2500" dirty="0">
              <a:latin typeface="Nunito Sans" panose="00000500000000000000" pitchFamily="2" charset="0"/>
            </a:endParaRPr>
          </a:p>
          <a:p>
            <a:r>
              <a:rPr lang="en-US" sz="2500" b="1" dirty="0">
                <a:latin typeface="Nunito Sans" pitchFamily="2" charset="0"/>
              </a:rPr>
              <a:t>Input format</a:t>
            </a:r>
          </a:p>
          <a:p>
            <a:r>
              <a:rPr lang="en-US" sz="2500" dirty="0">
                <a:latin typeface="Nunito Sans" panose="00000500000000000000" pitchFamily="2" charset="0"/>
              </a:rPr>
              <a:t>First Input -Accept value of Integer, N.</a:t>
            </a:r>
          </a:p>
          <a:p>
            <a:r>
              <a:rPr lang="en-US" sz="2500" dirty="0">
                <a:latin typeface="Nunito Sans" panose="00000500000000000000" pitchFamily="2" charset="0"/>
              </a:rPr>
              <a:t>Next 'N' Lines-Elements of sequence JK[]</a:t>
            </a:r>
          </a:p>
          <a:p>
            <a:r>
              <a:rPr lang="en-US" sz="2500" dirty="0">
                <a:latin typeface="Nunito Sans" panose="00000500000000000000" pitchFamily="2" charset="0"/>
              </a:rPr>
              <a:t>Next 'N' Lines-Elements of sequence JI[]</a:t>
            </a:r>
          </a:p>
          <a:p>
            <a:endParaRPr lang="en-US" sz="2500" dirty="0">
              <a:latin typeface="Nunito Sans" panose="00000500000000000000" pitchFamily="2" charset="0"/>
            </a:endParaRPr>
          </a:p>
          <a:p>
            <a:r>
              <a:rPr lang="en-US" sz="2500" b="1" dirty="0">
                <a:latin typeface="Nunito Sans" pitchFamily="2" charset="0"/>
              </a:rPr>
              <a:t>Output format</a:t>
            </a:r>
            <a:endParaRPr lang="en-US" sz="2500" dirty="0">
              <a:latin typeface="Nunito Sans" pitchFamily="2" charset="0"/>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23</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0" y="1059815"/>
            <a:ext cx="12028170" cy="5093702"/>
          </a:xfrm>
          <a:prstGeom prst="rect">
            <a:avLst/>
          </a:prstGeom>
          <a:noFill/>
        </p:spPr>
        <p:txBody>
          <a:bodyPr wrap="square" rtlCol="0">
            <a:spAutoFit/>
          </a:bodyPr>
          <a:lstStyle/>
          <a:p>
            <a:r>
              <a:rPr lang="en-US" sz="2500" dirty="0">
                <a:latin typeface="Nunito Sans" panose="00000500000000000000" pitchFamily="2" charset="0"/>
              </a:rPr>
              <a:t>Step 3: Its Jack's turn now, and the only index left is 2. So, he chooses JK[2]</a:t>
            </a:r>
          </a:p>
          <a:p>
            <a:r>
              <a:rPr lang="en-US" sz="2500" dirty="0">
                <a:latin typeface="Nunito Sans" panose="00000500000000000000" pitchFamily="2" charset="0"/>
              </a:rPr>
              <a:t>Sum of each:</a:t>
            </a:r>
          </a:p>
          <a:p>
            <a:r>
              <a:rPr lang="en-US" sz="2500" dirty="0">
                <a:latin typeface="Nunito Sans" panose="00000500000000000000" pitchFamily="2" charset="0"/>
              </a:rPr>
              <a:t>Jack : 4 + 3 =7</a:t>
            </a:r>
          </a:p>
          <a:p>
            <a:r>
              <a:rPr lang="en-US" sz="2500" dirty="0">
                <a:latin typeface="Nunito Sans" panose="00000500000000000000" pitchFamily="2" charset="0"/>
              </a:rPr>
              <a:t>jill :5</a:t>
            </a:r>
          </a:p>
          <a:p>
            <a:r>
              <a:rPr lang="en-US" sz="2500" dirty="0">
                <a:latin typeface="Nunito Sans" panose="00000500000000000000" pitchFamily="2" charset="0"/>
              </a:rPr>
              <a:t>Clearly jack wins.</a:t>
            </a:r>
          </a:p>
          <a:p>
            <a:r>
              <a:rPr lang="en-US" sz="2500" dirty="0">
                <a:latin typeface="Nunito Sans" panose="00000500000000000000" pitchFamily="2" charset="0"/>
              </a:rPr>
              <a:t>Hence the answer is jack.</a:t>
            </a:r>
          </a:p>
          <a:p>
            <a:endParaRPr lang="en-US" sz="2500" dirty="0">
              <a:latin typeface="Nunito Sans" panose="00000500000000000000" pitchFamily="2" charset="0"/>
            </a:endParaRPr>
          </a:p>
          <a:p>
            <a:r>
              <a:rPr lang="en-US" sz="2500" b="1" dirty="0">
                <a:latin typeface="Nunito Sans" pitchFamily="2" charset="0"/>
              </a:rPr>
              <a:t>Input format</a:t>
            </a:r>
          </a:p>
          <a:p>
            <a:r>
              <a:rPr lang="en-US" sz="2500" dirty="0">
                <a:latin typeface="Nunito Sans" panose="00000500000000000000" pitchFamily="2" charset="0"/>
              </a:rPr>
              <a:t>First Input -Accept value of Integer, N.</a:t>
            </a:r>
          </a:p>
          <a:p>
            <a:r>
              <a:rPr lang="en-US" sz="2500" dirty="0">
                <a:latin typeface="Nunito Sans" panose="00000500000000000000" pitchFamily="2" charset="0"/>
              </a:rPr>
              <a:t>Next 'N' Lines-Elements of sequence JK[]</a:t>
            </a:r>
          </a:p>
          <a:p>
            <a:r>
              <a:rPr lang="en-US" sz="2500" dirty="0">
                <a:latin typeface="Nunito Sans" panose="00000500000000000000" pitchFamily="2" charset="0"/>
              </a:rPr>
              <a:t>Next 'N' Lines-Elements of sequence JI[]</a:t>
            </a:r>
          </a:p>
          <a:p>
            <a:endParaRPr lang="en-US" sz="2500" dirty="0">
              <a:latin typeface="Nunito Sans" panose="00000500000000000000" pitchFamily="2" charset="0"/>
            </a:endParaRPr>
          </a:p>
          <a:p>
            <a:r>
              <a:rPr lang="en-US" sz="2500" b="1" dirty="0">
                <a:latin typeface="Nunito Sans" pitchFamily="2" charset="0"/>
              </a:rPr>
              <a:t>Output format</a:t>
            </a:r>
            <a:endParaRPr lang="en-US" sz="2500" dirty="0">
              <a:latin typeface="Nunito Sans" pitchFamily="2" charset="0"/>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23</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0" y="1059815"/>
            <a:ext cx="12028170" cy="5862320"/>
          </a:xfrm>
          <a:prstGeom prst="rect">
            <a:avLst/>
          </a:prstGeom>
          <a:noFill/>
        </p:spPr>
        <p:txBody>
          <a:bodyPr wrap="square" rtlCol="0">
            <a:spAutoFit/>
          </a:bodyPr>
          <a:lstStyle/>
          <a:p>
            <a:r>
              <a:rPr lang="en-US" sz="2500" dirty="0">
                <a:latin typeface="Nunito Sans" panose="00000500000000000000" pitchFamily="2" charset="0"/>
              </a:rPr>
              <a:t>The output is an integer value as per above logic. (Check the output in Example 1, Example 2).</a:t>
            </a:r>
          </a:p>
          <a:p>
            <a:r>
              <a:rPr lang="en-US" sz="2500" dirty="0">
                <a:latin typeface="Nunito Sans" panose="00000500000000000000" pitchFamily="2" charset="0"/>
              </a:rPr>
              <a:t>additional messages in output will cause the failure of test cases.</a:t>
            </a:r>
          </a:p>
          <a:p>
            <a:endParaRPr lang="en-US" sz="2500" dirty="0">
              <a:latin typeface="Nunito Sans" panose="00000500000000000000" pitchFamily="2" charset="0"/>
            </a:endParaRPr>
          </a:p>
          <a:p>
            <a:r>
              <a:rPr lang="en-US" sz="2500" b="1" dirty="0">
                <a:latin typeface="Nunito Sans" pitchFamily="2" charset="0"/>
              </a:rPr>
              <a:t>Constraints</a:t>
            </a:r>
          </a:p>
          <a:p>
            <a:r>
              <a:rPr lang="en-US" sz="2500" dirty="0">
                <a:latin typeface="Nunito Sans" panose="00000500000000000000" pitchFamily="2" charset="0"/>
              </a:rPr>
              <a:t>1&lt;=N&lt;=1000</a:t>
            </a:r>
          </a:p>
          <a:p>
            <a:r>
              <a:rPr lang="en-US" sz="2500" dirty="0">
                <a:latin typeface="Nunito Sans" panose="00000500000000000000" pitchFamily="2" charset="0"/>
              </a:rPr>
              <a:t>1 &lt;= Jk[], JL[]&lt;=10000</a:t>
            </a:r>
          </a:p>
          <a:p>
            <a:r>
              <a:rPr lang="en-US" sz="2500" dirty="0">
                <a:latin typeface="Nunito Sans" panose="00000500000000000000" pitchFamily="2" charset="0"/>
              </a:rPr>
              <a:t>Only integer values</a:t>
            </a:r>
          </a:p>
          <a:p>
            <a:endParaRPr lang="en-US" sz="2500" dirty="0">
              <a:latin typeface="Nunito Sans" panose="00000500000000000000" pitchFamily="2" charset="0"/>
            </a:endParaRPr>
          </a:p>
          <a:p>
            <a:r>
              <a:rPr lang="en-US" sz="2500" b="1" dirty="0">
                <a:latin typeface="Nunito Sans" pitchFamily="2" charset="0"/>
              </a:rPr>
              <a:t>Example 1:</a:t>
            </a:r>
          </a:p>
          <a:p>
            <a:r>
              <a:rPr lang="en-US" sz="2500" dirty="0">
                <a:latin typeface="Nunito Sans" panose="00000500000000000000" pitchFamily="2" charset="0"/>
              </a:rPr>
              <a:t>Input:</a:t>
            </a:r>
          </a:p>
          <a:p>
            <a:r>
              <a:rPr lang="en-US" sz="2500" dirty="0">
                <a:latin typeface="Nunito Sans" panose="00000500000000000000" pitchFamily="2" charset="0"/>
              </a:rPr>
              <a:t>2 -&gt;Input integer , N</a:t>
            </a:r>
          </a:p>
          <a:p>
            <a:r>
              <a:rPr lang="en-US" sz="2500" dirty="0">
                <a:latin typeface="Nunito Sans" panose="00000500000000000000" pitchFamily="2" charset="0"/>
              </a:rPr>
              <a:t>1 1-&gt;Input integer , Jk[]</a:t>
            </a:r>
          </a:p>
          <a:p>
            <a:r>
              <a:rPr lang="en-US" sz="2500" dirty="0">
                <a:latin typeface="Nunito Sans" panose="00000500000000000000" pitchFamily="2" charset="0"/>
              </a:rPr>
              <a:t>2 2-&gt;Input integer , JL[]</a:t>
            </a:r>
          </a:p>
          <a:p>
            <a:endParaRPr lang="en-US" sz="2500" dirty="0">
              <a:latin typeface="Nunito Sans" panose="00000500000000000000" pitchFamily="2" charset="0"/>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23</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0" y="1059815"/>
            <a:ext cx="12028170" cy="5478423"/>
          </a:xfrm>
          <a:prstGeom prst="rect">
            <a:avLst/>
          </a:prstGeom>
          <a:noFill/>
        </p:spPr>
        <p:txBody>
          <a:bodyPr wrap="square" rtlCol="0">
            <a:spAutoFit/>
          </a:bodyPr>
          <a:lstStyle/>
          <a:p>
            <a:r>
              <a:rPr lang="en-US" sz="2500" b="1" dirty="0">
                <a:latin typeface="Nunito Sans" pitchFamily="2" charset="0"/>
              </a:rPr>
              <a:t>Output:</a:t>
            </a:r>
          </a:p>
          <a:p>
            <a:r>
              <a:rPr lang="en-US" sz="2500" dirty="0">
                <a:latin typeface="Nunito Sans" panose="00000500000000000000" pitchFamily="2" charset="0"/>
              </a:rPr>
              <a:t>Jill-&gt;output</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anose="00000500000000000000" pitchFamily="2" charset="0"/>
              </a:rPr>
              <a:t>Step 1: Jack plays first and chooses the largest element from his number-strip JK[1]=1 Now index 1 is checked.</a:t>
            </a:r>
          </a:p>
          <a:p>
            <a:r>
              <a:rPr lang="en-US" sz="2500" dirty="0">
                <a:latin typeface="Nunito Sans" panose="00000500000000000000" pitchFamily="2" charset="0"/>
              </a:rPr>
              <a:t>step 2: Jill plays next, now she has to find the largest number only present at index 2. So, she chooses JL[2] Now index 2 is checked. Sum of each:</a:t>
            </a:r>
          </a:p>
          <a:p>
            <a:r>
              <a:rPr lang="en-US" sz="2500" dirty="0">
                <a:latin typeface="Nunito Sans" panose="00000500000000000000" pitchFamily="2" charset="0"/>
              </a:rPr>
              <a:t>Jack=1</a:t>
            </a:r>
          </a:p>
          <a:p>
            <a:r>
              <a:rPr lang="en-US" sz="2500" dirty="0">
                <a:latin typeface="Nunito Sans" panose="00000500000000000000" pitchFamily="2" charset="0"/>
              </a:rPr>
              <a:t>Jill=2</a:t>
            </a:r>
          </a:p>
          <a:p>
            <a:r>
              <a:rPr lang="en-US" sz="2500" dirty="0">
                <a:latin typeface="Nunito Sans" panose="00000500000000000000" pitchFamily="2" charset="0"/>
              </a:rPr>
              <a:t>Clearly jill wins.</a:t>
            </a:r>
          </a:p>
          <a:p>
            <a:endParaRPr lang="en-US" sz="2500" dirty="0">
              <a:latin typeface="Nunito Sans" panose="00000500000000000000" pitchFamily="2" charset="0"/>
            </a:endParaRPr>
          </a:p>
          <a:p>
            <a:r>
              <a:rPr lang="en-US" sz="2500" dirty="0">
                <a:latin typeface="Nunito Sans" panose="00000500000000000000" pitchFamily="2" charset="0"/>
              </a:rPr>
              <a:t>Hence the answer is jill</a:t>
            </a:r>
          </a:p>
          <a:p>
            <a:endParaRPr lang="en-US" sz="2500" dirty="0">
              <a:latin typeface="Nunito Sans" panose="00000500000000000000" pitchFamily="2" charset="0"/>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23</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0" y="1059815"/>
            <a:ext cx="12028170" cy="5862320"/>
          </a:xfrm>
          <a:prstGeom prst="rect">
            <a:avLst/>
          </a:prstGeom>
          <a:noFill/>
        </p:spPr>
        <p:txBody>
          <a:bodyPr wrap="square" rtlCol="0">
            <a:spAutoFit/>
          </a:bodyPr>
          <a:lstStyle/>
          <a:p>
            <a:r>
              <a:rPr lang="en-US" sz="2500" b="1" dirty="0">
                <a:latin typeface="Nunito Sans" pitchFamily="2" charset="0"/>
              </a:rPr>
              <a:t>Example 2:</a:t>
            </a:r>
          </a:p>
          <a:p>
            <a:r>
              <a:rPr lang="en-US" sz="2500" dirty="0">
                <a:latin typeface="Nunito Sans" panose="00000500000000000000" pitchFamily="2" charset="0"/>
              </a:rPr>
              <a:t>Input:</a:t>
            </a:r>
          </a:p>
          <a:p>
            <a:r>
              <a:rPr lang="en-US" sz="2500" dirty="0">
                <a:latin typeface="Nunito Sans" panose="00000500000000000000" pitchFamily="2" charset="0"/>
              </a:rPr>
              <a:t>4-&gt; Input integer , N</a:t>
            </a:r>
          </a:p>
          <a:p>
            <a:r>
              <a:rPr lang="en-US" sz="2500" dirty="0">
                <a:latin typeface="Nunito Sans" panose="00000500000000000000" pitchFamily="2" charset="0"/>
              </a:rPr>
              <a:t>1 2 3 4-&gt;Input integer , Jk[]</a:t>
            </a:r>
          </a:p>
          <a:p>
            <a:r>
              <a:rPr lang="en-US" sz="2500" dirty="0">
                <a:latin typeface="Nunito Sans" panose="00000500000000000000" pitchFamily="2" charset="0"/>
              </a:rPr>
              <a:t>4 3 2 1-&gt;Input integer , JL[]</a:t>
            </a:r>
          </a:p>
          <a:p>
            <a:endParaRPr lang="en-US" sz="2500" dirty="0">
              <a:latin typeface="Nunito Sans" panose="00000500000000000000" pitchFamily="2" charset="0"/>
            </a:endParaRPr>
          </a:p>
          <a:p>
            <a:r>
              <a:rPr lang="en-US" sz="2500" b="1" dirty="0">
                <a:latin typeface="Nunito Sans" pitchFamily="2" charset="0"/>
              </a:rPr>
              <a:t>Output:</a:t>
            </a:r>
            <a:endParaRPr lang="en-US" sz="2500" dirty="0">
              <a:latin typeface="Nunito Sans" panose="00000500000000000000" pitchFamily="2" charset="0"/>
            </a:endParaRPr>
          </a:p>
          <a:p>
            <a:r>
              <a:rPr lang="en-US" sz="2500" dirty="0">
                <a:latin typeface="Nunito Sans" panose="00000500000000000000" pitchFamily="2" charset="0"/>
              </a:rPr>
              <a:t>Tie-&gt;output</a:t>
            </a:r>
          </a:p>
          <a:p>
            <a:endParaRPr lang="en-US" sz="2500" dirty="0">
              <a:latin typeface="Nunito Sans" panose="00000500000000000000" pitchFamily="2" charset="0"/>
            </a:endParaRPr>
          </a:p>
          <a:p>
            <a:r>
              <a:rPr lang="en-US" sz="2500" b="1" dirty="0">
                <a:latin typeface="Nunito Sans" pitchFamily="2" charset="0"/>
              </a:rPr>
              <a:t>Explanation:</a:t>
            </a:r>
          </a:p>
          <a:p>
            <a:r>
              <a:rPr lang="en-US" sz="2500" dirty="0">
                <a:latin typeface="Nunito Sans" panose="00000500000000000000" pitchFamily="2" charset="0"/>
              </a:rPr>
              <a:t>Step 1: Jack plays first and chooses the largest element from his number-strip JK[4] =4 Now index 4 is checked.</a:t>
            </a:r>
          </a:p>
          <a:p>
            <a:r>
              <a:rPr lang="en-US" sz="2500" dirty="0">
                <a:latin typeface="Nunito Sans" panose="00000500000000000000" pitchFamily="2" charset="0"/>
              </a:rPr>
              <a:t>Step 2: Jill plays next, now she has to find the largest number among index 1, 2 and 3, So he chooses JL[1] = 4. Now index 1 is checked.</a:t>
            </a:r>
          </a:p>
          <a:p>
            <a:endParaRPr lang="en-US" sz="2500" dirty="0">
              <a:latin typeface="Nunito Sans" panose="00000500000000000000" pitchFamily="2" charset="0"/>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1568450"/>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a:t>
            </a:r>
            <a:r>
              <a:rPr lang="en-US" altLang="en-IN" sz="4800" b="1" dirty="0">
                <a:solidFill>
                  <a:schemeClr val="bg1"/>
                </a:solidFill>
                <a:latin typeface="Nunito Sans" panose="00000500000000000000" pitchFamily="2" charset="0"/>
                <a:sym typeface="+mn-ea"/>
              </a:rPr>
              <a:t>23</a:t>
            </a:r>
          </a:p>
          <a:p>
            <a:pPr algn="r"/>
            <a:endParaRPr lang="en-US" altLang="en-IN" sz="4800" b="1" dirty="0">
              <a:solidFill>
                <a:schemeClr val="bg1"/>
              </a:solidFill>
              <a:latin typeface="Nunito Sans" panose="00000500000000000000" pitchFamily="2" charset="0"/>
              <a:sym typeface="+mn-ea"/>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18" name="TextBox 17"/>
          <p:cNvSpPr txBox="1"/>
          <p:nvPr/>
        </p:nvSpPr>
        <p:spPr>
          <a:xfrm>
            <a:off x="77470" y="1059180"/>
            <a:ext cx="11471910" cy="860425"/>
          </a:xfrm>
          <a:prstGeom prst="rect">
            <a:avLst/>
          </a:prstGeom>
          <a:noFill/>
        </p:spPr>
        <p:txBody>
          <a:bodyPr wrap="square" rtlCol="0">
            <a:spAutoFit/>
          </a:bodyPr>
          <a:lstStyle/>
          <a:p>
            <a:endParaRPr lang="en-US" sz="2500" dirty="0">
              <a:latin typeface="Nunito Sans" panose="00000500000000000000" pitchFamily="2" charset="0"/>
            </a:endParaRPr>
          </a:p>
          <a:p>
            <a:endParaRPr lang="en-US" sz="2500" dirty="0">
              <a:latin typeface="Nunito Sans" panose="00000500000000000000" pitchFamily="2" charset="0"/>
            </a:endParaRPr>
          </a:p>
        </p:txBody>
      </p:sp>
      <p:sp>
        <p:nvSpPr>
          <p:cNvPr id="7" name="TextBox 13"/>
          <p:cNvSpPr txBox="1"/>
          <p:nvPr/>
        </p:nvSpPr>
        <p:spPr>
          <a:xfrm>
            <a:off x="0" y="1059815"/>
            <a:ext cx="12028170" cy="2784475"/>
          </a:xfrm>
          <a:prstGeom prst="rect">
            <a:avLst/>
          </a:prstGeom>
          <a:noFill/>
        </p:spPr>
        <p:txBody>
          <a:bodyPr wrap="square" rtlCol="0">
            <a:spAutoFit/>
          </a:bodyPr>
          <a:lstStyle/>
          <a:p>
            <a:r>
              <a:rPr lang="en-US" sz="2500" dirty="0">
                <a:latin typeface="Nunito Sans" pitchFamily="2" charset="0"/>
                <a:sym typeface="+mn-ea"/>
              </a:rPr>
              <a:t>Step 3: jack plays next and now he has to find the large number among index 2 and 3. JK[3] =3 Now index 3 is checked.</a:t>
            </a:r>
            <a:endParaRPr lang="en-US" sz="2500" dirty="0">
              <a:latin typeface="Nunito Sans" panose="00000500000000000000" pitchFamily="2" charset="0"/>
            </a:endParaRPr>
          </a:p>
          <a:p>
            <a:endParaRPr lang="en-US" sz="2500" dirty="0">
              <a:latin typeface="Nunito Sans" panose="00000500000000000000" pitchFamily="2" charset="0"/>
            </a:endParaRPr>
          </a:p>
          <a:p>
            <a:r>
              <a:rPr lang="en-US" sz="2500" dirty="0">
                <a:latin typeface="Nunito Sans" pitchFamily="2" charset="0"/>
                <a:sym typeface="+mn-ea"/>
              </a:rPr>
              <a:t>Step 4: Jill plays next, now she has to find the largest number only present at index 2. So, he chooses JL[2] = 3 Now index 2 is checked. All indices are checked now. Sum of each</a:t>
            </a:r>
            <a:endParaRPr lang="en-US" sz="2500" dirty="0">
              <a:latin typeface="Nunito Sans" panose="00000500000000000000" pitchFamily="2" charset="0"/>
            </a:endParaRPr>
          </a:p>
          <a:p>
            <a:endParaRPr lang="en-US" sz="2500" dirty="0">
              <a:latin typeface="Nunito Sans" panose="00000500000000000000" pitchFamily="2" charset="0"/>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&lt;stdbool.h&gt;</a:t>
            </a:r>
          </a:p>
          <a:p>
            <a:r>
              <a:rPr lang="en-US" sz="2000" b="1" dirty="0">
                <a:solidFill>
                  <a:schemeClr val="bg1"/>
                </a:solidFill>
                <a:latin typeface="Nunito Sans" pitchFamily="2" charset="0"/>
                <a:cs typeface="Courier New" panose="02070309020205020404" pitchFamily="49" charset="0"/>
              </a:rPr>
              <a:t>char* findWinner(int N, int JK[], int JL[])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bool checked[N + 1];</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checked[i] = false;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jackSum = 0, jillSum = 0;</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maxJK = -1, maxJL = -1;</a:t>
            </a:r>
          </a:p>
          <a:p>
            <a:r>
              <a:rPr lang="en-US" sz="2000" b="1" dirty="0">
                <a:solidFill>
                  <a:schemeClr val="bg1"/>
                </a:solidFill>
                <a:latin typeface="Nunito Sans" pitchFamily="2" charset="0"/>
                <a:cs typeface="Courier New" panose="02070309020205020404" pitchFamily="49" charset="0"/>
              </a:rPr>
              <a:t>        // Find the maximum available number for Jack</a:t>
            </a:r>
          </a:p>
          <a:p>
            <a:r>
              <a:rPr lang="en-US" sz="2000" b="1" dirty="0">
                <a:solidFill>
                  <a:schemeClr val="bg1"/>
                </a:solidFill>
                <a:latin typeface="Nunito Sans" pitchFamily="2" charset="0"/>
                <a:cs typeface="Courier New" panose="02070309020205020404" pitchFamily="49" charset="0"/>
              </a:rPr>
              <a:t>        for (int j = 0; j &lt; N; j++)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(!checked[j] &amp;&amp; JK[j] &gt; maxJK)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maxJK = JK[j];</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Mark the chosen index as checked</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for (int j = 0; j &lt; N; j++)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(JK[j] == maxJK)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checked[j] = true;</a:t>
            </a:r>
          </a:p>
          <a:p>
            <a:r>
              <a:rPr lang="en-US" altLang="en-IN" sz="2000" b="1" dirty="0">
                <a:solidFill>
                  <a:schemeClr val="bg1"/>
                </a:solidFill>
                <a:latin typeface="Nunito Sans" pitchFamily="2" charset="0"/>
                <a:cs typeface="Courier New" panose="02070309020205020404" pitchFamily="49" charset="0"/>
                <a:sym typeface="+mn-ea"/>
              </a:rPr>
              <a:t>                break;</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Find the maximum available number for Jill</a:t>
            </a:r>
          </a:p>
          <a:p>
            <a:r>
              <a:rPr lang="en-US" altLang="en-IN" sz="2000" b="1" dirty="0">
                <a:solidFill>
                  <a:schemeClr val="bg1"/>
                </a:solidFill>
                <a:latin typeface="Nunito Sans" pitchFamily="2" charset="0"/>
                <a:cs typeface="Courier New" panose="02070309020205020404" pitchFamily="49" charset="0"/>
                <a:sym typeface="+mn-ea"/>
              </a:rPr>
              <a:t>        for (int j = 0; j &lt; N; j++)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(!checked[j] &amp;&amp; JL[j] &gt; maxJL)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maxJL = JL[j];</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Mark the chosen index as checked</a:t>
            </a:r>
          </a:p>
          <a:p>
            <a:r>
              <a:rPr lang="en-US" altLang="en-IN" sz="2000" b="1" dirty="0">
                <a:solidFill>
                  <a:schemeClr val="bg1"/>
                </a:solidFill>
                <a:latin typeface="Nunito Sans" pitchFamily="2" charset="0"/>
                <a:cs typeface="Courier New" panose="02070309020205020404" pitchFamily="49" charset="0"/>
                <a:sym typeface="+mn-ea"/>
              </a:rPr>
              <a:t>        for (int j = 0; j &lt; N; j++)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(JL[j] == maxJL)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checked[j] = true;</a:t>
            </a:r>
          </a:p>
          <a:p>
            <a:r>
              <a:rPr lang="en-US" altLang="en-IN" sz="2000" b="1" dirty="0">
                <a:solidFill>
                  <a:schemeClr val="bg1"/>
                </a:solidFill>
                <a:latin typeface="Nunito Sans" pitchFamily="2" charset="0"/>
                <a:cs typeface="Courier New" panose="02070309020205020404" pitchFamily="49" charset="0"/>
                <a:sym typeface="+mn-ea"/>
              </a:rPr>
              <a:t>                break;</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Calculate the sum for each player</a:t>
            </a:r>
          </a:p>
          <a:p>
            <a:r>
              <a:rPr lang="en-US" sz="2000" b="1" dirty="0">
                <a:solidFill>
                  <a:schemeClr val="bg1"/>
                </a:solidFill>
                <a:latin typeface="Nunito Sans" pitchFamily="2" charset="0"/>
                <a:cs typeface="Courier New" panose="02070309020205020404" pitchFamily="49" charset="0"/>
              </a:rPr>
              <a:t>        jackSum += maxJK;</a:t>
            </a:r>
          </a:p>
          <a:p>
            <a:r>
              <a:rPr lang="en-US" sz="2000" b="1" dirty="0">
                <a:solidFill>
                  <a:schemeClr val="bg1"/>
                </a:solidFill>
                <a:latin typeface="Nunito Sans" pitchFamily="2" charset="0"/>
                <a:cs typeface="Courier New" panose="02070309020205020404" pitchFamily="49" charset="0"/>
              </a:rPr>
              <a:t>        jillSum += maxJL;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Determine the winner</a:t>
            </a:r>
          </a:p>
          <a:p>
            <a:r>
              <a:rPr lang="en-US" sz="2000" b="1" dirty="0">
                <a:solidFill>
                  <a:schemeClr val="bg1"/>
                </a:solidFill>
                <a:latin typeface="Nunito Sans" pitchFamily="2" charset="0"/>
                <a:cs typeface="Courier New" panose="02070309020205020404" pitchFamily="49" charset="0"/>
              </a:rPr>
              <a:t>    if (jackSum &gt; jillSum)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"Jack";</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if (jillSum &gt; jackSum)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"Jill";</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"Tie";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 </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a:t>
            </a:r>
          </a:p>
          <a:p>
            <a:r>
              <a:rPr lang="en-US" sz="2000" b="1" dirty="0">
                <a:solidFill>
                  <a:schemeClr val="bg1"/>
                </a:solidFill>
                <a:latin typeface="Nunito Sans" pitchFamily="2" charset="0"/>
                <a:cs typeface="Courier New" panose="02070309020205020404" pitchFamily="49" charset="0"/>
              </a:rPr>
              <a:t>    scanf("%d", &amp;N);</a:t>
            </a:r>
          </a:p>
          <a:p>
            <a:r>
              <a:rPr lang="en-US" sz="2000" b="1" dirty="0">
                <a:solidFill>
                  <a:schemeClr val="bg1"/>
                </a:solidFill>
                <a:latin typeface="Nunito Sans" pitchFamily="2" charset="0"/>
                <a:cs typeface="Courier New" panose="02070309020205020404" pitchFamily="49" charset="0"/>
              </a:rPr>
              <a:t>    int JK[N], JL[N];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scanf("%d", &amp;JK[i]);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scanf("%d", &amp;JL[i]);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char* winner = findWinner(N, JK, JL);</a:t>
            </a:r>
          </a:p>
          <a:p>
            <a:r>
              <a:rPr lang="en-US" sz="2000" b="1" dirty="0">
                <a:solidFill>
                  <a:schemeClr val="bg1"/>
                </a:solidFill>
                <a:latin typeface="Nunito Sans" pitchFamily="2" charset="0"/>
                <a:cs typeface="Courier New" panose="02070309020205020404" pitchFamily="49" charset="0"/>
              </a:rPr>
              <a:t>    printf("%s\n", winner);</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67</a:t>
            </a:r>
          </a:p>
          <a:p>
            <a:r>
              <a:rPr lang="en-US" sz="2000" b="1" dirty="0">
                <a:solidFill>
                  <a:srgbClr val="FFFF00"/>
                </a:solidFill>
                <a:latin typeface="Nunito Sans" pitchFamily="2" charset="0"/>
                <a:cs typeface="Courier New" panose="02070309020205020404" pitchFamily="49" charset="0"/>
              </a:rPr>
              <a:t>68</a:t>
            </a:r>
          </a:p>
          <a:p>
            <a:r>
              <a:rPr lang="en-US" sz="2000" b="1" dirty="0">
                <a:solidFill>
                  <a:srgbClr val="FFFF00"/>
                </a:solidFill>
                <a:latin typeface="Nunito Sans" pitchFamily="2" charset="0"/>
                <a:cs typeface="Courier New" panose="02070309020205020404" pitchFamily="49" charset="0"/>
              </a:rPr>
              <a:t>69</a:t>
            </a:r>
          </a:p>
          <a:p>
            <a:r>
              <a:rPr lang="en-US" sz="2000" b="1" dirty="0">
                <a:solidFill>
                  <a:srgbClr val="FFFF00"/>
                </a:solidFill>
                <a:latin typeface="Nunito Sans" pitchFamily="2" charset="0"/>
                <a:cs typeface="Courier New" panose="02070309020205020404" pitchFamily="49" charset="0"/>
              </a:rPr>
              <a:t>70</a:t>
            </a:r>
          </a:p>
          <a:p>
            <a:r>
              <a:rPr lang="en-US" sz="2000" b="1" dirty="0">
                <a:solidFill>
                  <a:srgbClr val="FFFF00"/>
                </a:solidFill>
                <a:latin typeface="Nunito Sans" pitchFamily="2" charset="0"/>
                <a:cs typeface="Courier New" panose="02070309020205020404" pitchFamily="49" charset="0"/>
              </a:rPr>
              <a:t>71</a:t>
            </a:r>
          </a:p>
          <a:p>
            <a:r>
              <a:rPr lang="en-US" sz="2000" b="1" dirty="0">
                <a:solidFill>
                  <a:srgbClr val="FFFF00"/>
                </a:solidFill>
                <a:latin typeface="Nunito Sans" pitchFamily="2" charset="0"/>
                <a:cs typeface="Courier New" panose="02070309020205020404" pitchFamily="49" charset="0"/>
              </a:rPr>
              <a:t>72</a:t>
            </a:r>
          </a:p>
          <a:p>
            <a:r>
              <a:rPr lang="en-US" sz="2000" b="1" dirty="0">
                <a:solidFill>
                  <a:srgbClr val="FFFF00"/>
                </a:solidFill>
                <a:latin typeface="Nunito Sans" pitchFamily="2" charset="0"/>
                <a:cs typeface="Courier New" panose="02070309020205020404" pitchFamily="49" charset="0"/>
              </a:rPr>
              <a:t>73</a:t>
            </a:r>
          </a:p>
          <a:p>
            <a:r>
              <a:rPr lang="en-US" sz="2000" b="1" dirty="0">
                <a:solidFill>
                  <a:srgbClr val="FFFF00"/>
                </a:solidFill>
                <a:latin typeface="Nunito Sans" pitchFamily="2" charset="0"/>
                <a:cs typeface="Courier New" panose="02070309020205020404" pitchFamily="49" charset="0"/>
              </a:rPr>
              <a:t>74</a:t>
            </a:r>
          </a:p>
          <a:p>
            <a:r>
              <a:rPr lang="en-US" sz="2000" b="1" dirty="0">
                <a:solidFill>
                  <a:srgbClr val="FFFF00"/>
                </a:solidFill>
                <a:latin typeface="Nunito Sans" pitchFamily="2" charset="0"/>
                <a:cs typeface="Courier New" panose="02070309020205020404" pitchFamily="49" charset="0"/>
              </a:rPr>
              <a:t>75</a:t>
            </a:r>
          </a:p>
          <a:p>
            <a:r>
              <a:rPr lang="en-US" sz="2000" b="1" dirty="0">
                <a:solidFill>
                  <a:srgbClr val="FFFF00"/>
                </a:solidFill>
                <a:latin typeface="Nunito Sans" pitchFamily="2" charset="0"/>
                <a:cs typeface="Courier New" panose="02070309020205020404" pitchFamily="49" charset="0"/>
              </a:rPr>
              <a:t>76</a:t>
            </a:r>
          </a:p>
          <a:p>
            <a:r>
              <a:rPr lang="en-US" sz="2000" b="1" dirty="0">
                <a:solidFill>
                  <a:srgbClr val="FFFF00"/>
                </a:solidFill>
                <a:latin typeface="Nunito Sans" pitchFamily="2" charset="0"/>
                <a:cs typeface="Courier New" panose="02070309020205020404" pitchFamily="49" charset="0"/>
              </a:rPr>
              <a:t>78</a:t>
            </a:r>
          </a:p>
          <a:p>
            <a:r>
              <a:rPr lang="en-US" sz="2000" b="1" dirty="0">
                <a:solidFill>
                  <a:srgbClr val="FFFF00"/>
                </a:solidFill>
                <a:latin typeface="Nunito Sans" pitchFamily="2" charset="0"/>
                <a:cs typeface="Courier New" panose="02070309020205020404" pitchFamily="49" charset="0"/>
              </a:rPr>
              <a:t>79</a:t>
            </a:r>
          </a:p>
          <a:p>
            <a:r>
              <a:rPr lang="en-US" sz="2000" b="1" dirty="0">
                <a:solidFill>
                  <a:srgbClr val="FFFF00"/>
                </a:solidFill>
                <a:latin typeface="Nunito Sans" pitchFamily="2" charset="0"/>
                <a:cs typeface="Courier New" panose="02070309020205020404" pitchFamily="49" charset="0"/>
              </a:rPr>
              <a:t>80</a:t>
            </a:r>
          </a:p>
          <a:p>
            <a:r>
              <a:rPr lang="en-US" sz="2000" b="1" dirty="0">
                <a:solidFill>
                  <a:srgbClr val="FFFF00"/>
                </a:solidFill>
                <a:latin typeface="Nunito Sans" pitchFamily="2" charset="0"/>
                <a:cs typeface="Courier New" panose="02070309020205020404" pitchFamily="49" charset="0"/>
              </a:rPr>
              <a:t>81</a:t>
            </a:r>
          </a:p>
          <a:p>
            <a:r>
              <a:rPr lang="en-US" sz="2000" b="1" dirty="0">
                <a:solidFill>
                  <a:srgbClr val="FFFF00"/>
                </a:solidFill>
                <a:latin typeface="Nunito Sans" pitchFamily="2" charset="0"/>
                <a:cs typeface="Courier New" panose="02070309020205020404" pitchFamily="49" charset="0"/>
              </a:rPr>
              <a:t>82</a:t>
            </a:r>
          </a:p>
          <a:p>
            <a:r>
              <a:rPr lang="en-US" sz="2000" b="1" dirty="0">
                <a:solidFill>
                  <a:srgbClr val="FFFF00"/>
                </a:solidFill>
                <a:latin typeface="Nunito Sans" pitchFamily="2" charset="0"/>
                <a:cs typeface="Courier New" panose="02070309020205020404" pitchFamily="49" charset="0"/>
              </a:rPr>
              <a:t>83</a:t>
            </a:r>
          </a:p>
          <a:p>
            <a:r>
              <a:rPr lang="en-US" sz="2000" b="1" dirty="0">
                <a:solidFill>
                  <a:srgbClr val="FFFF00"/>
                </a:solidFill>
                <a:latin typeface="Nunito Sans" pitchFamily="2" charset="0"/>
                <a:cs typeface="Courier New" panose="02070309020205020404" pitchFamily="49" charset="0"/>
              </a:rPr>
              <a:t>84</a:t>
            </a:r>
          </a:p>
          <a:p>
            <a:r>
              <a:rPr lang="en-US" sz="2000" b="1" dirty="0">
                <a:solidFill>
                  <a:srgbClr val="FFFF00"/>
                </a:solidFill>
                <a:latin typeface="Nunito Sans" pitchFamily="2" charset="0"/>
                <a:cs typeface="Courier New" panose="02070309020205020404" pitchFamily="49" charset="0"/>
              </a:rPr>
              <a:t>85</a:t>
            </a:r>
          </a:p>
          <a:p>
            <a:r>
              <a:rPr lang="en-US" sz="2000" b="1" dirty="0">
                <a:solidFill>
                  <a:srgbClr val="FFFF00"/>
                </a:solidFill>
                <a:latin typeface="Nunito Sans" pitchFamily="2" charset="0"/>
                <a:cs typeface="Courier New" panose="02070309020205020404" pitchFamily="49" charset="0"/>
              </a:rPr>
              <a:t>86</a:t>
            </a:r>
          </a:p>
          <a:p>
            <a:r>
              <a:rPr lang="en-US" sz="2000" b="1" dirty="0">
                <a:solidFill>
                  <a:srgbClr val="FFFF00"/>
                </a:solidFill>
                <a:latin typeface="Nunito Sans" pitchFamily="2" charset="0"/>
                <a:cs typeface="Courier New" panose="02070309020205020404" pitchFamily="49" charset="0"/>
              </a:rPr>
              <a:t>87</a:t>
            </a:r>
          </a:p>
          <a:p>
            <a:r>
              <a:rPr lang="en-US" sz="2000" b="1" dirty="0">
                <a:solidFill>
                  <a:srgbClr val="FFFF00"/>
                </a:solidFill>
                <a:latin typeface="Nunito Sans" pitchFamily="2" charset="0"/>
                <a:cs typeface="Courier New" panose="02070309020205020404" pitchFamily="49" charset="0"/>
              </a:rPr>
              <a:t>88</a:t>
            </a:r>
          </a:p>
          <a:p>
            <a:r>
              <a:rPr lang="en-US" sz="2000" b="1" dirty="0">
                <a:solidFill>
                  <a:srgbClr val="FFFF00"/>
                </a:solidFill>
                <a:latin typeface="Nunito Sans" pitchFamily="2" charset="0"/>
                <a:cs typeface="Courier New" panose="02070309020205020404" pitchFamily="49" charset="0"/>
              </a:rPr>
              <a:t>89</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&lt;vector&gt;</a:t>
            </a:r>
          </a:p>
          <a:p>
            <a:r>
              <a:rPr lang="en-US" sz="2000" b="1" dirty="0">
                <a:solidFill>
                  <a:schemeClr val="bg1"/>
                </a:solidFill>
                <a:latin typeface="Nunito Sans" pitchFamily="2" charset="0"/>
                <a:cs typeface="Courier New" panose="02070309020205020404" pitchFamily="49" charset="0"/>
              </a:rPr>
              <a:t>#include &lt;algorithm&gt;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string findWinner(int N, vector&lt;int&gt;&amp; JK, vector&lt;int&gt;&amp; JL)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vector&lt;bool&gt; checked(N + 1, false); // To keep track of checked indices</a:t>
            </a:r>
          </a:p>
          <a:p>
            <a:r>
              <a:rPr lang="en-US" sz="2000" b="1" dirty="0">
                <a:solidFill>
                  <a:schemeClr val="bg1"/>
                </a:solidFill>
                <a:latin typeface="Nunito Sans" pitchFamily="2" charset="0"/>
                <a:cs typeface="Courier New" panose="02070309020205020404" pitchFamily="49" charset="0"/>
              </a:rPr>
              <a:t>    int jackSum = 0, jillSum = 0;</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maxJK = -1, maxJL = -1;</a:t>
            </a:r>
          </a:p>
          <a:p>
            <a:r>
              <a:rPr lang="en-US" sz="2000" b="1" dirty="0">
                <a:solidFill>
                  <a:schemeClr val="bg1"/>
                </a:solidFill>
                <a:latin typeface="Nunito Sans" pitchFamily="2" charset="0"/>
                <a:cs typeface="Courier New" panose="02070309020205020404" pitchFamily="49" charset="0"/>
              </a:rPr>
              <a:t>        // Find the maximum available number for Jack</a:t>
            </a:r>
          </a:p>
          <a:p>
            <a:r>
              <a:rPr lang="en-US" sz="2000" b="1" dirty="0">
                <a:solidFill>
                  <a:schemeClr val="bg1"/>
                </a:solidFill>
                <a:latin typeface="Nunito Sans" pitchFamily="2" charset="0"/>
                <a:cs typeface="Courier New" panose="02070309020205020404" pitchFamily="49" charset="0"/>
              </a:rPr>
              <a:t>        for (int j = 0; j &lt; N; j++)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(!checked[j] &amp;&amp; JK[j] &gt; maxJK)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maxJK = JK[j];</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Mark the chosen index as checked</a:t>
            </a:r>
          </a:p>
          <a:p>
            <a:r>
              <a:rPr lang="en-US" sz="2000" b="1" dirty="0">
                <a:solidFill>
                  <a:schemeClr val="bg1"/>
                </a:solidFill>
                <a:latin typeface="Nunito Sans" pitchFamily="2" charset="0"/>
                <a:cs typeface="Courier New" panose="02070309020205020404" pitchFamily="49" charset="0"/>
              </a:rPr>
              <a:t>        for (int j = 0; j &lt; N; j++)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if (JK[j] == maxJK)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checked[j] = true;</a:t>
            </a:r>
          </a:p>
          <a:p>
            <a:r>
              <a:rPr lang="en-US" altLang="en-IN" sz="2000" b="1" dirty="0">
                <a:solidFill>
                  <a:schemeClr val="bg1"/>
                </a:solidFill>
                <a:latin typeface="Nunito Sans" pitchFamily="2" charset="0"/>
                <a:cs typeface="Courier New" panose="02070309020205020404" pitchFamily="49" charset="0"/>
                <a:sym typeface="+mn-ea"/>
              </a:rPr>
              <a:t>                break;</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Find the maximum available number for Jill</a:t>
            </a:r>
          </a:p>
          <a:p>
            <a:r>
              <a:rPr lang="en-US" altLang="en-IN" sz="2000" b="1" dirty="0">
                <a:solidFill>
                  <a:schemeClr val="bg1"/>
                </a:solidFill>
                <a:latin typeface="Nunito Sans" pitchFamily="2" charset="0"/>
                <a:cs typeface="Courier New" panose="02070309020205020404" pitchFamily="49" charset="0"/>
                <a:sym typeface="+mn-ea"/>
              </a:rPr>
              <a:t>        for (int j = 0; j &lt; N; j++)</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(!checked[j] &amp;&amp; JL[j] &gt; maxJL)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maxJL = JL[j];</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Mark the chosen index as checked</a:t>
            </a:r>
          </a:p>
          <a:p>
            <a:r>
              <a:rPr lang="en-US" altLang="en-IN" sz="2000" b="1" dirty="0">
                <a:solidFill>
                  <a:schemeClr val="bg1"/>
                </a:solidFill>
                <a:latin typeface="Nunito Sans" pitchFamily="2" charset="0"/>
                <a:cs typeface="Courier New" panose="02070309020205020404" pitchFamily="49" charset="0"/>
                <a:sym typeface="+mn-ea"/>
              </a:rPr>
              <a:t>        for (int j = 0; j &lt; N; j++)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(JL[j] == maxJL)</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checked[j] = true;</a:t>
            </a:r>
          </a:p>
          <a:p>
            <a:r>
              <a:rPr lang="en-US" altLang="en-IN" sz="2000" b="1" dirty="0">
                <a:solidFill>
                  <a:schemeClr val="bg1"/>
                </a:solidFill>
                <a:latin typeface="Nunito Sans" pitchFamily="2" charset="0"/>
                <a:cs typeface="Courier New" panose="02070309020205020404" pitchFamily="49" charset="0"/>
                <a:sym typeface="+mn-ea"/>
              </a:rPr>
              <a:t>                break;</a:t>
            </a:r>
          </a:p>
          <a:p>
            <a:r>
              <a:rPr lang="en-US" altLang="en-IN" sz="2000" b="1" dirty="0">
                <a:solidFill>
                  <a:schemeClr val="bg1"/>
                </a:solidFill>
                <a:latin typeface="Nunito Sans" pitchFamily="2" charset="0"/>
                <a:cs typeface="Courier New" panose="02070309020205020404" pitchFamily="49" charset="0"/>
                <a:sym typeface="+mn-ea"/>
              </a:rPr>
              <a:t>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3" name="Picture 2">
            <a:extLst>
              <a:ext uri="{FF2B5EF4-FFF2-40B4-BE49-F238E27FC236}">
                <a16:creationId xmlns:a16="http://schemas.microsoft.com/office/drawing/2014/main" id="{CDF64C50-5810-F1B3-4360-415E371372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Calculate the sum for each player</a:t>
            </a:r>
          </a:p>
          <a:p>
            <a:r>
              <a:rPr lang="en-US" sz="2000" b="1" dirty="0">
                <a:solidFill>
                  <a:schemeClr val="bg1"/>
                </a:solidFill>
                <a:latin typeface="Nunito Sans" pitchFamily="2" charset="0"/>
                <a:cs typeface="Courier New" panose="02070309020205020404" pitchFamily="49" charset="0"/>
              </a:rPr>
              <a:t>        jackSum += maxJK;</a:t>
            </a:r>
          </a:p>
          <a:p>
            <a:r>
              <a:rPr lang="en-US" sz="2000" b="1" dirty="0">
                <a:solidFill>
                  <a:schemeClr val="bg1"/>
                </a:solidFill>
                <a:latin typeface="Nunito Sans" pitchFamily="2" charset="0"/>
                <a:cs typeface="Courier New" panose="02070309020205020404" pitchFamily="49" charset="0"/>
              </a:rPr>
              <a:t>        jillSum += maxJL;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Determine the winner</a:t>
            </a:r>
          </a:p>
          <a:p>
            <a:r>
              <a:rPr lang="en-US" sz="2000" b="1" dirty="0">
                <a:solidFill>
                  <a:schemeClr val="bg1"/>
                </a:solidFill>
                <a:latin typeface="Nunito Sans" pitchFamily="2" charset="0"/>
                <a:cs typeface="Courier New" panose="02070309020205020404" pitchFamily="49" charset="0"/>
              </a:rPr>
              <a:t>    if (jackSum &gt; jillSum)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"Jack";</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(jillSum &gt; jackSum)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"Jill";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"Tie";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a:t>
            </a:r>
          </a:p>
          <a:p>
            <a:r>
              <a:rPr lang="en-US" sz="20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cin &gt;&gt; N;</a:t>
            </a:r>
          </a:p>
          <a:p>
            <a:r>
              <a:rPr lang="en-US" sz="2000" b="1" dirty="0">
                <a:solidFill>
                  <a:schemeClr val="bg1"/>
                </a:solidFill>
                <a:latin typeface="Nunito Sans" pitchFamily="2" charset="0"/>
                <a:cs typeface="Courier New" panose="02070309020205020404" pitchFamily="49" charset="0"/>
              </a:rPr>
              <a:t>    vector&lt;int&gt; JK(N), JL(N);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cin &gt;&gt; JK[i];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cin &gt;&gt; JL[i];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string winner = findWinner(N, JK, JL);</a:t>
            </a:r>
          </a:p>
          <a:p>
            <a:r>
              <a:rPr lang="en-US" sz="2000" b="1" dirty="0">
                <a:solidFill>
                  <a:schemeClr val="bg1"/>
                </a:solidFill>
                <a:latin typeface="Nunito Sans" pitchFamily="2" charset="0"/>
                <a:cs typeface="Courier New" panose="02070309020205020404" pitchFamily="49" charset="0"/>
              </a:rPr>
              <a:t>    cout &lt;&lt; winner &lt;&lt; endl;</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67</a:t>
            </a:r>
          </a:p>
          <a:p>
            <a:r>
              <a:rPr lang="en-US" sz="2000" b="1" dirty="0">
                <a:solidFill>
                  <a:srgbClr val="FFFF00"/>
                </a:solidFill>
                <a:latin typeface="Nunito Sans" pitchFamily="2" charset="0"/>
                <a:cs typeface="Courier New" panose="02070309020205020404" pitchFamily="49" charset="0"/>
              </a:rPr>
              <a:t>68</a:t>
            </a:r>
          </a:p>
          <a:p>
            <a:r>
              <a:rPr lang="en-US" sz="2000" b="1" dirty="0">
                <a:solidFill>
                  <a:srgbClr val="FFFF00"/>
                </a:solidFill>
                <a:latin typeface="Nunito Sans" pitchFamily="2" charset="0"/>
                <a:cs typeface="Courier New" panose="02070309020205020404" pitchFamily="49" charset="0"/>
              </a:rPr>
              <a:t>69</a:t>
            </a:r>
          </a:p>
          <a:p>
            <a:r>
              <a:rPr lang="en-US" sz="2000" b="1" dirty="0">
                <a:solidFill>
                  <a:srgbClr val="FFFF00"/>
                </a:solidFill>
                <a:latin typeface="Nunito Sans" pitchFamily="2" charset="0"/>
                <a:cs typeface="Courier New" panose="02070309020205020404" pitchFamily="49" charset="0"/>
              </a:rPr>
              <a:t>70</a:t>
            </a:r>
          </a:p>
          <a:p>
            <a:r>
              <a:rPr lang="en-US" sz="2000" b="1" dirty="0">
                <a:solidFill>
                  <a:srgbClr val="FFFF00"/>
                </a:solidFill>
                <a:latin typeface="Nunito Sans" pitchFamily="2" charset="0"/>
                <a:cs typeface="Courier New" panose="02070309020205020404" pitchFamily="49" charset="0"/>
              </a:rPr>
              <a:t>71</a:t>
            </a:r>
          </a:p>
          <a:p>
            <a:r>
              <a:rPr lang="en-US" sz="2000" b="1" dirty="0">
                <a:solidFill>
                  <a:srgbClr val="FFFF00"/>
                </a:solidFill>
                <a:latin typeface="Nunito Sans" pitchFamily="2" charset="0"/>
                <a:cs typeface="Courier New" panose="02070309020205020404" pitchFamily="49" charset="0"/>
              </a:rPr>
              <a:t>72</a:t>
            </a:r>
          </a:p>
          <a:p>
            <a:r>
              <a:rPr lang="en-US" sz="2000" b="1" dirty="0">
                <a:solidFill>
                  <a:srgbClr val="FFFF00"/>
                </a:solidFill>
                <a:latin typeface="Nunito Sans" pitchFamily="2" charset="0"/>
                <a:cs typeface="Courier New" panose="02070309020205020404" pitchFamily="49" charset="0"/>
              </a:rPr>
              <a:t>73</a:t>
            </a:r>
          </a:p>
          <a:p>
            <a:r>
              <a:rPr lang="en-US" sz="2000" b="1" dirty="0">
                <a:solidFill>
                  <a:srgbClr val="FFFF00"/>
                </a:solidFill>
                <a:latin typeface="Nunito Sans" pitchFamily="2" charset="0"/>
                <a:cs typeface="Courier New" panose="02070309020205020404" pitchFamily="49" charset="0"/>
              </a:rPr>
              <a:t>74</a:t>
            </a:r>
          </a:p>
          <a:p>
            <a:r>
              <a:rPr lang="en-US" sz="2000" b="1" dirty="0">
                <a:solidFill>
                  <a:srgbClr val="FFFF00"/>
                </a:solidFill>
                <a:latin typeface="Nunito Sans" pitchFamily="2" charset="0"/>
                <a:cs typeface="Courier New" panose="02070309020205020404" pitchFamily="49" charset="0"/>
              </a:rPr>
              <a:t>75</a:t>
            </a:r>
          </a:p>
          <a:p>
            <a:r>
              <a:rPr lang="en-US" sz="2000" b="1" dirty="0">
                <a:solidFill>
                  <a:srgbClr val="FFFF00"/>
                </a:solidFill>
                <a:latin typeface="Nunito Sans" pitchFamily="2" charset="0"/>
                <a:cs typeface="Courier New" panose="02070309020205020404" pitchFamily="49" charset="0"/>
              </a:rPr>
              <a:t>76</a:t>
            </a:r>
          </a:p>
          <a:p>
            <a:r>
              <a:rPr lang="en-US" sz="2000" b="1" dirty="0">
                <a:solidFill>
                  <a:srgbClr val="FFFF00"/>
                </a:solidFill>
                <a:latin typeface="Nunito Sans" pitchFamily="2" charset="0"/>
                <a:cs typeface="Courier New" panose="02070309020205020404" pitchFamily="49" charset="0"/>
              </a:rPr>
              <a:t>78</a:t>
            </a:r>
          </a:p>
          <a:p>
            <a:r>
              <a:rPr lang="en-US" sz="2000" b="1" dirty="0">
                <a:solidFill>
                  <a:srgbClr val="FFFF00"/>
                </a:solidFill>
                <a:latin typeface="Nunito Sans" pitchFamily="2" charset="0"/>
                <a:cs typeface="Courier New" panose="02070309020205020404" pitchFamily="49" charset="0"/>
              </a:rPr>
              <a:t>79</a:t>
            </a:r>
          </a:p>
          <a:p>
            <a:r>
              <a:rPr lang="en-US" sz="2000" b="1" dirty="0">
                <a:solidFill>
                  <a:srgbClr val="FFFF00"/>
                </a:solidFill>
                <a:latin typeface="Nunito Sans" pitchFamily="2" charset="0"/>
                <a:cs typeface="Courier New" panose="02070309020205020404" pitchFamily="49" charset="0"/>
              </a:rPr>
              <a:t>80</a:t>
            </a:r>
          </a:p>
          <a:p>
            <a:r>
              <a:rPr lang="en-US" sz="2000" b="1" dirty="0">
                <a:solidFill>
                  <a:srgbClr val="FFFF00"/>
                </a:solidFill>
                <a:latin typeface="Nunito Sans" pitchFamily="2" charset="0"/>
                <a:cs typeface="Courier New" panose="02070309020205020404" pitchFamily="49" charset="0"/>
              </a:rPr>
              <a:t>81</a:t>
            </a:r>
          </a:p>
          <a:p>
            <a:r>
              <a:rPr lang="en-US" sz="2000" b="1" dirty="0">
                <a:solidFill>
                  <a:srgbClr val="FFFF00"/>
                </a:solidFill>
                <a:latin typeface="Nunito Sans" pitchFamily="2" charset="0"/>
                <a:cs typeface="Courier New" panose="02070309020205020404" pitchFamily="49" charset="0"/>
              </a:rPr>
              <a:t>82</a:t>
            </a:r>
          </a:p>
          <a:p>
            <a:r>
              <a:rPr lang="en-US" sz="2000" b="1" dirty="0">
                <a:solidFill>
                  <a:srgbClr val="FFFF00"/>
                </a:solidFill>
                <a:latin typeface="Nunito Sans" pitchFamily="2" charset="0"/>
                <a:cs typeface="Courier New" panose="02070309020205020404" pitchFamily="49" charset="0"/>
              </a:rPr>
              <a:t>83</a:t>
            </a:r>
          </a:p>
          <a:p>
            <a:r>
              <a:rPr lang="en-US" sz="2000" b="1" dirty="0">
                <a:solidFill>
                  <a:srgbClr val="FFFF00"/>
                </a:solidFill>
                <a:latin typeface="Nunito Sans" pitchFamily="2" charset="0"/>
                <a:cs typeface="Courier New" panose="02070309020205020404" pitchFamily="49" charset="0"/>
              </a:rPr>
              <a:t>84</a:t>
            </a:r>
          </a:p>
          <a:p>
            <a:r>
              <a:rPr lang="en-US" sz="2000" b="1" dirty="0">
                <a:solidFill>
                  <a:srgbClr val="FFFF00"/>
                </a:solidFill>
                <a:latin typeface="Nunito Sans" pitchFamily="2" charset="0"/>
                <a:cs typeface="Courier New" panose="02070309020205020404" pitchFamily="49" charset="0"/>
              </a:rPr>
              <a:t>85</a:t>
            </a:r>
          </a:p>
          <a:p>
            <a:r>
              <a:rPr lang="en-US" sz="2000" b="1" dirty="0">
                <a:solidFill>
                  <a:srgbClr val="FFFF00"/>
                </a:solidFill>
                <a:latin typeface="Nunito Sans" pitchFamily="2" charset="0"/>
                <a:cs typeface="Courier New" panose="02070309020205020404" pitchFamily="49" charset="0"/>
              </a:rPr>
              <a:t>86</a:t>
            </a:r>
          </a:p>
          <a:p>
            <a:r>
              <a:rPr lang="en-US" sz="2000" b="1" dirty="0">
                <a:solidFill>
                  <a:srgbClr val="FFFF00"/>
                </a:solidFill>
                <a:latin typeface="Nunito Sans" pitchFamily="2" charset="0"/>
                <a:cs typeface="Courier New" panose="02070309020205020404" pitchFamily="49" charset="0"/>
              </a:rPr>
              <a:t>87</a:t>
            </a:r>
          </a:p>
          <a:p>
            <a:r>
              <a:rPr lang="en-US" sz="2000" b="1" dirty="0">
                <a:solidFill>
                  <a:srgbClr val="FFFF00"/>
                </a:solidFill>
                <a:latin typeface="Nunito Sans" pitchFamily="2" charset="0"/>
                <a:cs typeface="Courier New" panose="02070309020205020404" pitchFamily="49" charset="0"/>
              </a:rPr>
              <a:t>88</a:t>
            </a:r>
          </a:p>
          <a:p>
            <a:r>
              <a:rPr lang="en-US" sz="2000" b="1" dirty="0">
                <a:solidFill>
                  <a:srgbClr val="FFFF00"/>
                </a:solidFill>
                <a:latin typeface="Nunito Sans" pitchFamily="2" charset="0"/>
                <a:cs typeface="Courier New" panose="02070309020205020404" pitchFamily="49" charset="0"/>
              </a:rPr>
              <a:t>89</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String findWinner(int N, int[] JK, int[] JL)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boolean[] checked = new boolean[N + 1];</a:t>
            </a:r>
          </a:p>
          <a:p>
            <a:r>
              <a:rPr lang="en-US" sz="2000" b="1" dirty="0">
                <a:solidFill>
                  <a:schemeClr val="bg1"/>
                </a:solidFill>
                <a:latin typeface="Nunito Sans" pitchFamily="2" charset="0"/>
                <a:cs typeface="Courier New" panose="02070309020205020404" pitchFamily="49" charset="0"/>
              </a:rPr>
              <a:t>        int jackSum = 0, jillSum = 0;</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checked[i] = false;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maxJK = -1, maxJL = -1;</a:t>
            </a:r>
          </a:p>
          <a:p>
            <a:r>
              <a:rPr lang="en-US" sz="2000" b="1" dirty="0">
                <a:solidFill>
                  <a:schemeClr val="bg1"/>
                </a:solidFill>
                <a:latin typeface="Nunito Sans" pitchFamily="2" charset="0"/>
                <a:cs typeface="Courier New" panose="02070309020205020404" pitchFamily="49" charset="0"/>
              </a:rPr>
              <a:t>            // Find the maximum available number for Jack</a:t>
            </a:r>
          </a:p>
          <a:p>
            <a:r>
              <a:rPr lang="en-US" sz="2000" b="1" dirty="0">
                <a:solidFill>
                  <a:schemeClr val="bg1"/>
                </a:solidFill>
                <a:latin typeface="Nunito Sans" pitchFamily="2" charset="0"/>
                <a:cs typeface="Courier New" panose="02070309020205020404" pitchFamily="49" charset="0"/>
              </a:rPr>
              <a:t>            for (int j = 0; j &lt; N; j++)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if (!checked[j] &amp;&amp; JK[j] &gt; maxJK)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maxJK = JK[j];</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3" name="Picture 2">
            <a:extLst>
              <a:ext uri="{FF2B5EF4-FFF2-40B4-BE49-F238E27FC236}">
                <a16:creationId xmlns:a16="http://schemas.microsoft.com/office/drawing/2014/main" id="{DBCB5982-C1CE-6481-B546-5137BD2ED1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13074"/>
            <a:ext cx="2356664" cy="298800"/>
          </a:xfrm>
          <a:prstGeom prst="rect">
            <a:avLst/>
          </a:prstGeom>
        </p:spPr>
      </p:pic>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 Mark the chosen index as checked</a:t>
            </a:r>
          </a:p>
          <a:p>
            <a:r>
              <a:rPr lang="en-US" altLang="en-IN" sz="2000" b="1" dirty="0">
                <a:solidFill>
                  <a:schemeClr val="bg1"/>
                </a:solidFill>
                <a:latin typeface="Nunito Sans" pitchFamily="2" charset="0"/>
                <a:cs typeface="Courier New" panose="02070309020205020404" pitchFamily="49" charset="0"/>
                <a:sym typeface="+mn-ea"/>
              </a:rPr>
              <a:t>            for (int j = 0; j &lt; N; j++)</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(JK[j] == maxJK)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checked[j] = true;</a:t>
            </a:r>
          </a:p>
          <a:p>
            <a:r>
              <a:rPr lang="en-US" altLang="en-IN" sz="2000" b="1" dirty="0">
                <a:solidFill>
                  <a:schemeClr val="bg1"/>
                </a:solidFill>
                <a:latin typeface="Nunito Sans" pitchFamily="2" charset="0"/>
                <a:cs typeface="Courier New" panose="02070309020205020404" pitchFamily="49" charset="0"/>
                <a:sym typeface="+mn-ea"/>
              </a:rPr>
              <a:t>                    break;</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Find the maximum available number for Jill</a:t>
            </a:r>
          </a:p>
          <a:p>
            <a:r>
              <a:rPr lang="en-US" altLang="en-IN" sz="2000" b="1" dirty="0">
                <a:solidFill>
                  <a:schemeClr val="bg1"/>
                </a:solidFill>
                <a:latin typeface="Nunito Sans" pitchFamily="2" charset="0"/>
                <a:cs typeface="Courier New" panose="02070309020205020404" pitchFamily="49" charset="0"/>
                <a:sym typeface="+mn-ea"/>
              </a:rPr>
              <a:t>            for (int j = 0; j &lt; N; j++)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(!checked[j] &amp;&amp; JL[j] &gt; maxJL)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maxJL = JL[j];</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 Mark the chosen index as checked</a:t>
            </a:r>
          </a:p>
          <a:p>
            <a:r>
              <a:rPr lang="en-US" altLang="en-IN" sz="2000" b="1" dirty="0">
                <a:solidFill>
                  <a:schemeClr val="bg1"/>
                </a:solidFill>
                <a:latin typeface="Nunito Sans" pitchFamily="2" charset="0"/>
                <a:cs typeface="Courier New" panose="02070309020205020404" pitchFamily="49" charset="0"/>
                <a:sym typeface="+mn-ea"/>
              </a:rPr>
              <a:t>            for (int j = 0; j &lt; N; j++)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(JL[j] == maxJL)</a:t>
            </a:r>
          </a:p>
          <a:p>
            <a:r>
              <a:rPr lang="en-US" altLang="en-IN" sz="2000" b="1" dirty="0">
                <a:solidFill>
                  <a:schemeClr val="bg1"/>
                </a:solidFill>
                <a:latin typeface="Nunito Sans" pitchFamily="2" charset="0"/>
                <a:cs typeface="Courier New" panose="02070309020205020404" pitchFamily="49" charset="0"/>
                <a:sym typeface="+mn-ea"/>
              </a:rPr>
              <a:t>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checked[j] = true;</a:t>
            </a:r>
          </a:p>
          <a:p>
            <a:r>
              <a:rPr lang="en-US" sz="2000" b="1" dirty="0">
                <a:solidFill>
                  <a:schemeClr val="bg1"/>
                </a:solidFill>
                <a:latin typeface="Nunito Sans" pitchFamily="2" charset="0"/>
                <a:cs typeface="Courier New" panose="02070309020205020404" pitchFamily="49" charset="0"/>
              </a:rPr>
              <a:t>                    break;</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Calculate the sum for each player</a:t>
            </a:r>
          </a:p>
          <a:p>
            <a:r>
              <a:rPr lang="en-US" sz="2000" b="1" dirty="0">
                <a:solidFill>
                  <a:schemeClr val="bg1"/>
                </a:solidFill>
                <a:latin typeface="Nunito Sans" pitchFamily="2" charset="0"/>
                <a:cs typeface="Courier New" panose="02070309020205020404" pitchFamily="49" charset="0"/>
              </a:rPr>
              <a:t>            jackSum += maxJK;</a:t>
            </a:r>
          </a:p>
          <a:p>
            <a:r>
              <a:rPr lang="en-US" sz="2000" b="1" dirty="0">
                <a:solidFill>
                  <a:schemeClr val="bg1"/>
                </a:solidFill>
                <a:latin typeface="Nunito Sans" pitchFamily="2" charset="0"/>
                <a:cs typeface="Courier New" panose="02070309020205020404" pitchFamily="49" charset="0"/>
              </a:rPr>
              <a:t>            jillSum += maxJL;</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 Determine the winner</a:t>
            </a:r>
          </a:p>
          <a:p>
            <a:r>
              <a:rPr lang="en-US" sz="2000" b="1" dirty="0">
                <a:solidFill>
                  <a:schemeClr val="bg1"/>
                </a:solidFill>
                <a:latin typeface="Nunito Sans" pitchFamily="2" charset="0"/>
                <a:cs typeface="Courier New" panose="02070309020205020404" pitchFamily="49" charset="0"/>
              </a:rPr>
              <a:t>        if (jackSum &gt; jillSum)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"Jack";</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if (jillSum &gt; jackSum)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"Jill";</a:t>
            </a:r>
          </a:p>
          <a:p>
            <a:r>
              <a:rPr lang="en-US" sz="2000" b="1" dirty="0">
                <a:solidFill>
                  <a:schemeClr val="bg1"/>
                </a:solidFill>
                <a:latin typeface="Nunito Sans" pitchFamily="2" charset="0"/>
                <a:cs typeface="Courier New" panose="02070309020205020404" pitchFamily="49" charset="0"/>
              </a:rPr>
              <a:t>        } </a:t>
            </a:r>
          </a:p>
          <a:p>
            <a:r>
              <a:rPr lang="en-US" sz="2000" b="1" dirty="0">
                <a:solidFill>
                  <a:schemeClr val="bg1"/>
                </a:solidFill>
                <a:latin typeface="Nunito Sans" pitchFamily="2" charset="0"/>
                <a:cs typeface="Courier New" panose="02070309020205020404" pitchFamily="49" charset="0"/>
              </a:rPr>
              <a:t>        else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return "Tie";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N = scanner.nextInt();</a:t>
            </a:r>
          </a:p>
          <a:p>
            <a:r>
              <a:rPr lang="en-US" sz="2000" b="1" dirty="0">
                <a:solidFill>
                  <a:schemeClr val="bg1"/>
                </a:solidFill>
                <a:latin typeface="Nunito Sans" pitchFamily="2" charset="0"/>
                <a:cs typeface="Courier New" panose="02070309020205020404" pitchFamily="49" charset="0"/>
              </a:rPr>
              <a:t>        int[] JK = new int[N];</a:t>
            </a:r>
          </a:p>
          <a:p>
            <a:r>
              <a:rPr lang="en-US" sz="2000" b="1" dirty="0">
                <a:solidFill>
                  <a:schemeClr val="bg1"/>
                </a:solidFill>
                <a:latin typeface="Nunito Sans" pitchFamily="2" charset="0"/>
                <a:cs typeface="Courier New" panose="02070309020205020404" pitchFamily="49" charset="0"/>
              </a:rPr>
              <a:t>        int[] JL = new int[N];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JK[i] = 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JL[i] = 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String winner = findWinner(N, JK, JL);</a:t>
            </a:r>
          </a:p>
          <a:p>
            <a:r>
              <a:rPr lang="en-US" sz="2000" b="1" dirty="0">
                <a:solidFill>
                  <a:schemeClr val="bg1"/>
                </a:solidFill>
                <a:latin typeface="Nunito Sans" pitchFamily="2" charset="0"/>
                <a:cs typeface="Courier New" panose="02070309020205020404" pitchFamily="49" charset="0"/>
              </a:rPr>
              <a:t>        System.out.println(winner);</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67</a:t>
            </a:r>
          </a:p>
          <a:p>
            <a:r>
              <a:rPr lang="en-US" sz="2000" b="1" dirty="0">
                <a:solidFill>
                  <a:srgbClr val="FFFF00"/>
                </a:solidFill>
                <a:latin typeface="Nunito Sans" pitchFamily="2" charset="0"/>
                <a:cs typeface="Courier New" panose="02070309020205020404" pitchFamily="49" charset="0"/>
              </a:rPr>
              <a:t>68</a:t>
            </a:r>
          </a:p>
          <a:p>
            <a:r>
              <a:rPr lang="en-US" sz="2000" b="1" dirty="0">
                <a:solidFill>
                  <a:srgbClr val="FFFF00"/>
                </a:solidFill>
                <a:latin typeface="Nunito Sans" pitchFamily="2" charset="0"/>
                <a:cs typeface="Courier New" panose="02070309020205020404" pitchFamily="49" charset="0"/>
              </a:rPr>
              <a:t>69</a:t>
            </a:r>
          </a:p>
          <a:p>
            <a:r>
              <a:rPr lang="en-US" sz="2000" b="1" dirty="0">
                <a:solidFill>
                  <a:srgbClr val="FFFF00"/>
                </a:solidFill>
                <a:latin typeface="Nunito Sans" pitchFamily="2" charset="0"/>
                <a:cs typeface="Courier New" panose="02070309020205020404" pitchFamily="49" charset="0"/>
              </a:rPr>
              <a:t>70</a:t>
            </a:r>
          </a:p>
          <a:p>
            <a:r>
              <a:rPr lang="en-US" sz="2000" b="1" dirty="0">
                <a:solidFill>
                  <a:srgbClr val="FFFF00"/>
                </a:solidFill>
                <a:latin typeface="Nunito Sans" pitchFamily="2" charset="0"/>
                <a:cs typeface="Courier New" panose="02070309020205020404" pitchFamily="49" charset="0"/>
              </a:rPr>
              <a:t>71</a:t>
            </a:r>
          </a:p>
          <a:p>
            <a:r>
              <a:rPr lang="en-US" sz="2000" b="1" dirty="0">
                <a:solidFill>
                  <a:srgbClr val="FFFF00"/>
                </a:solidFill>
                <a:latin typeface="Nunito Sans" pitchFamily="2" charset="0"/>
                <a:cs typeface="Courier New" panose="02070309020205020404" pitchFamily="49" charset="0"/>
              </a:rPr>
              <a:t>72</a:t>
            </a:r>
          </a:p>
          <a:p>
            <a:r>
              <a:rPr lang="en-US" sz="2000" b="1" dirty="0">
                <a:solidFill>
                  <a:srgbClr val="FFFF00"/>
                </a:solidFill>
                <a:latin typeface="Nunito Sans" pitchFamily="2" charset="0"/>
                <a:cs typeface="Courier New" panose="02070309020205020404" pitchFamily="49" charset="0"/>
              </a:rPr>
              <a:t>73</a:t>
            </a:r>
          </a:p>
          <a:p>
            <a:r>
              <a:rPr lang="en-US" sz="2000" b="1" dirty="0">
                <a:solidFill>
                  <a:srgbClr val="FFFF00"/>
                </a:solidFill>
                <a:latin typeface="Nunito Sans" pitchFamily="2" charset="0"/>
                <a:cs typeface="Courier New" panose="02070309020205020404" pitchFamily="49" charset="0"/>
              </a:rPr>
              <a:t>74</a:t>
            </a:r>
          </a:p>
          <a:p>
            <a:r>
              <a:rPr lang="en-US" sz="2000" b="1" dirty="0">
                <a:solidFill>
                  <a:srgbClr val="FFFF00"/>
                </a:solidFill>
                <a:latin typeface="Nunito Sans" pitchFamily="2" charset="0"/>
                <a:cs typeface="Courier New" panose="02070309020205020404" pitchFamily="49" charset="0"/>
              </a:rPr>
              <a:t>75</a:t>
            </a:r>
          </a:p>
          <a:p>
            <a:r>
              <a:rPr lang="en-US" sz="2000" b="1" dirty="0">
                <a:solidFill>
                  <a:srgbClr val="FFFF00"/>
                </a:solidFill>
                <a:latin typeface="Nunito Sans" pitchFamily="2" charset="0"/>
                <a:cs typeface="Courier New" panose="02070309020205020404" pitchFamily="49" charset="0"/>
              </a:rPr>
              <a:t>76</a:t>
            </a:r>
          </a:p>
          <a:p>
            <a:r>
              <a:rPr lang="en-US" sz="2000" b="1" dirty="0">
                <a:solidFill>
                  <a:srgbClr val="FFFF00"/>
                </a:solidFill>
                <a:latin typeface="Nunito Sans" pitchFamily="2" charset="0"/>
                <a:cs typeface="Courier New" panose="02070309020205020404" pitchFamily="49" charset="0"/>
              </a:rPr>
              <a:t>78</a:t>
            </a:r>
          </a:p>
          <a:p>
            <a:r>
              <a:rPr lang="en-US" sz="2000" b="1" dirty="0">
                <a:solidFill>
                  <a:srgbClr val="FFFF00"/>
                </a:solidFill>
                <a:latin typeface="Nunito Sans" pitchFamily="2" charset="0"/>
                <a:cs typeface="Courier New" panose="02070309020205020404" pitchFamily="49" charset="0"/>
              </a:rPr>
              <a:t>79</a:t>
            </a:r>
          </a:p>
          <a:p>
            <a:r>
              <a:rPr lang="en-US" sz="2000" b="1" dirty="0">
                <a:solidFill>
                  <a:srgbClr val="FFFF00"/>
                </a:solidFill>
                <a:latin typeface="Nunito Sans" pitchFamily="2" charset="0"/>
                <a:cs typeface="Courier New" panose="02070309020205020404" pitchFamily="49" charset="0"/>
              </a:rPr>
              <a:t>80</a:t>
            </a:r>
          </a:p>
          <a:p>
            <a:r>
              <a:rPr lang="en-US" sz="2000" b="1" dirty="0">
                <a:solidFill>
                  <a:srgbClr val="FFFF00"/>
                </a:solidFill>
                <a:latin typeface="Nunito Sans" pitchFamily="2" charset="0"/>
                <a:cs typeface="Courier New" panose="02070309020205020404" pitchFamily="49" charset="0"/>
              </a:rPr>
              <a:t>81</a:t>
            </a:r>
          </a:p>
          <a:p>
            <a:r>
              <a:rPr lang="en-US" sz="2000" b="1" dirty="0">
                <a:solidFill>
                  <a:srgbClr val="FFFF00"/>
                </a:solidFill>
                <a:latin typeface="Nunito Sans" pitchFamily="2" charset="0"/>
                <a:cs typeface="Courier New" panose="02070309020205020404" pitchFamily="49" charset="0"/>
              </a:rPr>
              <a:t>82</a:t>
            </a:r>
          </a:p>
          <a:p>
            <a:r>
              <a:rPr lang="en-US" sz="2000" b="1" dirty="0">
                <a:solidFill>
                  <a:srgbClr val="FFFF00"/>
                </a:solidFill>
                <a:latin typeface="Nunito Sans" pitchFamily="2" charset="0"/>
                <a:cs typeface="Courier New" panose="02070309020205020404" pitchFamily="49" charset="0"/>
              </a:rPr>
              <a:t>83</a:t>
            </a:r>
          </a:p>
          <a:p>
            <a:r>
              <a:rPr lang="en-US" sz="2000" b="1" dirty="0">
                <a:solidFill>
                  <a:srgbClr val="FFFF00"/>
                </a:solidFill>
                <a:latin typeface="Nunito Sans" pitchFamily="2" charset="0"/>
                <a:cs typeface="Courier New" panose="02070309020205020404" pitchFamily="49" charset="0"/>
              </a:rPr>
              <a:t>84</a:t>
            </a:r>
          </a:p>
          <a:p>
            <a:r>
              <a:rPr lang="en-US" sz="2000" b="1" dirty="0">
                <a:solidFill>
                  <a:srgbClr val="FFFF00"/>
                </a:solidFill>
                <a:latin typeface="Nunito Sans" pitchFamily="2" charset="0"/>
                <a:cs typeface="Courier New" panose="02070309020205020404" pitchFamily="49" charset="0"/>
              </a:rPr>
              <a:t>85</a:t>
            </a:r>
          </a:p>
          <a:p>
            <a:r>
              <a:rPr lang="en-US" sz="2000" b="1" dirty="0">
                <a:solidFill>
                  <a:srgbClr val="FFFF00"/>
                </a:solidFill>
                <a:latin typeface="Nunito Sans" pitchFamily="2" charset="0"/>
                <a:cs typeface="Courier New" panose="02070309020205020404" pitchFamily="49" charset="0"/>
              </a:rPr>
              <a:t>86</a:t>
            </a:r>
          </a:p>
          <a:p>
            <a:r>
              <a:rPr lang="en-US" sz="2000" b="1" dirty="0">
                <a:solidFill>
                  <a:srgbClr val="FFFF00"/>
                </a:solidFill>
                <a:latin typeface="Nunito Sans" pitchFamily="2" charset="0"/>
                <a:cs typeface="Courier New" panose="02070309020205020404" pitchFamily="49" charset="0"/>
              </a:rPr>
              <a:t>87</a:t>
            </a:r>
          </a:p>
          <a:p>
            <a:r>
              <a:rPr lang="en-US" sz="2000" b="1" dirty="0">
                <a:solidFill>
                  <a:srgbClr val="FFFF00"/>
                </a:solidFill>
                <a:latin typeface="Nunito Sans" pitchFamily="2" charset="0"/>
                <a:cs typeface="Courier New" panose="02070309020205020404" pitchFamily="49" charset="0"/>
              </a:rPr>
              <a:t>88</a:t>
            </a:r>
          </a:p>
          <a:p>
            <a:r>
              <a:rPr lang="en-US" sz="2000" b="1" dirty="0">
                <a:solidFill>
                  <a:srgbClr val="FFFF00"/>
                </a:solidFill>
                <a:latin typeface="Nunito Sans" pitchFamily="2" charset="0"/>
                <a:cs typeface="Courier New" panose="02070309020205020404" pitchFamily="49" charset="0"/>
              </a:rPr>
              <a:t>89</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def findWinner(N, JK, JL):</a:t>
            </a:r>
          </a:p>
          <a:p>
            <a:r>
              <a:rPr lang="en-US" sz="2000" b="1" dirty="0">
                <a:solidFill>
                  <a:schemeClr val="bg1"/>
                </a:solidFill>
                <a:latin typeface="Nunito Sans" pitchFamily="2" charset="0"/>
                <a:cs typeface="Courier New" panose="02070309020205020404" pitchFamily="49" charset="0"/>
              </a:rPr>
              <a:t>    checked = [False] * (N + 1)</a:t>
            </a:r>
          </a:p>
          <a:p>
            <a:r>
              <a:rPr lang="en-US" sz="2000" b="1" dirty="0">
                <a:solidFill>
                  <a:schemeClr val="bg1"/>
                </a:solidFill>
                <a:latin typeface="Nunito Sans" pitchFamily="2" charset="0"/>
                <a:cs typeface="Courier New" panose="02070309020205020404" pitchFamily="49" charset="0"/>
              </a:rPr>
              <a:t>    jackSum = 0</a:t>
            </a:r>
          </a:p>
          <a:p>
            <a:r>
              <a:rPr lang="en-US" sz="2000" b="1" dirty="0">
                <a:solidFill>
                  <a:schemeClr val="bg1"/>
                </a:solidFill>
                <a:latin typeface="Nunito Sans" pitchFamily="2" charset="0"/>
                <a:cs typeface="Courier New" panose="02070309020205020404" pitchFamily="49" charset="0"/>
              </a:rPr>
              <a:t>    jillSum = 0</a:t>
            </a:r>
          </a:p>
          <a:p>
            <a:r>
              <a:rPr lang="en-US" sz="2000" b="1" dirty="0">
                <a:solidFill>
                  <a:schemeClr val="bg1"/>
                </a:solidFill>
                <a:latin typeface="Nunito Sans" pitchFamily="2" charset="0"/>
                <a:cs typeface="Courier New" panose="02070309020205020404" pitchFamily="49" charset="0"/>
              </a:rPr>
              <a:t>    for i in range(N):</a:t>
            </a:r>
          </a:p>
          <a:p>
            <a:r>
              <a:rPr lang="en-US" sz="2000" b="1" dirty="0">
                <a:solidFill>
                  <a:schemeClr val="bg1"/>
                </a:solidFill>
                <a:latin typeface="Nunito Sans" pitchFamily="2" charset="0"/>
                <a:cs typeface="Courier New" panose="02070309020205020404" pitchFamily="49" charset="0"/>
              </a:rPr>
              <a:t>        maxJK = -1</a:t>
            </a:r>
          </a:p>
          <a:p>
            <a:r>
              <a:rPr lang="en-US" sz="2000" b="1" dirty="0">
                <a:solidFill>
                  <a:schemeClr val="bg1"/>
                </a:solidFill>
                <a:latin typeface="Nunito Sans" pitchFamily="2" charset="0"/>
                <a:cs typeface="Courier New" panose="02070309020205020404" pitchFamily="49" charset="0"/>
              </a:rPr>
              <a:t>        maxJL = -1</a:t>
            </a:r>
          </a:p>
          <a:p>
            <a:r>
              <a:rPr lang="en-US" sz="2000" b="1" dirty="0">
                <a:solidFill>
                  <a:schemeClr val="bg1"/>
                </a:solidFill>
                <a:latin typeface="Nunito Sans" pitchFamily="2" charset="0"/>
                <a:cs typeface="Courier New" panose="02070309020205020404" pitchFamily="49" charset="0"/>
              </a:rPr>
              <a:t>        # Find the maximum available number for Jack</a:t>
            </a:r>
          </a:p>
          <a:p>
            <a:r>
              <a:rPr lang="en-US" sz="2000" b="1" dirty="0">
                <a:solidFill>
                  <a:schemeClr val="bg1"/>
                </a:solidFill>
                <a:latin typeface="Nunito Sans" pitchFamily="2" charset="0"/>
                <a:cs typeface="Courier New" panose="02070309020205020404" pitchFamily="49" charset="0"/>
              </a:rPr>
              <a:t>        for j in range(N):</a:t>
            </a:r>
          </a:p>
          <a:p>
            <a:r>
              <a:rPr lang="en-US" sz="2000" b="1" dirty="0">
                <a:solidFill>
                  <a:schemeClr val="bg1"/>
                </a:solidFill>
                <a:latin typeface="Nunito Sans" pitchFamily="2" charset="0"/>
                <a:cs typeface="Courier New" panose="02070309020205020404" pitchFamily="49" charset="0"/>
              </a:rPr>
              <a:t>            if not checked[j] and JK[j] &gt; maxJK:</a:t>
            </a:r>
          </a:p>
          <a:p>
            <a:r>
              <a:rPr lang="en-US" sz="2000" b="1" dirty="0">
                <a:solidFill>
                  <a:schemeClr val="bg1"/>
                </a:solidFill>
                <a:latin typeface="Nunito Sans" pitchFamily="2" charset="0"/>
                <a:cs typeface="Courier New" panose="02070309020205020404" pitchFamily="49" charset="0"/>
              </a:rPr>
              <a:t>                maxJK = JK[j]</a:t>
            </a:r>
          </a:p>
          <a:p>
            <a:r>
              <a:rPr lang="en-US" sz="2000" b="1" dirty="0">
                <a:solidFill>
                  <a:schemeClr val="bg1"/>
                </a:solidFill>
                <a:latin typeface="Nunito Sans" pitchFamily="2" charset="0"/>
                <a:cs typeface="Courier New" panose="02070309020205020404" pitchFamily="49" charset="0"/>
              </a:rPr>
              <a:t>        # Mark the chosen index as checked</a:t>
            </a:r>
          </a:p>
          <a:p>
            <a:r>
              <a:rPr lang="en-US" sz="2000" b="1" dirty="0">
                <a:solidFill>
                  <a:schemeClr val="bg1"/>
                </a:solidFill>
                <a:latin typeface="Nunito Sans" pitchFamily="2" charset="0"/>
                <a:cs typeface="Courier New" panose="02070309020205020404" pitchFamily="49" charset="0"/>
              </a:rPr>
              <a:t>        for j in range(N):</a:t>
            </a:r>
          </a:p>
          <a:p>
            <a:r>
              <a:rPr lang="en-US" sz="2000" b="1" dirty="0">
                <a:solidFill>
                  <a:schemeClr val="bg1"/>
                </a:solidFill>
                <a:latin typeface="Nunito Sans" pitchFamily="2" charset="0"/>
                <a:cs typeface="Courier New" panose="02070309020205020404" pitchFamily="49" charset="0"/>
              </a:rPr>
              <a:t>            if JK[j] == maxJK:</a:t>
            </a:r>
          </a:p>
          <a:p>
            <a:r>
              <a:rPr lang="en-US" sz="2000" b="1" dirty="0">
                <a:solidFill>
                  <a:schemeClr val="bg1"/>
                </a:solidFill>
                <a:latin typeface="Nunito Sans" pitchFamily="2" charset="0"/>
                <a:cs typeface="Courier New" panose="02070309020205020404" pitchFamily="49" charset="0"/>
              </a:rPr>
              <a:t>                checked[j] = True</a:t>
            </a:r>
          </a:p>
          <a:p>
            <a:r>
              <a:rPr lang="en-US" sz="2000" b="1" dirty="0">
                <a:solidFill>
                  <a:schemeClr val="bg1"/>
                </a:solidFill>
                <a:latin typeface="Nunito Sans" pitchFamily="2" charset="0"/>
                <a:cs typeface="Courier New" panose="02070309020205020404" pitchFamily="49" charset="0"/>
              </a:rPr>
              <a:t>                break</a:t>
            </a:r>
          </a:p>
          <a:p>
            <a:r>
              <a:rPr lang="en-US" sz="2000" b="1" dirty="0">
                <a:solidFill>
                  <a:schemeClr val="bg1"/>
                </a:solidFill>
                <a:latin typeface="Nunito Sans" pitchFamily="2" charset="0"/>
                <a:cs typeface="Courier New" panose="02070309020205020404" pitchFamily="49" charset="0"/>
              </a:rPr>
              <a:t>        # Find the maximum available number for Jill</a:t>
            </a:r>
          </a:p>
          <a:p>
            <a:r>
              <a:rPr lang="en-US" sz="2000" b="1" dirty="0">
                <a:solidFill>
                  <a:schemeClr val="bg1"/>
                </a:solidFill>
                <a:latin typeface="Nunito Sans" pitchFamily="2" charset="0"/>
                <a:cs typeface="Courier New" panose="02070309020205020404" pitchFamily="49" charset="0"/>
              </a:rPr>
              <a:t>        for j in range(N):</a:t>
            </a:r>
          </a:p>
          <a:p>
            <a:r>
              <a:rPr lang="en-US" sz="2000" b="1" dirty="0">
                <a:solidFill>
                  <a:schemeClr val="bg1"/>
                </a:solidFill>
                <a:latin typeface="Nunito Sans" pitchFamily="2" charset="0"/>
                <a:cs typeface="Courier New" panose="02070309020205020404" pitchFamily="49" charset="0"/>
              </a:rPr>
              <a:t>            if not checked[j] and JL[j] &gt; maxJL:</a:t>
            </a:r>
          </a:p>
          <a:p>
            <a:r>
              <a:rPr lang="en-US" sz="2000" b="1" dirty="0">
                <a:solidFill>
                  <a:schemeClr val="bg1"/>
                </a:solidFill>
                <a:latin typeface="Nunito Sans" pitchFamily="2" charset="0"/>
                <a:cs typeface="Courier New" panose="02070309020205020404" pitchFamily="49" charset="0"/>
              </a:rPr>
              <a:t>                maxJL = JL[j]</a:t>
            </a:r>
          </a:p>
          <a:p>
            <a:r>
              <a:rPr lang="en-US" sz="2000" b="1" dirty="0">
                <a:solidFill>
                  <a:schemeClr val="bg1"/>
                </a:solidFill>
                <a:latin typeface="Nunito Sans" pitchFamily="2" charset="0"/>
                <a:cs typeface="Courier New" panose="02070309020205020404" pitchFamily="49" charset="0"/>
              </a:rPr>
              <a:t>        # Mark the chosen index as checked</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for j in range(N):</a:t>
            </a:r>
          </a:p>
          <a:p>
            <a:r>
              <a:rPr lang="en-US" sz="2000" b="1" dirty="0">
                <a:solidFill>
                  <a:schemeClr val="bg1"/>
                </a:solidFill>
                <a:latin typeface="Nunito Sans" pitchFamily="2" charset="0"/>
                <a:cs typeface="Courier New" panose="02070309020205020404" pitchFamily="49" charset="0"/>
                <a:sym typeface="+mn-ea"/>
              </a:rPr>
              <a:t>            if JL[j] == maxJL:</a:t>
            </a:r>
          </a:p>
          <a:p>
            <a:r>
              <a:rPr lang="en-US" sz="2000" b="1" dirty="0">
                <a:solidFill>
                  <a:schemeClr val="bg1"/>
                </a:solidFill>
                <a:latin typeface="Nunito Sans" pitchFamily="2" charset="0"/>
                <a:cs typeface="Courier New" panose="02070309020205020404" pitchFamily="49" charset="0"/>
                <a:sym typeface="+mn-ea"/>
              </a:rPr>
              <a:t>                checked[j] = True</a:t>
            </a:r>
          </a:p>
          <a:p>
            <a:r>
              <a:rPr lang="en-US" sz="2000" b="1" dirty="0">
                <a:solidFill>
                  <a:schemeClr val="bg1"/>
                </a:solidFill>
                <a:latin typeface="Nunito Sans" pitchFamily="2" charset="0"/>
                <a:cs typeface="Courier New" panose="02070309020205020404" pitchFamily="49" charset="0"/>
                <a:sym typeface="+mn-ea"/>
              </a:rPr>
              <a:t>                break</a:t>
            </a:r>
          </a:p>
          <a:p>
            <a:r>
              <a:rPr lang="en-US" sz="2000" b="1" dirty="0">
                <a:solidFill>
                  <a:schemeClr val="bg1"/>
                </a:solidFill>
                <a:latin typeface="Nunito Sans" pitchFamily="2" charset="0"/>
                <a:cs typeface="Courier New" panose="02070309020205020404" pitchFamily="49" charset="0"/>
                <a:sym typeface="+mn-ea"/>
              </a:rPr>
              <a:t>        # Calculate the sum for each player</a:t>
            </a:r>
          </a:p>
          <a:p>
            <a:r>
              <a:rPr lang="en-US" sz="2000" b="1" dirty="0">
                <a:solidFill>
                  <a:schemeClr val="bg1"/>
                </a:solidFill>
                <a:latin typeface="Nunito Sans" pitchFamily="2" charset="0"/>
                <a:cs typeface="Courier New" panose="02070309020205020404" pitchFamily="49" charset="0"/>
                <a:sym typeface="+mn-ea"/>
              </a:rPr>
              <a:t>        jackSum += maxJK</a:t>
            </a:r>
          </a:p>
          <a:p>
            <a:r>
              <a:rPr lang="en-US" sz="2000" b="1" dirty="0">
                <a:solidFill>
                  <a:schemeClr val="bg1"/>
                </a:solidFill>
                <a:latin typeface="Nunito Sans" pitchFamily="2" charset="0"/>
                <a:cs typeface="Courier New" panose="02070309020205020404" pitchFamily="49" charset="0"/>
                <a:sym typeface="+mn-ea"/>
              </a:rPr>
              <a:t>        jillSum += maxJL</a:t>
            </a:r>
          </a:p>
          <a:p>
            <a:r>
              <a:rPr lang="en-US" sz="2000" b="1" dirty="0">
                <a:solidFill>
                  <a:schemeClr val="bg1"/>
                </a:solidFill>
                <a:latin typeface="Nunito Sans" pitchFamily="2" charset="0"/>
                <a:cs typeface="Courier New" panose="02070309020205020404" pitchFamily="49" charset="0"/>
                <a:sym typeface="+mn-ea"/>
              </a:rPr>
              <a:t>    # Determine the winner</a:t>
            </a:r>
          </a:p>
          <a:p>
            <a:r>
              <a:rPr lang="en-US" sz="2000" b="1" dirty="0">
                <a:solidFill>
                  <a:schemeClr val="bg1"/>
                </a:solidFill>
                <a:latin typeface="Nunito Sans" pitchFamily="2" charset="0"/>
                <a:cs typeface="Courier New" panose="02070309020205020404" pitchFamily="49" charset="0"/>
                <a:sym typeface="+mn-ea"/>
              </a:rPr>
              <a:t>    if jackSum &gt; jillSum:</a:t>
            </a:r>
          </a:p>
          <a:p>
            <a:r>
              <a:rPr lang="en-US" sz="2000" b="1" dirty="0">
                <a:solidFill>
                  <a:schemeClr val="bg1"/>
                </a:solidFill>
                <a:latin typeface="Nunito Sans" pitchFamily="2" charset="0"/>
                <a:cs typeface="Courier New" panose="02070309020205020404" pitchFamily="49" charset="0"/>
                <a:sym typeface="+mn-ea"/>
              </a:rPr>
              <a:t>        return "Jack"</a:t>
            </a:r>
          </a:p>
          <a:p>
            <a:r>
              <a:rPr lang="en-US" sz="2000" b="1" dirty="0">
                <a:solidFill>
                  <a:schemeClr val="bg1"/>
                </a:solidFill>
                <a:latin typeface="Nunito Sans" pitchFamily="2" charset="0"/>
                <a:cs typeface="Courier New" panose="02070309020205020404" pitchFamily="49" charset="0"/>
                <a:sym typeface="+mn-ea"/>
              </a:rPr>
              <a:t>    elif jillSum &gt; jackSum:</a:t>
            </a:r>
          </a:p>
          <a:p>
            <a:r>
              <a:rPr lang="en-US" sz="2000" b="1" dirty="0">
                <a:solidFill>
                  <a:schemeClr val="bg1"/>
                </a:solidFill>
                <a:latin typeface="Nunito Sans" pitchFamily="2" charset="0"/>
                <a:cs typeface="Courier New" panose="02070309020205020404" pitchFamily="49" charset="0"/>
                <a:sym typeface="+mn-ea"/>
              </a:rPr>
              <a:t>        return "Jill"</a:t>
            </a:r>
          </a:p>
          <a:p>
            <a:r>
              <a:rPr lang="en-US" sz="2000" b="1" dirty="0">
                <a:solidFill>
                  <a:schemeClr val="bg1"/>
                </a:solidFill>
                <a:latin typeface="Nunito Sans" pitchFamily="2" charset="0"/>
                <a:cs typeface="Courier New" panose="02070309020205020404" pitchFamily="49" charset="0"/>
                <a:sym typeface="+mn-ea"/>
              </a:rPr>
              <a:t>    else:</a:t>
            </a:r>
          </a:p>
          <a:p>
            <a:r>
              <a:rPr lang="en-US" sz="2000" b="1" dirty="0">
                <a:solidFill>
                  <a:schemeClr val="bg1"/>
                </a:solidFill>
                <a:latin typeface="Nunito Sans" pitchFamily="2" charset="0"/>
                <a:cs typeface="Courier New" panose="02070309020205020404" pitchFamily="49" charset="0"/>
                <a:sym typeface="+mn-ea"/>
              </a:rPr>
              <a:t>        return "Tie"</a:t>
            </a:r>
          </a:p>
          <a:p>
            <a:r>
              <a:rPr lang="en-US" sz="2000" b="1" dirty="0">
                <a:solidFill>
                  <a:schemeClr val="bg1"/>
                </a:solidFill>
                <a:latin typeface="Nunito Sans" pitchFamily="2" charset="0"/>
                <a:cs typeface="Courier New" panose="02070309020205020404" pitchFamily="49" charset="0"/>
                <a:sym typeface="+mn-ea"/>
              </a:rPr>
              <a:t>N = int(input())</a:t>
            </a:r>
          </a:p>
          <a:p>
            <a:r>
              <a:rPr lang="en-US" sz="2000" b="1" dirty="0">
                <a:solidFill>
                  <a:schemeClr val="bg1"/>
                </a:solidFill>
                <a:latin typeface="Nunito Sans" pitchFamily="2" charset="0"/>
                <a:cs typeface="Courier New" panose="02070309020205020404" pitchFamily="49" charset="0"/>
                <a:sym typeface="+mn-ea"/>
              </a:rPr>
              <a:t>JK = list(map(int, input().split()))</a:t>
            </a:r>
          </a:p>
          <a:p>
            <a:r>
              <a:rPr lang="en-US" sz="2000" b="1" dirty="0">
                <a:solidFill>
                  <a:schemeClr val="bg1"/>
                </a:solidFill>
                <a:latin typeface="Nunito Sans" pitchFamily="2" charset="0"/>
                <a:cs typeface="Courier New" panose="02070309020205020404" pitchFamily="49" charset="0"/>
                <a:sym typeface="+mn-ea"/>
              </a:rPr>
              <a:t>JL = list(map(int, input().split()))</a:t>
            </a:r>
          </a:p>
          <a:p>
            <a:r>
              <a:rPr lang="en-US" sz="2000" b="1" dirty="0">
                <a:solidFill>
                  <a:schemeClr val="bg1"/>
                </a:solidFill>
                <a:latin typeface="Nunito Sans" pitchFamily="2" charset="0"/>
                <a:cs typeface="Courier New" panose="02070309020205020404" pitchFamily="49" charset="0"/>
                <a:sym typeface="+mn-ea"/>
              </a:rPr>
              <a:t>winner = findWinner(N, JK, JL)</a:t>
            </a:r>
          </a:p>
          <a:p>
            <a:r>
              <a:rPr lang="en-US" sz="2000" b="1" dirty="0">
                <a:solidFill>
                  <a:schemeClr val="bg1"/>
                </a:solidFill>
                <a:latin typeface="Nunito Sans" pitchFamily="2" charset="0"/>
                <a:cs typeface="Courier New" panose="02070309020205020404" pitchFamily="49" charset="0"/>
                <a:sym typeface="+mn-ea"/>
              </a:rPr>
              <a:t>print(winner)</a:t>
            </a:r>
            <a:endParaRPr lang="en-US" altLang="en-IN" sz="2000" b="1" dirty="0">
              <a:solidFill>
                <a:schemeClr val="bg1"/>
              </a:solidFill>
              <a:latin typeface="Nunito Sans" pitchFamily="2" charset="0"/>
              <a:cs typeface="Courier New" panose="02070309020205020404" pitchFamily="49" charset="0"/>
              <a:sym typeface="+mn-ea"/>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sp>
        <p:nvSpPr>
          <p:cNvPr id="3" name="Text Box 2"/>
          <p:cNvSpPr txBox="1"/>
          <p:nvPr/>
        </p:nvSpPr>
        <p:spPr>
          <a:xfrm>
            <a:off x="4826000" y="-78740"/>
            <a:ext cx="2540000" cy="7848302"/>
          </a:xfrm>
          <a:prstGeom prst="rect">
            <a:avLst/>
          </a:prstGeom>
          <a:noFill/>
        </p:spPr>
        <p:txBody>
          <a:bodyPr wrap="square" rtlCol="0" anchor="t">
            <a:spAutoFit/>
          </a:bodyPr>
          <a:lstStyle/>
          <a:p>
            <a:r>
              <a:rPr lang="en-US" dirty="0">
                <a:latin typeface="Nunito Sans" pitchFamily="2" charset="0"/>
              </a:rPr>
              <a:t> for j in range(N):</a:t>
            </a:r>
          </a:p>
          <a:p>
            <a:r>
              <a:rPr lang="en-US" dirty="0">
                <a:latin typeface="Nunito Sans" pitchFamily="2" charset="0"/>
              </a:rPr>
              <a:t>            if JL[j] == </a:t>
            </a:r>
            <a:r>
              <a:rPr lang="en-US" dirty="0" err="1">
                <a:latin typeface="Nunito Sans" pitchFamily="2" charset="0"/>
              </a:rPr>
              <a:t>maxJL</a:t>
            </a:r>
            <a:r>
              <a:rPr lang="en-US" dirty="0">
                <a:latin typeface="Nunito Sans" pitchFamily="2" charset="0"/>
              </a:rPr>
              <a:t>:</a:t>
            </a:r>
          </a:p>
          <a:p>
            <a:r>
              <a:rPr lang="en-US" dirty="0">
                <a:latin typeface="Nunito Sans" pitchFamily="2" charset="0"/>
              </a:rPr>
              <a:t>                checked[j] = True</a:t>
            </a:r>
          </a:p>
          <a:p>
            <a:r>
              <a:rPr lang="en-US" dirty="0">
                <a:latin typeface="Nunito Sans" pitchFamily="2" charset="0"/>
              </a:rPr>
              <a:t>                break</a:t>
            </a:r>
          </a:p>
          <a:p>
            <a:r>
              <a:rPr lang="en-US" dirty="0">
                <a:latin typeface="Nunito Sans" pitchFamily="2" charset="0"/>
              </a:rPr>
              <a:t>        # Calculate the sum for each player</a:t>
            </a:r>
          </a:p>
          <a:p>
            <a:r>
              <a:rPr lang="en-US" dirty="0">
                <a:latin typeface="Nunito Sans" pitchFamily="2" charset="0"/>
              </a:rPr>
              <a:t>        </a:t>
            </a:r>
            <a:r>
              <a:rPr lang="en-US" dirty="0" err="1">
                <a:latin typeface="Nunito Sans" pitchFamily="2" charset="0"/>
              </a:rPr>
              <a:t>jackSum</a:t>
            </a:r>
            <a:r>
              <a:rPr lang="en-US" dirty="0">
                <a:latin typeface="Nunito Sans" pitchFamily="2" charset="0"/>
              </a:rPr>
              <a:t> += </a:t>
            </a:r>
            <a:r>
              <a:rPr lang="en-US" dirty="0" err="1">
                <a:latin typeface="Nunito Sans" pitchFamily="2" charset="0"/>
              </a:rPr>
              <a:t>maxJK</a:t>
            </a:r>
            <a:endParaRPr lang="en-US" dirty="0">
              <a:latin typeface="Nunito Sans" pitchFamily="2" charset="0"/>
            </a:endParaRPr>
          </a:p>
          <a:p>
            <a:r>
              <a:rPr lang="en-US" dirty="0">
                <a:latin typeface="Nunito Sans" pitchFamily="2" charset="0"/>
              </a:rPr>
              <a:t>        </a:t>
            </a:r>
            <a:r>
              <a:rPr lang="en-US" dirty="0" err="1">
                <a:latin typeface="Nunito Sans" pitchFamily="2" charset="0"/>
              </a:rPr>
              <a:t>jillSum</a:t>
            </a:r>
            <a:r>
              <a:rPr lang="en-US" dirty="0">
                <a:latin typeface="Nunito Sans" pitchFamily="2" charset="0"/>
              </a:rPr>
              <a:t> += </a:t>
            </a:r>
            <a:r>
              <a:rPr lang="en-US" dirty="0" err="1">
                <a:latin typeface="Nunito Sans" pitchFamily="2" charset="0"/>
              </a:rPr>
              <a:t>maxJL</a:t>
            </a:r>
            <a:endParaRPr lang="en-US" dirty="0">
              <a:latin typeface="Nunito Sans" pitchFamily="2" charset="0"/>
            </a:endParaRPr>
          </a:p>
          <a:p>
            <a:r>
              <a:rPr lang="en-US" dirty="0">
                <a:latin typeface="Nunito Sans" pitchFamily="2" charset="0"/>
              </a:rPr>
              <a:t>    # Determine the winner</a:t>
            </a:r>
          </a:p>
          <a:p>
            <a:r>
              <a:rPr lang="en-US" dirty="0">
                <a:latin typeface="Nunito Sans" pitchFamily="2" charset="0"/>
              </a:rPr>
              <a:t>    if </a:t>
            </a:r>
            <a:r>
              <a:rPr lang="en-US" dirty="0" err="1">
                <a:latin typeface="Nunito Sans" pitchFamily="2" charset="0"/>
              </a:rPr>
              <a:t>jackSum</a:t>
            </a:r>
            <a:r>
              <a:rPr lang="en-US" dirty="0">
                <a:latin typeface="Nunito Sans" pitchFamily="2" charset="0"/>
              </a:rPr>
              <a:t> &gt; </a:t>
            </a:r>
            <a:r>
              <a:rPr lang="en-US" dirty="0" err="1">
                <a:latin typeface="Nunito Sans" pitchFamily="2" charset="0"/>
              </a:rPr>
              <a:t>jillSum</a:t>
            </a:r>
            <a:r>
              <a:rPr lang="en-US" dirty="0">
                <a:latin typeface="Nunito Sans" pitchFamily="2" charset="0"/>
              </a:rPr>
              <a:t>:</a:t>
            </a:r>
          </a:p>
          <a:p>
            <a:r>
              <a:rPr lang="en-US" dirty="0">
                <a:latin typeface="Nunito Sans" pitchFamily="2" charset="0"/>
              </a:rPr>
              <a:t>        return "Jack"</a:t>
            </a:r>
          </a:p>
          <a:p>
            <a:r>
              <a:rPr lang="en-US" dirty="0">
                <a:latin typeface="Nunito Sans" pitchFamily="2" charset="0"/>
              </a:rPr>
              <a:t>    </a:t>
            </a:r>
            <a:r>
              <a:rPr lang="en-US" dirty="0" err="1">
                <a:latin typeface="Nunito Sans" pitchFamily="2" charset="0"/>
              </a:rPr>
              <a:t>elif</a:t>
            </a:r>
            <a:r>
              <a:rPr lang="en-US" dirty="0">
                <a:latin typeface="Nunito Sans" pitchFamily="2" charset="0"/>
              </a:rPr>
              <a:t> </a:t>
            </a:r>
            <a:r>
              <a:rPr lang="en-US" dirty="0" err="1">
                <a:latin typeface="Nunito Sans" pitchFamily="2" charset="0"/>
              </a:rPr>
              <a:t>jillSum</a:t>
            </a:r>
            <a:r>
              <a:rPr lang="en-US" dirty="0">
                <a:latin typeface="Nunito Sans" pitchFamily="2" charset="0"/>
              </a:rPr>
              <a:t> &gt; </a:t>
            </a:r>
            <a:r>
              <a:rPr lang="en-US" dirty="0" err="1">
                <a:latin typeface="Nunito Sans" pitchFamily="2" charset="0"/>
              </a:rPr>
              <a:t>jackSum</a:t>
            </a:r>
            <a:r>
              <a:rPr lang="en-US" dirty="0">
                <a:latin typeface="Nunito Sans" pitchFamily="2" charset="0"/>
              </a:rPr>
              <a:t>:</a:t>
            </a:r>
          </a:p>
          <a:p>
            <a:r>
              <a:rPr lang="en-US" dirty="0">
                <a:latin typeface="Nunito Sans" pitchFamily="2" charset="0"/>
              </a:rPr>
              <a:t>        return "Jill"</a:t>
            </a:r>
          </a:p>
          <a:p>
            <a:r>
              <a:rPr lang="en-US" dirty="0">
                <a:latin typeface="Nunito Sans" pitchFamily="2" charset="0"/>
              </a:rPr>
              <a:t>    else:</a:t>
            </a:r>
          </a:p>
          <a:p>
            <a:r>
              <a:rPr lang="en-US" dirty="0">
                <a:latin typeface="Nunito Sans" pitchFamily="2" charset="0"/>
              </a:rPr>
              <a:t>        return "Tie"</a:t>
            </a:r>
          </a:p>
          <a:p>
            <a:r>
              <a:rPr lang="en-US" dirty="0">
                <a:latin typeface="Nunito Sans" pitchFamily="2" charset="0"/>
              </a:rPr>
              <a:t>N = int(input())</a:t>
            </a:r>
          </a:p>
          <a:p>
            <a:r>
              <a:rPr lang="en-US" dirty="0">
                <a:latin typeface="Nunito Sans" pitchFamily="2" charset="0"/>
              </a:rPr>
              <a:t>JK = list(map(int, input().split()))</a:t>
            </a:r>
          </a:p>
          <a:p>
            <a:r>
              <a:rPr lang="en-US" dirty="0">
                <a:latin typeface="Nunito Sans" pitchFamily="2" charset="0"/>
              </a:rPr>
              <a:t>JL = list(map(int, input().split()))</a:t>
            </a:r>
          </a:p>
          <a:p>
            <a:r>
              <a:rPr lang="en-US" dirty="0">
                <a:latin typeface="Nunito Sans" pitchFamily="2" charset="0"/>
              </a:rPr>
              <a:t>winner = </a:t>
            </a:r>
            <a:r>
              <a:rPr lang="en-US" dirty="0" err="1">
                <a:latin typeface="Nunito Sans" pitchFamily="2" charset="0"/>
              </a:rPr>
              <a:t>findWinner</a:t>
            </a:r>
            <a:r>
              <a:rPr lang="en-US" dirty="0">
                <a:latin typeface="Nunito Sans" pitchFamily="2" charset="0"/>
              </a:rPr>
              <a:t>(N, JK, JL)</a:t>
            </a:r>
          </a:p>
          <a:p>
            <a:r>
              <a:rPr lang="en-US" dirty="0">
                <a:latin typeface="Nunito Sans" pitchFamily="2" charset="0"/>
              </a:rPr>
              <a:t>print(winner)</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24</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3939540"/>
          </a:xfrm>
          <a:prstGeom prst="rect">
            <a:avLst/>
          </a:prstGeom>
          <a:noFill/>
        </p:spPr>
        <p:txBody>
          <a:bodyPr wrap="square" rtlCol="0">
            <a:spAutoFit/>
          </a:bodyPr>
          <a:lstStyle/>
          <a:p>
            <a:r>
              <a:rPr lang="en-US" sz="2500" dirty="0">
                <a:latin typeface="Nunito Sans" panose="00000500000000000000" pitchFamily="2" charset="0"/>
                <a:sym typeface="+mn-ea"/>
              </a:rPr>
              <a:t>You are given a non-negative integer num`. You will also be given an array `Digits of size exactly 10 where each element of the array will be between 0-9 inclusive.</a:t>
            </a:r>
          </a:p>
          <a:p>
            <a:r>
              <a:rPr lang="en-US" sz="2500" dirty="0">
                <a:latin typeface="Nunito Sans" panose="00000500000000000000" pitchFamily="2" charset="0"/>
                <a:sym typeface="+mn-ea"/>
              </a:rPr>
              <a:t>You can perform the following operation on the given integer ‘num’ at most once.</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You can select a continuous part of ‘num’ and name it ‘x’. For each digit ‘D’ in the number ‘x’, you can change it to digits [D] (consider 0-based indexing).</a:t>
            </a:r>
          </a:p>
          <a:p>
            <a:r>
              <a:rPr lang="en-US" sz="2500" dirty="0">
                <a:latin typeface="Nunito Sans" panose="00000500000000000000" pitchFamily="2" charset="0"/>
                <a:sym typeface="+mn-ea"/>
              </a:rPr>
              <a:t>You need to convert the given integer ‘num’ to a maximum possible number after performing the given operation at most once.</a:t>
            </a:r>
          </a:p>
          <a:p>
            <a:endParaRPr lang="en-US" sz="2500" dirty="0">
              <a:latin typeface="Nunito Sans" panose="00000500000000000000" pitchFamily="2" charset="0"/>
              <a:sym typeface="+mn-ea"/>
            </a:endParaRPr>
          </a:p>
          <a:p>
            <a:r>
              <a:rPr lang="en-US" sz="2500" b="1" dirty="0">
                <a:latin typeface="Nunito Sans" pitchFamily="2" charset="0"/>
                <a:sym typeface="+mn-ea"/>
              </a:rPr>
              <a:t>Example 1:</a:t>
            </a:r>
            <a:endParaRPr lang="en-US" sz="2500" dirty="0">
              <a:latin typeface="Nunito Sans" pitchFamily="2" charset="0"/>
              <a:sym typeface="+mn-ea"/>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24</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093702"/>
          </a:xfrm>
          <a:prstGeom prst="rect">
            <a:avLst/>
          </a:prstGeom>
          <a:noFill/>
        </p:spPr>
        <p:txBody>
          <a:bodyPr wrap="square" rtlCol="0">
            <a:spAutoFit/>
          </a:bodyPr>
          <a:lstStyle/>
          <a:p>
            <a:r>
              <a:rPr lang="en-US" sz="2500" b="1" dirty="0">
                <a:latin typeface="Nunito Sans" pitchFamily="2" charset="0"/>
                <a:sym typeface="+mn-ea"/>
              </a:rPr>
              <a:t>Input:</a:t>
            </a:r>
          </a:p>
          <a:p>
            <a:r>
              <a:rPr lang="en-US" sz="2500" dirty="0">
                <a:latin typeface="Nunito Sans" panose="00000500000000000000" pitchFamily="2" charset="0"/>
                <a:sym typeface="+mn-ea"/>
              </a:rPr>
              <a:t>132 -&gt; ‘num’</a:t>
            </a:r>
          </a:p>
          <a:p>
            <a:r>
              <a:rPr lang="en-US" sz="2500" dirty="0">
                <a:latin typeface="Nunito Sans" panose="00000500000000000000" pitchFamily="2" charset="0"/>
                <a:sym typeface="+mn-ea"/>
              </a:rPr>
              <a:t>9 8 1 2 7 6 5 4 0 3 -&gt; Elements of Array`Digits (Size of Array 'Digits is always 10 and elements of the array are space separated)</a:t>
            </a:r>
          </a:p>
          <a:p>
            <a:endParaRPr lang="en-US" sz="2500" dirty="0">
              <a:latin typeface="Nunito Sans" panose="00000500000000000000" pitchFamily="2" charset="0"/>
              <a:sym typeface="+mn-ea"/>
            </a:endParaRPr>
          </a:p>
          <a:p>
            <a:r>
              <a:rPr lang="en-US" sz="2500" b="1" dirty="0">
                <a:latin typeface="Nunito Sans" pitchFamily="2" charset="0"/>
                <a:sym typeface="+mn-ea"/>
              </a:rPr>
              <a:t>Output:</a:t>
            </a:r>
          </a:p>
          <a:p>
            <a:r>
              <a:rPr lang="en-US" sz="2500" dirty="0">
                <a:latin typeface="Nunito Sans" panose="00000500000000000000" pitchFamily="2" charset="0"/>
                <a:sym typeface="+mn-ea"/>
              </a:rPr>
              <a:t>832</a:t>
            </a:r>
          </a:p>
          <a:p>
            <a:endParaRPr lang="en-US" sz="2500" dirty="0">
              <a:latin typeface="Nunito Sans" panose="00000500000000000000" pitchFamily="2" charset="0"/>
              <a:sym typeface="+mn-ea"/>
            </a:endParaRPr>
          </a:p>
          <a:p>
            <a:r>
              <a:rPr lang="en-US" sz="2500" b="1" dirty="0">
                <a:latin typeface="Nunito Sans" pitchFamily="2" charset="0"/>
                <a:sym typeface="+mn-ea"/>
              </a:rPr>
              <a:t>Explanation:</a:t>
            </a:r>
          </a:p>
          <a:p>
            <a:r>
              <a:rPr lang="en-US" sz="2500" dirty="0">
                <a:latin typeface="Nunito Sans" panose="00000500000000000000" pitchFamily="2" charset="0"/>
                <a:sym typeface="+mn-ea"/>
              </a:rPr>
              <a:t>You can change the first digit from 1 to 8, then the final number will be 832.</a:t>
            </a:r>
          </a:p>
          <a:p>
            <a:r>
              <a:rPr lang="en-US" sz="2500" dirty="0">
                <a:latin typeface="Nunito Sans" panose="00000500000000000000" pitchFamily="2" charset="0"/>
                <a:sym typeface="+mn-ea"/>
              </a:rPr>
              <a:t>Digit 3 can be mapped to 2, but it will change 832 to 822 which is lesser.</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So, 832 is the maximum number possible.</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24</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478423"/>
          </a:xfrm>
          <a:prstGeom prst="rect">
            <a:avLst/>
          </a:prstGeom>
          <a:noFill/>
        </p:spPr>
        <p:txBody>
          <a:bodyPr wrap="square" rtlCol="0">
            <a:spAutoFit/>
          </a:bodyPr>
          <a:lstStyle/>
          <a:p>
            <a:r>
              <a:rPr lang="en-US" sz="2500" b="1" dirty="0">
                <a:latin typeface="Nunito Sans" pitchFamily="2" charset="0"/>
                <a:sym typeface="+mn-ea"/>
              </a:rPr>
              <a:t>Example 2: </a:t>
            </a:r>
          </a:p>
          <a:p>
            <a:r>
              <a:rPr lang="en-US" sz="2500" dirty="0">
                <a:latin typeface="Nunito Sans" panose="00000500000000000000" pitchFamily="2" charset="0"/>
                <a:sym typeface="+mn-ea"/>
              </a:rPr>
              <a:t>Input:</a:t>
            </a:r>
          </a:p>
          <a:p>
            <a:r>
              <a:rPr lang="en-US" sz="2500" dirty="0">
                <a:latin typeface="Nunito Sans" panose="00000500000000000000" pitchFamily="2" charset="0"/>
                <a:sym typeface="+mn-ea"/>
              </a:rPr>
              <a:t>021 -&gt; ‘num’</a:t>
            </a:r>
          </a:p>
          <a:p>
            <a:r>
              <a:rPr lang="en-US" sz="2500" dirty="0">
                <a:latin typeface="Nunito Sans" panose="00000500000000000000" pitchFamily="2" charset="0"/>
                <a:sym typeface="+mn-ea"/>
              </a:rPr>
              <a:t>9435721906 -&gt; Elements of Array ‘Digits’ (size of Array ‘digits’ is always 10 and Elements of the array are space separated)</a:t>
            </a:r>
          </a:p>
          <a:p>
            <a:endParaRPr lang="en-US" sz="2500" dirty="0">
              <a:latin typeface="Nunito Sans" panose="00000500000000000000" pitchFamily="2" charset="0"/>
              <a:sym typeface="+mn-ea"/>
            </a:endParaRPr>
          </a:p>
          <a:p>
            <a:r>
              <a:rPr lang="en-US" sz="2500" b="1" dirty="0">
                <a:latin typeface="Nunito Sans" pitchFamily="2" charset="0"/>
                <a:sym typeface="+mn-ea"/>
              </a:rPr>
              <a:t>Output: </a:t>
            </a:r>
          </a:p>
          <a:p>
            <a:r>
              <a:rPr lang="en-US" sz="2500" dirty="0">
                <a:latin typeface="Nunito Sans" panose="00000500000000000000" pitchFamily="2" charset="0"/>
                <a:sym typeface="+mn-ea"/>
              </a:rPr>
              <a:t>934</a:t>
            </a:r>
          </a:p>
          <a:p>
            <a:endParaRPr lang="en-US" sz="2500" dirty="0">
              <a:latin typeface="Nunito Sans" panose="00000500000000000000" pitchFamily="2" charset="0"/>
              <a:sym typeface="+mn-ea"/>
            </a:endParaRPr>
          </a:p>
          <a:p>
            <a:r>
              <a:rPr lang="en-US" sz="2500" b="1" dirty="0">
                <a:latin typeface="Nunito Sans" pitchFamily="2" charset="0"/>
                <a:sym typeface="+mn-ea"/>
              </a:rPr>
              <a:t>Explanation:</a:t>
            </a:r>
          </a:p>
          <a:p>
            <a:r>
              <a:rPr lang="en-US" sz="2500" dirty="0">
                <a:latin typeface="Nunito Sans" panose="00000500000000000000" pitchFamily="2" charset="0"/>
                <a:sym typeface="+mn-ea"/>
              </a:rPr>
              <a:t>You can change the first digit from 0 to 9, then the number will be 921.</a:t>
            </a:r>
          </a:p>
          <a:p>
            <a:r>
              <a:rPr lang="en-US" sz="2500" dirty="0">
                <a:latin typeface="Nunito Sans" panose="00000500000000000000" pitchFamily="2" charset="0"/>
                <a:sym typeface="+mn-ea"/>
              </a:rPr>
              <a:t>Then you can change the digit from 2 to 3 the number will be 931.</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24</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862320"/>
          </a:xfrm>
          <a:prstGeom prst="rect">
            <a:avLst/>
          </a:prstGeom>
          <a:noFill/>
        </p:spPr>
        <p:txBody>
          <a:bodyPr wrap="square" rtlCol="0">
            <a:spAutoFit/>
          </a:bodyPr>
          <a:lstStyle/>
          <a:p>
            <a:r>
              <a:rPr lang="en-US" sz="2500" dirty="0">
                <a:latin typeface="Nunito Sans" panose="00000500000000000000" pitchFamily="2" charset="0"/>
                <a:sym typeface="+mn-ea"/>
              </a:rPr>
              <a:t>Then you can change the digit from 1 to 4 the number will be 934.</a:t>
            </a:r>
          </a:p>
          <a:p>
            <a:r>
              <a:rPr lang="en-US" sz="2500" dirty="0">
                <a:latin typeface="Nunito Sans" panose="00000500000000000000" pitchFamily="2" charset="0"/>
                <a:sym typeface="+mn-ea"/>
              </a:rPr>
              <a:t>Show 934 is the maximum number possible.</a:t>
            </a:r>
          </a:p>
          <a:p>
            <a:endParaRPr lang="en-US" sz="2500" dirty="0">
              <a:latin typeface="Nunito Sans" panose="00000500000000000000" pitchFamily="2" charset="0"/>
              <a:sym typeface="+mn-ea"/>
            </a:endParaRPr>
          </a:p>
          <a:p>
            <a:r>
              <a:rPr lang="en-US" sz="2500" b="1" dirty="0">
                <a:latin typeface="Nunito Sans" pitchFamily="2" charset="0"/>
                <a:sym typeface="+mn-ea"/>
              </a:rPr>
              <a:t>Constraints:</a:t>
            </a:r>
          </a:p>
          <a:p>
            <a:r>
              <a:rPr lang="en-US" sz="2500" dirty="0">
                <a:latin typeface="Nunito Sans" panose="00000500000000000000" pitchFamily="2" charset="0"/>
                <a:sym typeface="+mn-ea"/>
              </a:rPr>
              <a:t>•0&lt;=num&lt;=10100</a:t>
            </a:r>
          </a:p>
          <a:p>
            <a:r>
              <a:rPr lang="en-US" sz="2500" dirty="0">
                <a:latin typeface="Nunito Sans" panose="00000500000000000000" pitchFamily="2" charset="0"/>
                <a:sym typeface="+mn-ea"/>
              </a:rPr>
              <a:t>•0&lt;=Digits[i]&lt;=9, for all valid i(0&lt;=i&lt;10)</a:t>
            </a:r>
          </a:p>
          <a:p>
            <a:r>
              <a:rPr lang="en-US" sz="2500" dirty="0">
                <a:latin typeface="Nunito Sans" panose="00000500000000000000" pitchFamily="2" charset="0"/>
                <a:sym typeface="+mn-ea"/>
              </a:rPr>
              <a:t>•Digit Length ==10</a:t>
            </a:r>
          </a:p>
          <a:p>
            <a:r>
              <a:rPr lang="en-US" sz="2500" dirty="0">
                <a:latin typeface="Nunito Sans" panose="00000500000000000000" pitchFamily="2" charset="0"/>
                <a:sym typeface="+mn-ea"/>
              </a:rPr>
              <a:t>•Integer ‘num’ can contain zeros at the start. (For example, ‘012’ is also a valid input)</a:t>
            </a:r>
          </a:p>
          <a:p>
            <a:endParaRPr lang="en-US" sz="2500" dirty="0">
              <a:latin typeface="Nunito Sans" panose="00000500000000000000" pitchFamily="2" charset="0"/>
              <a:sym typeface="+mn-ea"/>
            </a:endParaRPr>
          </a:p>
          <a:p>
            <a:r>
              <a:rPr lang="en-US" sz="2500" b="1" dirty="0">
                <a:latin typeface="Nunito Sans" pitchFamily="2" charset="0"/>
                <a:sym typeface="+mn-ea"/>
              </a:rPr>
              <a:t>The Input format for testing:</a:t>
            </a:r>
          </a:p>
          <a:p>
            <a:r>
              <a:rPr lang="en-US" sz="2500" dirty="0">
                <a:latin typeface="Nunito Sans" panose="00000500000000000000" pitchFamily="2" charset="0"/>
                <a:sym typeface="+mn-ea"/>
              </a:rPr>
              <a:t>•First line: Contains a non negative integer ‘num’</a:t>
            </a:r>
          </a:p>
          <a:p>
            <a:r>
              <a:rPr lang="en-US" sz="2500" dirty="0">
                <a:latin typeface="Nunito Sans" panose="00000500000000000000" pitchFamily="2" charset="0"/>
                <a:sym typeface="+mn-ea"/>
              </a:rPr>
              <a:t>•Second line: contention array ‘Digits’ of size 10 (All elements of the array are space separated)</a:t>
            </a:r>
          </a:p>
          <a:p>
            <a:endParaRPr lang="en-US" sz="2500" dirty="0">
              <a:latin typeface="Nunito Sans" panose="00000500000000000000" pitchFamily="2" charset="0"/>
              <a:sym typeface="+mn-ea"/>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24</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4707890"/>
          </a:xfrm>
          <a:prstGeom prst="rect">
            <a:avLst/>
          </a:prstGeom>
          <a:noFill/>
        </p:spPr>
        <p:txBody>
          <a:bodyPr wrap="square" rtlCol="0">
            <a:spAutoFit/>
          </a:bodyPr>
          <a:lstStyle/>
          <a:p>
            <a:r>
              <a:rPr lang="en-US" sz="2500" b="1" dirty="0">
                <a:latin typeface="Nunito Sans" pitchFamily="2" charset="0"/>
                <a:sym typeface="+mn-ea"/>
              </a:rPr>
              <a:t>The output format for testing:</a:t>
            </a:r>
          </a:p>
          <a:p>
            <a:r>
              <a:rPr lang="en-US" sz="2500" dirty="0">
                <a:latin typeface="Nunito Sans" panose="00000500000000000000" pitchFamily="2" charset="0"/>
                <a:sym typeface="+mn-ea"/>
              </a:rPr>
              <a:t>•Output a single integer denoting the maximum possible integer after performing some operations on the given integer ‘num’</a:t>
            </a:r>
          </a:p>
          <a:p>
            <a:r>
              <a:rPr lang="en-US" sz="2500" dirty="0">
                <a:latin typeface="Nunito Sans" panose="00000500000000000000" pitchFamily="2" charset="0"/>
                <a:sym typeface="+mn-ea"/>
              </a:rPr>
              <a:t>•(Number of digits in the output should be the same as the number of digits in the input ‘num’)</a:t>
            </a:r>
          </a:p>
          <a:p>
            <a:endParaRPr lang="en-US" sz="2500" dirty="0">
              <a:latin typeface="Nunito Sans" panose="00000500000000000000" pitchFamily="2" charset="0"/>
              <a:sym typeface="+mn-ea"/>
            </a:endParaRPr>
          </a:p>
          <a:p>
            <a:r>
              <a:rPr lang="en-US" sz="2500" b="1" dirty="0">
                <a:latin typeface="Nunito Sans" pitchFamily="2" charset="0"/>
                <a:sym typeface="+mn-ea"/>
              </a:rPr>
              <a:t>Instructions:</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•The system does not allow any kind of hard coded input value/ values.</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•Written programme code by the candidate will be verified against the inputs which are supplied from the system.</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&lt;stdlib.h&gt;</a:t>
            </a:r>
          </a:p>
          <a:p>
            <a:r>
              <a:rPr lang="en-US" sz="2000" b="1" dirty="0">
                <a:solidFill>
                  <a:schemeClr val="bg1"/>
                </a:solidFill>
                <a:latin typeface="Nunito Sans" pitchFamily="2" charset="0"/>
                <a:cs typeface="Courier New" panose="02070309020205020404" pitchFamily="49" charset="0"/>
              </a:rPr>
              <a:t>#include &lt;string.h&gt;</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char num[100];</a:t>
            </a:r>
          </a:p>
          <a:p>
            <a:r>
              <a:rPr lang="en-US" sz="2000" b="1" dirty="0">
                <a:solidFill>
                  <a:schemeClr val="bg1"/>
                </a:solidFill>
                <a:latin typeface="Nunito Sans" pitchFamily="2" charset="0"/>
                <a:cs typeface="Courier New" panose="02070309020205020404" pitchFamily="49" charset="0"/>
              </a:rPr>
              <a:t>    scanf("%s", num);</a:t>
            </a:r>
          </a:p>
          <a:p>
            <a:r>
              <a:rPr lang="en-US" sz="2000" b="1" dirty="0">
                <a:solidFill>
                  <a:schemeClr val="bg1"/>
                </a:solidFill>
                <a:latin typeface="Nunito Sans" pitchFamily="2" charset="0"/>
                <a:cs typeface="Courier New" panose="02070309020205020404" pitchFamily="49" charset="0"/>
              </a:rPr>
              <a:t>    int digits[10];</a:t>
            </a:r>
          </a:p>
          <a:p>
            <a:r>
              <a:rPr lang="en-US" sz="2000" b="1" dirty="0">
                <a:solidFill>
                  <a:schemeClr val="bg1"/>
                </a:solidFill>
                <a:latin typeface="Nunito Sans" pitchFamily="2" charset="0"/>
                <a:cs typeface="Courier New" panose="02070309020205020404" pitchFamily="49" charset="0"/>
              </a:rPr>
              <a:t>    for (int i = 0; i &lt; 10;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scanf("%d", &amp;digits[i]);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length = strlen(num);</a:t>
            </a:r>
          </a:p>
          <a:p>
            <a:r>
              <a:rPr lang="en-US" sz="2000" b="1" dirty="0">
                <a:solidFill>
                  <a:schemeClr val="bg1"/>
                </a:solidFill>
                <a:latin typeface="Nunito Sans" pitchFamily="2" charset="0"/>
                <a:cs typeface="Courier New" panose="02070309020205020404" pitchFamily="49" charset="0"/>
              </a:rPr>
              <a:t>    for (int i = 0; i &lt; length;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digit = num[i] - '0';</a:t>
            </a:r>
          </a:p>
          <a:p>
            <a:r>
              <a:rPr lang="en-US" sz="2000" b="1" dirty="0">
                <a:solidFill>
                  <a:schemeClr val="bg1"/>
                </a:solidFill>
                <a:latin typeface="Nunito Sans" pitchFamily="2" charset="0"/>
                <a:cs typeface="Courier New" panose="02070309020205020404" pitchFamily="49" charset="0"/>
              </a:rPr>
              <a:t>        if (digit &lt; digits[digit])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num[i] = digits[digit] + '0';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if (digit &gt; digits[digit]) </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sym typeface="+mn-ea"/>
              </a:rPr>
              <a:t>	 break;</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printf("%s\n", num);</a:t>
            </a:r>
          </a:p>
          <a:p>
            <a:r>
              <a:rPr lang="en-US" altLang="en-IN" sz="2000" b="1" dirty="0">
                <a:solidFill>
                  <a:schemeClr val="bg1"/>
                </a:solidFill>
                <a:latin typeface="Nunito Sans" pitchFamily="2" charset="0"/>
                <a:cs typeface="Courier New" panose="02070309020205020404" pitchFamily="49" charset="0"/>
                <a:sym typeface="+mn-ea"/>
              </a:rPr>
              <a:t>    return 0;</a:t>
            </a:r>
          </a:p>
          <a:p>
            <a:r>
              <a:rPr lang="en-US" altLang="en-IN"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&lt;vector&gt;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string num;</a:t>
            </a:r>
          </a:p>
          <a:p>
            <a:r>
              <a:rPr lang="en-US" sz="2000" b="1" dirty="0">
                <a:solidFill>
                  <a:schemeClr val="bg1"/>
                </a:solidFill>
                <a:latin typeface="Nunito Sans" pitchFamily="2" charset="0"/>
                <a:cs typeface="Courier New" panose="02070309020205020404" pitchFamily="49" charset="0"/>
              </a:rPr>
              <a:t>    cin &gt;&gt; num;</a:t>
            </a:r>
          </a:p>
          <a:p>
            <a:r>
              <a:rPr lang="en-US" sz="2000" b="1" dirty="0">
                <a:solidFill>
                  <a:schemeClr val="bg1"/>
                </a:solidFill>
                <a:latin typeface="Nunito Sans" pitchFamily="2" charset="0"/>
                <a:cs typeface="Courier New" panose="02070309020205020404" pitchFamily="49" charset="0"/>
              </a:rPr>
              <a:t>    vector&lt;int&gt; digits(10);</a:t>
            </a:r>
          </a:p>
          <a:p>
            <a:r>
              <a:rPr lang="en-US" sz="2000" b="1" dirty="0">
                <a:solidFill>
                  <a:schemeClr val="bg1"/>
                </a:solidFill>
                <a:latin typeface="Nunito Sans" pitchFamily="2" charset="0"/>
                <a:cs typeface="Courier New" panose="02070309020205020404" pitchFamily="49" charset="0"/>
              </a:rPr>
              <a:t>    for (int i = 0; i &lt; 10;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cin &gt;&gt; digits[i];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num.length();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digit = num[i] - '0';</a:t>
            </a:r>
          </a:p>
          <a:p>
            <a:r>
              <a:rPr lang="en-US" sz="2000" b="1" dirty="0">
                <a:solidFill>
                  <a:schemeClr val="bg1"/>
                </a:solidFill>
                <a:latin typeface="Nunito Sans" pitchFamily="2" charset="0"/>
                <a:cs typeface="Courier New" panose="02070309020205020404" pitchFamily="49" charset="0"/>
              </a:rPr>
              <a:t>        if (digit &lt; digits[digit])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num[i] = digits[digit] + '0';</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else if (digit &gt; digits[digit])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break;</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r>
              <a:rPr lang="en-US" sz="2000" b="1" dirty="0">
                <a:solidFill>
                  <a:schemeClr val="bg1"/>
                </a:solidFill>
                <a:latin typeface="Nunito Sans" pitchFamily="2" charset="0"/>
                <a:cs typeface="Courier New" panose="02070309020205020404" pitchFamily="49" charset="0"/>
                <a:sym typeface="+mn-ea"/>
              </a:rPr>
              <a:t>}</a:t>
            </a:r>
          </a:p>
          <a:p>
            <a:r>
              <a:rPr lang="en-US" sz="2000" b="1" dirty="0">
                <a:solidFill>
                  <a:schemeClr val="bg1"/>
                </a:solidFill>
                <a:latin typeface="Nunito Sans" pitchFamily="2" charset="0"/>
                <a:cs typeface="Courier New" panose="02070309020205020404" pitchFamily="49" charset="0"/>
                <a:sym typeface="+mn-ea"/>
              </a:rPr>
              <a:t>    }</a:t>
            </a:r>
          </a:p>
          <a:p>
            <a:r>
              <a:rPr lang="en-US" sz="2000" b="1" dirty="0">
                <a:solidFill>
                  <a:schemeClr val="bg1"/>
                </a:solidFill>
                <a:latin typeface="Nunito Sans" pitchFamily="2" charset="0"/>
                <a:cs typeface="Courier New" panose="02070309020205020404" pitchFamily="49" charset="0"/>
                <a:sym typeface="+mn-ea"/>
              </a:rPr>
              <a:t>    cout &lt;&lt; num &lt;&lt; endl;</a:t>
            </a:r>
          </a:p>
          <a:p>
            <a:r>
              <a:rPr lang="en-US" sz="2000" b="1" dirty="0">
                <a:solidFill>
                  <a:schemeClr val="bg1"/>
                </a:solidFill>
                <a:latin typeface="Nunito Sans" pitchFamily="2" charset="0"/>
                <a:cs typeface="Courier New" panose="02070309020205020404" pitchFamily="49" charset="0"/>
                <a:sym typeface="+mn-ea"/>
              </a:rPr>
              <a:t>    return 0;</a:t>
            </a:r>
          </a:p>
          <a:p>
            <a:r>
              <a:rPr lang="en-US" sz="2000" b="1" dirty="0">
                <a:solidFill>
                  <a:schemeClr val="bg1"/>
                </a:solidFill>
                <a:latin typeface="Nunito Sans" pitchFamily="2" charset="0"/>
                <a:cs typeface="Courier New" panose="02070309020205020404" pitchFamily="49" charset="0"/>
                <a:sym typeface="+mn-ea"/>
              </a:rPr>
              <a:t>}</a:t>
            </a:r>
            <a:endParaRPr lang="en-US" altLang="en-IN" sz="2000" b="1" dirty="0">
              <a:solidFill>
                <a:schemeClr val="bg1"/>
              </a:solidFill>
              <a:latin typeface="Nunito Sans" pitchFamily="2" charset="0"/>
              <a:cs typeface="Courier New" panose="02070309020205020404" pitchFamily="49" charset="0"/>
              <a:sym typeface="+mn-ea"/>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String num = scanner.nextLine();</a:t>
            </a:r>
          </a:p>
          <a:p>
            <a:r>
              <a:rPr lang="en-US" sz="2000" b="1" dirty="0">
                <a:solidFill>
                  <a:schemeClr val="bg1"/>
                </a:solidFill>
                <a:latin typeface="Nunito Sans" pitchFamily="2" charset="0"/>
                <a:cs typeface="Courier New" panose="02070309020205020404" pitchFamily="49" charset="0"/>
              </a:rPr>
              <a:t>        int[] digits = new int[10];</a:t>
            </a:r>
          </a:p>
          <a:p>
            <a:r>
              <a:rPr lang="en-US" sz="2000" b="1" dirty="0">
                <a:solidFill>
                  <a:schemeClr val="bg1"/>
                </a:solidFill>
                <a:latin typeface="Nunito Sans" pitchFamily="2" charset="0"/>
                <a:cs typeface="Courier New" panose="02070309020205020404" pitchFamily="49" charset="0"/>
              </a:rPr>
              <a:t>        for (int i = 0; i &lt; 10;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digits[i] = 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length = num.length();</a:t>
            </a:r>
          </a:p>
          <a:p>
            <a:r>
              <a:rPr lang="en-US" sz="2000" b="1" dirty="0">
                <a:solidFill>
                  <a:schemeClr val="bg1"/>
                </a:solidFill>
                <a:latin typeface="Nunito Sans" pitchFamily="2" charset="0"/>
                <a:cs typeface="Courier New" panose="02070309020205020404" pitchFamily="49" charset="0"/>
              </a:rPr>
              <a:t>        for (int i = 0; i &lt; length;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digit = Character.getNumericValue(num.charAt(i));</a:t>
            </a:r>
          </a:p>
          <a:p>
            <a:r>
              <a:rPr lang="en-US" sz="2000" b="1" dirty="0">
                <a:solidFill>
                  <a:schemeClr val="bg1"/>
                </a:solidFill>
                <a:latin typeface="Nunito Sans" pitchFamily="2" charset="0"/>
                <a:cs typeface="Courier New" panose="02070309020205020404" pitchFamily="49" charset="0"/>
              </a:rPr>
              <a:t>            if (digit &lt; digits[digit])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char[] numArray = num.toCharArray();</a:t>
            </a:r>
          </a:p>
          <a:p>
            <a:r>
              <a:rPr lang="en-US" sz="2000" b="1" dirty="0">
                <a:solidFill>
                  <a:schemeClr val="bg1"/>
                </a:solidFill>
                <a:latin typeface="Nunito Sans" pitchFamily="2" charset="0"/>
                <a:cs typeface="Courier New" panose="02070309020205020404" pitchFamily="49" charset="0"/>
              </a:rPr>
              <a:t>                numArray[i] = (char) (digits[digit] + '0');</a:t>
            </a:r>
          </a:p>
          <a:p>
            <a:r>
              <a:rPr lang="en-US" sz="2000" b="1" dirty="0">
                <a:solidFill>
                  <a:schemeClr val="bg1"/>
                </a:solidFill>
                <a:latin typeface="Nunito Sans" pitchFamily="2" charset="0"/>
                <a:cs typeface="Courier New" panose="02070309020205020404" pitchFamily="49" charset="0"/>
              </a:rPr>
              <a:t>                num = String.valueOf(numArray);</a:t>
            </a:r>
          </a:p>
          <a:p>
            <a:r>
              <a:rPr lang="en-US" sz="2000" b="1" dirty="0">
                <a:solidFill>
                  <a:schemeClr val="bg1"/>
                </a:solidFill>
                <a:latin typeface="Nunito Sans" pitchFamily="2" charset="0"/>
                <a:cs typeface="Courier New" panose="02070309020205020404" pitchFamily="49" charset="0"/>
              </a:rPr>
              <a:t>            } else if (digit &gt; digits[digit])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break;</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System.out.println(num);</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a:t>
            </a:r>
            <a:endParaRPr lang="en-US" altLang="en-IN" sz="2000" b="1" dirty="0">
              <a:solidFill>
                <a:schemeClr val="bg1"/>
              </a:solidFill>
              <a:latin typeface="Nunito Sans" pitchFamily="2" charset="0"/>
              <a:cs typeface="Courier New" panose="02070309020205020404" pitchFamily="49" charset="0"/>
              <a:sym typeface="+mn-ea"/>
            </a:endParaRP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5440" y="6202800"/>
            <a:ext cx="2356664" cy="298800"/>
          </a:xfrm>
          <a:prstGeom prst="rect">
            <a:avLst/>
          </a:prstGeom>
        </p:spPr>
      </p:pic>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num = input()</a:t>
            </a:r>
          </a:p>
          <a:p>
            <a:r>
              <a:rPr lang="en-US" sz="2000" b="1" dirty="0">
                <a:solidFill>
                  <a:schemeClr val="bg1"/>
                </a:solidFill>
                <a:latin typeface="Nunito Sans" pitchFamily="2" charset="0"/>
                <a:cs typeface="Courier New" panose="02070309020205020404" pitchFamily="49" charset="0"/>
              </a:rPr>
              <a:t>digits = list(map(int, input().split()))</a:t>
            </a:r>
          </a:p>
          <a:p>
            <a:r>
              <a:rPr lang="en-US" sz="2000" b="1" dirty="0">
                <a:solidFill>
                  <a:schemeClr val="bg1"/>
                </a:solidFill>
                <a:latin typeface="Nunito Sans" pitchFamily="2" charset="0"/>
                <a:cs typeface="Courier New" panose="02070309020205020404" pitchFamily="49" charset="0"/>
              </a:rPr>
              <a:t>for i in range(len(num)):</a:t>
            </a:r>
          </a:p>
          <a:p>
            <a:r>
              <a:rPr lang="en-US" sz="2000" b="1" dirty="0">
                <a:solidFill>
                  <a:schemeClr val="bg1"/>
                </a:solidFill>
                <a:latin typeface="Nunito Sans" pitchFamily="2" charset="0"/>
                <a:cs typeface="Courier New" panose="02070309020205020404" pitchFamily="49" charset="0"/>
              </a:rPr>
              <a:t>    digit = int(num[i])</a:t>
            </a:r>
          </a:p>
          <a:p>
            <a:r>
              <a:rPr lang="en-US" sz="2000" b="1" dirty="0">
                <a:solidFill>
                  <a:schemeClr val="bg1"/>
                </a:solidFill>
                <a:latin typeface="Nunito Sans" pitchFamily="2" charset="0"/>
                <a:cs typeface="Courier New" panose="02070309020205020404" pitchFamily="49" charset="0"/>
              </a:rPr>
              <a:t>    if digit &lt; digits[digit]:</a:t>
            </a:r>
          </a:p>
          <a:p>
            <a:r>
              <a:rPr lang="en-US" sz="2000" b="1" dirty="0">
                <a:solidFill>
                  <a:schemeClr val="bg1"/>
                </a:solidFill>
                <a:latin typeface="Nunito Sans" pitchFamily="2" charset="0"/>
                <a:cs typeface="Courier New" panose="02070309020205020404" pitchFamily="49" charset="0"/>
              </a:rPr>
              <a:t>        num = num[:i] + str(digits[digit]) + num[i+1:]</a:t>
            </a:r>
          </a:p>
          <a:p>
            <a:r>
              <a:rPr lang="en-US" sz="2000" b="1" dirty="0">
                <a:solidFill>
                  <a:schemeClr val="bg1"/>
                </a:solidFill>
                <a:latin typeface="Nunito Sans" pitchFamily="2" charset="0"/>
                <a:cs typeface="Courier New" panose="02070309020205020404" pitchFamily="49" charset="0"/>
              </a:rPr>
              <a:t>    elif digit &gt; digits[digit]:</a:t>
            </a:r>
          </a:p>
          <a:p>
            <a:r>
              <a:rPr lang="en-US" sz="2000" b="1" dirty="0">
                <a:solidFill>
                  <a:schemeClr val="bg1"/>
                </a:solidFill>
                <a:latin typeface="Nunito Sans" pitchFamily="2" charset="0"/>
                <a:cs typeface="Courier New" panose="02070309020205020404" pitchFamily="49" charset="0"/>
              </a:rPr>
              <a:t>        break</a:t>
            </a:r>
          </a:p>
          <a:p>
            <a:r>
              <a:rPr lang="en-US" sz="2000" b="1" dirty="0">
                <a:solidFill>
                  <a:schemeClr val="bg1"/>
                </a:solidFill>
                <a:latin typeface="Nunito Sans" pitchFamily="2" charset="0"/>
                <a:cs typeface="Courier New" panose="02070309020205020404" pitchFamily="49" charset="0"/>
              </a:rPr>
              <a:t>print(num)</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25</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4708981"/>
          </a:xfrm>
          <a:prstGeom prst="rect">
            <a:avLst/>
          </a:prstGeom>
          <a:noFill/>
        </p:spPr>
        <p:txBody>
          <a:bodyPr wrap="square" rtlCol="0">
            <a:spAutoFit/>
          </a:bodyPr>
          <a:lstStyle/>
          <a:p>
            <a:r>
              <a:rPr lang="en-US" sz="2500" dirty="0">
                <a:latin typeface="Nunito Sans" panose="00000500000000000000" pitchFamily="2" charset="0"/>
                <a:sym typeface="+mn-ea"/>
              </a:rPr>
              <a:t>You are in the Marvel Universe and Doctor strange has to defend a little girl named ‘America’ from the scarlet witch. The Scarlet witch is really strong thus Doctor strange has assembled an army of ‘n’ magicians to fight her. She throws magical red balls toward her enemy to get rid of him.</a:t>
            </a:r>
          </a:p>
          <a:p>
            <a:r>
              <a:rPr lang="en-US" sz="2500" dirty="0">
                <a:latin typeface="Nunito Sans" panose="00000500000000000000" pitchFamily="2" charset="0"/>
                <a:sym typeface="+mn-ea"/>
              </a:rPr>
              <a:t>Each magician in Doctor Strange's army has some strength denoted by 'Pi' element in an array. The scarlet witch has the power to fire any number of magical red balls at the same time in her single attack. She can do 'q' number of attacks. The opponent can stand against her till he has strength. One magical red ball decreases strength by 1. I.e., if a person has the strength of 2 and she throws 1 magical ball in her first attack then his strength becomes 1 and he is saved. But if she threw one more then he would die. But this is the point where the twist comes, </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25</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478423"/>
          </a:xfrm>
          <a:prstGeom prst="rect">
            <a:avLst/>
          </a:prstGeom>
          <a:noFill/>
        </p:spPr>
        <p:txBody>
          <a:bodyPr wrap="square" rtlCol="0">
            <a:spAutoFit/>
          </a:bodyPr>
          <a:lstStyle/>
          <a:p>
            <a:r>
              <a:rPr lang="en-US" sz="2500" dirty="0">
                <a:latin typeface="Nunito Sans" pitchFamily="2" charset="0"/>
                <a:sym typeface="+mn-ea"/>
              </a:rPr>
              <a:t>Doctor Strange is not weak, he has a darkhold. When all the magicians of Doctor Strange's army die, he with the help of his magic and darkhold, revives them all and they stand up again for fighting. i.e., if at the second all his magicians die then at the end of that i second all his magicians will stand up again for fighting. You are Doctor Strange’s assistant cell him how many magicians are left alive for fighting at the end of each attack by the Scarlet witch note that, as soon as all the magicians die, Doctor Strange will instantaneously make them alive.</a:t>
            </a:r>
          </a:p>
          <a:p>
            <a:r>
              <a:rPr lang="en-US" sz="2500" b="1" dirty="0">
                <a:latin typeface="Nunito Sans" pitchFamily="2" charset="0"/>
                <a:sym typeface="+mn-ea"/>
              </a:rPr>
              <a:t>Example 1:</a:t>
            </a:r>
          </a:p>
          <a:p>
            <a:endParaRPr lang="en-US" sz="2500" dirty="0">
              <a:latin typeface="Nunito Sans" pitchFamily="2" charset="0"/>
              <a:sym typeface="+mn-ea"/>
            </a:endParaRPr>
          </a:p>
          <a:p>
            <a:r>
              <a:rPr lang="en-US" sz="2500" b="1" dirty="0">
                <a:latin typeface="Nunito Sans" pitchFamily="2" charset="0"/>
                <a:sym typeface="+mn-ea"/>
              </a:rPr>
              <a:t>Input:</a:t>
            </a:r>
          </a:p>
          <a:p>
            <a:r>
              <a:rPr lang="en-US" sz="2500" dirty="0">
                <a:latin typeface="Nunito Sans" panose="00000500000000000000" pitchFamily="2" charset="0"/>
                <a:sym typeface="+mn-ea"/>
              </a:rPr>
              <a:t>10 3 -&gt;Number of magicians in</a:t>
            </a:r>
          </a:p>
          <a:p>
            <a:r>
              <a:rPr lang="en-US" sz="2500" dirty="0">
                <a:latin typeface="Nunito Sans" panose="00000500000000000000" pitchFamily="2" charset="0"/>
                <a:sym typeface="+mn-ea"/>
              </a:rPr>
              <a:t>Doctor strange army and the number of attacks by the scarlet witch space- separated.</a:t>
            </a:r>
          </a:p>
          <a:p>
            <a:endParaRPr lang="en-US" sz="2500" dirty="0">
              <a:latin typeface="Nunito Sans" panose="00000500000000000000" pitchFamily="2" charset="0"/>
              <a:sym typeface="+mn-ea"/>
            </a:endParaRP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25</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093702"/>
          </a:xfrm>
          <a:prstGeom prst="rect">
            <a:avLst/>
          </a:prstGeom>
          <a:noFill/>
        </p:spPr>
        <p:txBody>
          <a:bodyPr wrap="square" rtlCol="0">
            <a:spAutoFit/>
          </a:bodyPr>
          <a:lstStyle/>
          <a:p>
            <a:r>
              <a:rPr lang="en-US" sz="2500" dirty="0">
                <a:latin typeface="Nunito Sans" panose="00000500000000000000" pitchFamily="2" charset="0"/>
                <a:sym typeface="+mn-ea"/>
              </a:rPr>
              <a:t>1 1 1 1 1 1 1 1 1 1 -&gt; strength of each soldier in the army</a:t>
            </a:r>
          </a:p>
          <a:p>
            <a:r>
              <a:rPr lang="en-US" sz="2500" dirty="0">
                <a:latin typeface="Nunito Sans" panose="00000500000000000000" pitchFamily="2" charset="0"/>
                <a:sym typeface="+mn-ea"/>
              </a:rPr>
              <a:t>10 10 5 -&gt; Number of magical red balls fired by the scarlet witch in her each attack </a:t>
            </a:r>
          </a:p>
          <a:p>
            <a:endParaRPr lang="en-US" sz="2500" dirty="0">
              <a:latin typeface="Nunito Sans" panose="00000500000000000000" pitchFamily="2" charset="0"/>
              <a:sym typeface="+mn-ea"/>
            </a:endParaRPr>
          </a:p>
          <a:p>
            <a:r>
              <a:rPr lang="en-US" sz="2500" b="1" dirty="0">
                <a:latin typeface="Nunito Sans" pitchFamily="2" charset="0"/>
                <a:sym typeface="+mn-ea"/>
              </a:rPr>
              <a:t>Output:</a:t>
            </a:r>
          </a:p>
          <a:p>
            <a:r>
              <a:rPr lang="en-US" sz="2500" dirty="0">
                <a:latin typeface="Nunito Sans" panose="00000500000000000000" pitchFamily="2" charset="0"/>
                <a:sym typeface="+mn-ea"/>
              </a:rPr>
              <a:t>10 10 5 -&gt; The respective numbers</a:t>
            </a:r>
          </a:p>
          <a:p>
            <a:r>
              <a:rPr lang="en-US" sz="2500" dirty="0">
                <a:latin typeface="Nunito Sans" panose="00000500000000000000" pitchFamily="2" charset="0"/>
                <a:sym typeface="+mn-ea"/>
              </a:rPr>
              <a:t>(space-separated) of magicians left alive after each attack of the scarlet witch</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Explanation:</a:t>
            </a:r>
          </a:p>
          <a:p>
            <a:r>
              <a:rPr lang="en-US" sz="2500" dirty="0">
                <a:latin typeface="Nunito Sans" panose="00000500000000000000" pitchFamily="2" charset="0"/>
                <a:sym typeface="+mn-ea"/>
              </a:rPr>
              <a:t>Here there will be 3 attacks.The scenario will be as follows :</a:t>
            </a:r>
          </a:p>
          <a:p>
            <a:r>
              <a:rPr lang="en-US" sz="2500" dirty="0">
                <a:latin typeface="Nunito Sans" panose="00000500000000000000" pitchFamily="2" charset="0"/>
                <a:sym typeface="+mn-ea"/>
              </a:rPr>
              <a:t>Attack 1: All 10 magicians die and as soon as all magicians die, they are brought back to life again, thus at end of the 1st attack 10 magicians are alive again.</a:t>
            </a:r>
          </a:p>
          <a:p>
            <a:endParaRPr lang="en-US" sz="2500" dirty="0">
              <a:latin typeface="Nunito Sans" panose="00000500000000000000" pitchFamily="2" charset="0"/>
              <a:sym typeface="+mn-ea"/>
            </a:endParaRP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25</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5863144"/>
          </a:xfrm>
          <a:prstGeom prst="rect">
            <a:avLst/>
          </a:prstGeom>
          <a:noFill/>
        </p:spPr>
        <p:txBody>
          <a:bodyPr wrap="square" rtlCol="0">
            <a:spAutoFit/>
          </a:bodyPr>
          <a:lstStyle/>
          <a:p>
            <a:r>
              <a:rPr lang="en-US" sz="2500" dirty="0">
                <a:latin typeface="Nunito Sans" panose="00000500000000000000" pitchFamily="2" charset="0"/>
                <a:sym typeface="+mn-ea"/>
              </a:rPr>
              <a:t>Attack 2: Same Scenario</a:t>
            </a:r>
          </a:p>
          <a:p>
            <a:r>
              <a:rPr lang="en-US" sz="2500" dirty="0">
                <a:latin typeface="Nunito Sans" panose="00000500000000000000" pitchFamily="2" charset="0"/>
                <a:sym typeface="+mn-ea"/>
              </a:rPr>
              <a:t>Attack 3: 5 magicians die, thus 5 are left.</a:t>
            </a:r>
          </a:p>
          <a:p>
            <a:endParaRPr lang="en-US" sz="2500" dirty="0">
              <a:latin typeface="Nunito Sans" panose="00000500000000000000" pitchFamily="2" charset="0"/>
              <a:sym typeface="+mn-ea"/>
            </a:endParaRPr>
          </a:p>
          <a:p>
            <a:r>
              <a:rPr lang="en-US" sz="2500" b="1" dirty="0">
                <a:latin typeface="Nunito Sans" pitchFamily="2" charset="0"/>
                <a:sym typeface="+mn-ea"/>
              </a:rPr>
              <a:t>Example 2:</a:t>
            </a:r>
          </a:p>
          <a:p>
            <a:endParaRPr lang="en-US" sz="2500" dirty="0">
              <a:latin typeface="Nunito Sans" pitchFamily="2" charset="0"/>
              <a:sym typeface="+mn-ea"/>
            </a:endParaRPr>
          </a:p>
          <a:p>
            <a:r>
              <a:rPr lang="en-US" sz="2500" b="1" dirty="0">
                <a:latin typeface="Nunito Sans" pitchFamily="2" charset="0"/>
                <a:sym typeface="+mn-ea"/>
              </a:rPr>
              <a:t>Input: </a:t>
            </a:r>
          </a:p>
          <a:p>
            <a:r>
              <a:rPr lang="en-US" sz="2500" dirty="0">
                <a:latin typeface="Nunito Sans" panose="00000500000000000000" pitchFamily="2" charset="0"/>
                <a:sym typeface="+mn-ea"/>
              </a:rPr>
              <a:t>5 2 -&gt; Number of magicians in doctor strange army and the number of attacks by the scarlet witch space-separated.</a:t>
            </a:r>
          </a:p>
          <a:p>
            <a:r>
              <a:rPr lang="en-US" sz="2500" dirty="0">
                <a:latin typeface="Nunito Sans" panose="00000500000000000000" pitchFamily="2" charset="0"/>
                <a:sym typeface="+mn-ea"/>
              </a:rPr>
              <a:t>1 2 1 1 1 -&gt; Strength of each soldier in the army</a:t>
            </a:r>
          </a:p>
          <a:p>
            <a:r>
              <a:rPr lang="en-US" sz="2500" dirty="0">
                <a:latin typeface="Nunito Sans" panose="00000500000000000000" pitchFamily="2" charset="0"/>
                <a:sym typeface="+mn-ea"/>
              </a:rPr>
              <a:t>2 3 -&gt; Number of magical red balls fired by the scarlet witch in her each attack</a:t>
            </a:r>
          </a:p>
          <a:p>
            <a:r>
              <a:rPr lang="en-US" sz="2500" b="1" dirty="0">
                <a:latin typeface="Nunito Sans" pitchFamily="2" charset="0"/>
                <a:sym typeface="+mn-ea"/>
              </a:rPr>
              <a:t>Output:</a:t>
            </a:r>
          </a:p>
          <a:p>
            <a:r>
              <a:rPr lang="en-US" sz="2500" dirty="0">
                <a:latin typeface="Nunito Sans" panose="00000500000000000000" pitchFamily="2" charset="0"/>
                <a:sym typeface="+mn-ea"/>
              </a:rPr>
              <a:t>4 1 -&gt; The respective numbers(space-separated) of magicians left alive after each attack of the scarlet witch</a:t>
            </a:r>
          </a:p>
          <a:p>
            <a:endParaRPr lang="en-US" sz="2500" dirty="0">
              <a:latin typeface="Nunito Sans" panose="00000500000000000000" pitchFamily="2" charset="0"/>
              <a:sym typeface="+mn-ea"/>
            </a:endParaRPr>
          </a:p>
          <a:p>
            <a:endParaRPr lang="en-US" sz="2500" dirty="0">
              <a:latin typeface="Nunito Sans" panose="00000500000000000000" pitchFamily="2" charset="0"/>
              <a:sym typeface="+mn-ea"/>
            </a:endParaRP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Nunito Sans" pitchFamily="2" charset="0"/>
            </a:endParaRPr>
          </a:p>
        </p:txBody>
      </p:sp>
      <p:sp>
        <p:nvSpPr>
          <p:cNvPr id="17" name="TextBox 16"/>
          <p:cNvSpPr txBox="1"/>
          <p:nvPr/>
        </p:nvSpPr>
        <p:spPr>
          <a:xfrm>
            <a:off x="193675" y="228600"/>
            <a:ext cx="11468735" cy="829945"/>
          </a:xfrm>
          <a:prstGeom prst="rect">
            <a:avLst/>
          </a:prstGeom>
          <a:noFill/>
        </p:spPr>
        <p:txBody>
          <a:bodyPr wrap="square" rtlCol="0">
            <a:spAutoFit/>
          </a:bodyPr>
          <a:lstStyle/>
          <a:p>
            <a:pPr algn="r"/>
            <a:r>
              <a:rPr lang="en-IN" altLang="en-US" sz="4800" b="1" dirty="0">
                <a:solidFill>
                  <a:schemeClr val="bg1"/>
                </a:solidFill>
                <a:latin typeface="Nunito Sans" pitchFamily="2" charset="0"/>
                <a:sym typeface="+mn-ea"/>
              </a:rPr>
              <a:t>question 25</a:t>
            </a:r>
            <a:r>
              <a:rPr lang="en-US" sz="4800" b="1" dirty="0">
                <a:solidFill>
                  <a:schemeClr val="bg1"/>
                </a:solidFill>
                <a:latin typeface="Nunito Sans" pitchFamily="2" charset="0"/>
                <a:sym typeface="+mn-ea"/>
              </a:rPr>
              <a:t> </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8" name="TextBox 14"/>
          <p:cNvSpPr txBox="1"/>
          <p:nvPr/>
        </p:nvSpPr>
        <p:spPr>
          <a:xfrm>
            <a:off x="139065" y="1058545"/>
            <a:ext cx="11954510" cy="3170099"/>
          </a:xfrm>
          <a:prstGeom prst="rect">
            <a:avLst/>
          </a:prstGeom>
          <a:noFill/>
        </p:spPr>
        <p:txBody>
          <a:bodyPr wrap="square" rtlCol="0">
            <a:spAutoFit/>
          </a:bodyPr>
          <a:lstStyle/>
          <a:p>
            <a:r>
              <a:rPr lang="en-US" sz="2500" b="1" dirty="0">
                <a:latin typeface="Nunito Sans" pitchFamily="2" charset="0"/>
                <a:sym typeface="+mn-ea"/>
              </a:rPr>
              <a:t>Explanation:</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Here there will be 2 attacks.The scenario will be as follows :</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Attack 1: Only 1 magician die and second one’s strength will be decreased to 1,thus army’s condition is – 1 1 1 1</a:t>
            </a:r>
          </a:p>
          <a:p>
            <a:endParaRPr lang="en-US" sz="2500" dirty="0">
              <a:latin typeface="Nunito Sans" panose="00000500000000000000" pitchFamily="2" charset="0"/>
              <a:sym typeface="+mn-ea"/>
            </a:endParaRPr>
          </a:p>
          <a:p>
            <a:r>
              <a:rPr lang="en-US" sz="2500" dirty="0">
                <a:latin typeface="Nunito Sans" panose="00000500000000000000" pitchFamily="2" charset="0"/>
                <a:sym typeface="+mn-ea"/>
              </a:rPr>
              <a:t>Attack 2: Here in the second attack next three magicians die and only 1 left. </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&lt;stdio.h&gt;</a:t>
            </a:r>
          </a:p>
          <a:p>
            <a:r>
              <a:rPr lang="en-US" sz="2000" b="1" dirty="0">
                <a:solidFill>
                  <a:schemeClr val="bg1"/>
                </a:solidFill>
                <a:latin typeface="Nunito Sans" pitchFamily="2" charset="0"/>
                <a:cs typeface="Courier New" panose="02070309020205020404" pitchFamily="49" charset="0"/>
              </a:rPr>
              <a:t>#include &lt;stdlib.h&gt;</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 q;</a:t>
            </a:r>
          </a:p>
          <a:p>
            <a:r>
              <a:rPr lang="en-US" sz="2000" b="1" dirty="0">
                <a:solidFill>
                  <a:schemeClr val="bg1"/>
                </a:solidFill>
                <a:latin typeface="Nunito Sans" pitchFamily="2" charset="0"/>
                <a:cs typeface="Courier New" panose="02070309020205020404" pitchFamily="49" charset="0"/>
              </a:rPr>
              <a:t>    scanf("%d %d", &amp;n, &amp;q);</a:t>
            </a:r>
          </a:p>
          <a:p>
            <a:r>
              <a:rPr lang="en-US" sz="2000" b="1" dirty="0">
                <a:solidFill>
                  <a:schemeClr val="bg1"/>
                </a:solidFill>
                <a:latin typeface="Nunito Sans" pitchFamily="2" charset="0"/>
                <a:cs typeface="Courier New" panose="02070309020205020404" pitchFamily="49" charset="0"/>
              </a:rPr>
              <a:t>    int* strength = (int*)malloc(n * sizeof(int));</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scanf("%d", &amp;strength[i]);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balls = (int*)malloc(q * sizeof(int));</a:t>
            </a:r>
          </a:p>
          <a:p>
            <a:r>
              <a:rPr lang="en-US" sz="2000" b="1" dirty="0">
                <a:solidFill>
                  <a:schemeClr val="bg1"/>
                </a:solidFill>
                <a:latin typeface="Nunito Sans" pitchFamily="2" charset="0"/>
                <a:cs typeface="Courier New" panose="02070309020205020404" pitchFamily="49" charset="0"/>
              </a:rPr>
              <a:t>    for (int i = 0; i &lt; q;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scanf("%d", &amp;balls[i]);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magicians = (int*)malloc(n * sizeof(int));</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magicians[i] = 1;  // Initialize all magicians as alive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i = 0; i &lt; q; i++)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int ballsThrown = balls[i];</a:t>
            </a:r>
          </a:p>
          <a:p>
            <a:r>
              <a:rPr lang="en-US" altLang="en-IN" sz="2000" b="1" dirty="0">
                <a:solidFill>
                  <a:schemeClr val="bg1"/>
                </a:solidFill>
                <a:latin typeface="Nunito Sans" pitchFamily="2" charset="0"/>
                <a:cs typeface="Courier New" panose="02070309020205020404" pitchFamily="49" charset="0"/>
                <a:sym typeface="+mn-ea"/>
              </a:rPr>
              <a:t>        int alive = 0;  // Number of magicians alive after each attack</a:t>
            </a:r>
          </a:p>
          <a:p>
            <a:r>
              <a:rPr lang="en-US" altLang="en-IN" sz="2000" b="1" dirty="0">
                <a:solidFill>
                  <a:schemeClr val="bg1"/>
                </a:solidFill>
                <a:latin typeface="Nunito Sans" pitchFamily="2" charset="0"/>
                <a:cs typeface="Courier New" panose="02070309020205020404" pitchFamily="49" charset="0"/>
                <a:sym typeface="+mn-ea"/>
              </a:rPr>
              <a:t>        for (int j = 0; j &lt; n; j++)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(magicians[j] &gt; 0)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(ballsThrown &gt;= strength[j])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ballsThrown -= strength[j];</a:t>
            </a:r>
          </a:p>
          <a:p>
            <a:r>
              <a:rPr lang="en-US" altLang="en-IN" sz="2000" b="1" dirty="0">
                <a:solidFill>
                  <a:schemeClr val="bg1"/>
                </a:solidFill>
                <a:latin typeface="Nunito Sans" pitchFamily="2" charset="0"/>
                <a:cs typeface="Courier New" panose="02070309020205020404" pitchFamily="49" charset="0"/>
                <a:sym typeface="+mn-ea"/>
              </a:rPr>
              <a:t>                    magicians[j] = 0;  // Mark magician as dead</a:t>
            </a:r>
          </a:p>
          <a:p>
            <a:r>
              <a:rPr lang="en-US" altLang="en-IN" sz="2000" b="1" dirty="0">
                <a:solidFill>
                  <a:schemeClr val="bg1"/>
                </a:solidFill>
                <a:latin typeface="Nunito Sans" pitchFamily="2" charset="0"/>
                <a:cs typeface="Courier New" panose="02070309020205020404" pitchFamily="49" charset="0"/>
                <a:sym typeface="+mn-ea"/>
              </a:rPr>
              <a:t>                } </a:t>
            </a:r>
          </a:p>
          <a:p>
            <a:r>
              <a:rPr lang="en-US" altLang="en-IN" sz="2000" b="1" dirty="0">
                <a:solidFill>
                  <a:schemeClr val="bg1"/>
                </a:solidFill>
                <a:latin typeface="Nunito Sans" pitchFamily="2" charset="0"/>
                <a:cs typeface="Courier New" panose="02070309020205020404" pitchFamily="49" charset="0"/>
                <a:sym typeface="+mn-ea"/>
              </a:rPr>
              <a:t>                else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alive++;  // Magician survives the attack</a:t>
            </a:r>
          </a:p>
          <a:p>
            <a:r>
              <a:rPr lang="en-US" altLang="en-IN" sz="2000" b="1" dirty="0">
                <a:solidFill>
                  <a:schemeClr val="bg1"/>
                </a:solidFill>
                <a:latin typeface="Nunito Sans" pitchFamily="2" charset="0"/>
                <a:cs typeface="Courier New" panose="02070309020205020404" pitchFamily="49" charset="0"/>
                <a:sym typeface="+mn-ea"/>
              </a:rPr>
              <a:t>                    strength[j] -= ballsThrown;  // Decrease magician's strength</a:t>
            </a:r>
          </a:p>
          <a:p>
            <a:r>
              <a:rPr lang="en-US" altLang="en-IN" sz="2000" b="1" dirty="0">
                <a:solidFill>
                  <a:schemeClr val="bg1"/>
                </a:solidFill>
                <a:latin typeface="Nunito Sans" pitchFamily="2" charset="0"/>
                <a:cs typeface="Courier New" panose="02070309020205020404" pitchFamily="49" charset="0"/>
                <a:sym typeface="+mn-ea"/>
              </a:rPr>
              <a:t>                    ballsThrown = 0;  // All balls are used</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a:t>
            </a:r>
          </a:p>
          <a:p>
            <a:r>
              <a:rPr lang="en-US" altLang="en-IN" sz="2000" b="1" dirty="0">
                <a:solidFill>
                  <a:schemeClr val="bg1"/>
                </a:solidFill>
                <a:latin typeface="Nunito Sans" pitchFamily="2" charset="0"/>
                <a:cs typeface="Courier New" panose="02070309020205020404" pitchFamily="49" charset="0"/>
                <a:sym typeface="+mn-ea"/>
              </a:rPr>
              <a:t>        if (alive == 0) </a:t>
            </a:r>
          </a:p>
          <a:p>
            <a:r>
              <a:rPr lang="en-US" altLang="en-IN" sz="2000" b="1" dirty="0">
                <a:solidFill>
                  <a:schemeClr val="bg1"/>
                </a:solidFill>
                <a:latin typeface="Nunito Sans" pitchFamily="2" charset="0"/>
                <a:cs typeface="Courier New" panose="02070309020205020404" pitchFamily="49" charset="0"/>
                <a:sym typeface="+mn-ea"/>
              </a:rPr>
              <a:t>        </a:t>
            </a:r>
            <a:r>
              <a:rPr lang="en-IN" altLang="en-US" sz="2000" b="1" dirty="0">
                <a:solidFill>
                  <a:schemeClr val="bg1"/>
                </a:solidFill>
                <a:latin typeface="Nunito Sans" pitchFamily="2" charset="0"/>
                <a:cs typeface="Courier New" panose="02070309020205020404" pitchFamily="49" charset="0"/>
                <a:sym typeface="+mn-ea"/>
              </a:rPr>
              <a:t>{</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for (int j = 0; j &lt; n; j++)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magicians[j] = 1;  // Revive all magicians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alive = n;</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printf("%d ", alive);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printf("\n");</a:t>
            </a:r>
          </a:p>
          <a:p>
            <a:r>
              <a:rPr lang="en-US" sz="2000" b="1" dirty="0">
                <a:solidFill>
                  <a:schemeClr val="bg1"/>
                </a:solidFill>
                <a:latin typeface="Nunito Sans" pitchFamily="2" charset="0"/>
                <a:cs typeface="Courier New" panose="02070309020205020404" pitchFamily="49" charset="0"/>
              </a:rPr>
              <a:t>    free(strength);</a:t>
            </a:r>
          </a:p>
          <a:p>
            <a:r>
              <a:rPr lang="en-US" sz="2000" b="1" dirty="0">
                <a:solidFill>
                  <a:schemeClr val="bg1"/>
                </a:solidFill>
                <a:latin typeface="Nunito Sans" pitchFamily="2" charset="0"/>
                <a:cs typeface="Courier New" panose="02070309020205020404" pitchFamily="49" charset="0"/>
              </a:rPr>
              <a:t>    free(balls);</a:t>
            </a:r>
          </a:p>
          <a:p>
            <a:r>
              <a:rPr lang="en-US" sz="2000" b="1" dirty="0">
                <a:solidFill>
                  <a:schemeClr val="bg1"/>
                </a:solidFill>
                <a:latin typeface="Nunito Sans" pitchFamily="2" charset="0"/>
                <a:cs typeface="Courier New" panose="02070309020205020404" pitchFamily="49" charset="0"/>
              </a:rPr>
              <a:t>    free(magicians);</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#include &lt;iostream&gt;</a:t>
            </a:r>
          </a:p>
          <a:p>
            <a:r>
              <a:rPr lang="en-US" sz="2000" b="1" dirty="0">
                <a:solidFill>
                  <a:schemeClr val="bg1"/>
                </a:solidFill>
                <a:latin typeface="Nunito Sans" pitchFamily="2" charset="0"/>
                <a:cs typeface="Courier New" panose="02070309020205020404" pitchFamily="49" charset="0"/>
              </a:rPr>
              <a:t>#include &lt;vector&gt;</a:t>
            </a:r>
          </a:p>
          <a:p>
            <a:r>
              <a:rPr lang="en-US" sz="2000" b="1" dirty="0">
                <a:solidFill>
                  <a:schemeClr val="bg1"/>
                </a:solidFill>
                <a:latin typeface="Nunito Sans" pitchFamily="2" charset="0"/>
                <a:cs typeface="Courier New" panose="02070309020205020404" pitchFamily="49" charset="0"/>
              </a:rPr>
              <a:t>using namespace std;</a:t>
            </a:r>
          </a:p>
          <a:p>
            <a:r>
              <a:rPr lang="en-US" sz="2000" b="1" dirty="0">
                <a:solidFill>
                  <a:schemeClr val="bg1"/>
                </a:solidFill>
                <a:latin typeface="Nunito Sans" pitchFamily="2" charset="0"/>
                <a:cs typeface="Courier New" panose="02070309020205020404" pitchFamily="49" charset="0"/>
              </a:rPr>
              <a:t>int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int n, q;</a:t>
            </a:r>
          </a:p>
          <a:p>
            <a:r>
              <a:rPr lang="en-US" sz="2000" b="1" dirty="0">
                <a:solidFill>
                  <a:schemeClr val="bg1"/>
                </a:solidFill>
                <a:latin typeface="Nunito Sans" pitchFamily="2" charset="0"/>
                <a:cs typeface="Courier New" panose="02070309020205020404" pitchFamily="49" charset="0"/>
              </a:rPr>
              <a:t>    cin &gt;&gt; n &gt;&gt; q;</a:t>
            </a:r>
          </a:p>
          <a:p>
            <a:r>
              <a:rPr lang="en-US" sz="2000" b="1" dirty="0">
                <a:solidFill>
                  <a:schemeClr val="bg1"/>
                </a:solidFill>
                <a:latin typeface="Nunito Sans" pitchFamily="2" charset="0"/>
                <a:cs typeface="Courier New" panose="02070309020205020404" pitchFamily="49" charset="0"/>
              </a:rPr>
              <a:t>    vector&lt;int&gt; strength(n);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cin &gt;&gt; strength[i];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vector&lt;int&gt; balls(q);</a:t>
            </a:r>
          </a:p>
          <a:p>
            <a:r>
              <a:rPr lang="en-US" sz="2000" b="1" dirty="0">
                <a:solidFill>
                  <a:schemeClr val="bg1"/>
                </a:solidFill>
                <a:latin typeface="Nunito Sans" pitchFamily="2" charset="0"/>
                <a:cs typeface="Courier New" panose="02070309020205020404" pitchFamily="49" charset="0"/>
              </a:rPr>
              <a:t>    for (int i = 0; i &lt; q;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cin &gt;&gt; balls[i];</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vector&lt;int&gt; magicians(n, 1);  // Initialize all magicians as alive</a:t>
            </a:r>
          </a:p>
          <a:p>
            <a:r>
              <a:rPr lang="en-US" sz="2000" b="1" dirty="0">
                <a:solidFill>
                  <a:schemeClr val="bg1"/>
                </a:solidFill>
                <a:latin typeface="Nunito Sans" pitchFamily="2" charset="0"/>
                <a:cs typeface="Courier New" panose="02070309020205020404" pitchFamily="49" charset="0"/>
              </a:rPr>
              <a:t>    for (int i = 0; i &lt; q;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ballsThrown = balls[i];</a:t>
            </a:r>
          </a:p>
          <a:p>
            <a:r>
              <a:rPr lang="en-US" sz="2000" b="1" dirty="0">
                <a:solidFill>
                  <a:schemeClr val="bg1"/>
                </a:solidFill>
                <a:latin typeface="Nunito Sans" pitchFamily="2" charset="0"/>
                <a:cs typeface="Courier New" panose="02070309020205020404" pitchFamily="49" charset="0"/>
              </a:rPr>
              <a:t>        int alive = 0;  // Number of magicians alive after each attack</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for (int j = 0; j &lt; n; j++)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if (magicians[j] &gt; 0)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if (ballsThrown &gt;= strength[j])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ballsThrown -= strength[j];</a:t>
            </a:r>
          </a:p>
          <a:p>
            <a:r>
              <a:rPr lang="en-IN" altLang="en-US" sz="2000" b="1" dirty="0">
                <a:solidFill>
                  <a:schemeClr val="bg1"/>
                </a:solidFill>
                <a:latin typeface="Nunito Sans" pitchFamily="2" charset="0"/>
                <a:cs typeface="Courier New" panose="02070309020205020404" pitchFamily="49" charset="0"/>
                <a:sym typeface="+mn-ea"/>
              </a:rPr>
              <a:t>                    magicians[j] = 0;  // Mark magician as dead</a:t>
            </a:r>
          </a:p>
          <a:p>
            <a:r>
              <a:rPr lang="en-IN" altLang="en-US" sz="2000" b="1" dirty="0">
                <a:solidFill>
                  <a:schemeClr val="bg1"/>
                </a:solidFill>
                <a:latin typeface="Nunito Sans" pitchFamily="2" charset="0"/>
                <a:cs typeface="Courier New" panose="02070309020205020404" pitchFamily="49" charset="0"/>
                <a:sym typeface="+mn-ea"/>
              </a:rPr>
              <a:t>                } </a:t>
            </a:r>
          </a:p>
          <a:p>
            <a:r>
              <a:rPr lang="en-IN" altLang="en-US" sz="2000" b="1" dirty="0">
                <a:solidFill>
                  <a:schemeClr val="bg1"/>
                </a:solidFill>
                <a:latin typeface="Nunito Sans" pitchFamily="2" charset="0"/>
                <a:cs typeface="Courier New" panose="02070309020205020404" pitchFamily="49" charset="0"/>
                <a:sym typeface="+mn-ea"/>
              </a:rPr>
              <a:t>                else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alive++;  // Magician survives the attack</a:t>
            </a:r>
          </a:p>
          <a:p>
            <a:r>
              <a:rPr lang="en-IN" altLang="en-US" sz="2000" b="1" dirty="0">
                <a:solidFill>
                  <a:schemeClr val="bg1"/>
                </a:solidFill>
                <a:latin typeface="Nunito Sans" pitchFamily="2" charset="0"/>
                <a:cs typeface="Courier New" panose="02070309020205020404" pitchFamily="49" charset="0"/>
                <a:sym typeface="+mn-ea"/>
              </a:rPr>
              <a:t>                    strength[j] -= ballsThrown;  // Decrease magician's strength</a:t>
            </a:r>
          </a:p>
          <a:p>
            <a:r>
              <a:rPr lang="en-IN" altLang="en-US" sz="2000" b="1" dirty="0">
                <a:solidFill>
                  <a:schemeClr val="bg1"/>
                </a:solidFill>
                <a:latin typeface="Nunito Sans" pitchFamily="2" charset="0"/>
                <a:cs typeface="Courier New" panose="02070309020205020404" pitchFamily="49" charset="0"/>
                <a:sym typeface="+mn-ea"/>
              </a:rPr>
              <a:t>                    ballsThrown = 0;  // All balls are used</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if (alive == 0)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for (int j = 0; j &lt; n; j++)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magicians[j] = 1;  // Revive all magicians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alive = n;</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cout &lt;&lt; alive &lt;&lt; "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cout &lt;&lt;endl;</a:t>
            </a:r>
          </a:p>
          <a:p>
            <a:r>
              <a:rPr lang="en-US" sz="2000" b="1" dirty="0">
                <a:solidFill>
                  <a:schemeClr val="bg1"/>
                </a:solidFill>
                <a:latin typeface="Nunito Sans" pitchFamily="2" charset="0"/>
                <a:cs typeface="Courier New" panose="02070309020205020404" pitchFamily="49" charset="0"/>
              </a:rPr>
              <a:t>    return 0;</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import java.util.Scanner;</a:t>
            </a:r>
          </a:p>
          <a:p>
            <a:r>
              <a:rPr lang="en-US" sz="2000" b="1" dirty="0">
                <a:solidFill>
                  <a:schemeClr val="bg1"/>
                </a:solidFill>
                <a:latin typeface="Nunito Sans" pitchFamily="2" charset="0"/>
                <a:cs typeface="Courier New" panose="02070309020205020404" pitchFamily="49" charset="0"/>
              </a:rPr>
              <a:t>public class Main </a:t>
            </a:r>
          </a:p>
          <a:p>
            <a:r>
              <a:rPr lang="en-US" sz="2000" b="1" dirty="0">
                <a:solidFill>
                  <a:schemeClr val="bg1"/>
                </a:solidFill>
                <a:latin typeface="Nunito Sans" pitchFamily="2" charset="0"/>
                <a:cs typeface="Courier New" panose="02070309020205020404" pitchFamily="49" charset="0"/>
              </a:rPr>
              <a:t>{</a:t>
            </a:r>
          </a:p>
          <a:p>
            <a:r>
              <a:rPr lang="en-US" sz="2000" b="1" dirty="0">
                <a:solidFill>
                  <a:schemeClr val="bg1"/>
                </a:solidFill>
                <a:latin typeface="Nunito Sans" pitchFamily="2" charset="0"/>
                <a:cs typeface="Courier New" panose="02070309020205020404" pitchFamily="49" charset="0"/>
              </a:rPr>
              <a:t>    public static void main(String[] args)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Scanner scanner = new Scanner(System.in);</a:t>
            </a:r>
          </a:p>
          <a:p>
            <a:r>
              <a:rPr lang="en-US" sz="2000" b="1" dirty="0">
                <a:solidFill>
                  <a:schemeClr val="bg1"/>
                </a:solidFill>
                <a:latin typeface="Nunito Sans" pitchFamily="2" charset="0"/>
                <a:cs typeface="Courier New" panose="02070309020205020404" pitchFamily="49" charset="0"/>
              </a:rPr>
              <a:t>        int n = scanner.nextInt();</a:t>
            </a:r>
          </a:p>
          <a:p>
            <a:r>
              <a:rPr lang="en-US" sz="2000" b="1" dirty="0">
                <a:solidFill>
                  <a:schemeClr val="bg1"/>
                </a:solidFill>
                <a:latin typeface="Nunito Sans" pitchFamily="2" charset="0"/>
                <a:cs typeface="Courier New" panose="02070309020205020404" pitchFamily="49" charset="0"/>
              </a:rPr>
              <a:t>        int q = scanner.nextInt();</a:t>
            </a:r>
          </a:p>
          <a:p>
            <a:r>
              <a:rPr lang="en-US" sz="2000" b="1" dirty="0">
                <a:solidFill>
                  <a:schemeClr val="bg1"/>
                </a:solidFill>
                <a:latin typeface="Nunito Sans" pitchFamily="2" charset="0"/>
                <a:cs typeface="Courier New" panose="02070309020205020404" pitchFamily="49" charset="0"/>
              </a:rPr>
              <a:t>        int[] strength = new int[n];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strength[i] = 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balls = new int[q];</a:t>
            </a:r>
          </a:p>
          <a:p>
            <a:r>
              <a:rPr lang="en-US" sz="2000" b="1" dirty="0">
                <a:solidFill>
                  <a:schemeClr val="bg1"/>
                </a:solidFill>
                <a:latin typeface="Nunito Sans" pitchFamily="2" charset="0"/>
                <a:cs typeface="Courier New" panose="02070309020205020404" pitchFamily="49" charset="0"/>
              </a:rPr>
              <a:t>        for (int i = 0; i &lt; q;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balls[i] = scanner.nextInt();</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int[] magicians = new int[n];</a:t>
            </a:r>
          </a:p>
          <a:p>
            <a:r>
              <a:rPr lang="en-US" sz="2000" b="1" dirty="0">
                <a:solidFill>
                  <a:schemeClr val="bg1"/>
                </a:solidFill>
                <a:latin typeface="Nunito Sans" pitchFamily="2" charset="0"/>
                <a:cs typeface="Courier New" panose="02070309020205020404" pitchFamily="49" charset="0"/>
              </a:rPr>
              <a:t>        for (int i = 0; i &lt; n; i++)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magicians[i] = 1;  // Initialize all magicians as alive</a:t>
            </a:r>
          </a:p>
          <a:p>
            <a:r>
              <a:rPr lang="en-US" sz="2000" b="1" dirty="0">
                <a:solidFill>
                  <a:schemeClr val="bg1"/>
                </a:solidFill>
                <a:latin typeface="Nunito Sans" pitchFamily="2" charset="0"/>
                <a:cs typeface="Courier New" panose="02070309020205020404" pitchFamily="49" charset="0"/>
              </a:rPr>
              <a:t>        }</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5440" y="6202800"/>
            <a:ext cx="2356664" cy="298800"/>
          </a:xfrm>
          <a:prstGeom prst="rect">
            <a:avLst/>
          </a:prstGeom>
        </p:spPr>
      </p:pic>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13462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altLang="en-US" sz="2000" b="1" dirty="0">
                <a:solidFill>
                  <a:schemeClr val="bg1"/>
                </a:solidFill>
                <a:latin typeface="Nunito Sans" pitchFamily="2" charset="0"/>
                <a:cs typeface="Courier New" panose="02070309020205020404" pitchFamily="49" charset="0"/>
                <a:sym typeface="+mn-ea"/>
              </a:rPr>
              <a:t> 		for (int i = 0; i &lt; q; i++)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int ballsThrown = balls[i];</a:t>
            </a:r>
          </a:p>
          <a:p>
            <a:r>
              <a:rPr lang="en-IN" altLang="en-US" sz="2000" b="1" dirty="0">
                <a:solidFill>
                  <a:schemeClr val="bg1"/>
                </a:solidFill>
                <a:latin typeface="Nunito Sans" pitchFamily="2" charset="0"/>
                <a:cs typeface="Courier New" panose="02070309020205020404" pitchFamily="49" charset="0"/>
                <a:sym typeface="+mn-ea"/>
              </a:rPr>
              <a:t>            int alive = 0;  // Number of magicians alive after each attack</a:t>
            </a:r>
          </a:p>
          <a:p>
            <a:r>
              <a:rPr lang="en-IN" altLang="en-US" sz="2000" b="1" dirty="0">
                <a:solidFill>
                  <a:schemeClr val="bg1"/>
                </a:solidFill>
                <a:latin typeface="Nunito Sans" pitchFamily="2" charset="0"/>
                <a:cs typeface="Courier New" panose="02070309020205020404" pitchFamily="49" charset="0"/>
                <a:sym typeface="+mn-ea"/>
              </a:rPr>
              <a:t>            for (int j = 0; j &lt; n; j++)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if (magicians[j] &gt; 0)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if (ballsThrown &gt;= strength[j])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ballsThrown -= strength[j];</a:t>
            </a:r>
          </a:p>
          <a:p>
            <a:r>
              <a:rPr lang="en-IN" altLang="en-US" sz="2000" b="1" dirty="0">
                <a:solidFill>
                  <a:schemeClr val="bg1"/>
                </a:solidFill>
                <a:latin typeface="Nunito Sans" pitchFamily="2" charset="0"/>
                <a:cs typeface="Courier New" panose="02070309020205020404" pitchFamily="49" charset="0"/>
                <a:sym typeface="+mn-ea"/>
              </a:rPr>
              <a:t>                        magicians[j] = 0;  // Mark magician as dead</a:t>
            </a:r>
          </a:p>
          <a:p>
            <a:r>
              <a:rPr lang="en-IN" altLang="en-US" sz="2000" b="1" dirty="0">
                <a:solidFill>
                  <a:schemeClr val="bg1"/>
                </a:solidFill>
                <a:latin typeface="Nunito Sans" pitchFamily="2" charset="0"/>
                <a:cs typeface="Courier New" panose="02070309020205020404" pitchFamily="49" charset="0"/>
                <a:sym typeface="+mn-ea"/>
              </a:rPr>
              <a:t>                    } </a:t>
            </a:r>
          </a:p>
          <a:p>
            <a:r>
              <a:rPr lang="en-IN" altLang="en-US" sz="2000" b="1" dirty="0">
                <a:solidFill>
                  <a:schemeClr val="bg1"/>
                </a:solidFill>
                <a:latin typeface="Nunito Sans" pitchFamily="2" charset="0"/>
                <a:cs typeface="Courier New" panose="02070309020205020404" pitchFamily="49" charset="0"/>
                <a:sym typeface="+mn-ea"/>
              </a:rPr>
              <a:t>                    else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alive++;  // Magician survives the attack</a:t>
            </a:r>
          </a:p>
          <a:p>
            <a:r>
              <a:rPr lang="en-IN" altLang="en-US" sz="2000" b="1" dirty="0">
                <a:solidFill>
                  <a:schemeClr val="bg1"/>
                </a:solidFill>
                <a:latin typeface="Nunito Sans" pitchFamily="2" charset="0"/>
                <a:cs typeface="Courier New" panose="02070309020205020404" pitchFamily="49" charset="0"/>
                <a:sym typeface="+mn-ea"/>
              </a:rPr>
              <a:t>                        strength[j] -= ballsThrown;  // Decrease magician's strength</a:t>
            </a:r>
          </a:p>
          <a:p>
            <a:r>
              <a:rPr lang="en-IN" altLang="en-US" sz="2000" b="1" dirty="0">
                <a:solidFill>
                  <a:schemeClr val="bg1"/>
                </a:solidFill>
                <a:latin typeface="Nunito Sans" pitchFamily="2" charset="0"/>
                <a:cs typeface="Courier New" panose="02070309020205020404" pitchFamily="49" charset="0"/>
                <a:sym typeface="+mn-ea"/>
              </a:rPr>
              <a:t>                        ballsThrown = 0;  // All balls are used</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t>
            </a:r>
          </a:p>
          <a:p>
            <a:r>
              <a:rPr lang="en-IN" altLang="en-US" sz="2000" b="1" dirty="0">
                <a:solidFill>
                  <a:schemeClr val="bg1"/>
                </a:solidFill>
                <a:latin typeface="Nunito Sans" pitchFamily="2" charset="0"/>
                <a:cs typeface="Courier New" panose="02070309020205020404" pitchFamily="49" charset="0"/>
                <a:sym typeface="+mn-ea"/>
              </a:rPr>
              <a:t>            }</a:t>
            </a:r>
          </a:p>
        </p:txBody>
      </p:sp>
      <p:sp>
        <p:nvSpPr>
          <p:cNvPr id="5" name="Rectangle 3"/>
          <p:cNvSpPr/>
          <p:nvPr/>
        </p:nvSpPr>
        <p:spPr>
          <a:xfrm>
            <a:off x="11430" y="-134619"/>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23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29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39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44</a:t>
            </a:r>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2047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if (alive == 0)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for (int j = 0; j &lt; n; j++)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magicians[j] = 1;  // Revive all magicians</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alive = n;</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System.out.print(alive + " ");</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        System.out.println();</a:t>
            </a:r>
          </a:p>
          <a:p>
            <a:r>
              <a:rPr lang="en-US" sz="2000" b="1" dirty="0">
                <a:solidFill>
                  <a:schemeClr val="bg1"/>
                </a:solidFill>
                <a:latin typeface="Nunito Sans" pitchFamily="2" charset="0"/>
                <a:cs typeface="Courier New" panose="02070309020205020404" pitchFamily="49" charset="0"/>
              </a:rPr>
              <a:t>        scanner.close();</a:t>
            </a:r>
          </a:p>
          <a:p>
            <a:r>
              <a:rPr lang="en-US" sz="2000" b="1" dirty="0">
                <a:solidFill>
                  <a:schemeClr val="bg1"/>
                </a:solidFill>
                <a:latin typeface="Nunito Sans" pitchFamily="2" charset="0"/>
                <a:cs typeface="Courier New" panose="02070309020205020404" pitchFamily="49" charset="0"/>
              </a:rPr>
              <a:t>    }</a:t>
            </a:r>
          </a:p>
          <a:p>
            <a:r>
              <a:rPr lang="en-US" sz="2000" b="1" dirty="0">
                <a:solidFill>
                  <a:schemeClr val="bg1"/>
                </a:solidFill>
                <a:latin typeface="Nunito Sans" pitchFamily="2" charset="0"/>
                <a:cs typeface="Courier New" panose="02070309020205020404" pitchFamily="49" charset="0"/>
              </a:rPr>
              <a:t>}</a:t>
            </a:r>
          </a:p>
        </p:txBody>
      </p:sp>
      <p:sp>
        <p:nvSpPr>
          <p:cNvPr id="5" name="Rectangle 4"/>
          <p:cNvSpPr/>
          <p:nvPr/>
        </p:nvSpPr>
        <p:spPr>
          <a:xfrm>
            <a:off x="0" y="431166"/>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
        <p:nvSpPr>
          <p:cNvPr id="4"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6" name="Rectangle 4"/>
          <p:cNvSpPr/>
          <p:nvPr/>
        </p:nvSpPr>
        <p:spPr>
          <a:xfrm>
            <a:off x="127000" y="12700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8"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sym typeface="+mn-ea"/>
              </a:rPr>
              <a:t>45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49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56</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57</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58</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59</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60</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61</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62</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63</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64</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65</a:t>
            </a:r>
            <a:endParaRPr lang="en-US" sz="2000" b="1" dirty="0">
              <a:solidFill>
                <a:srgbClr val="FFFF00"/>
              </a:solidFill>
              <a:latin typeface="Nunito Sans" pitchFamily="2" charset="0"/>
              <a:cs typeface="Courier New" panose="02070309020205020404" pitchFamily="49" charset="0"/>
            </a:endParaRPr>
          </a:p>
          <a:p>
            <a:r>
              <a:rPr lang="en-US" sz="2000" b="1" dirty="0">
                <a:solidFill>
                  <a:srgbClr val="FFFF00"/>
                </a:solidFill>
                <a:latin typeface="Nunito Sans" pitchFamily="2" charset="0"/>
                <a:cs typeface="Courier New" panose="02070309020205020404" pitchFamily="49" charset="0"/>
                <a:sym typeface="+mn-ea"/>
              </a:rPr>
              <a:t>66</a:t>
            </a:r>
            <a:endParaRPr lang="en-US" sz="2000" b="1" dirty="0">
              <a:solidFill>
                <a:srgbClr val="FFFF00"/>
              </a:solidFill>
              <a:latin typeface="Nunito Sans" pitchFamily="2" charset="0"/>
              <a:cs typeface="Courier New" panose="02070309020205020404" pitchFamily="49" charset="0"/>
            </a:endParaRP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11692" y="3810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US" sz="2000" b="1" dirty="0">
              <a:solidFill>
                <a:schemeClr val="bg1"/>
              </a:solidFill>
              <a:latin typeface="Nunito Sans" pitchFamily="2" charset="0"/>
              <a:cs typeface="Courier New" panose="02070309020205020404" pitchFamily="49" charset="0"/>
            </a:endParaRPr>
          </a:p>
        </p:txBody>
      </p:sp>
      <p:sp>
        <p:nvSpPr>
          <p:cNvPr id="2" name="Rectangle 1"/>
          <p:cNvSpPr/>
          <p:nvPr/>
        </p:nvSpPr>
        <p:spPr>
          <a:xfrm>
            <a:off x="11692" y="-95885"/>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n, q = map(int, input().split())</a:t>
            </a:r>
          </a:p>
          <a:p>
            <a:r>
              <a:rPr lang="en-US" sz="2000" b="1" dirty="0">
                <a:solidFill>
                  <a:schemeClr val="bg1"/>
                </a:solidFill>
                <a:latin typeface="Nunito Sans" pitchFamily="2" charset="0"/>
                <a:cs typeface="Courier New" panose="02070309020205020404" pitchFamily="49" charset="0"/>
              </a:rPr>
              <a:t>strength = list(map(int, input().split()))</a:t>
            </a:r>
          </a:p>
          <a:p>
            <a:r>
              <a:rPr lang="en-US" sz="2000" b="1" dirty="0">
                <a:solidFill>
                  <a:schemeClr val="bg1"/>
                </a:solidFill>
                <a:latin typeface="Nunito Sans" pitchFamily="2" charset="0"/>
                <a:cs typeface="Courier New" panose="02070309020205020404" pitchFamily="49" charset="0"/>
              </a:rPr>
              <a:t>balls = list(map(int, input().split()))</a:t>
            </a:r>
          </a:p>
          <a:p>
            <a:r>
              <a:rPr lang="en-US" sz="2000" b="1" dirty="0">
                <a:solidFill>
                  <a:schemeClr val="bg1"/>
                </a:solidFill>
                <a:latin typeface="Nunito Sans" pitchFamily="2" charset="0"/>
                <a:cs typeface="Courier New" panose="02070309020205020404" pitchFamily="49" charset="0"/>
              </a:rPr>
              <a:t>magicians = [1] * n</a:t>
            </a:r>
          </a:p>
          <a:p>
            <a:r>
              <a:rPr lang="en-US" sz="2000" b="1" dirty="0">
                <a:solidFill>
                  <a:schemeClr val="bg1"/>
                </a:solidFill>
                <a:latin typeface="Nunito Sans" pitchFamily="2" charset="0"/>
                <a:cs typeface="Courier New" panose="02070309020205020404" pitchFamily="49" charset="0"/>
              </a:rPr>
              <a:t>for i in range(q):</a:t>
            </a:r>
          </a:p>
          <a:p>
            <a:r>
              <a:rPr lang="en-US" sz="2000" b="1" dirty="0">
                <a:solidFill>
                  <a:schemeClr val="bg1"/>
                </a:solidFill>
                <a:latin typeface="Nunito Sans" pitchFamily="2" charset="0"/>
                <a:cs typeface="Courier New" panose="02070309020205020404" pitchFamily="49" charset="0"/>
              </a:rPr>
              <a:t>    ballsThrown = balls[i]</a:t>
            </a:r>
          </a:p>
          <a:p>
            <a:r>
              <a:rPr lang="en-US" sz="2000" b="1" dirty="0">
                <a:solidFill>
                  <a:schemeClr val="bg1"/>
                </a:solidFill>
                <a:latin typeface="Nunito Sans" pitchFamily="2" charset="0"/>
                <a:cs typeface="Courier New" panose="02070309020205020404" pitchFamily="49" charset="0"/>
              </a:rPr>
              <a:t>    alive = 0</a:t>
            </a:r>
          </a:p>
          <a:p>
            <a:r>
              <a:rPr lang="en-US" sz="2000" b="1" dirty="0">
                <a:solidFill>
                  <a:schemeClr val="bg1"/>
                </a:solidFill>
                <a:latin typeface="Nunito Sans" pitchFamily="2" charset="0"/>
                <a:cs typeface="Courier New" panose="02070309020205020404" pitchFamily="49" charset="0"/>
              </a:rPr>
              <a:t>    for j in range(n):</a:t>
            </a:r>
          </a:p>
          <a:p>
            <a:r>
              <a:rPr lang="en-US" sz="2000" b="1" dirty="0">
                <a:solidFill>
                  <a:schemeClr val="bg1"/>
                </a:solidFill>
                <a:latin typeface="Nunito Sans" pitchFamily="2" charset="0"/>
                <a:cs typeface="Courier New" panose="02070309020205020404" pitchFamily="49" charset="0"/>
              </a:rPr>
              <a:t>        if magicians[j] &gt; 0:</a:t>
            </a:r>
          </a:p>
          <a:p>
            <a:r>
              <a:rPr lang="en-US" sz="2000" b="1" dirty="0">
                <a:solidFill>
                  <a:schemeClr val="bg1"/>
                </a:solidFill>
                <a:latin typeface="Nunito Sans" pitchFamily="2" charset="0"/>
                <a:cs typeface="Courier New" panose="02070309020205020404" pitchFamily="49" charset="0"/>
              </a:rPr>
              <a:t>            if ballsThrown &gt;= strength[j]:</a:t>
            </a:r>
          </a:p>
          <a:p>
            <a:r>
              <a:rPr lang="en-US" sz="2000" b="1" dirty="0">
                <a:solidFill>
                  <a:schemeClr val="bg1"/>
                </a:solidFill>
                <a:latin typeface="Nunito Sans" pitchFamily="2" charset="0"/>
                <a:cs typeface="Courier New" panose="02070309020205020404" pitchFamily="49" charset="0"/>
              </a:rPr>
              <a:t>                ballsThrown -= strength[j]</a:t>
            </a:r>
          </a:p>
          <a:p>
            <a:r>
              <a:rPr lang="en-US" sz="2000" b="1" dirty="0">
                <a:solidFill>
                  <a:schemeClr val="bg1"/>
                </a:solidFill>
                <a:latin typeface="Nunito Sans" pitchFamily="2" charset="0"/>
                <a:cs typeface="Courier New" panose="02070309020205020404" pitchFamily="49" charset="0"/>
              </a:rPr>
              <a:t>                magicians[j] = 0</a:t>
            </a:r>
          </a:p>
          <a:p>
            <a:r>
              <a:rPr lang="en-US" sz="2000" b="1" dirty="0">
                <a:solidFill>
                  <a:schemeClr val="bg1"/>
                </a:solidFill>
                <a:latin typeface="Nunito Sans" pitchFamily="2" charset="0"/>
                <a:cs typeface="Courier New" panose="02070309020205020404" pitchFamily="49" charset="0"/>
              </a:rPr>
              <a:t>            else:</a:t>
            </a:r>
          </a:p>
          <a:p>
            <a:r>
              <a:rPr lang="en-US" sz="2000" b="1" dirty="0">
                <a:solidFill>
                  <a:schemeClr val="bg1"/>
                </a:solidFill>
                <a:latin typeface="Nunito Sans" pitchFamily="2" charset="0"/>
                <a:cs typeface="Courier New" panose="02070309020205020404" pitchFamily="49" charset="0"/>
              </a:rPr>
              <a:t>                alive += 1</a:t>
            </a:r>
          </a:p>
          <a:p>
            <a:r>
              <a:rPr lang="en-US" sz="2000" b="1" dirty="0">
                <a:solidFill>
                  <a:schemeClr val="bg1"/>
                </a:solidFill>
                <a:latin typeface="Nunito Sans" pitchFamily="2" charset="0"/>
                <a:cs typeface="Courier New" panose="02070309020205020404" pitchFamily="49" charset="0"/>
              </a:rPr>
              <a:t>                strength[j] -= ballsThrown</a:t>
            </a:r>
          </a:p>
          <a:p>
            <a:r>
              <a:rPr lang="en-US" sz="2000" b="1" dirty="0">
                <a:solidFill>
                  <a:schemeClr val="bg1"/>
                </a:solidFill>
                <a:latin typeface="Nunito Sans" pitchFamily="2" charset="0"/>
                <a:cs typeface="Courier New" panose="02070309020205020404" pitchFamily="49" charset="0"/>
              </a:rPr>
              <a:t>                ballsThrown = 0</a:t>
            </a:r>
          </a:p>
          <a:p>
            <a:r>
              <a:rPr lang="en-US" sz="2000" b="1" dirty="0">
                <a:solidFill>
                  <a:schemeClr val="bg1"/>
                </a:solidFill>
                <a:latin typeface="Nunito Sans" pitchFamily="2" charset="0"/>
                <a:cs typeface="Courier New" panose="02070309020205020404" pitchFamily="49" charset="0"/>
              </a:rPr>
              <a:t>    if alive == 0:</a:t>
            </a:r>
          </a:p>
          <a:p>
            <a:r>
              <a:rPr lang="en-US" sz="2000" b="1" dirty="0">
                <a:solidFill>
                  <a:schemeClr val="bg1"/>
                </a:solidFill>
                <a:latin typeface="Nunito Sans" pitchFamily="2" charset="0"/>
                <a:cs typeface="Courier New" panose="02070309020205020404" pitchFamily="49" charset="0"/>
              </a:rPr>
              <a:t>        magicians = [1] * n</a:t>
            </a:r>
          </a:p>
          <a:p>
            <a:r>
              <a:rPr lang="en-US" sz="2000" b="1" dirty="0">
                <a:solidFill>
                  <a:schemeClr val="bg1"/>
                </a:solidFill>
                <a:latin typeface="Nunito Sans" pitchFamily="2" charset="0"/>
                <a:cs typeface="Courier New" panose="02070309020205020404" pitchFamily="49" charset="0"/>
              </a:rPr>
              <a:t>        alive = n</a:t>
            </a:r>
          </a:p>
          <a:p>
            <a:r>
              <a:rPr lang="en-US" sz="2000" b="1" dirty="0">
                <a:solidFill>
                  <a:schemeClr val="bg1"/>
                </a:solidFill>
                <a:latin typeface="Nunito Sans" pitchFamily="2" charset="0"/>
                <a:cs typeface="Courier New" panose="02070309020205020404" pitchFamily="49" charset="0"/>
              </a:rPr>
              <a:t>    print(alive, end=' ')</a:t>
            </a:r>
          </a:p>
          <a:p>
            <a:r>
              <a:rPr lang="en-US" sz="2000" b="1" dirty="0">
                <a:solidFill>
                  <a:schemeClr val="bg1"/>
                </a:solidFill>
                <a:latin typeface="Nunito Sans" pitchFamily="2" charset="0"/>
                <a:cs typeface="Courier New" panose="02070309020205020404" pitchFamily="49" charset="0"/>
              </a:rPr>
              <a:t>print()</a:t>
            </a:r>
          </a:p>
        </p:txBody>
      </p:sp>
      <p:sp>
        <p:nvSpPr>
          <p:cNvPr id="6" name="Rectangle 3"/>
          <p:cNvSpPr/>
          <p:nvPr/>
        </p:nvSpPr>
        <p:spPr>
          <a:xfrm>
            <a:off x="11430" y="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Nunito Sans" pitchFamily="2" charset="0"/>
                <a:cs typeface="Courier New" panose="02070309020205020404" pitchFamily="49" charset="0"/>
              </a:rPr>
              <a:t>1</a:t>
            </a:r>
          </a:p>
          <a:p>
            <a:r>
              <a:rPr lang="en-US" sz="2000" b="1" dirty="0">
                <a:solidFill>
                  <a:srgbClr val="FFFF00"/>
                </a:solidFill>
                <a:latin typeface="Nunito Sans" pitchFamily="2" charset="0"/>
                <a:cs typeface="Courier New" panose="02070309020205020404" pitchFamily="49" charset="0"/>
              </a:rPr>
              <a:t>2</a:t>
            </a:r>
          </a:p>
          <a:p>
            <a:r>
              <a:rPr lang="en-US" sz="2000" b="1" dirty="0">
                <a:solidFill>
                  <a:srgbClr val="FFFF00"/>
                </a:solidFill>
                <a:latin typeface="Nunito Sans" pitchFamily="2" charset="0"/>
                <a:cs typeface="Courier New" panose="02070309020205020404" pitchFamily="49" charset="0"/>
              </a:rPr>
              <a:t>3</a:t>
            </a:r>
          </a:p>
          <a:p>
            <a:r>
              <a:rPr lang="en-US" sz="2000" b="1" dirty="0">
                <a:solidFill>
                  <a:srgbClr val="FFFF00"/>
                </a:solidFill>
                <a:latin typeface="Nunito Sans" pitchFamily="2" charset="0"/>
                <a:cs typeface="Courier New" panose="02070309020205020404" pitchFamily="49" charset="0"/>
              </a:rPr>
              <a:t>4</a:t>
            </a:r>
          </a:p>
          <a:p>
            <a:r>
              <a:rPr lang="en-US" sz="2000" b="1" dirty="0">
                <a:solidFill>
                  <a:srgbClr val="FFFF00"/>
                </a:solidFill>
                <a:latin typeface="Nunito Sans" pitchFamily="2" charset="0"/>
                <a:cs typeface="Courier New" panose="02070309020205020404" pitchFamily="49" charset="0"/>
              </a:rPr>
              <a:t>5</a:t>
            </a:r>
          </a:p>
          <a:p>
            <a:r>
              <a:rPr lang="en-US" sz="2000" b="1" dirty="0">
                <a:solidFill>
                  <a:srgbClr val="FFFF00"/>
                </a:solidFill>
                <a:latin typeface="Nunito Sans" pitchFamily="2" charset="0"/>
                <a:cs typeface="Courier New" panose="02070309020205020404" pitchFamily="49" charset="0"/>
              </a:rPr>
              <a:t>6</a:t>
            </a:r>
          </a:p>
          <a:p>
            <a:r>
              <a:rPr lang="en-US" sz="2000" b="1" dirty="0">
                <a:solidFill>
                  <a:srgbClr val="FFFF00"/>
                </a:solidFill>
                <a:latin typeface="Nunito Sans" pitchFamily="2" charset="0"/>
                <a:cs typeface="Courier New" panose="02070309020205020404" pitchFamily="49" charset="0"/>
              </a:rPr>
              <a:t>7</a:t>
            </a:r>
          </a:p>
          <a:p>
            <a:r>
              <a:rPr lang="en-US" sz="2000" b="1" dirty="0">
                <a:solidFill>
                  <a:srgbClr val="FFFF00"/>
                </a:solidFill>
                <a:latin typeface="Nunito Sans" pitchFamily="2" charset="0"/>
                <a:cs typeface="Courier New" panose="02070309020205020404" pitchFamily="49" charset="0"/>
              </a:rPr>
              <a:t>8</a:t>
            </a:r>
          </a:p>
          <a:p>
            <a:r>
              <a:rPr lang="en-US" sz="2000" b="1" dirty="0">
                <a:solidFill>
                  <a:srgbClr val="FFFF00"/>
                </a:solidFill>
                <a:latin typeface="Nunito Sans" pitchFamily="2" charset="0"/>
                <a:cs typeface="Courier New" panose="02070309020205020404" pitchFamily="49" charset="0"/>
              </a:rPr>
              <a:t>9</a:t>
            </a:r>
          </a:p>
          <a:p>
            <a:r>
              <a:rPr lang="en-US" sz="2000" b="1" dirty="0">
                <a:solidFill>
                  <a:srgbClr val="FFFF00"/>
                </a:solidFill>
                <a:latin typeface="Nunito Sans" pitchFamily="2" charset="0"/>
                <a:cs typeface="Courier New" panose="02070309020205020404" pitchFamily="49" charset="0"/>
              </a:rPr>
              <a:t>10</a:t>
            </a:r>
          </a:p>
          <a:p>
            <a:r>
              <a:rPr lang="en-US" sz="2000" b="1" dirty="0">
                <a:solidFill>
                  <a:srgbClr val="FFFF00"/>
                </a:solidFill>
                <a:latin typeface="Nunito Sans" pitchFamily="2" charset="0"/>
                <a:cs typeface="Courier New" panose="02070309020205020404" pitchFamily="49" charset="0"/>
              </a:rPr>
              <a:t>11</a:t>
            </a:r>
          </a:p>
          <a:p>
            <a:r>
              <a:rPr lang="en-US" sz="2000" b="1" dirty="0">
                <a:solidFill>
                  <a:srgbClr val="FFFF00"/>
                </a:solidFill>
                <a:latin typeface="Nunito Sans" pitchFamily="2" charset="0"/>
                <a:cs typeface="Courier New" panose="02070309020205020404" pitchFamily="49" charset="0"/>
              </a:rPr>
              <a:t>12</a:t>
            </a:r>
          </a:p>
          <a:p>
            <a:r>
              <a:rPr lang="en-US" sz="2000" b="1" dirty="0">
                <a:solidFill>
                  <a:srgbClr val="FFFF00"/>
                </a:solidFill>
                <a:latin typeface="Nunito Sans" pitchFamily="2" charset="0"/>
                <a:cs typeface="Courier New" panose="02070309020205020404" pitchFamily="49" charset="0"/>
              </a:rPr>
              <a:t>13</a:t>
            </a:r>
          </a:p>
          <a:p>
            <a:r>
              <a:rPr lang="en-US" sz="2000" b="1" dirty="0">
                <a:solidFill>
                  <a:srgbClr val="FFFF00"/>
                </a:solidFill>
                <a:latin typeface="Nunito Sans" pitchFamily="2" charset="0"/>
                <a:cs typeface="Courier New" panose="02070309020205020404" pitchFamily="49" charset="0"/>
              </a:rPr>
              <a:t>14</a:t>
            </a:r>
          </a:p>
          <a:p>
            <a:r>
              <a:rPr lang="en-US" sz="2000" b="1" dirty="0">
                <a:solidFill>
                  <a:srgbClr val="FFFF00"/>
                </a:solidFill>
                <a:latin typeface="Nunito Sans" pitchFamily="2" charset="0"/>
                <a:cs typeface="Courier New" panose="02070309020205020404" pitchFamily="49" charset="0"/>
              </a:rPr>
              <a:t>15</a:t>
            </a:r>
          </a:p>
          <a:p>
            <a:r>
              <a:rPr lang="en-US" sz="2000" b="1" dirty="0">
                <a:solidFill>
                  <a:srgbClr val="FFFF00"/>
                </a:solidFill>
                <a:latin typeface="Nunito Sans" pitchFamily="2" charset="0"/>
                <a:cs typeface="Courier New" panose="02070309020205020404" pitchFamily="49" charset="0"/>
              </a:rPr>
              <a:t>16</a:t>
            </a:r>
          </a:p>
          <a:p>
            <a:r>
              <a:rPr lang="en-US" sz="2000" b="1" dirty="0">
                <a:solidFill>
                  <a:srgbClr val="FFFF00"/>
                </a:solidFill>
                <a:latin typeface="Nunito Sans" pitchFamily="2" charset="0"/>
                <a:cs typeface="Courier New" panose="02070309020205020404" pitchFamily="49" charset="0"/>
              </a:rPr>
              <a:t>17</a:t>
            </a:r>
          </a:p>
          <a:p>
            <a:r>
              <a:rPr lang="en-US" sz="2000" b="1" dirty="0">
                <a:solidFill>
                  <a:srgbClr val="FFFF00"/>
                </a:solidFill>
                <a:latin typeface="Nunito Sans" pitchFamily="2" charset="0"/>
                <a:cs typeface="Courier New" panose="02070309020205020404" pitchFamily="49" charset="0"/>
              </a:rPr>
              <a:t>18</a:t>
            </a:r>
          </a:p>
          <a:p>
            <a:r>
              <a:rPr lang="en-US" sz="2000" b="1" dirty="0">
                <a:solidFill>
                  <a:srgbClr val="FFFF00"/>
                </a:solidFill>
                <a:latin typeface="Nunito Sans" pitchFamily="2" charset="0"/>
                <a:cs typeface="Courier New" panose="02070309020205020404" pitchFamily="49" charset="0"/>
              </a:rPr>
              <a:t>19</a:t>
            </a:r>
          </a:p>
          <a:p>
            <a:r>
              <a:rPr lang="en-US" sz="2000" b="1" dirty="0">
                <a:solidFill>
                  <a:srgbClr val="FFFF00"/>
                </a:solidFill>
                <a:latin typeface="Nunito Sans" pitchFamily="2" charset="0"/>
                <a:cs typeface="Courier New" panose="02070309020205020404" pitchFamily="49" charset="0"/>
              </a:rPr>
              <a:t>20</a:t>
            </a:r>
          </a:p>
          <a:p>
            <a:r>
              <a:rPr lang="en-US" sz="2000" b="1" dirty="0">
                <a:solidFill>
                  <a:srgbClr val="FFFF00"/>
                </a:solidFill>
                <a:latin typeface="Nunito Sans" pitchFamily="2" charset="0"/>
                <a:cs typeface="Courier New" panose="02070309020205020404" pitchFamily="49" charset="0"/>
              </a:rPr>
              <a:t>21</a:t>
            </a:r>
          </a:p>
          <a:p>
            <a:r>
              <a:rPr lang="en-US" sz="2000" b="1" dirty="0">
                <a:solidFill>
                  <a:srgbClr val="FFFF00"/>
                </a:solidFill>
                <a:latin typeface="Nunito Sans" pitchFamily="2" charset="0"/>
                <a:cs typeface="Courier New" panose="02070309020205020404" pitchFamily="49" charset="0"/>
              </a:rPr>
              <a:t>22</a:t>
            </a:r>
          </a:p>
          <a:p>
            <a:endParaRPr lang="en-US" sz="2000" b="1" dirty="0">
              <a:solidFill>
                <a:srgbClr val="FFFF00"/>
              </a:solidFill>
              <a:latin typeface="Nunito Sans" pitchFamily="2"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955288"/>
            <a:ext cx="11673717" cy="5093702"/>
          </a:xfrm>
          <a:prstGeom prst="rect">
            <a:avLst/>
          </a:prstGeom>
          <a:noFill/>
        </p:spPr>
        <p:txBody>
          <a:bodyPr wrap="square">
            <a:spAutoFit/>
          </a:bodyPr>
          <a:lstStyle/>
          <a:p>
            <a:pPr algn="l"/>
            <a:r>
              <a:rPr lang="en-US" sz="2500" b="0" i="0" dirty="0">
                <a:effectLst/>
                <a:latin typeface="Nunito Sans" pitchFamily="2" charset="0"/>
              </a:rPr>
              <a:t>Your friend had a child. You wanted to give him a nice nickname of length N and k length repetitive by modifying his real name S of length N.</a:t>
            </a:r>
          </a:p>
          <a:p>
            <a:pPr algn="l"/>
            <a:r>
              <a:rPr lang="en-US" sz="2500" b="0" i="0" dirty="0">
                <a:effectLst/>
                <a:latin typeface="Nunito Sans" pitchFamily="2" charset="0"/>
              </a:rPr>
              <a:t>The nickname is called nice if and only if the S is a palindrome and the S has a period of k. (Here period nothing but repetition of the substring for every k intervals i.e.. S1 to k=S(k+1) to (2*k) =. .. . .= S(x*k+1) to N. Here you will be given string S length N and k where N % k=0. To make a nickname nice, you can use the following operation.</a:t>
            </a:r>
          </a:p>
          <a:p>
            <a:pPr algn="l"/>
            <a:r>
              <a:rPr lang="en-US" sz="2500" b="0" i="0" dirty="0">
                <a:effectLst/>
                <a:latin typeface="Nunito Sans" pitchFamily="2" charset="0"/>
              </a:rPr>
              <a:t>The operation follows:</a:t>
            </a:r>
          </a:p>
          <a:p>
            <a:pPr algn="l"/>
            <a:r>
              <a:rPr lang="en-US" sz="2500" b="0" i="0" dirty="0">
                <a:effectLst/>
                <a:latin typeface="Nunito Sans" pitchFamily="2" charset="0"/>
              </a:rPr>
              <a:t>You can choose any index (</a:t>
            </a:r>
            <a:r>
              <a:rPr lang="en-US" sz="2500" b="0" i="0" dirty="0" err="1">
                <a:effectLst/>
                <a:latin typeface="Nunito Sans" pitchFamily="2" charset="0"/>
              </a:rPr>
              <a:t>i</a:t>
            </a:r>
            <a:r>
              <a:rPr lang="en-US" sz="2500" b="0" i="0" dirty="0">
                <a:effectLst/>
                <a:latin typeface="Nunito Sans" pitchFamily="2" charset="0"/>
              </a:rPr>
              <a:t>) of the string S and change the </a:t>
            </a:r>
            <a:r>
              <a:rPr lang="en-US" sz="2500" b="0" i="0" dirty="0" err="1">
                <a:effectLst/>
                <a:latin typeface="Nunito Sans" pitchFamily="2" charset="0"/>
              </a:rPr>
              <a:t>ith</a:t>
            </a:r>
            <a:r>
              <a:rPr lang="en-US" sz="2500" b="0" i="0" dirty="0">
                <a:effectLst/>
                <a:latin typeface="Nunito Sans" pitchFamily="2" charset="0"/>
              </a:rPr>
              <a:t> letter with some other letter.</a:t>
            </a:r>
          </a:p>
          <a:p>
            <a:pPr algn="l"/>
            <a:r>
              <a:rPr lang="en-US" sz="2500" b="0" i="0" dirty="0">
                <a:effectLst/>
                <a:latin typeface="Nunito Sans" pitchFamily="2" charset="0"/>
              </a:rPr>
              <a:t>Find the minimum number of operations required to convert string S to a nice nickname. </a:t>
            </a:r>
          </a:p>
          <a:p>
            <a:pPr algn="l"/>
            <a:endParaRPr lang="en-US" sz="2500" b="0" i="0" dirty="0">
              <a:effectLst/>
              <a:latin typeface="Nunito Sans" pitchFamily="2" charset="0"/>
            </a:endParaRP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4718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345768" y="1167043"/>
            <a:ext cx="11673717" cy="5093702"/>
          </a:xfrm>
          <a:prstGeom prst="rect">
            <a:avLst/>
          </a:prstGeom>
          <a:noFill/>
        </p:spPr>
        <p:txBody>
          <a:bodyPr wrap="square">
            <a:spAutoFit/>
          </a:bodyPr>
          <a:lstStyle/>
          <a:p>
            <a:pPr algn="l"/>
            <a:r>
              <a:rPr lang="en-US" sz="2500" b="1" i="0" dirty="0">
                <a:effectLst/>
                <a:latin typeface="Nunito Sans" pitchFamily="2" charset="0"/>
              </a:rPr>
              <a:t>Example - 1:</a:t>
            </a:r>
            <a:endParaRPr lang="en-US" sz="2500" b="0" i="0" dirty="0">
              <a:effectLst/>
              <a:latin typeface="Nunito Sans" pitchFamily="2" charset="0"/>
            </a:endParaRPr>
          </a:p>
          <a:p>
            <a:pPr algn="l"/>
            <a:r>
              <a:rPr lang="en-US" sz="2500" b="0" i="0" dirty="0">
                <a:effectLst/>
                <a:latin typeface="Nunito Sans" pitchFamily="2" charset="0"/>
              </a:rPr>
              <a:t>Input:</a:t>
            </a:r>
          </a:p>
          <a:p>
            <a:pPr algn="l"/>
            <a:r>
              <a:rPr lang="en-US" sz="2500" b="0" i="0" dirty="0">
                <a:effectLst/>
                <a:latin typeface="Nunito Sans" pitchFamily="2" charset="0"/>
              </a:rPr>
              <a:t>8 2 ------&gt; N (length of the string) and</a:t>
            </a:r>
          </a:p>
          <a:p>
            <a:pPr algn="l"/>
            <a:r>
              <a:rPr lang="en-US" sz="2500" b="0" i="0" dirty="0" err="1">
                <a:effectLst/>
                <a:latin typeface="Nunito Sans" pitchFamily="2" charset="0"/>
              </a:rPr>
              <a:t>Abaacbaa</a:t>
            </a:r>
            <a:r>
              <a:rPr lang="en-US" sz="2500" b="0" i="0" dirty="0">
                <a:effectLst/>
                <a:latin typeface="Nunito Sans" pitchFamily="2" charset="0"/>
              </a:rPr>
              <a:t> ------&gt; String S.</a:t>
            </a:r>
          </a:p>
          <a:p>
            <a:pPr algn="l"/>
            <a:endParaRPr lang="en-US" sz="2500" b="0" i="0" dirty="0">
              <a:effectLst/>
              <a:latin typeface="Nunito Sans" pitchFamily="2" charset="0"/>
            </a:endParaRP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3</a:t>
            </a:r>
          </a:p>
          <a:p>
            <a:pPr algn="l"/>
            <a:r>
              <a:rPr lang="en-US" sz="2500" b="1" i="0" dirty="0">
                <a:effectLst/>
                <a:latin typeface="Nunito Sans" pitchFamily="2" charset="0"/>
              </a:rPr>
              <a:t>Explanation:</a:t>
            </a:r>
            <a:endParaRPr lang="en-US" sz="2500" b="0" i="0" dirty="0">
              <a:effectLst/>
              <a:latin typeface="Nunito Sans" pitchFamily="2" charset="0"/>
            </a:endParaRPr>
          </a:p>
          <a:p>
            <a:pPr algn="l"/>
            <a:r>
              <a:rPr lang="en-US" sz="2500" b="0" i="0" dirty="0">
                <a:effectLst/>
                <a:latin typeface="Nunito Sans" pitchFamily="2" charset="0"/>
              </a:rPr>
              <a:t>One possible solution is </a:t>
            </a:r>
            <a:r>
              <a:rPr lang="en-US" sz="2500" b="0" i="0" dirty="0" err="1">
                <a:effectLst/>
                <a:latin typeface="Nunito Sans" pitchFamily="2" charset="0"/>
              </a:rPr>
              <a:t>aaaaaaaa</a:t>
            </a:r>
            <a:r>
              <a:rPr lang="en-US" sz="2500" b="0" i="0" dirty="0">
                <a:effectLst/>
                <a:latin typeface="Nunito Sans" pitchFamily="2" charset="0"/>
              </a:rPr>
              <a:t>. so that we can get the minimum number of operations required to convert S to a nice nick name.</a:t>
            </a:r>
          </a:p>
          <a:p>
            <a:pPr algn="l"/>
            <a:endParaRPr lang="en-US" sz="2500" b="1" i="0" dirty="0">
              <a:effectLst/>
              <a:latin typeface="Nunito Sans" pitchFamily="2" charset="0"/>
            </a:endParaRPr>
          </a:p>
          <a:p>
            <a:pPr algn="l"/>
            <a:endParaRPr lang="en-US" sz="2500" b="0" i="0" dirty="0">
              <a:effectLst/>
              <a:latin typeface="Nunito Sans" pitchFamily="2" charset="0"/>
            </a:endParaRPr>
          </a:p>
          <a:p>
            <a:pPr algn="l"/>
            <a:endParaRPr lang="en-US" sz="2500" b="0" i="0" dirty="0">
              <a:effectLst/>
              <a:latin typeface="Nunito Sans" pitchFamily="2" charset="0"/>
            </a:endParaRPr>
          </a:p>
        </p:txBody>
      </p:sp>
    </p:spTree>
    <p:extLst>
      <p:ext uri="{BB962C8B-B14F-4D97-AF65-F5344CB8AC3E}">
        <p14:creationId xmlns:p14="http://schemas.microsoft.com/office/powerpoint/2010/main" val="50960977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4718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345768" y="1167043"/>
            <a:ext cx="11673717" cy="4708981"/>
          </a:xfrm>
          <a:prstGeom prst="rect">
            <a:avLst/>
          </a:prstGeom>
          <a:noFill/>
        </p:spPr>
        <p:txBody>
          <a:bodyPr wrap="square">
            <a:spAutoFit/>
          </a:bodyPr>
          <a:lstStyle/>
          <a:p>
            <a:pPr algn="l"/>
            <a:r>
              <a:rPr lang="en-US" sz="2500" b="1" i="0" dirty="0">
                <a:effectLst/>
                <a:latin typeface="Nunito Sans" pitchFamily="2" charset="0"/>
              </a:rPr>
              <a:t>Example - 2:</a:t>
            </a:r>
            <a:endParaRPr lang="en-US" sz="2500" b="0" i="0" dirty="0">
              <a:effectLst/>
              <a:latin typeface="Nunito Sans" pitchFamily="2" charset="0"/>
            </a:endParaRPr>
          </a:p>
          <a:p>
            <a:pPr algn="l"/>
            <a:r>
              <a:rPr lang="en-US" sz="2500" b="1" i="0" dirty="0">
                <a:effectLst/>
                <a:latin typeface="Nunito Sans" pitchFamily="2" charset="0"/>
              </a:rPr>
              <a:t>Input: </a:t>
            </a:r>
            <a:endParaRPr lang="en-US" sz="2500" b="0" i="0" dirty="0">
              <a:effectLst/>
              <a:latin typeface="Nunito Sans" pitchFamily="2" charset="0"/>
            </a:endParaRPr>
          </a:p>
          <a:p>
            <a:pPr algn="l"/>
            <a:r>
              <a:rPr lang="en-US" sz="2500" b="0" i="0" dirty="0">
                <a:effectLst/>
                <a:latin typeface="Nunito Sans" pitchFamily="2" charset="0"/>
              </a:rPr>
              <a:t>10 2</a:t>
            </a:r>
          </a:p>
          <a:p>
            <a:pPr algn="l"/>
            <a:r>
              <a:rPr lang="en-US" sz="2500" b="0" i="0" dirty="0" err="1">
                <a:effectLst/>
                <a:latin typeface="Nunito Sans" pitchFamily="2" charset="0"/>
              </a:rPr>
              <a:t>Aabcbaacba</a:t>
            </a:r>
            <a:endParaRPr lang="en-US" sz="2500" b="0" i="0" dirty="0">
              <a:effectLst/>
              <a:latin typeface="Nunito Sans" pitchFamily="2" charset="0"/>
            </a:endParaRPr>
          </a:p>
          <a:p>
            <a:pPr algn="l"/>
            <a:r>
              <a:rPr lang="en-US" sz="2500" b="1" i="0" dirty="0">
                <a:effectLst/>
                <a:latin typeface="Nunito Sans" pitchFamily="2" charset="0"/>
              </a:rPr>
              <a:t>Output: </a:t>
            </a:r>
            <a:endParaRPr lang="en-US" sz="2500" b="0" i="0" dirty="0">
              <a:effectLst/>
              <a:latin typeface="Nunito Sans" pitchFamily="2" charset="0"/>
            </a:endParaRPr>
          </a:p>
          <a:p>
            <a:pPr algn="l"/>
            <a:r>
              <a:rPr lang="en-US" sz="2500" b="0" i="0" dirty="0">
                <a:effectLst/>
                <a:latin typeface="Nunito Sans" pitchFamily="2" charset="0"/>
              </a:rPr>
              <a:t>5</a:t>
            </a:r>
          </a:p>
          <a:p>
            <a:pPr algn="l"/>
            <a:r>
              <a:rPr lang="en-US" sz="2500" b="1" i="0" dirty="0">
                <a:effectLst/>
                <a:latin typeface="Nunito Sans" pitchFamily="2" charset="0"/>
              </a:rPr>
              <a:t>Constraints:</a:t>
            </a:r>
            <a:endParaRPr lang="en-US" sz="2500" b="0" i="0" dirty="0">
              <a:effectLst/>
              <a:latin typeface="Nunito Sans" pitchFamily="2" charset="0"/>
            </a:endParaRPr>
          </a:p>
          <a:p>
            <a:pPr algn="l"/>
            <a:r>
              <a:rPr lang="en-US" sz="2500" b="0" i="0" dirty="0">
                <a:effectLst/>
                <a:latin typeface="Nunito Sans" pitchFamily="2" charset="0"/>
              </a:rPr>
              <a:t>1&lt;=N&lt;=105</a:t>
            </a:r>
          </a:p>
          <a:p>
            <a:pPr algn="l"/>
            <a:r>
              <a:rPr lang="en-US" sz="2500" b="0" i="0" dirty="0">
                <a:effectLst/>
                <a:latin typeface="Nunito Sans" pitchFamily="2" charset="0"/>
              </a:rPr>
              <a:t>1&lt;=N and </a:t>
            </a:r>
            <a:r>
              <a:rPr lang="en-US" sz="2500" b="0" i="0" dirty="0" err="1">
                <a:effectLst/>
                <a:latin typeface="Nunito Sans" pitchFamily="2" charset="0"/>
              </a:rPr>
              <a:t>N%k</a:t>
            </a:r>
            <a:r>
              <a:rPr lang="en-US" sz="2500" b="0" i="0" dirty="0">
                <a:effectLst/>
                <a:latin typeface="Nunito Sans" pitchFamily="2" charset="0"/>
              </a:rPr>
              <a:t>=0</a:t>
            </a:r>
          </a:p>
          <a:p>
            <a:pPr algn="l"/>
            <a:r>
              <a:rPr lang="en-US" sz="2500" b="1" i="0" dirty="0">
                <a:effectLst/>
                <a:latin typeface="Nunito Sans" pitchFamily="2" charset="0"/>
              </a:rPr>
              <a:t>The input format for testing:</a:t>
            </a:r>
            <a:endParaRPr lang="en-US" sz="2500" b="0" i="0" dirty="0">
              <a:effectLst/>
              <a:latin typeface="Nunito Sans" pitchFamily="2" charset="0"/>
            </a:endParaRPr>
          </a:p>
          <a:p>
            <a:pPr algn="l"/>
            <a:r>
              <a:rPr lang="en-US" sz="2500" b="0" i="0" dirty="0">
                <a:effectLst/>
                <a:latin typeface="Nunito Sans" pitchFamily="2" charset="0"/>
              </a:rPr>
              <a:t>The first line represents the N and K.</a:t>
            </a:r>
          </a:p>
          <a:p>
            <a:pPr algn="l"/>
            <a:r>
              <a:rPr lang="en-US" sz="2500" b="0" i="0" dirty="0">
                <a:effectLst/>
                <a:latin typeface="Nunito Sans" pitchFamily="2" charset="0"/>
              </a:rPr>
              <a:t>The second line represents the string S.</a:t>
            </a:r>
          </a:p>
        </p:txBody>
      </p:sp>
    </p:spTree>
    <p:extLst>
      <p:ext uri="{BB962C8B-B14F-4D97-AF65-F5344CB8AC3E}">
        <p14:creationId xmlns:p14="http://schemas.microsoft.com/office/powerpoint/2010/main" val="1070640991"/>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4718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345768" y="1167043"/>
            <a:ext cx="11673717" cy="2015936"/>
          </a:xfrm>
          <a:prstGeom prst="rect">
            <a:avLst/>
          </a:prstGeom>
          <a:noFill/>
        </p:spPr>
        <p:txBody>
          <a:bodyPr wrap="square">
            <a:spAutoFit/>
          </a:bodyPr>
          <a:lstStyle/>
          <a:p>
            <a:pPr algn="l"/>
            <a:r>
              <a:rPr lang="en-US" sz="2500" b="1" i="0" dirty="0">
                <a:effectLst/>
                <a:latin typeface="Nunito Sans" pitchFamily="2" charset="0"/>
              </a:rPr>
              <a:t>The output format for testing:</a:t>
            </a:r>
            <a:endParaRPr lang="en-US" sz="2500" b="0" i="0" dirty="0">
              <a:effectLst/>
              <a:latin typeface="Nunito Sans" pitchFamily="2" charset="0"/>
            </a:endParaRPr>
          </a:p>
          <a:p>
            <a:pPr algn="l"/>
            <a:r>
              <a:rPr lang="en-US" sz="2500" b="0" i="0" dirty="0">
                <a:effectLst/>
                <a:latin typeface="Nunito Sans" pitchFamily="2" charset="0"/>
              </a:rPr>
              <a:t>Print the minimum number of operations required to convert the string S to a nice nickname.</a:t>
            </a:r>
          </a:p>
          <a:p>
            <a:pPr algn="l"/>
            <a:r>
              <a:rPr lang="en-US" sz="2500" b="1" i="0" dirty="0">
                <a:effectLst/>
                <a:latin typeface="Nunito Sans" pitchFamily="2" charset="0"/>
              </a:rPr>
              <a:t>Instructions:</a:t>
            </a:r>
            <a:endParaRPr lang="en-US" sz="2500" b="0" i="0" dirty="0">
              <a:effectLst/>
              <a:latin typeface="Nunito Sans" pitchFamily="2" charset="0"/>
            </a:endParaRPr>
          </a:p>
          <a:p>
            <a:pPr algn="l"/>
            <a:r>
              <a:rPr lang="en-US" sz="2500" b="0" i="0" dirty="0">
                <a:effectLst/>
                <a:latin typeface="Nunito Sans" pitchFamily="2" charset="0"/>
              </a:rPr>
              <a:t>The system does not allow any kind of hard coded input</a:t>
            </a:r>
          </a:p>
        </p:txBody>
      </p:sp>
    </p:spTree>
    <p:extLst>
      <p:ext uri="{BB962C8B-B14F-4D97-AF65-F5344CB8AC3E}">
        <p14:creationId xmlns:p14="http://schemas.microsoft.com/office/powerpoint/2010/main" val="3603536718"/>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minOperationsForNiceNickname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String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operations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Count the frequency of characters at indices </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 and (k - </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 - 1)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Find the most frequent character and calculate the total frequency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Math</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Nunito Sans" pitchFamily="2" charset="0"/>
                <a:cs typeface="Courier New" panose="02070309020205020404" pitchFamily="49" charset="0"/>
              </a:rPr>
              <a:t>    </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Subtract the most frequent character's frequency from the total frequency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operations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operations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minOperationsForNiceNickname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minOperations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string.h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minOperationsForNiceNickname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operations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Count the frequency of characters at indices </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 and (k - </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 - 1)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Find the most frequent character and calculate the total frequency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508106076"/>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Subtract the most frequent character's frequency from the total frequency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operations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operations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 %d"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minOperationsForNiceNickname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76567209"/>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string</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vector</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minOperationsForNiceNickname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string</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operations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Count the frequency of characters at indices </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 and (k - </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 - 1)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Find the most frequent character and calculate the total frequency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US" sz="2000" b="1" dirty="0">
                <a:solidFill>
                  <a:schemeClr val="bg1"/>
                </a:solidFill>
                <a:latin typeface="Nunito Sans" pitchFamily="2" charset="0"/>
                <a:cs typeface="Courier New" panose="02070309020205020404" pitchFamily="49" charset="0"/>
              </a:rPr>
              <a:t>          </a:t>
            </a:r>
            <a:r>
              <a:rPr lang="en-IN" sz="2000" b="0" dirty="0" err="1">
                <a:solidFill>
                  <a:srgbClr val="D4D4D4"/>
                </a:solidFill>
                <a:effectLst/>
                <a:latin typeface="Nunito Sans" pitchFamily="2" charset="0"/>
              </a:rPr>
              <a:t>maxFreq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30587479"/>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Subtract the most frequent character's frequency from the total frequency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operations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totalFreq</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maxFreq</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operations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minOperationsForNiceNickname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minOperations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49262050"/>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min_operations_for_nice_nickname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operations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 //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4D4D4"/>
                </a:solidFill>
                <a:effectLst/>
                <a:latin typeface="Nunito Sans" pitchFamily="2" charset="0"/>
              </a:rPr>
              <a:t> =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26</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Count the frequency of characters at indices </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 and (k - </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 - 1)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j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err="1">
                <a:solidFill>
                  <a:srgbClr val="569CD6"/>
                </a:solidFill>
                <a:effectLst/>
                <a:latin typeface="Nunito Sans" pitchFamily="2" charset="0"/>
              </a:rPr>
              <a:t>ord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err="1">
                <a:solidFill>
                  <a:srgbClr val="569CD6"/>
                </a:solidFill>
                <a:effectLst/>
                <a:latin typeface="Nunito Sans" pitchFamily="2" charset="0"/>
              </a:rPr>
              <a:t>ord</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r>
              <a:rPr lang="en-IN" sz="2000" b="0" dirty="0" err="1">
                <a:solidFill>
                  <a:srgbClr val="569CD6"/>
                </a:solidFill>
                <a:effectLst/>
                <a:latin typeface="Nunito Sans" pitchFamily="2" charset="0"/>
              </a:rPr>
              <a:t>ord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 -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err="1">
                <a:solidFill>
                  <a:srgbClr val="569CD6"/>
                </a:solidFill>
                <a:effectLst/>
                <a:latin typeface="Nunito Sans" pitchFamily="2" charset="0"/>
              </a:rPr>
              <a:t>ord</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max_freq</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total_freq</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Find the most frequent character and calculate the total frequency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f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freq</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max_freq</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max_freq</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total_freq</a:t>
            </a:r>
            <a:r>
              <a:rPr lang="en-IN" sz="2000" b="0" dirty="0">
                <a:solidFill>
                  <a:srgbClr val="D4D4D4"/>
                </a:solidFill>
                <a:effectLst/>
                <a:latin typeface="Nunito Sans" pitchFamily="2" charset="0"/>
              </a:rPr>
              <a:t> += f</a:t>
            </a: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#Subtract the most frequent character's frequency from the total frequency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operations += </a:t>
            </a:r>
            <a:r>
              <a:rPr lang="en-IN" sz="2000" b="0" dirty="0" err="1">
                <a:solidFill>
                  <a:srgbClr val="D4D4D4"/>
                </a:solidFill>
                <a:effectLst/>
                <a:latin typeface="Nunito Sans" pitchFamily="2" charset="0"/>
              </a:rPr>
              <a:t>total_freq</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max_freq</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operations</a:t>
            </a:r>
          </a:p>
          <a:p>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 </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S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min_operations</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min_operations_for_nice_nickname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min_operations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19667165"/>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955288"/>
            <a:ext cx="11673717" cy="5370701"/>
          </a:xfrm>
          <a:prstGeom prst="rect">
            <a:avLst/>
          </a:prstGeom>
          <a:noFill/>
        </p:spPr>
        <p:txBody>
          <a:bodyPr wrap="square">
            <a:spAutoFit/>
          </a:bodyPr>
          <a:lstStyle/>
          <a:p>
            <a:pPr algn="l"/>
            <a:r>
              <a:rPr lang="en-US" sz="2500" b="0" i="0" dirty="0">
                <a:effectLst/>
                <a:latin typeface="Nunito Sans" pitchFamily="2" charset="0"/>
              </a:rPr>
              <a:t>Ria likes to play a number game always. Today she decided to find the largest number that can be made using all of the digits of the given input(Non negative integer) value </a:t>
            </a:r>
            <a:r>
              <a:rPr lang="en-US" sz="2500" b="1" i="0" dirty="0">
                <a:effectLst/>
                <a:latin typeface="Nunito Sans" pitchFamily="2" charset="0"/>
              </a:rPr>
              <a:t>N</a:t>
            </a:r>
            <a:r>
              <a:rPr lang="en-US" sz="2500" b="0" i="0" dirty="0">
                <a:effectLst/>
                <a:latin typeface="Nunito Sans" pitchFamily="2" charset="0"/>
              </a:rPr>
              <a:t>.</a:t>
            </a:r>
          </a:p>
          <a:p>
            <a:pPr algn="l"/>
            <a:r>
              <a:rPr lang="en-US" sz="2500" b="1" i="0" dirty="0">
                <a:effectLst/>
                <a:latin typeface="Nunito Sans" pitchFamily="2" charset="0"/>
              </a:rPr>
              <a:t>Example 1:</a:t>
            </a:r>
            <a:endParaRPr lang="en-US" sz="2500" b="0" i="0" dirty="0">
              <a:effectLst/>
              <a:latin typeface="Nunito Sans" pitchFamily="2" charset="0"/>
            </a:endParaRPr>
          </a:p>
          <a:p>
            <a:pPr algn="l"/>
            <a:r>
              <a:rPr lang="en-US" sz="2500" b="1" i="0" dirty="0">
                <a:effectLst/>
                <a:latin typeface="Nunito Sans" pitchFamily="2" charset="0"/>
              </a:rPr>
              <a:t>Input :</a:t>
            </a:r>
            <a:endParaRPr lang="en-US" sz="2500" b="0" i="0" dirty="0">
              <a:effectLst/>
              <a:latin typeface="Nunito Sans" pitchFamily="2" charset="0"/>
            </a:endParaRPr>
          </a:p>
          <a:p>
            <a:pPr algn="l"/>
            <a:r>
              <a:rPr lang="en-US" sz="2500" b="0" i="0" dirty="0">
                <a:effectLst/>
                <a:latin typeface="Nunito Sans" pitchFamily="2" charset="0"/>
              </a:rPr>
              <a:t>3675092 -&gt; value of </a:t>
            </a:r>
            <a:r>
              <a:rPr lang="en-US" sz="2500" b="1" i="0" dirty="0">
                <a:effectLst/>
                <a:latin typeface="Nunito Sans" pitchFamily="2" charset="0"/>
              </a:rPr>
              <a:t>N</a:t>
            </a:r>
            <a:endParaRPr lang="en-US" sz="2500" b="0" i="0" dirty="0">
              <a:effectLst/>
              <a:latin typeface="Nunito Sans" pitchFamily="2" charset="0"/>
            </a:endParaRP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9765320</a:t>
            </a:r>
          </a:p>
          <a:p>
            <a:pPr algn="l"/>
            <a:r>
              <a:rPr lang="en-US" sz="2500" b="1" i="0" dirty="0">
                <a:effectLst/>
                <a:latin typeface="Nunito Sans" pitchFamily="2" charset="0"/>
              </a:rPr>
              <a:t>Example 2 :</a:t>
            </a:r>
            <a:endParaRPr lang="en-US" sz="2500" b="0" i="0" dirty="0">
              <a:effectLst/>
              <a:latin typeface="Nunito Sans" pitchFamily="2" charset="0"/>
            </a:endParaRPr>
          </a:p>
          <a:p>
            <a:pPr algn="l"/>
            <a:r>
              <a:rPr lang="en-US" sz="2500" b="1" i="0" dirty="0">
                <a:effectLst/>
                <a:latin typeface="Nunito Sans" pitchFamily="2" charset="0"/>
              </a:rPr>
              <a:t>Input:</a:t>
            </a:r>
            <a:endParaRPr lang="en-US" sz="2500" b="0" i="0" dirty="0">
              <a:effectLst/>
              <a:latin typeface="Nunito Sans" pitchFamily="2" charset="0"/>
            </a:endParaRPr>
          </a:p>
          <a:p>
            <a:pPr algn="l"/>
            <a:r>
              <a:rPr lang="en-US" sz="2500" b="0" i="0" dirty="0">
                <a:effectLst/>
                <a:latin typeface="Nunito Sans" pitchFamily="2" charset="0"/>
              </a:rPr>
              <a:t>2856 -&gt; value of </a:t>
            </a:r>
            <a:r>
              <a:rPr lang="en-US" sz="2500" b="1" i="0" dirty="0">
                <a:effectLst/>
                <a:latin typeface="Nunito Sans" pitchFamily="2" charset="0"/>
              </a:rPr>
              <a:t>N</a:t>
            </a:r>
            <a:endParaRPr lang="en-US" sz="2500" b="0" i="0" dirty="0">
              <a:effectLst/>
              <a:latin typeface="Nunito Sans" pitchFamily="2" charset="0"/>
            </a:endParaRP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8652</a:t>
            </a:r>
          </a:p>
          <a:p>
            <a:pPr algn="l"/>
            <a:endParaRPr lang="en-US" b="0" i="0" dirty="0">
              <a:effectLst/>
              <a:latin typeface="Nunito Sans" pitchFamily="2" charset="0"/>
            </a:endParaRPr>
          </a:p>
        </p:txBody>
      </p:sp>
    </p:spTree>
    <p:extLst>
      <p:ext uri="{BB962C8B-B14F-4D97-AF65-F5344CB8AC3E}">
        <p14:creationId xmlns:p14="http://schemas.microsoft.com/office/powerpoint/2010/main" val="274813654"/>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955288"/>
            <a:ext cx="11673717" cy="2785378"/>
          </a:xfrm>
          <a:prstGeom prst="rect">
            <a:avLst/>
          </a:prstGeom>
          <a:noFill/>
        </p:spPr>
        <p:txBody>
          <a:bodyPr wrap="square">
            <a:spAutoFit/>
          </a:bodyPr>
          <a:lstStyle/>
          <a:p>
            <a:pPr algn="l"/>
            <a:r>
              <a:rPr lang="en-US" sz="2500" b="1" i="0" dirty="0">
                <a:effectLst/>
                <a:latin typeface="Nunito Sans" pitchFamily="2" charset="0"/>
              </a:rPr>
              <a:t>Note:</a:t>
            </a:r>
            <a:endParaRPr lang="en-US" sz="2500" b="0" i="0" dirty="0">
              <a:effectLst/>
              <a:latin typeface="Nunito Sans" pitchFamily="2" charset="0"/>
            </a:endParaRPr>
          </a:p>
          <a:p>
            <a:pPr algn="l"/>
            <a:r>
              <a:rPr lang="en-US" sz="2500" b="0" i="0" dirty="0">
                <a:effectLst/>
                <a:latin typeface="Nunito Sans" pitchFamily="2" charset="0"/>
              </a:rPr>
              <a:t>Since, input value, N accepts integer value only, hence digit 0 that comes before the first non-zero digit should not take into consideration of input.</a:t>
            </a:r>
          </a:p>
          <a:p>
            <a:pPr algn="l"/>
            <a:r>
              <a:rPr lang="en-US" sz="2500" b="1" i="0" dirty="0">
                <a:effectLst/>
                <a:latin typeface="Nunito Sans" pitchFamily="2" charset="0"/>
              </a:rPr>
              <a:t>Constraints:</a:t>
            </a:r>
            <a:endParaRPr lang="en-US" sz="2500" b="0" i="0" dirty="0">
              <a:effectLst/>
              <a:latin typeface="Nunito Sans" pitchFamily="2" charset="0"/>
            </a:endParaRPr>
          </a:p>
          <a:p>
            <a:pPr algn="l"/>
            <a:r>
              <a:rPr lang="en-US" sz="2500" b="0" i="0" dirty="0">
                <a:effectLst/>
                <a:latin typeface="Nunito Sans" pitchFamily="2" charset="0"/>
              </a:rPr>
              <a:t>1&lt;N&lt;10000000</a:t>
            </a:r>
          </a:p>
          <a:p>
            <a:pPr algn="l"/>
            <a:r>
              <a:rPr lang="en-US" sz="2500" b="1" i="0" dirty="0">
                <a:effectLst/>
                <a:latin typeface="Nunito Sans" pitchFamily="2" charset="0"/>
              </a:rPr>
              <a:t>The input format for testing:</a:t>
            </a:r>
            <a:endParaRPr lang="en-US" sz="2500" b="0" i="0" dirty="0">
              <a:effectLst/>
              <a:latin typeface="Nunito Sans" pitchFamily="2" charset="0"/>
            </a:endParaRPr>
          </a:p>
          <a:p>
            <a:pPr algn="l"/>
            <a:r>
              <a:rPr lang="en-US" sz="2500" b="0" i="0" dirty="0">
                <a:effectLst/>
                <a:latin typeface="Nunito Sans" pitchFamily="2" charset="0"/>
              </a:rPr>
              <a:t>The candidate has to write the court to accept a positive integer number.</a:t>
            </a:r>
          </a:p>
        </p:txBody>
      </p:sp>
    </p:spTree>
    <p:extLst>
      <p:ext uri="{BB962C8B-B14F-4D97-AF65-F5344CB8AC3E}">
        <p14:creationId xmlns:p14="http://schemas.microsoft.com/office/powerpoint/2010/main" val="429210347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stdlib.h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string.h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compare</a:t>
            </a:r>
            <a:r>
              <a:rPr lang="en-IN" sz="2000" b="0" dirty="0">
                <a:solidFill>
                  <a:srgbClr val="DCDCDC"/>
                </a:solidFill>
                <a:effectLst/>
                <a:latin typeface="Nunito Sans" pitchFamily="2" charset="0"/>
              </a:rPr>
              <a:t>(</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largestNumber</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numStr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sprintf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qsort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sizeof</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compare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strdup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largestNumber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free</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largestNum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518152208"/>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algorithm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compare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string </a:t>
            </a:r>
            <a:r>
              <a:rPr lang="en-IN" sz="2000" b="0" dirty="0" err="1">
                <a:solidFill>
                  <a:srgbClr val="D4D4D4"/>
                </a:solidFill>
                <a:effectLst/>
                <a:latin typeface="Nunito Sans" pitchFamily="2" charset="0"/>
              </a:rPr>
              <a:t>largestNumber</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numStr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to_string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sort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numStr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begin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numStr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compare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largestNum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largestNumber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923073579"/>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Arrays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largestNumber</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numStr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Integer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toString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numArr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numStr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toCharArray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Arrays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sort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numArr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StringBuilder </a:t>
            </a:r>
            <a:r>
              <a:rPr lang="en-IN" sz="2000" b="0" dirty="0" err="1">
                <a:solidFill>
                  <a:srgbClr val="D4D4D4"/>
                </a:solidFill>
                <a:effectLst/>
                <a:latin typeface="Nunito Sans" pitchFamily="2" charset="0"/>
              </a:rPr>
              <a:t>sb</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StringBuilder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numArr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sb</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append</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sb</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toString</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largestNum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largestNumber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largestNum</a:t>
            </a:r>
            <a:r>
              <a:rPr lang="en-IN" sz="2000" b="0" dirty="0">
                <a:solidFill>
                  <a:srgbClr val="DCDCDC"/>
                </a:solidFill>
                <a:effectLst/>
                <a:latin typeface="Nunito Sans" pitchFamily="2" charset="0"/>
              </a:rPr>
              <a:t>); }}</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43887288"/>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largestNumber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numStr</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numArr</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numArr.sort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reverse=</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a:t>
            </a:r>
            <a:r>
              <a:rPr lang="en-IN" sz="2000" b="0" dirty="0">
                <a:solidFill>
                  <a:srgbClr val="D4D4D4"/>
                </a:solidFill>
                <a:effectLst/>
                <a:latin typeface="Nunito Sans" pitchFamily="2" charset="0"/>
              </a:rPr>
              <a:t> = </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.join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numArr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largestNum</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largestNum</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largestNumber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largestNum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68062056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1305341"/>
            <a:ext cx="11673717" cy="5093702"/>
          </a:xfrm>
          <a:prstGeom prst="rect">
            <a:avLst/>
          </a:prstGeom>
          <a:noFill/>
        </p:spPr>
        <p:txBody>
          <a:bodyPr wrap="square">
            <a:spAutoFit/>
          </a:bodyPr>
          <a:lstStyle/>
          <a:p>
            <a:pPr algn="l"/>
            <a:r>
              <a:rPr lang="en-US" sz="2500" b="0" i="0" dirty="0">
                <a:effectLst/>
                <a:latin typeface="Nunito Sans" pitchFamily="2" charset="0"/>
              </a:rPr>
              <a:t>Rahul, a mathematical genius will be given a positive number N and he needs to reduce it to 0 (zero) by following operations </a:t>
            </a:r>
          </a:p>
          <a:p>
            <a:pPr algn="l"/>
            <a:r>
              <a:rPr lang="en-US" sz="2500" b="0" i="0" dirty="0">
                <a:effectLst/>
                <a:latin typeface="Nunito Sans" pitchFamily="2" charset="0"/>
              </a:rPr>
              <a:t>mentioned as under:</a:t>
            </a:r>
          </a:p>
          <a:p>
            <a:pPr algn="l"/>
            <a:r>
              <a:rPr lang="en-US" sz="2500" b="0" i="0" dirty="0">
                <a:effectLst/>
                <a:latin typeface="Nunito Sans" pitchFamily="2" charset="0"/>
              </a:rPr>
              <a:t>Take one of the divisors of N – which is different from N itself and subtract it from N.</a:t>
            </a:r>
          </a:p>
          <a:p>
            <a:pPr algn="l"/>
            <a:r>
              <a:rPr lang="en-US" sz="2500" b="0" i="0" dirty="0">
                <a:effectLst/>
                <a:latin typeface="Nunito Sans" pitchFamily="2" charset="0"/>
              </a:rPr>
              <a:t>Perform the above operation till the original number is reduced to 0 (zero).</a:t>
            </a:r>
          </a:p>
          <a:p>
            <a:pPr algn="l"/>
            <a:r>
              <a:rPr lang="en-US" sz="2500" b="0" i="0" dirty="0">
                <a:effectLst/>
                <a:latin typeface="Nunito Sans" pitchFamily="2" charset="0"/>
              </a:rPr>
              <a:t>The task here is to find the minimum number of steps Rahul needs to perform such that N is reduced to 0 (zero)</a:t>
            </a:r>
          </a:p>
          <a:p>
            <a:pPr algn="l"/>
            <a:r>
              <a:rPr lang="en-US" sz="2500" b="1" i="0" dirty="0">
                <a:effectLst/>
                <a:latin typeface="Nunito Sans" pitchFamily="2" charset="0"/>
              </a:rPr>
              <a:t>Note:</a:t>
            </a:r>
            <a:endParaRPr lang="en-US" sz="2500" b="0" i="0" dirty="0">
              <a:effectLst/>
              <a:latin typeface="Nunito Sans" pitchFamily="2" charset="0"/>
            </a:endParaRPr>
          </a:p>
          <a:p>
            <a:pPr algn="l"/>
            <a:r>
              <a:rPr lang="en-US" sz="2500" b="0" i="0" dirty="0">
                <a:effectLst/>
                <a:latin typeface="Nunito Sans" pitchFamily="2" charset="0"/>
              </a:rPr>
              <a:t>If the N is 1 during the operation, then in order to reduce 1 to 0 (zero) subtract 1 from it. </a:t>
            </a:r>
          </a:p>
          <a:p>
            <a:pPr algn="l"/>
            <a:r>
              <a:rPr lang="en-US" sz="2500" b="0" i="0" dirty="0">
                <a:effectLst/>
                <a:latin typeface="Nunito Sans" pitchFamily="2" charset="0"/>
              </a:rPr>
              <a:t>It is shown in the following examples</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482210593"/>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1089583"/>
            <a:ext cx="11673717" cy="6247864"/>
          </a:xfrm>
          <a:prstGeom prst="rect">
            <a:avLst/>
          </a:prstGeom>
          <a:noFill/>
        </p:spPr>
        <p:txBody>
          <a:bodyPr wrap="square">
            <a:spAutoFit/>
          </a:bodyPr>
          <a:lstStyle/>
          <a:p>
            <a:pPr algn="l"/>
            <a:r>
              <a:rPr lang="en-US" sz="2500" b="1" i="0" dirty="0">
                <a:effectLst/>
                <a:latin typeface="Nunito Sans" pitchFamily="2" charset="0"/>
              </a:rPr>
              <a:t>Example 1</a:t>
            </a:r>
            <a:endParaRPr lang="en-US" sz="2500" b="0" i="0" dirty="0">
              <a:effectLst/>
              <a:latin typeface="Nunito Sans" pitchFamily="2" charset="0"/>
            </a:endParaRPr>
          </a:p>
          <a:p>
            <a:pPr algn="l"/>
            <a:r>
              <a:rPr lang="en-US" sz="2500" b="0" i="0" dirty="0">
                <a:effectLst/>
                <a:latin typeface="Nunito Sans" pitchFamily="2" charset="0"/>
              </a:rPr>
              <a:t>Input </a:t>
            </a:r>
          </a:p>
          <a:p>
            <a:pPr algn="l"/>
            <a:r>
              <a:rPr lang="en-US" sz="2500" b="0" i="0" dirty="0">
                <a:effectLst/>
                <a:latin typeface="Nunito Sans" pitchFamily="2" charset="0"/>
              </a:rPr>
              <a:t>5</a:t>
            </a:r>
          </a:p>
          <a:p>
            <a:pPr algn="l"/>
            <a:r>
              <a:rPr lang="en-US" sz="2500" b="0" i="0" dirty="0">
                <a:effectLst/>
                <a:latin typeface="Nunito Sans" pitchFamily="2" charset="0"/>
              </a:rPr>
              <a:t>Output</a:t>
            </a:r>
          </a:p>
          <a:p>
            <a:pPr algn="l"/>
            <a:r>
              <a:rPr lang="en-US" sz="2500" b="0" i="0" dirty="0">
                <a:effectLst/>
                <a:latin typeface="Nunito Sans" pitchFamily="2" charset="0"/>
              </a:rPr>
              <a:t>4</a:t>
            </a:r>
          </a:p>
          <a:p>
            <a:pPr algn="l"/>
            <a:endParaRPr lang="en-US" sz="2500" b="0" i="0" dirty="0">
              <a:effectLst/>
              <a:latin typeface="Nunito Sans" pitchFamily="2" charset="0"/>
            </a:endParaRPr>
          </a:p>
          <a:p>
            <a:pPr algn="l"/>
            <a:r>
              <a:rPr lang="en-US" sz="2500" b="0" i="0" dirty="0">
                <a:effectLst/>
                <a:latin typeface="Nunito Sans" pitchFamily="2" charset="0"/>
              </a:rPr>
              <a:t>Explanation </a:t>
            </a:r>
          </a:p>
          <a:p>
            <a:pPr algn="l"/>
            <a:r>
              <a:rPr lang="en-US" sz="2500" b="0" i="0" dirty="0">
                <a:effectLst/>
                <a:latin typeface="Nunito Sans" pitchFamily="2" charset="0"/>
              </a:rPr>
              <a:t>Divisors of 5 are 1, 5 but you cannot subtract 5 so then subtract 1 from 5</a:t>
            </a:r>
          </a:p>
          <a:p>
            <a:pPr algn="l"/>
            <a:r>
              <a:rPr lang="en-US" sz="2500" b="0" i="0" dirty="0">
                <a:effectLst/>
                <a:latin typeface="Nunito Sans" pitchFamily="2" charset="0"/>
              </a:rPr>
              <a:t>The reduced number is 5-1 = 4</a:t>
            </a:r>
          </a:p>
          <a:p>
            <a:pPr algn="l"/>
            <a:r>
              <a:rPr lang="en-US" sz="2500" b="0" i="0" dirty="0">
                <a:effectLst/>
                <a:latin typeface="Nunito Sans" pitchFamily="2" charset="0"/>
              </a:rPr>
              <a:t>Divisors of 4 are 1, 2 and 4 but you cannot subtract 4 so reduce it by 2, after reducing it by 2, number becomes 4 – 2 = 2</a:t>
            </a:r>
          </a:p>
          <a:p>
            <a:pPr algn="l"/>
            <a:r>
              <a:rPr lang="en-US" sz="2500" b="0" i="0" dirty="0">
                <a:effectLst/>
                <a:latin typeface="Nunito Sans" pitchFamily="2" charset="0"/>
              </a:rPr>
              <a:t>Divisor of 2 are 1, 2 and after reducing it by 1, number becomes 2 – 1 = 1</a:t>
            </a:r>
          </a:p>
          <a:p>
            <a:pPr algn="l"/>
            <a:r>
              <a:rPr lang="en-US" sz="2500" b="0" i="0" dirty="0">
                <a:effectLst/>
                <a:latin typeface="Nunito Sans" pitchFamily="2" charset="0"/>
              </a:rPr>
              <a:t>You can subtract 1 by 1 and then the number becomes 0.</a:t>
            </a:r>
          </a:p>
          <a:p>
            <a:pPr algn="l"/>
            <a:r>
              <a:rPr lang="en-US" sz="2500" b="0" i="0" dirty="0">
                <a:effectLst/>
                <a:latin typeface="Nunito Sans" pitchFamily="2" charset="0"/>
              </a:rPr>
              <a:t>So for N = 5, the minimum number of steps are 4.</a:t>
            </a:r>
          </a:p>
          <a:p>
            <a:pPr algn="l"/>
            <a:endParaRPr lang="en-US" sz="2500" b="0" i="0" dirty="0">
              <a:effectLst/>
              <a:latin typeface="Nunito Sans" pitchFamily="2" charset="0"/>
            </a:endParaRPr>
          </a:p>
          <a:p>
            <a:pPr algn="l"/>
            <a:endParaRPr lang="en-US" sz="2500" b="0" i="0" dirty="0">
              <a:effectLst/>
              <a:latin typeface="Nunito Sans" pitchFamily="2" charset="0"/>
            </a:endParaRPr>
          </a:p>
        </p:txBody>
      </p:sp>
    </p:spTree>
    <p:extLst>
      <p:ext uri="{BB962C8B-B14F-4D97-AF65-F5344CB8AC3E}">
        <p14:creationId xmlns:p14="http://schemas.microsoft.com/office/powerpoint/2010/main" val="3204309813"/>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309736" y="1032919"/>
            <a:ext cx="11673717" cy="5863144"/>
          </a:xfrm>
          <a:prstGeom prst="rect">
            <a:avLst/>
          </a:prstGeom>
          <a:noFill/>
        </p:spPr>
        <p:txBody>
          <a:bodyPr wrap="square">
            <a:spAutoFit/>
          </a:bodyPr>
          <a:lstStyle/>
          <a:p>
            <a:pPr algn="l"/>
            <a:r>
              <a:rPr lang="en-US" sz="2500" b="1" i="0" dirty="0">
                <a:effectLst/>
                <a:latin typeface="Nunito Sans" pitchFamily="2" charset="0"/>
              </a:rPr>
              <a:t>Example 2</a:t>
            </a:r>
            <a:endParaRPr lang="en-US" sz="2500" b="0" i="0" dirty="0">
              <a:effectLst/>
              <a:latin typeface="Nunito Sans" pitchFamily="2" charset="0"/>
            </a:endParaRPr>
          </a:p>
          <a:p>
            <a:pPr algn="l"/>
            <a:r>
              <a:rPr lang="en-US" sz="2500" b="0" i="0" dirty="0">
                <a:effectLst/>
                <a:latin typeface="Nunito Sans" pitchFamily="2" charset="0"/>
              </a:rPr>
              <a:t>Input </a:t>
            </a:r>
          </a:p>
          <a:p>
            <a:pPr algn="l"/>
            <a:r>
              <a:rPr lang="en-US" sz="2500" b="0" i="0" dirty="0">
                <a:effectLst/>
                <a:latin typeface="Nunito Sans" pitchFamily="2" charset="0"/>
              </a:rPr>
              <a:t>8</a:t>
            </a:r>
          </a:p>
          <a:p>
            <a:pPr algn="l"/>
            <a:r>
              <a:rPr lang="en-US" sz="2500" b="0" i="0" dirty="0">
                <a:effectLst/>
                <a:latin typeface="Nunito Sans" pitchFamily="2" charset="0"/>
              </a:rPr>
              <a:t>Output </a:t>
            </a:r>
          </a:p>
          <a:p>
            <a:pPr algn="l"/>
            <a:r>
              <a:rPr lang="en-US" sz="2500" b="0" i="0" dirty="0">
                <a:effectLst/>
                <a:latin typeface="Nunito Sans" pitchFamily="2" charset="0"/>
              </a:rPr>
              <a:t>4</a:t>
            </a:r>
          </a:p>
          <a:p>
            <a:pPr algn="l"/>
            <a:r>
              <a:rPr lang="en-US" sz="2500" b="0" i="0" dirty="0">
                <a:effectLst/>
                <a:latin typeface="Nunito Sans" pitchFamily="2" charset="0"/>
              </a:rPr>
              <a:t>Explanation </a:t>
            </a:r>
          </a:p>
          <a:p>
            <a:pPr algn="l"/>
            <a:r>
              <a:rPr lang="en-US" sz="2500" b="0" i="0" dirty="0">
                <a:effectLst/>
                <a:latin typeface="Nunito Sans" pitchFamily="2" charset="0"/>
              </a:rPr>
              <a:t>In first step, subtract 4 from 8, number becomes 8 – 4 = 4</a:t>
            </a:r>
          </a:p>
          <a:p>
            <a:pPr algn="l"/>
            <a:r>
              <a:rPr lang="en-US" sz="2500" b="0" i="0" dirty="0">
                <a:effectLst/>
                <a:latin typeface="Nunito Sans" pitchFamily="2" charset="0"/>
              </a:rPr>
              <a:t>In second step, subtract 2 from 4, number becomes 4 – 2 = 2</a:t>
            </a:r>
          </a:p>
          <a:p>
            <a:pPr algn="l"/>
            <a:r>
              <a:rPr lang="en-US" sz="2500" b="0" i="0" dirty="0">
                <a:effectLst/>
                <a:latin typeface="Nunito Sans" pitchFamily="2" charset="0"/>
              </a:rPr>
              <a:t>In third step, subtract 1 from 2, number becomes 2 – 1 = 1</a:t>
            </a:r>
          </a:p>
          <a:p>
            <a:pPr algn="l"/>
            <a:r>
              <a:rPr lang="en-US" sz="2500" b="0" i="0" dirty="0">
                <a:effectLst/>
                <a:latin typeface="Nunito Sans" pitchFamily="2" charset="0"/>
              </a:rPr>
              <a:t>In fourth step, subtract 1 from 1, number becomes 1 – 1 = 0</a:t>
            </a:r>
          </a:p>
          <a:p>
            <a:pPr algn="l"/>
            <a:r>
              <a:rPr lang="en-US" sz="2500" b="0" i="0" dirty="0">
                <a:effectLst/>
                <a:latin typeface="Nunito Sans" pitchFamily="2" charset="0"/>
              </a:rPr>
              <a:t>Example 3</a:t>
            </a:r>
          </a:p>
          <a:p>
            <a:pPr algn="l"/>
            <a:r>
              <a:rPr lang="en-US" sz="2500" b="0" i="0" dirty="0">
                <a:effectLst/>
                <a:latin typeface="Nunito Sans" pitchFamily="2" charset="0"/>
              </a:rPr>
              <a:t>Input</a:t>
            </a:r>
          </a:p>
          <a:p>
            <a:pPr algn="l"/>
            <a:r>
              <a:rPr lang="en-US" sz="2500" b="0" i="0" dirty="0">
                <a:effectLst/>
                <a:latin typeface="Nunito Sans" pitchFamily="2" charset="0"/>
              </a:rPr>
              <a:t>6</a:t>
            </a:r>
          </a:p>
          <a:p>
            <a:pPr algn="l"/>
            <a:r>
              <a:rPr lang="en-US" sz="2500" b="0" i="0" dirty="0">
                <a:effectLst/>
                <a:latin typeface="Nunito Sans" pitchFamily="2" charset="0"/>
              </a:rPr>
              <a:t>Output</a:t>
            </a:r>
          </a:p>
          <a:p>
            <a:pPr algn="l"/>
            <a:r>
              <a:rPr lang="en-US" sz="2500" b="0" i="0" dirty="0">
                <a:effectLst/>
                <a:latin typeface="Nunito Sans" pitchFamily="2" charset="0"/>
              </a:rPr>
              <a:t>4</a:t>
            </a:r>
          </a:p>
        </p:txBody>
      </p:sp>
    </p:spTree>
    <p:extLst>
      <p:ext uri="{BB962C8B-B14F-4D97-AF65-F5344CB8AC3E}">
        <p14:creationId xmlns:p14="http://schemas.microsoft.com/office/powerpoint/2010/main" val="614743664"/>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#include&lt;</a:t>
            </a:r>
            <a:r>
              <a:rPr lang="en-US" sz="2000" b="0" dirty="0">
                <a:solidFill>
                  <a:srgbClr val="CE9178"/>
                </a:solidFill>
                <a:effectLst/>
                <a:latin typeface="Nunito Sans" pitchFamily="2" charset="0"/>
              </a:rPr>
              <a:t>stdio.h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fun</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fact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fact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fact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48623590"/>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fun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986697047"/>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#include&lt;</a:t>
            </a:r>
            <a:r>
              <a:rPr lang="en-US" sz="2000" b="0" dirty="0">
                <a:solidFill>
                  <a:srgbClr val="CE9178"/>
                </a:solidFill>
                <a:effectLst/>
                <a:latin typeface="Nunito Sans" pitchFamily="2" charset="0"/>
              </a:rPr>
              <a:t>iostream</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using</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namespace</a:t>
            </a:r>
            <a:r>
              <a:rPr lang="en-US" sz="2000" b="0" dirty="0">
                <a:solidFill>
                  <a:srgbClr val="D4D4D4"/>
                </a:solidFill>
                <a:effectLst/>
                <a:latin typeface="Nunito Sans" pitchFamily="2" charset="0"/>
              </a:rPr>
              <a:t> std</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fun</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fact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fact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fact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41851885"/>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pt-BR" sz="2000" b="0" dirty="0">
                <a:solidFill>
                  <a:srgbClr val="569CD6"/>
                </a:solidFill>
                <a:effectLst/>
                <a:latin typeface="Nunito Sans" pitchFamily="2" charset="0"/>
              </a:rPr>
              <a:t>    int</a:t>
            </a:r>
            <a:r>
              <a:rPr lang="pt-BR" sz="2000" b="0" dirty="0">
                <a:solidFill>
                  <a:srgbClr val="D4D4D4"/>
                </a:solidFill>
                <a:effectLst/>
                <a:latin typeface="Nunito Sans" pitchFamily="2" charset="0"/>
              </a:rPr>
              <a:t> 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cin </a:t>
            </a:r>
            <a:r>
              <a:rPr lang="pt-BR" sz="2000" b="0" dirty="0">
                <a:solidFill>
                  <a:srgbClr val="DCDCDC"/>
                </a:solidFill>
                <a:effectLst/>
                <a:latin typeface="Nunito Sans" pitchFamily="2" charset="0"/>
              </a:rPr>
              <a:t>&gt;&gt;</a:t>
            </a:r>
            <a:r>
              <a:rPr lang="pt-BR" sz="2000" b="0" dirty="0">
                <a:solidFill>
                  <a:srgbClr val="D4D4D4"/>
                </a:solidFill>
                <a:effectLst/>
                <a:latin typeface="Nunito Sans" pitchFamily="2" charset="0"/>
              </a:rPr>
              <a:t> 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cout </a:t>
            </a:r>
            <a:r>
              <a:rPr lang="pt-BR" sz="2000" b="0" dirty="0">
                <a:solidFill>
                  <a:srgbClr val="DCDCDC"/>
                </a:solidFill>
                <a:effectLst/>
                <a:latin typeface="Nunito Sans" pitchFamily="2" charset="0"/>
              </a:rPr>
              <a:t>&lt;&lt;</a:t>
            </a:r>
            <a:r>
              <a:rPr lang="pt-BR" sz="2000" b="0" dirty="0">
                <a:solidFill>
                  <a:srgbClr val="D4D4D4"/>
                </a:solidFill>
                <a:effectLst/>
                <a:latin typeface="Nunito Sans" pitchFamily="2" charset="0"/>
              </a:rPr>
              <a:t> fun</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return</a:t>
            </a:r>
            <a:r>
              <a:rPr lang="pt-BR" sz="2000" b="0" dirty="0">
                <a:solidFill>
                  <a:srgbClr val="D4D4D4"/>
                </a:solidFill>
                <a:effectLst/>
                <a:latin typeface="Nunito Sans" pitchFamily="2" charset="0"/>
              </a:rPr>
              <a:t> </a:t>
            </a:r>
            <a:r>
              <a:rPr lang="pt-BR" sz="2000" b="0" dirty="0">
                <a:solidFill>
                  <a:srgbClr val="B5CEA8"/>
                </a:solidFill>
                <a:effectLst/>
                <a:latin typeface="Nunito Sans" pitchFamily="2" charset="0"/>
              </a:rPr>
              <a:t>0</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846440110"/>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fact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fact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fact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830141981"/>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fun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871183505"/>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fun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fact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n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n %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fact = </a:t>
            </a:r>
            <a:r>
              <a:rPr lang="en-US" sz="2000" b="0" dirty="0" err="1">
                <a:solidFill>
                  <a:srgbClr val="D4D4D4"/>
                </a:solidFill>
                <a:effectLst/>
                <a:latin typeface="Nunito Sans" pitchFamily="2" charset="0"/>
              </a:rPr>
              <a:t>i</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n = n - fact</a:t>
            </a:r>
          </a:p>
          <a:p>
            <a:r>
              <a:rPr lang="en-US" sz="2000" b="0" dirty="0">
                <a:solidFill>
                  <a:srgbClr val="D4D4D4"/>
                </a:solidFill>
                <a:effectLst/>
                <a:latin typeface="Nunito Sans" pitchFamily="2" charset="0"/>
              </a:rPr>
              <a:t>        count = count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count</a:t>
            </a:r>
          </a:p>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fun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033125847"/>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1032919"/>
            <a:ext cx="11673717" cy="6247864"/>
          </a:xfrm>
          <a:prstGeom prst="rect">
            <a:avLst/>
          </a:prstGeom>
          <a:noFill/>
        </p:spPr>
        <p:txBody>
          <a:bodyPr wrap="square">
            <a:spAutoFit/>
          </a:bodyPr>
          <a:lstStyle/>
          <a:p>
            <a:pPr algn="l"/>
            <a:r>
              <a:rPr lang="en-US" sz="2500" b="0" i="0" dirty="0">
                <a:effectLst/>
                <a:latin typeface="Nunito Sans" pitchFamily="2" charset="0"/>
              </a:rPr>
              <a:t>Given a positive integer number N. the task is to find the number of ways in which the given number can be represented as the </a:t>
            </a:r>
          </a:p>
          <a:p>
            <a:pPr algn="l"/>
            <a:r>
              <a:rPr lang="en-US" sz="2500" b="0" i="0" dirty="0">
                <a:effectLst/>
                <a:latin typeface="Nunito Sans" pitchFamily="2" charset="0"/>
              </a:rPr>
              <a:t>product of two distinct numbers. </a:t>
            </a:r>
          </a:p>
          <a:p>
            <a:pPr algn="l"/>
            <a:r>
              <a:rPr lang="en-US" sz="2500" b="1" i="0" dirty="0">
                <a:effectLst/>
                <a:latin typeface="Nunito Sans" pitchFamily="2" charset="0"/>
              </a:rPr>
              <a:t>Example 1</a:t>
            </a:r>
            <a:endParaRPr lang="en-US" sz="2500" b="0" i="0" dirty="0">
              <a:effectLst/>
              <a:latin typeface="Nunito Sans" pitchFamily="2" charset="0"/>
            </a:endParaRPr>
          </a:p>
          <a:p>
            <a:pPr algn="l"/>
            <a:r>
              <a:rPr lang="en-US" sz="2500" b="0" i="0" dirty="0">
                <a:effectLst/>
                <a:latin typeface="Nunito Sans" pitchFamily="2" charset="0"/>
              </a:rPr>
              <a:t>Input </a:t>
            </a:r>
          </a:p>
          <a:p>
            <a:pPr algn="l"/>
            <a:r>
              <a:rPr lang="en-US" sz="2500" b="0" i="0" dirty="0">
                <a:effectLst/>
                <a:latin typeface="Nunito Sans" pitchFamily="2" charset="0"/>
              </a:rPr>
              <a:t>14</a:t>
            </a:r>
          </a:p>
          <a:p>
            <a:pPr algn="l"/>
            <a:r>
              <a:rPr lang="en-US" sz="2500" b="0" i="0" dirty="0">
                <a:effectLst/>
                <a:latin typeface="Nunito Sans" pitchFamily="2" charset="0"/>
              </a:rPr>
              <a:t>Output</a:t>
            </a:r>
          </a:p>
          <a:p>
            <a:pPr algn="l"/>
            <a:r>
              <a:rPr lang="en-US" sz="2500" b="0" i="0" dirty="0">
                <a:effectLst/>
                <a:latin typeface="Nunito Sans" pitchFamily="2" charset="0"/>
              </a:rPr>
              <a:t>2</a:t>
            </a:r>
          </a:p>
          <a:p>
            <a:pPr algn="l"/>
            <a:r>
              <a:rPr lang="en-US" sz="2500" b="0" i="0" dirty="0">
                <a:effectLst/>
                <a:latin typeface="Nunito Sans" pitchFamily="2" charset="0"/>
              </a:rPr>
              <a:t>Explanation</a:t>
            </a:r>
          </a:p>
          <a:p>
            <a:pPr algn="l"/>
            <a:r>
              <a:rPr lang="en-US" sz="2500" b="0" i="0" dirty="0">
                <a:effectLst/>
                <a:latin typeface="Nunito Sans" pitchFamily="2" charset="0"/>
              </a:rPr>
              <a:t>14 can be represented as 1 * 14 and 2 * 7</a:t>
            </a:r>
          </a:p>
          <a:p>
            <a:pPr algn="l"/>
            <a:r>
              <a:rPr lang="en-US" sz="2500" b="1" i="0" dirty="0">
                <a:effectLst/>
                <a:latin typeface="Nunito Sans" pitchFamily="2" charset="0"/>
              </a:rPr>
              <a:t>Example 2</a:t>
            </a:r>
            <a:endParaRPr lang="en-US" sz="2500" b="0" i="0" dirty="0">
              <a:effectLst/>
              <a:latin typeface="Nunito Sans" pitchFamily="2" charset="0"/>
            </a:endParaRPr>
          </a:p>
          <a:p>
            <a:pPr algn="l"/>
            <a:r>
              <a:rPr lang="en-US" sz="2500" b="0" i="0" dirty="0">
                <a:effectLst/>
                <a:latin typeface="Nunito Sans" pitchFamily="2" charset="0"/>
              </a:rPr>
              <a:t>Input</a:t>
            </a:r>
          </a:p>
          <a:p>
            <a:pPr algn="l"/>
            <a:r>
              <a:rPr lang="en-US" sz="2500" b="0" i="0" dirty="0">
                <a:effectLst/>
                <a:latin typeface="Nunito Sans" pitchFamily="2" charset="0"/>
              </a:rPr>
              <a:t>16</a:t>
            </a:r>
          </a:p>
          <a:p>
            <a:pPr algn="l"/>
            <a:r>
              <a:rPr lang="en-US" sz="2500" b="0" i="0" dirty="0">
                <a:effectLst/>
                <a:latin typeface="Nunito Sans" pitchFamily="2" charset="0"/>
              </a:rPr>
              <a:t>Output </a:t>
            </a:r>
          </a:p>
          <a:p>
            <a:pPr algn="l"/>
            <a:r>
              <a:rPr lang="en-US" sz="2500" b="0" i="0" dirty="0">
                <a:effectLst/>
                <a:latin typeface="Nunito Sans" pitchFamily="2" charset="0"/>
              </a:rPr>
              <a:t>2</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2174234913"/>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29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1032919"/>
            <a:ext cx="11673717" cy="1631216"/>
          </a:xfrm>
          <a:prstGeom prst="rect">
            <a:avLst/>
          </a:prstGeom>
          <a:noFill/>
        </p:spPr>
        <p:txBody>
          <a:bodyPr wrap="square">
            <a:spAutoFit/>
          </a:bodyPr>
          <a:lstStyle/>
          <a:p>
            <a:pPr algn="l"/>
            <a:r>
              <a:rPr lang="en-US" sz="2500" b="0" i="0" dirty="0">
                <a:effectLst/>
                <a:latin typeface="Nunito Sans" pitchFamily="2" charset="0"/>
              </a:rPr>
              <a:t>Explanation </a:t>
            </a:r>
          </a:p>
          <a:p>
            <a:pPr algn="l"/>
            <a:r>
              <a:rPr lang="en-US" sz="2500" b="0" i="0" dirty="0">
                <a:effectLst/>
                <a:latin typeface="Nunito Sans" pitchFamily="2" charset="0"/>
              </a:rPr>
              <a:t>16 can be represented as 1*16 and 2 * 8</a:t>
            </a:r>
          </a:p>
          <a:p>
            <a:pPr algn="l"/>
            <a:r>
              <a:rPr lang="en-US" sz="2500" b="0" i="0" dirty="0">
                <a:effectLst/>
                <a:latin typeface="Nunito Sans" pitchFamily="2" charset="0"/>
              </a:rPr>
              <a:t>Note</a:t>
            </a:r>
          </a:p>
          <a:p>
            <a:pPr algn="l"/>
            <a:r>
              <a:rPr lang="en-US" sz="2500" b="0" i="0" dirty="0">
                <a:effectLst/>
                <a:latin typeface="Nunito Sans" pitchFamily="2" charset="0"/>
              </a:rPr>
              <a:t>4*4 is not valid way because both the numbers are same.</a:t>
            </a:r>
          </a:p>
        </p:txBody>
      </p:sp>
    </p:spTree>
    <p:extLst>
      <p:ext uri="{BB962C8B-B14F-4D97-AF65-F5344CB8AC3E}">
        <p14:creationId xmlns:p14="http://schemas.microsoft.com/office/powerpoint/2010/main" val="4226999420"/>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cmath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1" dirty="0">
              <a:solidFill>
                <a:schemeClr val="bg1"/>
              </a:solidFill>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25692262"/>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#include&lt;</a:t>
            </a:r>
            <a:r>
              <a:rPr lang="en-IN" sz="2000" b="0" dirty="0">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#include&lt;</a:t>
            </a:r>
            <a:r>
              <a:rPr lang="en-IN" sz="2000" b="0" dirty="0">
                <a:solidFill>
                  <a:srgbClr val="CE9178"/>
                </a:solidFill>
                <a:effectLst/>
                <a:latin typeface="Nunito Sans" pitchFamily="2" charset="0"/>
              </a:rPr>
              <a:t>math.h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516457376"/>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fun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30113864"/>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fun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B5CEA8"/>
                </a:solidFill>
                <a:effectLst/>
                <a:latin typeface="Nunito Sans" pitchFamily="2" charset="0"/>
              </a:rPr>
              <a:t>0.5</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n %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and</a:t>
            </a:r>
            <a:r>
              <a:rPr lang="en-US" sz="2000" b="0" dirty="0">
                <a:solidFill>
                  <a:srgbClr val="D4D4D4"/>
                </a:solidFill>
                <a:effectLst/>
                <a:latin typeface="Nunito Sans" pitchFamily="2" charset="0"/>
              </a:rPr>
              <a:t> n //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count</a:t>
            </a:r>
          </a:p>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fun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56359880"/>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907427"/>
            <a:ext cx="11673717" cy="6247864"/>
          </a:xfrm>
          <a:prstGeom prst="rect">
            <a:avLst/>
          </a:prstGeom>
          <a:noFill/>
        </p:spPr>
        <p:txBody>
          <a:bodyPr wrap="square">
            <a:spAutoFit/>
          </a:bodyPr>
          <a:lstStyle/>
          <a:p>
            <a:pPr algn="l"/>
            <a:r>
              <a:rPr lang="en-US" sz="2500" b="0" i="0" dirty="0">
                <a:effectLst/>
                <a:latin typeface="Nunito Sans" pitchFamily="2" charset="0"/>
              </a:rPr>
              <a:t>Given a number N, the task is to split the Num into multiple parts in such a fashion as to find the highest product. </a:t>
            </a:r>
          </a:p>
          <a:p>
            <a:pPr algn="l"/>
            <a:r>
              <a:rPr lang="en-US" sz="2500" b="0" i="0" dirty="0">
                <a:effectLst/>
                <a:latin typeface="Nunito Sans" pitchFamily="2" charset="0"/>
              </a:rPr>
              <a:t>Print the highest product value.</a:t>
            </a:r>
          </a:p>
          <a:p>
            <a:pPr algn="l"/>
            <a:r>
              <a:rPr lang="en-US" sz="2500" b="0" i="0" dirty="0">
                <a:effectLst/>
                <a:latin typeface="Nunito Sans" pitchFamily="2" charset="0"/>
              </a:rPr>
              <a:t>Consider N = 4.</a:t>
            </a:r>
          </a:p>
          <a:p>
            <a:pPr algn="l"/>
            <a:r>
              <a:rPr lang="en-US" sz="2500" b="0" i="0" dirty="0">
                <a:effectLst/>
                <a:latin typeface="Nunito Sans" pitchFamily="2" charset="0"/>
              </a:rPr>
              <a:t>Best: 4 = 2 + 2 and 2 * 2 = 4</a:t>
            </a:r>
          </a:p>
          <a:p>
            <a:pPr algn="l"/>
            <a:r>
              <a:rPr lang="en-US" sz="2500" b="0" i="0" dirty="0">
                <a:effectLst/>
                <a:latin typeface="Nunito Sans" pitchFamily="2" charset="0"/>
              </a:rPr>
              <a:t>Similarly for N = 6, (3 * 3) = 9</a:t>
            </a:r>
          </a:p>
          <a:p>
            <a:pPr algn="l"/>
            <a:r>
              <a:rPr lang="en-US" sz="2500" b="0" i="0" dirty="0">
                <a:effectLst/>
                <a:latin typeface="Nunito Sans" pitchFamily="2" charset="0"/>
              </a:rPr>
              <a:t>For N = 8, (2 * 3 * 3) = 18</a:t>
            </a:r>
          </a:p>
          <a:p>
            <a:pPr algn="l"/>
            <a:r>
              <a:rPr lang="en-US" sz="2500" b="0" i="0" dirty="0">
                <a:effectLst/>
                <a:latin typeface="Nunito Sans" pitchFamily="2" charset="0"/>
              </a:rPr>
              <a:t>For N = 15, (3 * 3 * 3 * 3 * 3) = 243</a:t>
            </a:r>
          </a:p>
          <a:p>
            <a:pPr algn="l"/>
            <a:r>
              <a:rPr lang="en-US" sz="2500" b="1" i="0" dirty="0">
                <a:effectLst/>
                <a:latin typeface="Nunito Sans" pitchFamily="2" charset="0"/>
              </a:rPr>
              <a:t>Constraints</a:t>
            </a:r>
            <a:endParaRPr lang="en-US" sz="2500" b="0" i="0" dirty="0">
              <a:effectLst/>
              <a:latin typeface="Nunito Sans" pitchFamily="2" charset="0"/>
            </a:endParaRPr>
          </a:p>
          <a:p>
            <a:pPr algn="l"/>
            <a:r>
              <a:rPr lang="en-US" sz="2500" b="0" i="0" dirty="0">
                <a:effectLst/>
                <a:latin typeface="Nunito Sans" pitchFamily="2" charset="0"/>
              </a:rPr>
              <a:t>1 &lt;= N &lt;= 100</a:t>
            </a:r>
          </a:p>
          <a:p>
            <a:pPr algn="l"/>
            <a:r>
              <a:rPr lang="en-US" sz="2500" b="1" i="0" dirty="0">
                <a:effectLst/>
                <a:latin typeface="Nunito Sans" pitchFamily="2" charset="0"/>
              </a:rPr>
              <a:t>Input format</a:t>
            </a:r>
            <a:endParaRPr lang="en-US" sz="2500" b="0" i="0" dirty="0">
              <a:effectLst/>
              <a:latin typeface="Nunito Sans" pitchFamily="2" charset="0"/>
            </a:endParaRPr>
          </a:p>
          <a:p>
            <a:pPr algn="l"/>
            <a:r>
              <a:rPr lang="en-US" sz="2500" b="0" i="0" dirty="0">
                <a:effectLst/>
                <a:latin typeface="Nunito Sans" pitchFamily="2" charset="0"/>
              </a:rPr>
              <a:t>The candidate has to write the code to accept a non-negative integer number only.</a:t>
            </a:r>
          </a:p>
          <a:p>
            <a:pPr algn="l"/>
            <a:r>
              <a:rPr lang="en-US" sz="2500" b="0" i="0" dirty="0">
                <a:effectLst/>
                <a:latin typeface="Nunito Sans" pitchFamily="2" charset="0"/>
              </a:rPr>
              <a:t>Output format</a:t>
            </a:r>
          </a:p>
          <a:p>
            <a:pPr algn="l"/>
            <a:r>
              <a:rPr lang="en-US" sz="2500" b="0" i="0" dirty="0">
                <a:effectLst/>
                <a:latin typeface="Nunito Sans" pitchFamily="2" charset="0"/>
              </a:rPr>
              <a:t>The output should be a positive integer only.</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315688544"/>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7" name="TextBox 6">
            <a:extLst>
              <a:ext uri="{FF2B5EF4-FFF2-40B4-BE49-F238E27FC236}">
                <a16:creationId xmlns:a16="http://schemas.microsoft.com/office/drawing/2014/main" id="{5F253E5C-E8E4-A25A-82F5-879333401368}"/>
              </a:ext>
            </a:extLst>
          </p:cNvPr>
          <p:cNvSpPr txBox="1"/>
          <p:nvPr/>
        </p:nvSpPr>
        <p:spPr>
          <a:xfrm>
            <a:off x="259141" y="907427"/>
            <a:ext cx="11673717" cy="3554819"/>
          </a:xfrm>
          <a:prstGeom prst="rect">
            <a:avLst/>
          </a:prstGeom>
          <a:noFill/>
        </p:spPr>
        <p:txBody>
          <a:bodyPr wrap="square">
            <a:spAutoFit/>
          </a:bodyPr>
          <a:lstStyle/>
          <a:p>
            <a:pPr algn="l"/>
            <a:r>
              <a:rPr lang="en-US" sz="2500" b="1" i="0" dirty="0">
                <a:effectLst/>
                <a:latin typeface="Nunito Sans" pitchFamily="2" charset="0"/>
              </a:rPr>
              <a:t>Example 1</a:t>
            </a:r>
            <a:endParaRPr lang="en-US" sz="2500" b="0" i="0" dirty="0">
              <a:effectLst/>
              <a:latin typeface="Nunito Sans" pitchFamily="2" charset="0"/>
            </a:endParaRPr>
          </a:p>
          <a:p>
            <a:pPr algn="l"/>
            <a:r>
              <a:rPr lang="en-US" sz="2500" b="0" i="0" dirty="0">
                <a:effectLst/>
                <a:latin typeface="Nunito Sans" pitchFamily="2" charset="0"/>
              </a:rPr>
              <a:t>Input</a:t>
            </a:r>
          </a:p>
          <a:p>
            <a:pPr algn="l"/>
            <a:r>
              <a:rPr lang="en-US" sz="2500" b="0" i="0" dirty="0">
                <a:effectLst/>
                <a:latin typeface="Nunito Sans" pitchFamily="2" charset="0"/>
              </a:rPr>
              <a:t>4</a:t>
            </a:r>
          </a:p>
          <a:p>
            <a:pPr algn="l"/>
            <a:r>
              <a:rPr lang="en-US" sz="2500" b="0" i="0" dirty="0">
                <a:effectLst/>
                <a:latin typeface="Nunito Sans" pitchFamily="2" charset="0"/>
              </a:rPr>
              <a:t>Output</a:t>
            </a:r>
          </a:p>
          <a:p>
            <a:pPr algn="l"/>
            <a:r>
              <a:rPr lang="en-US" sz="2500" b="0" i="0" dirty="0">
                <a:effectLst/>
                <a:latin typeface="Nunito Sans" pitchFamily="2" charset="0"/>
              </a:rPr>
              <a:t>4</a:t>
            </a:r>
          </a:p>
          <a:p>
            <a:pPr algn="l"/>
            <a:r>
              <a:rPr lang="en-US" sz="2500" b="1" i="0" dirty="0">
                <a:effectLst/>
                <a:latin typeface="Nunito Sans" pitchFamily="2" charset="0"/>
              </a:rPr>
              <a:t>Example 2   </a:t>
            </a:r>
          </a:p>
          <a:p>
            <a:pPr algn="l"/>
            <a:endParaRPr lang="en-US" sz="2500" b="0" i="0" dirty="0">
              <a:effectLst/>
              <a:latin typeface="Nunito Sans" pitchFamily="2" charset="0"/>
            </a:endParaRPr>
          </a:p>
          <a:p>
            <a:pPr algn="l"/>
            <a:r>
              <a:rPr lang="en-US" sz="2500" b="0" i="0" dirty="0">
                <a:effectLst/>
                <a:latin typeface="Nunito Sans" pitchFamily="2" charset="0"/>
              </a:rPr>
              <a:t>Input     Output</a:t>
            </a:r>
          </a:p>
          <a:p>
            <a:pPr algn="l"/>
            <a:r>
              <a:rPr lang="en-US" sz="2500" b="0" i="0" dirty="0">
                <a:effectLst/>
                <a:latin typeface="Nunito Sans" pitchFamily="2" charset="0"/>
              </a:rPr>
              <a:t>9              6</a:t>
            </a:r>
          </a:p>
        </p:txBody>
      </p:sp>
    </p:spTree>
    <p:extLst>
      <p:ext uri="{BB962C8B-B14F-4D97-AF65-F5344CB8AC3E}">
        <p14:creationId xmlns:p14="http://schemas.microsoft.com/office/powerpoint/2010/main" val="4197245915"/>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#include&lt;</a:t>
            </a:r>
            <a:r>
              <a:rPr lang="en-IN" sz="2000" b="0" dirty="0">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4</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67300463"/>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4</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 </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461712743"/>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fun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4</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fun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04358534"/>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pt-BR" sz="2000" b="0" dirty="0">
                <a:solidFill>
                  <a:srgbClr val="569CD6"/>
                </a:solidFill>
                <a:effectLst/>
                <a:latin typeface="Nunito Sans" pitchFamily="2" charset="0"/>
              </a:rPr>
              <a:t>def</a:t>
            </a:r>
            <a:r>
              <a:rPr lang="pt-BR" sz="2000" b="0" dirty="0">
                <a:solidFill>
                  <a:srgbClr val="D4D4D4"/>
                </a:solidFill>
                <a:effectLst/>
                <a:latin typeface="Nunito Sans" pitchFamily="2" charset="0"/>
              </a:rPr>
              <a:t> fun</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if</a:t>
            </a:r>
            <a:r>
              <a:rPr lang="pt-BR" sz="2000" b="0" dirty="0">
                <a:solidFill>
                  <a:srgbClr val="D4D4D4"/>
                </a:solidFill>
                <a:effectLst/>
                <a:latin typeface="Nunito Sans" pitchFamily="2" charset="0"/>
              </a:rPr>
              <a:t> n == </a:t>
            </a:r>
            <a:r>
              <a:rPr lang="pt-BR" sz="2000" b="0" dirty="0">
                <a:solidFill>
                  <a:srgbClr val="B5CEA8"/>
                </a:solidFill>
                <a:effectLst/>
                <a:latin typeface="Nunito Sans" pitchFamily="2" charset="0"/>
              </a:rPr>
              <a:t>2</a:t>
            </a:r>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or</a:t>
            </a:r>
            <a:r>
              <a:rPr lang="pt-BR" sz="2000" b="0" dirty="0">
                <a:solidFill>
                  <a:srgbClr val="D4D4D4"/>
                </a:solidFill>
                <a:effectLst/>
                <a:latin typeface="Nunito Sans" pitchFamily="2" charset="0"/>
              </a:rPr>
              <a:t> n == </a:t>
            </a:r>
            <a:r>
              <a:rPr lang="pt-BR" sz="2000" b="0" dirty="0">
                <a:solidFill>
                  <a:srgbClr val="B5CEA8"/>
                </a:solidFill>
                <a:effectLst/>
                <a:latin typeface="Nunito Sans" pitchFamily="2" charset="0"/>
              </a:rPr>
              <a:t>3</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return</a:t>
            </a:r>
            <a:r>
              <a:rPr lang="pt-BR" sz="2000" b="0" dirty="0">
                <a:solidFill>
                  <a:srgbClr val="D4D4D4"/>
                </a:solidFill>
                <a:effectLst/>
                <a:latin typeface="Nunito Sans" pitchFamily="2" charset="0"/>
              </a:rPr>
              <a:t> n - </a:t>
            </a:r>
            <a:r>
              <a:rPr lang="pt-BR" sz="2000" b="0" dirty="0">
                <a:solidFill>
                  <a:srgbClr val="B5CEA8"/>
                </a:solidFill>
                <a:effectLst/>
                <a:latin typeface="Nunito Sans" pitchFamily="2" charset="0"/>
              </a:rPr>
              <a:t>1</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res = </a:t>
            </a:r>
            <a:r>
              <a:rPr lang="pt-BR" sz="2000" b="0" dirty="0">
                <a:solidFill>
                  <a:srgbClr val="B5CEA8"/>
                </a:solidFill>
                <a:effectLst/>
                <a:latin typeface="Nunito Sans" pitchFamily="2" charset="0"/>
              </a:rPr>
              <a:t>1</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while</a:t>
            </a:r>
            <a:r>
              <a:rPr lang="pt-BR" sz="2000" b="0" dirty="0">
                <a:solidFill>
                  <a:srgbClr val="D4D4D4"/>
                </a:solidFill>
                <a:effectLst/>
                <a:latin typeface="Nunito Sans" pitchFamily="2" charset="0"/>
              </a:rPr>
              <a:t> n &gt; </a:t>
            </a:r>
            <a:r>
              <a:rPr lang="pt-BR" sz="2000" b="0" dirty="0">
                <a:solidFill>
                  <a:srgbClr val="B5CEA8"/>
                </a:solidFill>
                <a:effectLst/>
                <a:latin typeface="Nunito Sans" pitchFamily="2" charset="0"/>
              </a:rPr>
              <a:t>4</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n = n - </a:t>
            </a:r>
            <a:r>
              <a:rPr lang="pt-BR" sz="2000" b="0" dirty="0">
                <a:solidFill>
                  <a:srgbClr val="B5CEA8"/>
                </a:solidFill>
                <a:effectLst/>
                <a:latin typeface="Nunito Sans" pitchFamily="2" charset="0"/>
              </a:rPr>
              <a:t>3</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res = res * </a:t>
            </a:r>
            <a:r>
              <a:rPr lang="pt-BR" sz="2000" b="0" dirty="0">
                <a:solidFill>
                  <a:srgbClr val="B5CEA8"/>
                </a:solidFill>
                <a:effectLst/>
                <a:latin typeface="Nunito Sans" pitchFamily="2" charset="0"/>
              </a:rPr>
              <a:t>3</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return</a:t>
            </a:r>
            <a:r>
              <a:rPr lang="pt-BR" sz="2000" b="0" dirty="0">
                <a:solidFill>
                  <a:srgbClr val="D4D4D4"/>
                </a:solidFill>
                <a:effectLst/>
                <a:latin typeface="Nunito Sans" pitchFamily="2" charset="0"/>
              </a:rPr>
              <a:t> n * res</a:t>
            </a:r>
          </a:p>
          <a:p>
            <a:r>
              <a:rPr lang="pt-BR" sz="2000" b="0" dirty="0">
                <a:solidFill>
                  <a:srgbClr val="D4D4D4"/>
                </a:solidFill>
                <a:effectLst/>
                <a:latin typeface="Nunito Sans" pitchFamily="2" charset="0"/>
              </a:rPr>
              <a:t>n = </a:t>
            </a:r>
            <a:r>
              <a:rPr lang="pt-BR" sz="2000" b="0" dirty="0">
                <a:solidFill>
                  <a:srgbClr val="569CD6"/>
                </a:solidFill>
                <a:effectLst/>
                <a:latin typeface="Nunito Sans" pitchFamily="2" charset="0"/>
              </a:rPr>
              <a:t>int</a:t>
            </a:r>
            <a:r>
              <a:rPr lang="pt-BR" sz="2000" b="0" dirty="0">
                <a:solidFill>
                  <a:srgbClr val="DCDCDC"/>
                </a:solidFill>
                <a:effectLst/>
                <a:latin typeface="Nunito Sans" pitchFamily="2" charset="0"/>
              </a:rPr>
              <a:t>(</a:t>
            </a:r>
            <a:r>
              <a:rPr lang="pt-BR" sz="2000" b="0" dirty="0">
                <a:solidFill>
                  <a:srgbClr val="569CD6"/>
                </a:solidFill>
                <a:effectLst/>
                <a:latin typeface="Nunito Sans" pitchFamily="2" charset="0"/>
              </a:rPr>
              <a:t>input</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569CD6"/>
                </a:solidFill>
                <a:effectLst/>
                <a:latin typeface="Nunito Sans" pitchFamily="2" charset="0"/>
              </a:rPr>
              <a:t>print</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fun</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br>
              <a:rPr lang="pt-BR" sz="2000" b="0" dirty="0">
                <a:solidFill>
                  <a:srgbClr val="D4D4D4"/>
                </a:solidFill>
                <a:effectLst/>
                <a:latin typeface="Nunito Sans" pitchFamily="2" charset="0"/>
              </a:rPr>
            </a:br>
            <a:endParaRPr lang="pt-BR"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40110577"/>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itchFamily="2" charset="0"/>
              </a:rPr>
              <a:t>Topic/Course</a:t>
            </a:r>
            <a:endParaRPr sz="4500" b="1" dirty="0">
              <a:solidFill>
                <a:schemeClr val="bg1"/>
              </a:solidFill>
              <a:latin typeface="Nunito Sans" pitchFamily="2" charset="0"/>
            </a:endParaRPr>
          </a:p>
        </p:txBody>
      </p:sp>
      <p:sp>
        <p:nvSpPr>
          <p:cNvPr id="12" name="Here is where the title goes. Sometimes it could be two lines too"/>
          <p:cNvSpPr txBox="1"/>
          <p:nvPr/>
        </p:nvSpPr>
        <p:spPr>
          <a:xfrm>
            <a:off x="2228196" y="2514600"/>
            <a:ext cx="6745013" cy="284934"/>
          </a:xfrm>
          <a:prstGeom prst="rect">
            <a:avLst/>
          </a:prstGeom>
          <a:ln w="12700">
            <a:miter lim="400000"/>
          </a:ln>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itchFamily="2" charset="0"/>
              </a:rPr>
              <a:t>Sub-Topic (Example: name of college)</a:t>
            </a:r>
            <a:endParaRPr sz="1500" b="1" dirty="0">
              <a:solidFill>
                <a:schemeClr val="bg1"/>
              </a:solidFill>
              <a:latin typeface="Nunito Sans" pitchFamily="2" charset="0"/>
            </a:endParaRPr>
          </a:p>
        </p:txBody>
      </p:sp>
      <p:sp>
        <p:nvSpPr>
          <p:cNvPr id="13" name="TextBox 12"/>
          <p:cNvSpPr txBox="1"/>
          <p:nvPr/>
        </p:nvSpPr>
        <p:spPr>
          <a:xfrm>
            <a:off x="1015554" y="1740939"/>
            <a:ext cx="10160892" cy="1014730"/>
          </a:xfrm>
          <a:prstGeom prst="rect">
            <a:avLst/>
          </a:prstGeom>
          <a:noFill/>
        </p:spPr>
        <p:txBody>
          <a:bodyPr wrap="square" rtlCol="0">
            <a:spAutoFit/>
          </a:bodyPr>
          <a:lstStyle/>
          <a:p>
            <a:r>
              <a:rPr lang="en-US" sz="6000" dirty="0">
                <a:latin typeface="Nunito Sans SemiBold" panose="00000700000000000000" pitchFamily="2" charset="0"/>
              </a:rPr>
              <a:t>Set D</a:t>
            </a:r>
          </a:p>
        </p:txBody>
      </p:sp>
      <p:sp>
        <p:nvSpPr>
          <p:cNvPr id="10" name="Rectangle 9"/>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8000" cy="298969"/>
          </a:xfrm>
          <a:prstGeom prst="rect">
            <a:avLst/>
          </a:prstGeom>
        </p:spPr>
      </p:pic>
    </p:spTree>
    <p:extLst>
      <p:ext uri="{BB962C8B-B14F-4D97-AF65-F5344CB8AC3E}">
        <p14:creationId xmlns:p14="http://schemas.microsoft.com/office/powerpoint/2010/main" val="1462110687"/>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31</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2400657"/>
          </a:xfrm>
          <a:prstGeom prst="rect">
            <a:avLst/>
          </a:prstGeom>
          <a:noFill/>
        </p:spPr>
        <p:txBody>
          <a:bodyPr wrap="square">
            <a:spAutoFit/>
          </a:bodyPr>
          <a:lstStyle/>
          <a:p>
            <a:pPr algn="l"/>
            <a:r>
              <a:rPr lang="en-US" sz="2500" b="0" i="0" dirty="0">
                <a:effectLst/>
                <a:latin typeface="Nunito Sans" pitchFamily="2" charset="0"/>
              </a:rPr>
              <a:t>You are at your 1(containing zeros of size N) The magic operation is nothing but in this operation, you select any index (</a:t>
            </a:r>
            <a:r>
              <a:rPr lang="en-US" sz="2500" b="0" i="0" dirty="0" err="1">
                <a:effectLst/>
                <a:latin typeface="Nunito Sans" pitchFamily="2" charset="0"/>
              </a:rPr>
              <a:t>i</a:t>
            </a:r>
            <a:r>
              <a:rPr lang="en-US" sz="2500" b="0" i="0" dirty="0">
                <a:effectLst/>
                <a:latin typeface="Nunito Sans" pitchFamily="2" charset="0"/>
              </a:rPr>
              <a:t>) in the array B and add (k to the power </a:t>
            </a:r>
            <a:r>
              <a:rPr lang="en-US" sz="2500" b="0" i="0" dirty="0" err="1">
                <a:effectLst/>
                <a:latin typeface="Nunito Sans" pitchFamily="2" charset="0"/>
              </a:rPr>
              <a:t>i</a:t>
            </a:r>
            <a:r>
              <a:rPr lang="en-US" sz="2500" b="0" i="0" dirty="0">
                <a:effectLst/>
                <a:latin typeface="Nunito Sans" pitchFamily="2" charset="0"/>
              </a:rPr>
              <a:t>) to the B[</a:t>
            </a:r>
            <a:r>
              <a:rPr lang="en-US" sz="2500" b="0" i="0" dirty="0" err="1">
                <a:effectLst/>
                <a:latin typeface="Nunito Sans" pitchFamily="2" charset="0"/>
              </a:rPr>
              <a:t>i</a:t>
            </a:r>
            <a:r>
              <a:rPr lang="en-US" sz="2500" b="0" i="0" dirty="0">
                <a:effectLst/>
                <a:latin typeface="Nunito Sans" pitchFamily="2" charset="0"/>
              </a:rPr>
              <a:t>].So, if you are able to build the A array from the B array then print YES else NO.</a:t>
            </a:r>
          </a:p>
          <a:p>
            <a:pPr algn="l"/>
            <a:endParaRPr lang="en-US" sz="2500" b="0" i="0" dirty="0">
              <a:effectLst/>
              <a:latin typeface="Nunito Sans" pitchFamily="2" charset="0"/>
            </a:endParaRPr>
          </a:p>
          <a:p>
            <a:pPr algn="l"/>
            <a:r>
              <a:rPr lang="en-US" sz="2500" b="0" i="0" dirty="0">
                <a:effectLst/>
                <a:latin typeface="Nunito Sans" pitchFamily="2" charset="0"/>
              </a:rPr>
              <a:t>NOTE: The array A is 0 indexed.</a:t>
            </a:r>
          </a:p>
        </p:txBody>
      </p:sp>
    </p:spTree>
    <p:extLst>
      <p:ext uri="{BB962C8B-B14F-4D97-AF65-F5344CB8AC3E}">
        <p14:creationId xmlns:p14="http://schemas.microsoft.com/office/powerpoint/2010/main" val="515249747"/>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31</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4324261"/>
          </a:xfrm>
          <a:prstGeom prst="rect">
            <a:avLst/>
          </a:prstGeom>
          <a:noFill/>
        </p:spPr>
        <p:txBody>
          <a:bodyPr wrap="square">
            <a:spAutoFit/>
          </a:bodyPr>
          <a:lstStyle/>
          <a:p>
            <a:pPr algn="l"/>
            <a:r>
              <a:rPr lang="en-US" sz="2500" b="1" i="0" dirty="0">
                <a:effectLst/>
                <a:latin typeface="Nunito Sans" pitchFamily="2" charset="0"/>
              </a:rPr>
              <a:t>Example 1: </a:t>
            </a:r>
            <a:endParaRPr lang="en-US" sz="2500" b="0" i="0" dirty="0">
              <a:effectLst/>
              <a:latin typeface="Nunito Sans" pitchFamily="2" charset="0"/>
            </a:endParaRPr>
          </a:p>
          <a:p>
            <a:pPr algn="l"/>
            <a:r>
              <a:rPr lang="en-US" sz="2500" b="1" i="0" dirty="0">
                <a:effectLst/>
                <a:latin typeface="Nunito Sans" pitchFamily="2" charset="0"/>
              </a:rPr>
              <a:t>Input:</a:t>
            </a:r>
            <a:endParaRPr lang="en-US" sz="2500" b="0" i="0" dirty="0">
              <a:effectLst/>
              <a:latin typeface="Nunito Sans" pitchFamily="2" charset="0"/>
            </a:endParaRPr>
          </a:p>
          <a:p>
            <a:pPr algn="l"/>
            <a:r>
              <a:rPr lang="en-US" sz="2500" b="0" i="0" dirty="0">
                <a:effectLst/>
                <a:latin typeface="Nunito Sans" pitchFamily="2" charset="0"/>
              </a:rPr>
              <a:t>3 2  -&gt;N (length of an array A) and k</a:t>
            </a:r>
          </a:p>
          <a:p>
            <a:pPr algn="l"/>
            <a:r>
              <a:rPr lang="en-US" sz="2500" b="0" i="0" dirty="0">
                <a:effectLst/>
                <a:latin typeface="Nunito Sans" pitchFamily="2" charset="0"/>
              </a:rPr>
              <a:t>(weapon)</a:t>
            </a:r>
          </a:p>
          <a:p>
            <a:pPr algn="l"/>
            <a:r>
              <a:rPr lang="en-US" sz="2500" b="0" i="0" dirty="0">
                <a:effectLst/>
                <a:latin typeface="Nunito Sans" pitchFamily="2" charset="0"/>
              </a:rPr>
              <a:t>46 54 100 -&gt;A array of length N</a:t>
            </a: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NO</a:t>
            </a:r>
          </a:p>
          <a:p>
            <a:pPr algn="l"/>
            <a:r>
              <a:rPr lang="en-US" sz="2500" b="1" i="0" dirty="0">
                <a:effectLst/>
                <a:latin typeface="Nunito Sans" pitchFamily="2" charset="0"/>
              </a:rPr>
              <a:t>Explanation:</a:t>
            </a:r>
            <a:endParaRPr lang="en-US" sz="2500" b="0" i="0" dirty="0">
              <a:effectLst/>
              <a:latin typeface="Nunito Sans" pitchFamily="2" charset="0"/>
            </a:endParaRPr>
          </a:p>
          <a:p>
            <a:pPr algn="l"/>
            <a:r>
              <a:rPr lang="en-US" sz="2500" b="1" i="0" dirty="0">
                <a:effectLst/>
                <a:latin typeface="Nunito Sans" pitchFamily="2" charset="0"/>
              </a:rPr>
              <a:t>Initially B=[0,0,0]</a:t>
            </a:r>
            <a:endParaRPr lang="en-US" sz="2500" b="0" i="0" dirty="0">
              <a:effectLst/>
              <a:latin typeface="Nunito Sans" pitchFamily="2" charset="0"/>
            </a:endParaRPr>
          </a:p>
          <a:p>
            <a:pPr algn="l"/>
            <a:r>
              <a:rPr lang="en-US" sz="2500" b="0" i="0" dirty="0">
                <a:effectLst/>
                <a:latin typeface="Nunito Sans" pitchFamily="2" charset="0"/>
              </a:rPr>
              <a:t>Here, we can get A[0] by applying magic operations 46 times on index 0 and 25 times on index-2, but cannot get A[1] by applying magic operations.</a:t>
            </a:r>
          </a:p>
        </p:txBody>
      </p:sp>
    </p:spTree>
    <p:extLst>
      <p:ext uri="{BB962C8B-B14F-4D97-AF65-F5344CB8AC3E}">
        <p14:creationId xmlns:p14="http://schemas.microsoft.com/office/powerpoint/2010/main" val="2193969719"/>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stdbool.h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isPossibleToBuildArray</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power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power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power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br>
              <a:rPr lang="pt-BR" sz="2000" b="0" dirty="0">
                <a:solidFill>
                  <a:srgbClr val="D4D4D4"/>
                </a:solidFill>
                <a:effectLst/>
                <a:latin typeface="Nunito Sans" pitchFamily="2" charset="0"/>
              </a:rPr>
            </a:br>
            <a:endParaRPr lang="pt-BR"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36620731"/>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 %d"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possible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isPossibleToBuildArray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possible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"YES"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"NO"</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821307299"/>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vector</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cmath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isPossibleToBuildArray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&gt;&amp;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power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pow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power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4589067"/>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possible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isPossibleToBuildArray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possible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"YES"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"NO"</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112574524"/>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569CD6"/>
              </a:solidFill>
              <a:effectLst/>
              <a:latin typeface="Nunito Sans" pitchFamily="2" charset="0"/>
            </a:endParaRPr>
          </a:p>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ArrayList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boolean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isPossibleToBuildArray</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ArrayList</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Integer</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ArrayList</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Integer</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ArrayList</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Integer</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power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Math</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pow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B</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add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power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get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B</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get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set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get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B</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get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get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09159395"/>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ArrayList</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Integer</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ArrayList</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Integer</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add</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boolean</a:t>
            </a:r>
            <a:r>
              <a:rPr lang="en-IN" sz="2000" b="0" dirty="0">
                <a:solidFill>
                  <a:srgbClr val="D4D4D4"/>
                </a:solidFill>
                <a:effectLst/>
                <a:latin typeface="Nunito Sans" pitchFamily="2" charset="0"/>
              </a:rPr>
              <a:t> possible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isPossibleToBuildArray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possible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"YES"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"NO"</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04024283"/>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isPossibleToBuildArray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 </a:t>
            </a:r>
            <a:r>
              <a:rPr lang="en-IN" sz="2000" b="0" dirty="0" err="1">
                <a:solidFill>
                  <a:srgbClr val="569CD6"/>
                </a:solidFill>
                <a:effectLst/>
                <a:latin typeface="Nunito Sans" pitchFamily="2" charset="0"/>
              </a:rPr>
              <a:t>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 =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power = k ** </a:t>
            </a:r>
            <a:r>
              <a:rPr lang="en-IN" sz="2000" b="0" dirty="0" err="1">
                <a:solidFill>
                  <a:srgbClr val="D4D4D4"/>
                </a:solidFill>
                <a:effectLst/>
                <a:latin typeface="Nunito Sans" pitchFamily="2" charset="0"/>
              </a:rPr>
              <a:t>i</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B.append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power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&gt;= B</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B</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or</a:t>
            </a:r>
            <a:r>
              <a:rPr lang="en-IN" sz="2000" b="0" dirty="0">
                <a:solidFill>
                  <a:srgbClr val="D4D4D4"/>
                </a:solidFill>
                <a:effectLst/>
                <a:latin typeface="Nunito Sans" pitchFamily="2" charset="0"/>
              </a:rPr>
              <a:t> count &gt;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 </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A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possible = </a:t>
            </a:r>
            <a:r>
              <a:rPr lang="en-IN" sz="2000" b="0" dirty="0" err="1">
                <a:solidFill>
                  <a:srgbClr val="D4D4D4"/>
                </a:solidFill>
                <a:effectLst/>
                <a:latin typeface="Nunito Sans" pitchFamily="2" charset="0"/>
              </a:rPr>
              <a:t>isPossibleToBuildArray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"YES"</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possible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"NO"</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517258847"/>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4324261"/>
          </a:xfrm>
          <a:prstGeom prst="rect">
            <a:avLst/>
          </a:prstGeom>
          <a:noFill/>
        </p:spPr>
        <p:txBody>
          <a:bodyPr wrap="square">
            <a:spAutoFit/>
          </a:bodyPr>
          <a:lstStyle/>
          <a:p>
            <a:pPr algn="l"/>
            <a:r>
              <a:rPr lang="en-US" sz="2500" b="0" i="0" dirty="0">
                <a:effectLst/>
                <a:latin typeface="Nunito Sans" pitchFamily="2" charset="0"/>
              </a:rPr>
              <a:t>Ram is a very busy business man. Everyday he has to travel to different cities. There are N cities in the list(a[]) that he has to pass through to reach his destination.</a:t>
            </a:r>
          </a:p>
          <a:p>
            <a:pPr algn="l"/>
            <a:r>
              <a:rPr lang="en-US" sz="2500" b="0" i="0" dirty="0">
                <a:effectLst/>
                <a:latin typeface="Nunito Sans" pitchFamily="2" charset="0"/>
              </a:rPr>
              <a:t>His destination is the last city in the list. He always starts from his home city(a[0]).</a:t>
            </a:r>
          </a:p>
          <a:p>
            <a:pPr algn="l"/>
            <a:r>
              <a:rPr lang="en-US" sz="2500" b="0" i="0" dirty="0">
                <a:effectLst/>
                <a:latin typeface="Nunito Sans" pitchFamily="2" charset="0"/>
              </a:rPr>
              <a:t>The maximum distance Ram can travel when he is at city </a:t>
            </a:r>
            <a:r>
              <a:rPr lang="en-US" sz="2500" b="0" i="0" dirty="0" err="1">
                <a:effectLst/>
                <a:latin typeface="Nunito Sans" pitchFamily="2" charset="0"/>
              </a:rPr>
              <a:t>i</a:t>
            </a:r>
            <a:r>
              <a:rPr lang="en-US" sz="2500" b="0" i="0" dirty="0">
                <a:effectLst/>
                <a:latin typeface="Nunito Sans" pitchFamily="2" charset="0"/>
              </a:rPr>
              <a:t> is given by a[</a:t>
            </a:r>
            <a:r>
              <a:rPr lang="en-US" sz="2500" b="0" i="0" dirty="0" err="1">
                <a:effectLst/>
                <a:latin typeface="Nunito Sans" pitchFamily="2" charset="0"/>
              </a:rPr>
              <a:t>i</a:t>
            </a:r>
            <a:r>
              <a:rPr lang="en-US" sz="2500" b="0" i="0" dirty="0">
                <a:effectLst/>
                <a:latin typeface="Nunito Sans" pitchFamily="2" charset="0"/>
              </a:rPr>
              <a:t>]. It takes 1 unit of time each he travels from any one city to another city. His goal is to reach the destination city(a[N-1]) at the end of the day.</a:t>
            </a:r>
          </a:p>
          <a:p>
            <a:pPr algn="l"/>
            <a:r>
              <a:rPr lang="en-US" sz="2500" b="0" i="0" dirty="0">
                <a:effectLst/>
                <a:latin typeface="Nunito Sans" pitchFamily="2" charset="0"/>
              </a:rPr>
              <a:t>Given N, a , the task here is to help Ram to travel from his home city to destination in the minimum amount of time.</a:t>
            </a:r>
          </a:p>
          <a:p>
            <a:pPr algn="l"/>
            <a:r>
              <a:rPr lang="en-US" sz="2500" b="0" i="0" dirty="0">
                <a:effectLst/>
                <a:latin typeface="Nunito Sans" pitchFamily="2" charset="0"/>
              </a:rPr>
              <a:t>Give the time as output</a:t>
            </a:r>
          </a:p>
          <a:p>
            <a:pPr algn="l"/>
            <a:r>
              <a:rPr lang="en-US" sz="2500" b="0" i="0" dirty="0">
                <a:effectLst/>
                <a:latin typeface="Nunito Sans" pitchFamily="2" charset="0"/>
              </a:rPr>
              <a:t>Note: </a:t>
            </a:r>
            <a:r>
              <a:rPr lang="en-US" sz="2500" b="0" i="0" dirty="0" err="1">
                <a:effectLst/>
                <a:latin typeface="Nunito Sans" pitchFamily="2" charset="0"/>
              </a:rPr>
              <a:t>Assume,the</a:t>
            </a:r>
            <a:r>
              <a:rPr lang="en-US" sz="2500" b="0" i="0" dirty="0">
                <a:effectLst/>
                <a:latin typeface="Nunito Sans" pitchFamily="2" charset="0"/>
              </a:rPr>
              <a:t> destination can always be reached</a:t>
            </a:r>
          </a:p>
        </p:txBody>
      </p:sp>
    </p:spTree>
    <p:extLst>
      <p:ext uri="{BB962C8B-B14F-4D97-AF65-F5344CB8AC3E}">
        <p14:creationId xmlns:p14="http://schemas.microsoft.com/office/powerpoint/2010/main" val="1430497955"/>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2785378"/>
          </a:xfrm>
          <a:prstGeom prst="rect">
            <a:avLst/>
          </a:prstGeom>
          <a:noFill/>
        </p:spPr>
        <p:txBody>
          <a:bodyPr wrap="square">
            <a:spAutoFit/>
          </a:bodyPr>
          <a:lstStyle/>
          <a:p>
            <a:pPr algn="l"/>
            <a:r>
              <a:rPr lang="en-US" sz="2500" b="1" i="0" dirty="0">
                <a:effectLst/>
                <a:latin typeface="Nunito Sans" pitchFamily="2" charset="0"/>
              </a:rPr>
              <a:t>Example 1</a:t>
            </a:r>
            <a:r>
              <a:rPr lang="en-US" sz="2500" b="0" i="0" dirty="0">
                <a:effectLst/>
                <a:latin typeface="Nunito Sans" pitchFamily="2" charset="0"/>
              </a:rPr>
              <a:t>:</a:t>
            </a:r>
          </a:p>
          <a:p>
            <a:pPr algn="l"/>
            <a:r>
              <a:rPr lang="en-US" sz="2500" b="1" i="0" dirty="0">
                <a:effectLst/>
                <a:latin typeface="Nunito Sans" pitchFamily="2" charset="0"/>
              </a:rPr>
              <a:t>Input: </a:t>
            </a:r>
            <a:endParaRPr lang="en-US" sz="2500" b="0" i="0" dirty="0">
              <a:effectLst/>
              <a:latin typeface="Nunito Sans" pitchFamily="2" charset="0"/>
            </a:endParaRPr>
          </a:p>
          <a:p>
            <a:pPr algn="l"/>
            <a:r>
              <a:rPr lang="en-US" sz="2500" b="0" i="0" dirty="0">
                <a:effectLst/>
                <a:latin typeface="Nunito Sans" pitchFamily="2" charset="0"/>
              </a:rPr>
              <a:t>5-&gt; Value of N</a:t>
            </a:r>
          </a:p>
          <a:p>
            <a:pPr algn="l"/>
            <a:r>
              <a:rPr lang="en-US" sz="2500" b="0" i="0" dirty="0">
                <a:effectLst/>
                <a:latin typeface="Nunito Sans" pitchFamily="2" charset="0"/>
              </a:rPr>
              <a:t>2 1 2 5 3-&gt; a[], Elements a[0] to a[N-1], where each input element is separated by new line</a:t>
            </a:r>
          </a:p>
          <a:p>
            <a:pPr algn="l"/>
            <a:r>
              <a:rPr lang="en-US" sz="2500" b="0" i="0" dirty="0">
                <a:effectLst/>
                <a:latin typeface="Nunito Sans" pitchFamily="2" charset="0"/>
              </a:rPr>
              <a:t>Output:</a:t>
            </a:r>
          </a:p>
          <a:p>
            <a:pPr algn="l"/>
            <a:r>
              <a:rPr lang="en-US" sz="2500" b="0" i="0" dirty="0">
                <a:effectLst/>
                <a:latin typeface="Nunito Sans" pitchFamily="2" charset="0"/>
              </a:rPr>
              <a:t>2</a:t>
            </a:r>
          </a:p>
        </p:txBody>
      </p:sp>
    </p:spTree>
    <p:extLst>
      <p:ext uri="{BB962C8B-B14F-4D97-AF65-F5344CB8AC3E}">
        <p14:creationId xmlns:p14="http://schemas.microsoft.com/office/powerpoint/2010/main" val="4100492612"/>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4708981"/>
          </a:xfrm>
          <a:prstGeom prst="rect">
            <a:avLst/>
          </a:prstGeom>
          <a:noFill/>
        </p:spPr>
        <p:txBody>
          <a:bodyPr wrap="square">
            <a:spAutoFit/>
          </a:bodyPr>
          <a:lstStyle/>
          <a:p>
            <a:pPr algn="l"/>
            <a:r>
              <a:rPr lang="en-US" sz="2500" b="1" i="0" dirty="0">
                <a:effectLst/>
                <a:latin typeface="Nunito Sans" pitchFamily="2" charset="0"/>
              </a:rPr>
              <a:t>Explanation:</a:t>
            </a:r>
            <a:endParaRPr lang="en-US" sz="2500" b="0" i="0" dirty="0">
              <a:effectLst/>
              <a:latin typeface="Nunito Sans" pitchFamily="2" charset="0"/>
            </a:endParaRPr>
          </a:p>
          <a:p>
            <a:pPr algn="l"/>
            <a:r>
              <a:rPr lang="en-US" sz="2500" b="0" i="0" dirty="0">
                <a:effectLst/>
                <a:latin typeface="Nunito Sans" pitchFamily="2" charset="0"/>
              </a:rPr>
              <a:t>From the inputs given above:</a:t>
            </a:r>
          </a:p>
          <a:p>
            <a:pPr algn="l"/>
            <a:r>
              <a:rPr lang="en-US" sz="2500" b="0" i="0" dirty="0">
                <a:effectLst/>
                <a:latin typeface="Nunito Sans" pitchFamily="2" charset="0"/>
              </a:rPr>
              <a:t>Ram starts from his home city (a[0]):2</a:t>
            </a:r>
          </a:p>
          <a:p>
            <a:pPr algn="l"/>
            <a:r>
              <a:rPr lang="en-US" sz="2500" b="0" i="0" dirty="0">
                <a:effectLst/>
                <a:latin typeface="Nunito Sans" pitchFamily="2" charset="0"/>
              </a:rPr>
              <a:t>Maximum distance Ram can travel is 2 places ahead that is Ram can either go to a[1] or a[2]</a:t>
            </a:r>
          </a:p>
          <a:p>
            <a:pPr algn="l"/>
            <a:r>
              <a:rPr lang="en-US" sz="2500" b="0" i="0" dirty="0">
                <a:effectLst/>
                <a:latin typeface="Nunito Sans" pitchFamily="2" charset="0"/>
              </a:rPr>
              <a:t>Ram will go to a city at a[2]</a:t>
            </a:r>
          </a:p>
          <a:p>
            <a:pPr algn="l"/>
            <a:r>
              <a:rPr lang="en-US" sz="2500" b="0" i="0" dirty="0">
                <a:effectLst/>
                <a:latin typeface="Nunito Sans" pitchFamily="2" charset="0"/>
              </a:rPr>
              <a:t>Amount of time spent is 1 unit</a:t>
            </a:r>
          </a:p>
          <a:p>
            <a:pPr algn="l"/>
            <a:r>
              <a:rPr lang="en-US" sz="2500" b="0" i="0" dirty="0">
                <a:effectLst/>
                <a:latin typeface="Nunito Sans" pitchFamily="2" charset="0"/>
              </a:rPr>
              <a:t>Again he starts from a[2]</a:t>
            </a:r>
          </a:p>
          <a:p>
            <a:pPr algn="l"/>
            <a:r>
              <a:rPr lang="en-US" sz="2500" b="0" i="0" dirty="0">
                <a:effectLst/>
                <a:latin typeface="Nunito Sans" pitchFamily="2" charset="0"/>
              </a:rPr>
              <a:t>Maximum distance </a:t>
            </a:r>
            <a:r>
              <a:rPr lang="en-US" sz="2500" b="0" i="0" dirty="0" err="1">
                <a:effectLst/>
                <a:latin typeface="Nunito Sans" pitchFamily="2" charset="0"/>
              </a:rPr>
              <a:t>Rankan</a:t>
            </a:r>
            <a:r>
              <a:rPr lang="en-US" sz="2500" b="0" i="0" dirty="0">
                <a:effectLst/>
                <a:latin typeface="Nunito Sans" pitchFamily="2" charset="0"/>
              </a:rPr>
              <a:t> travel is two places ahead that is Ram can either go to a[3] or a[4]</a:t>
            </a:r>
          </a:p>
          <a:p>
            <a:pPr algn="l"/>
            <a:r>
              <a:rPr lang="en-US" sz="2500" b="0" i="0" dirty="0">
                <a:effectLst/>
                <a:latin typeface="Nunito Sans" pitchFamily="2" charset="0"/>
              </a:rPr>
              <a:t>Ram will go to a[4] which is the destination</a:t>
            </a:r>
          </a:p>
          <a:p>
            <a:pPr algn="l"/>
            <a:r>
              <a:rPr lang="en-US" sz="2500" b="0" i="0" dirty="0">
                <a:effectLst/>
                <a:latin typeface="Nunito Sans" pitchFamily="2" charset="0"/>
              </a:rPr>
              <a:t>Amount of time spent is 1 unit.</a:t>
            </a:r>
          </a:p>
        </p:txBody>
      </p:sp>
    </p:spTree>
    <p:extLst>
      <p:ext uri="{BB962C8B-B14F-4D97-AF65-F5344CB8AC3E}">
        <p14:creationId xmlns:p14="http://schemas.microsoft.com/office/powerpoint/2010/main" val="97664480"/>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2785378"/>
          </a:xfrm>
          <a:prstGeom prst="rect">
            <a:avLst/>
          </a:prstGeom>
          <a:noFill/>
        </p:spPr>
        <p:txBody>
          <a:bodyPr wrap="square">
            <a:spAutoFit/>
          </a:bodyPr>
          <a:lstStyle/>
          <a:p>
            <a:pPr algn="l"/>
            <a:r>
              <a:rPr lang="en-US" sz="2500" b="1" i="0" dirty="0">
                <a:effectLst/>
                <a:latin typeface="Nunito Sans" pitchFamily="2" charset="0"/>
              </a:rPr>
              <a:t>Example 2:</a:t>
            </a:r>
            <a:endParaRPr lang="en-US" sz="2500" b="0" i="0" dirty="0">
              <a:effectLst/>
              <a:latin typeface="Nunito Sans" pitchFamily="2" charset="0"/>
            </a:endParaRPr>
          </a:p>
          <a:p>
            <a:pPr algn="l"/>
            <a:r>
              <a:rPr lang="en-US" sz="2500" b="1" i="0" dirty="0">
                <a:effectLst/>
                <a:latin typeface="Nunito Sans" pitchFamily="2" charset="0"/>
              </a:rPr>
              <a:t>Input :</a:t>
            </a:r>
            <a:endParaRPr lang="en-US" sz="2500" b="0" i="0" dirty="0">
              <a:effectLst/>
              <a:latin typeface="Nunito Sans" pitchFamily="2" charset="0"/>
            </a:endParaRPr>
          </a:p>
          <a:p>
            <a:pPr algn="l"/>
            <a:r>
              <a:rPr lang="en-US" sz="2500" b="0" i="0" dirty="0">
                <a:effectLst/>
                <a:latin typeface="Nunito Sans" pitchFamily="2" charset="0"/>
              </a:rPr>
              <a:t>8-&gt; Value of N</a:t>
            </a:r>
          </a:p>
          <a:p>
            <a:pPr algn="l"/>
            <a:r>
              <a:rPr lang="en-US" sz="2500" b="0" i="0" dirty="0">
                <a:effectLst/>
                <a:latin typeface="Nunito Sans" pitchFamily="2" charset="0"/>
              </a:rPr>
              <a:t>1 2 1 1 3 5 6 4-&gt; a[], Elements a[0] to a[N-1] where each input element is separated by new line</a:t>
            </a: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4</a:t>
            </a:r>
          </a:p>
        </p:txBody>
      </p:sp>
    </p:spTree>
    <p:extLst>
      <p:ext uri="{BB962C8B-B14F-4D97-AF65-F5344CB8AC3E}">
        <p14:creationId xmlns:p14="http://schemas.microsoft.com/office/powerpoint/2010/main" val="3859285973"/>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4324261"/>
          </a:xfrm>
          <a:prstGeom prst="rect">
            <a:avLst/>
          </a:prstGeom>
          <a:noFill/>
        </p:spPr>
        <p:txBody>
          <a:bodyPr wrap="square">
            <a:spAutoFit/>
          </a:bodyPr>
          <a:lstStyle/>
          <a:p>
            <a:pPr algn="l"/>
            <a:r>
              <a:rPr lang="en-US" sz="2500" b="1" i="0" dirty="0">
                <a:effectLst/>
                <a:latin typeface="Nunito Sans" pitchFamily="2" charset="0"/>
              </a:rPr>
              <a:t>Explanation:</a:t>
            </a:r>
            <a:endParaRPr lang="en-US" sz="2500" b="0" i="0" dirty="0">
              <a:effectLst/>
              <a:latin typeface="Nunito Sans" pitchFamily="2" charset="0"/>
            </a:endParaRPr>
          </a:p>
          <a:p>
            <a:pPr algn="l"/>
            <a:r>
              <a:rPr lang="en-US" sz="2500" b="0" i="0" dirty="0">
                <a:effectLst/>
                <a:latin typeface="Nunito Sans" pitchFamily="2" charset="0"/>
              </a:rPr>
              <a:t>From the inputs given above:</a:t>
            </a:r>
          </a:p>
          <a:p>
            <a:pPr algn="l"/>
            <a:r>
              <a:rPr lang="en-US" sz="2500" b="0" i="0" dirty="0">
                <a:effectLst/>
                <a:latin typeface="Nunito Sans" pitchFamily="2" charset="0"/>
              </a:rPr>
              <a:t>Iran starts from his home city (a[0]):1</a:t>
            </a:r>
          </a:p>
          <a:p>
            <a:pPr algn="l"/>
            <a:r>
              <a:rPr lang="en-US" sz="2500" b="0" i="0" dirty="0">
                <a:effectLst/>
                <a:latin typeface="Nunito Sans" pitchFamily="2" charset="0"/>
              </a:rPr>
              <a:t>Maximum distance Ram can travel is 1 place ahead that is Ram can go only to a[1]</a:t>
            </a:r>
          </a:p>
          <a:p>
            <a:pPr algn="l"/>
            <a:r>
              <a:rPr lang="en-US" sz="2500" b="0" i="0" dirty="0">
                <a:effectLst/>
                <a:latin typeface="Nunito Sans" pitchFamily="2" charset="0"/>
              </a:rPr>
              <a:t>Amount of time spent is 1 unit.</a:t>
            </a:r>
          </a:p>
          <a:p>
            <a:pPr algn="l"/>
            <a:r>
              <a:rPr lang="en-US" sz="2500" b="0" i="0" dirty="0">
                <a:effectLst/>
                <a:latin typeface="Nunito Sans" pitchFamily="2" charset="0"/>
              </a:rPr>
              <a:t>Again he starts from a[1]</a:t>
            </a:r>
          </a:p>
          <a:p>
            <a:pPr algn="l"/>
            <a:r>
              <a:rPr lang="en-US" sz="2500" b="0" i="0" dirty="0">
                <a:effectLst/>
                <a:latin typeface="Nunito Sans" pitchFamily="2" charset="0"/>
              </a:rPr>
              <a:t>Maximum distance from can travel is 2 places ahead that is Ram can either go to a[2] or a[3]</a:t>
            </a:r>
          </a:p>
          <a:p>
            <a:pPr algn="l"/>
            <a:r>
              <a:rPr lang="en-US" sz="2500" b="0" i="0" dirty="0">
                <a:effectLst/>
                <a:latin typeface="Nunito Sans" pitchFamily="2" charset="0"/>
              </a:rPr>
              <a:t>Ram will go to a city at a[3].</a:t>
            </a:r>
          </a:p>
          <a:p>
            <a:pPr algn="l"/>
            <a:r>
              <a:rPr lang="en-US" sz="2500" b="0" i="0" dirty="0">
                <a:effectLst/>
                <a:latin typeface="Nunito Sans" pitchFamily="2" charset="0"/>
              </a:rPr>
              <a:t>Amount of time spent is 1 unit.</a:t>
            </a:r>
          </a:p>
          <a:p>
            <a:pPr algn="l"/>
            <a:r>
              <a:rPr lang="en-US" sz="2500" b="0" i="0" dirty="0">
                <a:effectLst/>
                <a:latin typeface="Nunito Sans" pitchFamily="2" charset="0"/>
              </a:rPr>
              <a:t>Again he starts from a[3]</a:t>
            </a:r>
          </a:p>
        </p:txBody>
      </p:sp>
    </p:spTree>
    <p:extLst>
      <p:ext uri="{BB962C8B-B14F-4D97-AF65-F5344CB8AC3E}">
        <p14:creationId xmlns:p14="http://schemas.microsoft.com/office/powerpoint/2010/main" val="323087165"/>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5093702"/>
          </a:xfrm>
          <a:prstGeom prst="rect">
            <a:avLst/>
          </a:prstGeom>
          <a:noFill/>
        </p:spPr>
        <p:txBody>
          <a:bodyPr wrap="square">
            <a:spAutoFit/>
          </a:bodyPr>
          <a:lstStyle/>
          <a:p>
            <a:pPr algn="l"/>
            <a:r>
              <a:rPr lang="en-US" sz="2500" b="0" i="0" dirty="0">
                <a:effectLst/>
                <a:latin typeface="Nunito Sans" pitchFamily="2" charset="0"/>
              </a:rPr>
              <a:t>Maximum distance from can travel is 1 places ahead that is Ram can either go to a[4]</a:t>
            </a:r>
          </a:p>
          <a:p>
            <a:pPr algn="l"/>
            <a:r>
              <a:rPr lang="en-US" sz="2500" b="0" i="0" dirty="0">
                <a:effectLst/>
                <a:latin typeface="Nunito Sans" pitchFamily="2" charset="0"/>
              </a:rPr>
              <a:t>Ram will go only to a city a[4].</a:t>
            </a:r>
          </a:p>
          <a:p>
            <a:pPr algn="l"/>
            <a:r>
              <a:rPr lang="en-US" sz="2500" b="0" i="0" dirty="0">
                <a:effectLst/>
                <a:latin typeface="Nunito Sans" pitchFamily="2" charset="0"/>
              </a:rPr>
              <a:t>Amount of time spent is 1 unit.</a:t>
            </a:r>
          </a:p>
          <a:p>
            <a:pPr algn="l"/>
            <a:r>
              <a:rPr lang="en-US" sz="2500" b="0" i="0" dirty="0">
                <a:effectLst/>
                <a:latin typeface="Nunito Sans" pitchFamily="2" charset="0"/>
              </a:rPr>
              <a:t>Again he starts from a[4]</a:t>
            </a:r>
          </a:p>
          <a:p>
            <a:pPr algn="l"/>
            <a:r>
              <a:rPr lang="en-US" sz="2500" b="0" i="0" dirty="0">
                <a:effectLst/>
                <a:latin typeface="Nunito Sans" pitchFamily="2" charset="0"/>
              </a:rPr>
              <a:t>Maximum distance from can travel is 3 places ahead that is Ram can either go to a[5] or a[6] or a[7].</a:t>
            </a:r>
          </a:p>
          <a:p>
            <a:pPr algn="l"/>
            <a:r>
              <a:rPr lang="en-US" sz="2500" b="0" i="0" dirty="0">
                <a:effectLst/>
                <a:latin typeface="Nunito Sans" pitchFamily="2" charset="0"/>
              </a:rPr>
              <a:t>Ram will go a to city at a[7] which is the destination.</a:t>
            </a:r>
          </a:p>
          <a:p>
            <a:pPr algn="l"/>
            <a:r>
              <a:rPr lang="en-US" sz="2500" b="0" i="0" dirty="0">
                <a:effectLst/>
                <a:latin typeface="Nunito Sans" pitchFamily="2" charset="0"/>
              </a:rPr>
              <a:t>Amount of time spent is 1 unit.</a:t>
            </a:r>
          </a:p>
          <a:p>
            <a:pPr algn="l"/>
            <a:r>
              <a:rPr lang="en-US" sz="2500" b="0" i="0" dirty="0">
                <a:effectLst/>
                <a:latin typeface="Nunito Sans" pitchFamily="2" charset="0"/>
              </a:rPr>
              <a:t>The total amount of time spent is 4 units.</a:t>
            </a:r>
          </a:p>
          <a:p>
            <a:pPr algn="l"/>
            <a:r>
              <a:rPr lang="en-US" sz="2500" b="0" i="0" dirty="0">
                <a:effectLst/>
                <a:latin typeface="Nunito Sans" pitchFamily="2" charset="0"/>
              </a:rPr>
              <a:t>This is the least amount of time Ron has to spend to travel from source to destination.</a:t>
            </a:r>
          </a:p>
          <a:p>
            <a:pPr algn="l"/>
            <a:r>
              <a:rPr lang="en-US" sz="2500" b="0" i="0" dirty="0">
                <a:effectLst/>
                <a:latin typeface="Nunito Sans" pitchFamily="2" charset="0"/>
              </a:rPr>
              <a:t>Hence, the output is 4.</a:t>
            </a:r>
          </a:p>
        </p:txBody>
      </p:sp>
    </p:spTree>
    <p:extLst>
      <p:ext uri="{BB962C8B-B14F-4D97-AF65-F5344CB8AC3E}">
        <p14:creationId xmlns:p14="http://schemas.microsoft.com/office/powerpoint/2010/main" val="986595483"/>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3" name="TextBox 2">
            <a:extLst>
              <a:ext uri="{FF2B5EF4-FFF2-40B4-BE49-F238E27FC236}">
                <a16:creationId xmlns:a16="http://schemas.microsoft.com/office/drawing/2014/main" id="{3F89FF3C-B67C-204C-B475-C60B05A8909B}"/>
              </a:ext>
            </a:extLst>
          </p:cNvPr>
          <p:cNvSpPr txBox="1"/>
          <p:nvPr/>
        </p:nvSpPr>
        <p:spPr>
          <a:xfrm>
            <a:off x="150125" y="1011537"/>
            <a:ext cx="11859905" cy="1631216"/>
          </a:xfrm>
          <a:prstGeom prst="rect">
            <a:avLst/>
          </a:prstGeom>
          <a:noFill/>
        </p:spPr>
        <p:txBody>
          <a:bodyPr wrap="square">
            <a:spAutoFit/>
          </a:bodyPr>
          <a:lstStyle/>
          <a:p>
            <a:pPr algn="l"/>
            <a:r>
              <a:rPr lang="en-US" sz="2500" b="1" i="0" dirty="0">
                <a:effectLst/>
                <a:latin typeface="Nunito Sans" pitchFamily="2" charset="0"/>
              </a:rPr>
              <a:t>Constraints:</a:t>
            </a:r>
            <a:endParaRPr lang="en-US" sz="2500" b="0" i="0" dirty="0">
              <a:effectLst/>
              <a:latin typeface="Nunito Sans" pitchFamily="2" charset="0"/>
            </a:endParaRPr>
          </a:p>
          <a:p>
            <a:pPr algn="l"/>
            <a:r>
              <a:rPr lang="en-US" sz="2500" b="0" i="0" dirty="0">
                <a:effectLst/>
                <a:latin typeface="Nunito Sans" pitchFamily="2" charset="0"/>
              </a:rPr>
              <a:t>1&lt;N&lt;10000000</a:t>
            </a:r>
          </a:p>
          <a:p>
            <a:pPr algn="l"/>
            <a:r>
              <a:rPr lang="en-US" sz="2500" b="1" i="0" dirty="0">
                <a:effectLst/>
                <a:latin typeface="Nunito Sans" pitchFamily="2" charset="0"/>
              </a:rPr>
              <a:t>The input format testing:</a:t>
            </a:r>
            <a:endParaRPr lang="en-US" sz="2500" b="0" i="0" dirty="0">
              <a:effectLst/>
              <a:latin typeface="Nunito Sans" pitchFamily="2" charset="0"/>
            </a:endParaRPr>
          </a:p>
          <a:p>
            <a:pPr algn="l"/>
            <a:r>
              <a:rPr lang="en-US" sz="2500" b="0" i="0" dirty="0">
                <a:effectLst/>
                <a:latin typeface="Nunito Sans" pitchFamily="2" charset="0"/>
              </a:rPr>
              <a:t>The candidate has to write the code to accept a positive integer number</a:t>
            </a:r>
          </a:p>
        </p:txBody>
      </p:sp>
    </p:spTree>
    <p:extLst>
      <p:ext uri="{BB962C8B-B14F-4D97-AF65-F5344CB8AC3E}">
        <p14:creationId xmlns:p14="http://schemas.microsoft.com/office/powerpoint/2010/main" val="4234218250"/>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Current maximum distance Ram can travel</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Minimum time spent to reach the destination</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Update the current maximum distance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Destination reached</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Increment the minimum time spent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28642597"/>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pt-BR" sz="2000" b="0" dirty="0">
                <a:solidFill>
                  <a:srgbClr val="D4D4D4"/>
                </a:solidFill>
                <a:effectLst/>
                <a:latin typeface="Nunito Sans" pitchFamily="2" charset="0"/>
              </a:rPr>
              <a:t>    scanf</a:t>
            </a:r>
            <a:r>
              <a:rPr lang="pt-BR" sz="2000" b="0" dirty="0">
                <a:solidFill>
                  <a:srgbClr val="DCDCDC"/>
                </a:solidFill>
                <a:effectLst/>
                <a:latin typeface="Nunito Sans" pitchFamily="2" charset="0"/>
              </a:rPr>
              <a:t>(</a:t>
            </a:r>
            <a:r>
              <a:rPr lang="pt-BR" sz="2000" b="0" dirty="0">
                <a:solidFill>
                  <a:srgbClr val="CE9178"/>
                </a:solidFill>
                <a:effectLst/>
                <a:latin typeface="Nunito Sans" pitchFamily="2" charset="0"/>
              </a:rPr>
              <a:t>"%d"</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a:t>
            </a:r>
            <a:r>
              <a:rPr lang="pt-BR" sz="2000" b="0" dirty="0">
                <a:solidFill>
                  <a:srgbClr val="DCDCDC"/>
                </a:solidFill>
                <a:effectLst/>
                <a:latin typeface="Nunito Sans" pitchFamily="2" charset="0"/>
              </a:rPr>
              <a:t>&amp;</a:t>
            </a:r>
            <a:r>
              <a:rPr lang="pt-BR" sz="2000" b="0" dirty="0">
                <a:solidFill>
                  <a:srgbClr val="D4D4D4"/>
                </a:solidFill>
                <a:effectLst/>
                <a:latin typeface="Nunito Sans" pitchFamily="2" charset="0"/>
              </a:rPr>
              <a:t>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int</a:t>
            </a:r>
            <a:r>
              <a:rPr lang="pt-BR" sz="2000" b="0" dirty="0">
                <a:solidFill>
                  <a:srgbClr val="D4D4D4"/>
                </a:solidFill>
                <a:effectLst/>
                <a:latin typeface="Nunito Sans" pitchFamily="2" charset="0"/>
              </a:rPr>
              <a:t> a</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for</a:t>
            </a:r>
            <a:r>
              <a:rPr lang="pt-BR" sz="2000" b="0" dirty="0">
                <a:solidFill>
                  <a:srgbClr val="D4D4D4"/>
                </a:solidFill>
                <a:effectLst/>
                <a:latin typeface="Nunito Sans" pitchFamily="2" charset="0"/>
              </a:rPr>
              <a:t> </a:t>
            </a:r>
            <a:r>
              <a:rPr lang="pt-BR" sz="2000" b="0" dirty="0">
                <a:solidFill>
                  <a:srgbClr val="DCDCDC"/>
                </a:solidFill>
                <a:effectLst/>
                <a:latin typeface="Nunito Sans" pitchFamily="2" charset="0"/>
              </a:rPr>
              <a:t>(</a:t>
            </a:r>
            <a:r>
              <a:rPr lang="pt-BR" sz="2000" b="0" dirty="0">
                <a:solidFill>
                  <a:srgbClr val="569CD6"/>
                </a:solidFill>
                <a:effectLst/>
                <a:latin typeface="Nunito Sans" pitchFamily="2" charset="0"/>
              </a:rPr>
              <a:t>int</a:t>
            </a:r>
            <a:r>
              <a:rPr lang="pt-BR" sz="2000" b="0" dirty="0">
                <a:solidFill>
                  <a:srgbClr val="D4D4D4"/>
                </a:solidFill>
                <a:effectLst/>
                <a:latin typeface="Nunito Sans" pitchFamily="2" charset="0"/>
              </a:rPr>
              <a:t> i </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a:t>
            </a:r>
            <a:r>
              <a:rPr lang="pt-BR" sz="2000" b="0" dirty="0">
                <a:solidFill>
                  <a:srgbClr val="B5CEA8"/>
                </a:solidFill>
                <a:effectLst/>
                <a:latin typeface="Nunito Sans" pitchFamily="2" charset="0"/>
              </a:rPr>
              <a:t>0</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i </a:t>
            </a:r>
            <a:r>
              <a:rPr lang="pt-BR" sz="2000" b="0" dirty="0">
                <a:solidFill>
                  <a:srgbClr val="DCDCDC"/>
                </a:solidFill>
                <a:effectLst/>
                <a:latin typeface="Nunito Sans" pitchFamily="2" charset="0"/>
              </a:rPr>
              <a:t>&lt;</a:t>
            </a:r>
            <a:r>
              <a:rPr lang="pt-BR" sz="2000" b="0" dirty="0">
                <a:solidFill>
                  <a:srgbClr val="D4D4D4"/>
                </a:solidFill>
                <a:effectLst/>
                <a:latin typeface="Nunito Sans" pitchFamily="2" charset="0"/>
              </a:rPr>
              <a:t> N</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i</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a:t>
            </a:r>
          </a:p>
          <a:p>
            <a:r>
              <a:rPr lang="pt-BR" sz="2000" b="0" dirty="0">
                <a:solidFill>
                  <a:srgbClr val="D4D4D4"/>
                </a:solidFill>
                <a:effectLst/>
                <a:latin typeface="Nunito Sans" pitchFamily="2" charset="0"/>
              </a:rPr>
              <a:t>    </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scanf</a:t>
            </a:r>
            <a:r>
              <a:rPr lang="pt-BR" sz="2000" b="0" dirty="0">
                <a:solidFill>
                  <a:srgbClr val="DCDCDC"/>
                </a:solidFill>
                <a:effectLst/>
                <a:latin typeface="Nunito Sans" pitchFamily="2" charset="0"/>
              </a:rPr>
              <a:t>(</a:t>
            </a:r>
            <a:r>
              <a:rPr lang="pt-BR" sz="2000" b="0" dirty="0">
                <a:solidFill>
                  <a:srgbClr val="CE9178"/>
                </a:solidFill>
                <a:effectLst/>
                <a:latin typeface="Nunito Sans" pitchFamily="2" charset="0"/>
              </a:rPr>
              <a:t>"%d"</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a:t>
            </a:r>
            <a:r>
              <a:rPr lang="pt-BR" sz="2000" b="0" dirty="0">
                <a:solidFill>
                  <a:srgbClr val="DCDCDC"/>
                </a:solidFill>
                <a:effectLst/>
                <a:latin typeface="Nunito Sans" pitchFamily="2" charset="0"/>
              </a:rPr>
              <a:t>&amp;</a:t>
            </a:r>
            <a:r>
              <a:rPr lang="pt-BR" sz="2000" b="0" dirty="0">
                <a:solidFill>
                  <a:srgbClr val="D4D4D4"/>
                </a:solidFill>
                <a:effectLst/>
                <a:latin typeface="Nunito Sans" pitchFamily="2" charset="0"/>
              </a:rPr>
              <a:t>a</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i</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int</a:t>
            </a:r>
            <a:r>
              <a:rPr lang="pt-BR" sz="2000" b="0" dirty="0">
                <a:solidFill>
                  <a:srgbClr val="D4D4D4"/>
                </a:solidFill>
                <a:effectLst/>
                <a:latin typeface="Nunito Sans" pitchFamily="2" charset="0"/>
              </a:rPr>
              <a:t> minTravelTime </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minTime</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N</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a</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printf</a:t>
            </a:r>
            <a:r>
              <a:rPr lang="pt-BR" sz="2000" b="0" dirty="0">
                <a:solidFill>
                  <a:srgbClr val="DCDCDC"/>
                </a:solidFill>
                <a:effectLst/>
                <a:latin typeface="Nunito Sans" pitchFamily="2" charset="0"/>
              </a:rPr>
              <a:t>(</a:t>
            </a:r>
            <a:r>
              <a:rPr lang="pt-BR" sz="2000" b="0" dirty="0">
                <a:solidFill>
                  <a:srgbClr val="CE9178"/>
                </a:solidFill>
                <a:effectLst/>
                <a:latin typeface="Nunito Sans" pitchFamily="2" charset="0"/>
              </a:rPr>
              <a:t>"%d\n"</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minTravelTime</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return</a:t>
            </a:r>
            <a:r>
              <a:rPr lang="pt-BR" sz="2000" b="0" dirty="0">
                <a:solidFill>
                  <a:srgbClr val="D4D4D4"/>
                </a:solidFill>
                <a:effectLst/>
                <a:latin typeface="Nunito Sans" pitchFamily="2" charset="0"/>
              </a:rPr>
              <a:t> </a:t>
            </a:r>
            <a:r>
              <a:rPr lang="pt-BR" sz="2000" b="0" dirty="0">
                <a:solidFill>
                  <a:srgbClr val="B5CEA8"/>
                </a:solidFill>
                <a:effectLst/>
                <a:latin typeface="Nunito Sans" pitchFamily="2" charset="0"/>
              </a:rPr>
              <a:t>0</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br>
              <a:rPr lang="pt-BR" sz="2000" b="0" dirty="0">
                <a:solidFill>
                  <a:srgbClr val="D4D4D4"/>
                </a:solidFill>
                <a:effectLst/>
                <a:latin typeface="Nunito Sans" pitchFamily="2" charset="0"/>
              </a:rPr>
            </a:br>
            <a:endParaRPr lang="pt-BR"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687408487"/>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Current maximum distance Ram can travel</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Minimum time spent to reach the destination</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Update the current maximum distance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Destination reached</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Increment the minimum time spent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000317530"/>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int</a:t>
            </a:r>
            <a:r>
              <a:rPr lang="pt-BR" sz="2000" b="0" dirty="0">
                <a:solidFill>
                  <a:srgbClr val="D4D4D4"/>
                </a:solidFill>
                <a:effectLst/>
                <a:latin typeface="Nunito Sans" pitchFamily="2" charset="0"/>
              </a:rPr>
              <a:t> 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cin </a:t>
            </a:r>
            <a:r>
              <a:rPr lang="pt-BR" sz="2000" b="0" dirty="0">
                <a:solidFill>
                  <a:srgbClr val="DCDCDC"/>
                </a:solidFill>
                <a:effectLst/>
                <a:latin typeface="Nunito Sans" pitchFamily="2" charset="0"/>
              </a:rPr>
              <a:t>&gt;&gt;</a:t>
            </a:r>
            <a:r>
              <a:rPr lang="pt-BR" sz="2000" b="0" dirty="0">
                <a:solidFill>
                  <a:srgbClr val="D4D4D4"/>
                </a:solidFill>
                <a:effectLst/>
                <a:latin typeface="Nunito Sans" pitchFamily="2" charset="0"/>
              </a:rPr>
              <a:t> 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int</a:t>
            </a:r>
            <a:r>
              <a:rPr lang="pt-BR" sz="2000" b="0" dirty="0">
                <a:solidFill>
                  <a:srgbClr val="D4D4D4"/>
                </a:solidFill>
                <a:effectLst/>
                <a:latin typeface="Nunito Sans" pitchFamily="2" charset="0"/>
              </a:rPr>
              <a:t> a</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N</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for</a:t>
            </a:r>
            <a:r>
              <a:rPr lang="pt-BR" sz="2000" b="0" dirty="0">
                <a:solidFill>
                  <a:srgbClr val="D4D4D4"/>
                </a:solidFill>
                <a:effectLst/>
                <a:latin typeface="Nunito Sans" pitchFamily="2" charset="0"/>
              </a:rPr>
              <a:t> </a:t>
            </a:r>
            <a:r>
              <a:rPr lang="pt-BR" sz="2000" b="0" dirty="0">
                <a:solidFill>
                  <a:srgbClr val="DCDCDC"/>
                </a:solidFill>
                <a:effectLst/>
                <a:latin typeface="Nunito Sans" pitchFamily="2" charset="0"/>
              </a:rPr>
              <a:t>(</a:t>
            </a:r>
            <a:r>
              <a:rPr lang="pt-BR" sz="2000" b="0" dirty="0">
                <a:solidFill>
                  <a:srgbClr val="569CD6"/>
                </a:solidFill>
                <a:effectLst/>
                <a:latin typeface="Nunito Sans" pitchFamily="2" charset="0"/>
              </a:rPr>
              <a:t>int</a:t>
            </a:r>
            <a:r>
              <a:rPr lang="pt-BR" sz="2000" b="0" dirty="0">
                <a:solidFill>
                  <a:srgbClr val="D4D4D4"/>
                </a:solidFill>
                <a:effectLst/>
                <a:latin typeface="Nunito Sans" pitchFamily="2" charset="0"/>
              </a:rPr>
              <a:t> i </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a:t>
            </a:r>
            <a:r>
              <a:rPr lang="pt-BR" sz="2000" b="0" dirty="0">
                <a:solidFill>
                  <a:srgbClr val="B5CEA8"/>
                </a:solidFill>
                <a:effectLst/>
                <a:latin typeface="Nunito Sans" pitchFamily="2" charset="0"/>
              </a:rPr>
              <a:t>0</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i </a:t>
            </a:r>
            <a:r>
              <a:rPr lang="pt-BR" sz="2000" b="0" dirty="0">
                <a:solidFill>
                  <a:srgbClr val="DCDCDC"/>
                </a:solidFill>
                <a:effectLst/>
                <a:latin typeface="Nunito Sans" pitchFamily="2" charset="0"/>
              </a:rPr>
              <a:t>&lt;</a:t>
            </a:r>
            <a:r>
              <a:rPr lang="pt-BR" sz="2000" b="0" dirty="0">
                <a:solidFill>
                  <a:srgbClr val="D4D4D4"/>
                </a:solidFill>
                <a:effectLst/>
                <a:latin typeface="Nunito Sans" pitchFamily="2" charset="0"/>
              </a:rPr>
              <a:t> N</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i</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a:t>
            </a:r>
          </a:p>
          <a:p>
            <a:r>
              <a:rPr lang="pt-BR" sz="2000" b="0" dirty="0">
                <a:solidFill>
                  <a:srgbClr val="D4D4D4"/>
                </a:solidFill>
                <a:effectLst/>
                <a:latin typeface="Nunito Sans" pitchFamily="2" charset="0"/>
              </a:rPr>
              <a:t>    </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cin </a:t>
            </a:r>
            <a:r>
              <a:rPr lang="pt-BR" sz="2000" b="0" dirty="0">
                <a:solidFill>
                  <a:srgbClr val="DCDCDC"/>
                </a:solidFill>
                <a:effectLst/>
                <a:latin typeface="Nunito Sans" pitchFamily="2" charset="0"/>
              </a:rPr>
              <a:t>&gt;&gt;</a:t>
            </a:r>
            <a:r>
              <a:rPr lang="pt-BR" sz="2000" b="0" dirty="0">
                <a:solidFill>
                  <a:srgbClr val="D4D4D4"/>
                </a:solidFill>
                <a:effectLst/>
                <a:latin typeface="Nunito Sans" pitchFamily="2" charset="0"/>
              </a:rPr>
              <a:t> a</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i</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int</a:t>
            </a:r>
            <a:r>
              <a:rPr lang="pt-BR" sz="2000" b="0" dirty="0">
                <a:solidFill>
                  <a:srgbClr val="D4D4D4"/>
                </a:solidFill>
                <a:effectLst/>
                <a:latin typeface="Nunito Sans" pitchFamily="2" charset="0"/>
              </a:rPr>
              <a:t> minTravelTime </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minTime</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N</a:t>
            </a:r>
            <a:r>
              <a:rPr lang="pt-BR" sz="2000" b="0" dirty="0">
                <a:solidFill>
                  <a:srgbClr val="DCDCDC"/>
                </a:solidFill>
                <a:effectLst/>
                <a:latin typeface="Nunito Sans" pitchFamily="2" charset="0"/>
              </a:rPr>
              <a:t>,</a:t>
            </a:r>
            <a:r>
              <a:rPr lang="pt-BR" sz="2000" b="0" dirty="0">
                <a:solidFill>
                  <a:srgbClr val="D4D4D4"/>
                </a:solidFill>
                <a:effectLst/>
                <a:latin typeface="Nunito Sans" pitchFamily="2" charset="0"/>
              </a:rPr>
              <a:t> a</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cout </a:t>
            </a:r>
            <a:r>
              <a:rPr lang="pt-BR" sz="2000" b="0" dirty="0">
                <a:solidFill>
                  <a:srgbClr val="DCDCDC"/>
                </a:solidFill>
                <a:effectLst/>
                <a:latin typeface="Nunito Sans" pitchFamily="2" charset="0"/>
              </a:rPr>
              <a:t>&lt;&lt;</a:t>
            </a:r>
            <a:r>
              <a:rPr lang="pt-BR" sz="2000" b="0" dirty="0">
                <a:solidFill>
                  <a:srgbClr val="D4D4D4"/>
                </a:solidFill>
                <a:effectLst/>
                <a:latin typeface="Nunito Sans" pitchFamily="2" charset="0"/>
              </a:rPr>
              <a:t> minTravelTime </a:t>
            </a:r>
            <a:r>
              <a:rPr lang="pt-BR" sz="2000" b="0" dirty="0">
                <a:solidFill>
                  <a:srgbClr val="DCDCDC"/>
                </a:solidFill>
                <a:effectLst/>
                <a:latin typeface="Nunito Sans" pitchFamily="2" charset="0"/>
              </a:rPr>
              <a:t>&lt;&lt;</a:t>
            </a:r>
            <a:r>
              <a:rPr lang="pt-BR" sz="2000" b="0" dirty="0">
                <a:solidFill>
                  <a:srgbClr val="D4D4D4"/>
                </a:solidFill>
                <a:effectLst/>
                <a:latin typeface="Nunito Sans" pitchFamily="2" charset="0"/>
              </a:rPr>
              <a:t> endl</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4D4D4"/>
                </a:solidFill>
                <a:effectLst/>
                <a:latin typeface="Nunito Sans" pitchFamily="2" charset="0"/>
              </a:rPr>
              <a:t>    </a:t>
            </a:r>
            <a:r>
              <a:rPr lang="pt-BR" sz="2000" b="0" dirty="0">
                <a:solidFill>
                  <a:srgbClr val="569CD6"/>
                </a:solidFill>
                <a:effectLst/>
                <a:latin typeface="Nunito Sans" pitchFamily="2" charset="0"/>
              </a:rPr>
              <a:t>return</a:t>
            </a:r>
            <a:r>
              <a:rPr lang="pt-BR" sz="2000" b="0" dirty="0">
                <a:solidFill>
                  <a:srgbClr val="D4D4D4"/>
                </a:solidFill>
                <a:effectLst/>
                <a:latin typeface="Nunito Sans" pitchFamily="2" charset="0"/>
              </a:rPr>
              <a:t> </a:t>
            </a:r>
            <a:r>
              <a:rPr lang="pt-BR" sz="2000" b="0" dirty="0">
                <a:solidFill>
                  <a:srgbClr val="B5CEA8"/>
                </a:solidFill>
                <a:effectLst/>
                <a:latin typeface="Nunito Sans" pitchFamily="2" charset="0"/>
              </a:rPr>
              <a:t>0</a:t>
            </a:r>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r>
              <a:rPr lang="pt-BR" sz="2000" b="0" dirty="0">
                <a:solidFill>
                  <a:srgbClr val="DCDCDC"/>
                </a:solidFill>
                <a:effectLst/>
                <a:latin typeface="Nunito Sans" pitchFamily="2" charset="0"/>
              </a:rPr>
              <a:t>}</a:t>
            </a:r>
            <a:endParaRPr lang="pt-BR" sz="2000" b="0" dirty="0">
              <a:solidFill>
                <a:srgbClr val="D4D4D4"/>
              </a:solidFill>
              <a:effectLst/>
              <a:latin typeface="Nunito Sans" pitchFamily="2" charset="0"/>
            </a:endParaRPr>
          </a:p>
          <a:p>
            <a:br>
              <a:rPr lang="pt-BR" sz="2000" b="0" dirty="0">
                <a:solidFill>
                  <a:srgbClr val="D4D4D4"/>
                </a:solidFill>
                <a:effectLst/>
                <a:latin typeface="Nunito Sans" pitchFamily="2" charset="0"/>
              </a:rPr>
            </a:br>
            <a:endParaRPr lang="pt-BR"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2486670"/>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Current maximum distance Ram can travel</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Minimum time spent to reach the destination</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Update the current maximum distance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Destination reached</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Increment the minimum time spent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30961257"/>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minTravelTime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minTravelTime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93458870"/>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Current maximum distance Ram can travel</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Minimum time spent to reach the destination</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&gt; </a:t>
            </a:r>
            <a:r>
              <a:rPr lang="en-IN" sz="2000" b="0" dirty="0" err="1">
                <a:solidFill>
                  <a:srgbClr val="D4D4D4"/>
                </a:solidFill>
                <a:effectLst/>
                <a:latin typeface="Nunito Sans" pitchFamily="2" charset="0"/>
              </a:rPr>
              <a:t>currMaxDist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Update the current maximum distance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currMaxDist</a:t>
            </a:r>
            <a:r>
              <a:rPr lang="en-IN" sz="2000" b="0" dirty="0">
                <a:solidFill>
                  <a:srgbClr val="D4D4D4"/>
                </a:solidFill>
                <a:effectLst/>
                <a:latin typeface="Nunito Sans" pitchFamily="2" charset="0"/>
              </a:rPr>
              <a:t> &gt;= 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Destination reached</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Increment the minimum time spent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minTime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a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minTravelTime</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minTime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minTravelTime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382322045"/>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6247864"/>
          </a:xfrm>
          <a:prstGeom prst="rect">
            <a:avLst/>
          </a:prstGeom>
          <a:noFill/>
        </p:spPr>
        <p:txBody>
          <a:bodyPr wrap="square">
            <a:spAutoFit/>
          </a:bodyPr>
          <a:lstStyle/>
          <a:p>
            <a:pPr algn="l"/>
            <a:r>
              <a:rPr lang="en-US" sz="2500" b="0" i="0" dirty="0">
                <a:effectLst/>
                <a:latin typeface="Nunito Sans" pitchFamily="2" charset="0"/>
              </a:rPr>
              <a:t>Rohan has a board of N*M dimensions where N is number of rows and M is number of columns. He has X number of coins numbered.</a:t>
            </a:r>
          </a:p>
          <a:p>
            <a:pPr algn="l"/>
            <a:r>
              <a:rPr lang="en-US" sz="2500" b="0" i="0" dirty="0">
                <a:effectLst/>
                <a:latin typeface="Nunito Sans" pitchFamily="2" charset="0"/>
              </a:rPr>
              <a:t>They are playing a game on this with the below rule:</a:t>
            </a:r>
          </a:p>
          <a:p>
            <a:pPr algn="l"/>
            <a:r>
              <a:rPr lang="en-US" sz="2500" b="0" i="0" dirty="0">
                <a:effectLst/>
                <a:latin typeface="Nunito Sans" pitchFamily="2" charset="0"/>
              </a:rPr>
              <a:t>•You need to fill the board with coins. You can fill each cell of board with a minimum of 0 coins or a maximum of X coins.</a:t>
            </a:r>
          </a:p>
          <a:p>
            <a:pPr algn="l"/>
            <a:r>
              <a:rPr lang="en-US" sz="2500" b="0" i="0" dirty="0">
                <a:effectLst/>
                <a:latin typeface="Nunito Sans" pitchFamily="2" charset="0"/>
              </a:rPr>
              <a:t>•Each cell can be filled with coins between 0 to X.</a:t>
            </a:r>
          </a:p>
          <a:p>
            <a:pPr algn="l"/>
            <a:r>
              <a:rPr lang="en-US" sz="2500" b="0" i="0" dirty="0">
                <a:effectLst/>
                <a:latin typeface="Nunito Sans" pitchFamily="2" charset="0"/>
              </a:rPr>
              <a:t>•For every pair of neighbor cells, the number of coins in both cells should not exceed a given number Y. Two cells are neighbor if they share a side.</a:t>
            </a:r>
          </a:p>
          <a:p>
            <a:pPr algn="l"/>
            <a:r>
              <a:rPr lang="en-US" sz="2500" b="0" i="0" dirty="0">
                <a:effectLst/>
                <a:latin typeface="Nunito Sans" pitchFamily="2" charset="0"/>
              </a:rPr>
              <a:t>Your task is to find the maximum number of coins which can be filled inside the board at a particular time, considering the above mentioned condition.</a:t>
            </a:r>
          </a:p>
          <a:p>
            <a:pPr algn="l"/>
            <a:r>
              <a:rPr lang="en-US" sz="2500" b="0" i="0" dirty="0">
                <a:effectLst/>
                <a:latin typeface="Nunito Sans" pitchFamily="2" charset="0"/>
              </a:rPr>
              <a:t>The Input will be:</a:t>
            </a:r>
          </a:p>
          <a:p>
            <a:pPr algn="l"/>
            <a:r>
              <a:rPr lang="en-US" sz="2500" b="0" i="0" dirty="0">
                <a:effectLst/>
                <a:latin typeface="Nunito Sans" pitchFamily="2" charset="0"/>
              </a:rPr>
              <a:t>N: Number of rows</a:t>
            </a:r>
          </a:p>
          <a:p>
            <a:pPr algn="l"/>
            <a:r>
              <a:rPr lang="en-US" sz="2500" b="0" i="0" dirty="0">
                <a:effectLst/>
                <a:latin typeface="Nunito Sans" pitchFamily="2" charset="0"/>
              </a:rPr>
              <a:t>M : Number of columns</a:t>
            </a:r>
          </a:p>
          <a:p>
            <a:pPr algn="l"/>
            <a:r>
              <a:rPr lang="en-US" sz="2500" b="0" i="0" dirty="0">
                <a:effectLst/>
                <a:latin typeface="Nunito Sans" pitchFamily="2" charset="0"/>
              </a:rPr>
              <a:t>X : Number of coins per cell</a:t>
            </a:r>
          </a:p>
          <a:p>
            <a:pPr algn="l"/>
            <a:r>
              <a:rPr lang="en-US" sz="2500" b="0" i="0" dirty="0">
                <a:effectLst/>
                <a:latin typeface="Nunito Sans" pitchFamily="2" charset="0"/>
              </a:rPr>
              <a:t>Y : Maximum sum of neighbor cells.</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3260230588"/>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900454"/>
            <a:ext cx="11858172" cy="5632311"/>
          </a:xfrm>
          <a:prstGeom prst="rect">
            <a:avLst/>
          </a:prstGeom>
          <a:noFill/>
        </p:spPr>
        <p:txBody>
          <a:bodyPr wrap="square">
            <a:spAutoFit/>
          </a:bodyPr>
          <a:lstStyle/>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0" i="0" dirty="0">
                <a:effectLst/>
                <a:latin typeface="Nunito Sans" pitchFamily="2" charset="0"/>
              </a:rPr>
              <a:t>Input :</a:t>
            </a:r>
          </a:p>
          <a:p>
            <a:pPr algn="l"/>
            <a:r>
              <a:rPr lang="en-US" sz="2400" b="0" i="0" dirty="0">
                <a:effectLst/>
                <a:latin typeface="Nunito Sans" pitchFamily="2" charset="0"/>
              </a:rPr>
              <a:t>2 2 5 2-&gt; Input integer, N, M, X and Y.</a:t>
            </a:r>
          </a:p>
          <a:p>
            <a:pPr algn="l"/>
            <a:r>
              <a:rPr lang="en-US" sz="2400" b="0" i="0" dirty="0">
                <a:effectLst/>
                <a:latin typeface="Nunito Sans" pitchFamily="2" charset="0"/>
              </a:rPr>
              <a:t>Output :</a:t>
            </a:r>
          </a:p>
          <a:p>
            <a:pPr algn="l"/>
            <a:r>
              <a:rPr lang="en-US" sz="2400" b="0" i="0" dirty="0">
                <a:effectLst/>
                <a:latin typeface="Nunito Sans" pitchFamily="2" charset="0"/>
              </a:rPr>
              <a:t>4-&gt;Output</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In the above matrix which is 2*2. The maximum sum of </a:t>
            </a:r>
            <a:r>
              <a:rPr lang="en-US" sz="2400" b="0" i="0" dirty="0" err="1">
                <a:effectLst/>
                <a:latin typeface="Nunito Sans" pitchFamily="2" charset="0"/>
              </a:rPr>
              <a:t>neighbours</a:t>
            </a:r>
            <a:r>
              <a:rPr lang="en-US" sz="2400" b="0" i="0" dirty="0">
                <a:effectLst/>
                <a:latin typeface="Nunito Sans" pitchFamily="2" charset="0"/>
              </a:rPr>
              <a:t> can be at most 2.</a:t>
            </a:r>
          </a:p>
          <a:p>
            <a:pPr algn="l"/>
            <a:r>
              <a:rPr lang="en-US" sz="2400" b="0" i="0" dirty="0">
                <a:effectLst/>
                <a:latin typeface="Nunito Sans" pitchFamily="2" charset="0"/>
              </a:rPr>
              <a:t>We can have below arrangement</a:t>
            </a:r>
          </a:p>
          <a:p>
            <a:pPr algn="l"/>
            <a:r>
              <a:rPr lang="en-US" sz="2400" b="0" i="0" dirty="0">
                <a:effectLst/>
                <a:latin typeface="Nunito Sans" pitchFamily="2" charset="0"/>
              </a:rPr>
              <a:t>In the arrangement above, All the conditions satisfies</a:t>
            </a:r>
          </a:p>
          <a:p>
            <a:pPr algn="l"/>
            <a:r>
              <a:rPr lang="en-US" sz="2400" b="0" i="0" dirty="0">
                <a:effectLst/>
                <a:latin typeface="Nunito Sans" pitchFamily="2" charset="0"/>
              </a:rPr>
              <a:t>•Maximum coin can be only 2.</a:t>
            </a:r>
          </a:p>
          <a:p>
            <a:pPr algn="l"/>
            <a:r>
              <a:rPr lang="en-US" sz="2400" b="0" i="0" dirty="0">
                <a:effectLst/>
                <a:latin typeface="Nunito Sans" pitchFamily="2" charset="0"/>
              </a:rPr>
              <a:t>•The </a:t>
            </a:r>
            <a:r>
              <a:rPr lang="en-US" sz="2400" b="0" i="0" dirty="0" err="1">
                <a:effectLst/>
                <a:latin typeface="Nunito Sans" pitchFamily="2" charset="0"/>
              </a:rPr>
              <a:t>neighbour</a:t>
            </a:r>
            <a:r>
              <a:rPr lang="en-US" sz="2400" b="0" i="0" dirty="0">
                <a:effectLst/>
                <a:latin typeface="Nunito Sans" pitchFamily="2" charset="0"/>
              </a:rPr>
              <a:t> has at most 2 coins.</a:t>
            </a:r>
          </a:p>
          <a:p>
            <a:pPr algn="l"/>
            <a:r>
              <a:rPr lang="en-US" sz="2400" b="0" i="0" dirty="0">
                <a:effectLst/>
                <a:latin typeface="Nunito Sans" pitchFamily="2" charset="0"/>
              </a:rPr>
              <a:t>Clearly the maximum coin which we can adjust in this board the are 4.</a:t>
            </a:r>
          </a:p>
          <a:p>
            <a:pPr algn="l"/>
            <a:r>
              <a:rPr lang="en-US" sz="2400" b="1" i="0" dirty="0">
                <a:effectLst/>
                <a:latin typeface="Nunito Sans" pitchFamily="2" charset="0"/>
              </a:rPr>
              <a:t>Example 2:</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3 3 6 3-&gt;Input integers N, M, X and Y</a:t>
            </a:r>
          </a:p>
        </p:txBody>
      </p:sp>
    </p:spTree>
    <p:extLst>
      <p:ext uri="{BB962C8B-B14F-4D97-AF65-F5344CB8AC3E}">
        <p14:creationId xmlns:p14="http://schemas.microsoft.com/office/powerpoint/2010/main" val="1727506903"/>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893647"/>
          </a:xfrm>
          <a:prstGeom prst="rect">
            <a:avLst/>
          </a:prstGeom>
          <a:noFill/>
        </p:spPr>
        <p:txBody>
          <a:bodyPr wrap="square">
            <a:spAutoFit/>
          </a:bodyPr>
          <a:lstStyle/>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15-&gt;Output</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In the above matrix which is 3*3 the maximum sum of </a:t>
            </a:r>
            <a:r>
              <a:rPr lang="en-US" sz="2400" b="0" i="0" dirty="0" err="1">
                <a:effectLst/>
                <a:latin typeface="Nunito Sans" pitchFamily="2" charset="0"/>
              </a:rPr>
              <a:t>neighbours</a:t>
            </a:r>
            <a:r>
              <a:rPr lang="en-US" sz="2400" b="0" i="0" dirty="0">
                <a:effectLst/>
                <a:latin typeface="Nunito Sans" pitchFamily="2" charset="0"/>
              </a:rPr>
              <a:t> can be at most 3.</a:t>
            </a:r>
          </a:p>
          <a:p>
            <a:pPr algn="l"/>
            <a:r>
              <a:rPr lang="en-US" sz="2400" b="0" i="0" dirty="0">
                <a:effectLst/>
                <a:latin typeface="Nunito Sans" pitchFamily="2" charset="0"/>
              </a:rPr>
              <a:t>We can have the below arrangement</a:t>
            </a:r>
          </a:p>
          <a:p>
            <a:pPr algn="l"/>
            <a:r>
              <a:rPr lang="en-US" sz="2400" b="0" i="0" dirty="0">
                <a:effectLst/>
                <a:latin typeface="Nunito Sans" pitchFamily="2" charset="0"/>
              </a:rPr>
              <a:t>In the arrangement above, All the conditions satisfies</a:t>
            </a:r>
          </a:p>
          <a:p>
            <a:pPr algn="l"/>
            <a:r>
              <a:rPr lang="en-US" sz="2400" b="0" i="0" dirty="0">
                <a:effectLst/>
                <a:latin typeface="Nunito Sans" pitchFamily="2" charset="0"/>
              </a:rPr>
              <a:t>•Maximum </a:t>
            </a:r>
            <a:r>
              <a:rPr lang="en-US" sz="2500" b="0" i="0" dirty="0">
                <a:effectLst/>
                <a:latin typeface="Nunito Sans" pitchFamily="2" charset="0"/>
              </a:rPr>
              <a:t>coin</a:t>
            </a:r>
            <a:r>
              <a:rPr lang="en-US" sz="2400" b="0" i="0" dirty="0">
                <a:effectLst/>
                <a:latin typeface="Nunito Sans" pitchFamily="2" charset="0"/>
              </a:rPr>
              <a:t> can be only 6.</a:t>
            </a:r>
          </a:p>
          <a:p>
            <a:pPr algn="l"/>
            <a:r>
              <a:rPr lang="en-US" sz="2400" b="0" i="0" dirty="0">
                <a:effectLst/>
                <a:latin typeface="Nunito Sans" pitchFamily="2" charset="0"/>
              </a:rPr>
              <a:t>•The </a:t>
            </a:r>
            <a:r>
              <a:rPr lang="en-US" sz="2400" b="0" i="0" dirty="0" err="1">
                <a:effectLst/>
                <a:latin typeface="Nunito Sans" pitchFamily="2" charset="0"/>
              </a:rPr>
              <a:t>neighbour</a:t>
            </a:r>
            <a:r>
              <a:rPr lang="en-US" sz="2400" b="0" i="0" dirty="0">
                <a:effectLst/>
                <a:latin typeface="Nunito Sans" pitchFamily="2" charset="0"/>
              </a:rPr>
              <a:t> has at most 3 coins.</a:t>
            </a:r>
          </a:p>
          <a:p>
            <a:pPr algn="l"/>
            <a:r>
              <a:rPr lang="en-US" sz="2400" b="0" i="0" dirty="0">
                <a:effectLst/>
                <a:latin typeface="Nunito Sans" pitchFamily="2" charset="0"/>
              </a:rPr>
              <a:t>Clearly the maximum coin which we can adjust in this board the are 15.</a:t>
            </a:r>
          </a:p>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•1&lt;=N,M&lt;=100</a:t>
            </a:r>
          </a:p>
          <a:p>
            <a:pPr algn="l"/>
            <a:r>
              <a:rPr lang="en-US" sz="2400" b="0" i="0" dirty="0">
                <a:effectLst/>
                <a:latin typeface="Nunito Sans" pitchFamily="2" charset="0"/>
              </a:rPr>
              <a:t>•1&lt;=X,Y&lt;=100</a:t>
            </a:r>
          </a:p>
          <a:p>
            <a:pPr algn="l"/>
            <a:r>
              <a:rPr lang="en-US" sz="2400" b="0" i="0" dirty="0">
                <a:effectLst/>
                <a:latin typeface="Nunito Sans" pitchFamily="2" charset="0"/>
              </a:rPr>
              <a:t>•Only lowercase allowed</a:t>
            </a:r>
          </a:p>
        </p:txBody>
      </p:sp>
    </p:spTree>
    <p:extLst>
      <p:ext uri="{BB962C8B-B14F-4D97-AF65-F5344CB8AC3E}">
        <p14:creationId xmlns:p14="http://schemas.microsoft.com/office/powerpoint/2010/main" val="1826369538"/>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093702"/>
          </a:xfrm>
          <a:prstGeom prst="rect">
            <a:avLst/>
          </a:prstGeom>
          <a:noFill/>
        </p:spPr>
        <p:txBody>
          <a:bodyPr wrap="square">
            <a:spAutoFit/>
          </a:bodyPr>
          <a:lstStyle/>
          <a:p>
            <a:pPr algn="l"/>
            <a:r>
              <a:rPr lang="en-US" sz="2500" b="1" i="0" dirty="0">
                <a:effectLst/>
                <a:latin typeface="Nunito Sans" pitchFamily="2" charset="0"/>
              </a:rPr>
              <a:t>The input format for testing:</a:t>
            </a:r>
            <a:endParaRPr lang="en-US" sz="2500" b="0" i="0" dirty="0">
              <a:effectLst/>
              <a:latin typeface="Nunito Sans" pitchFamily="2" charset="0"/>
            </a:endParaRPr>
          </a:p>
          <a:p>
            <a:pPr algn="l"/>
            <a:r>
              <a:rPr lang="en-US" sz="2500" b="0" i="0" dirty="0">
                <a:effectLst/>
                <a:latin typeface="Nunito Sans" pitchFamily="2" charset="0"/>
              </a:rPr>
              <a:t>•First input - Accept value of integer N</a:t>
            </a:r>
          </a:p>
          <a:p>
            <a:pPr algn="l"/>
            <a:r>
              <a:rPr lang="en-US" sz="2500" b="0" i="0" dirty="0">
                <a:effectLst/>
                <a:latin typeface="Nunito Sans" pitchFamily="2" charset="0"/>
              </a:rPr>
              <a:t>•Second input -accept value of integer M(Next Line)</a:t>
            </a:r>
          </a:p>
          <a:p>
            <a:pPr algn="l"/>
            <a:r>
              <a:rPr lang="en-US" sz="2500" b="0" i="0" dirty="0">
                <a:effectLst/>
                <a:latin typeface="Nunito Sans" pitchFamily="2" charset="0"/>
              </a:rPr>
              <a:t>•Third input -accept value of integer X (Next Line)</a:t>
            </a:r>
          </a:p>
          <a:p>
            <a:pPr algn="l"/>
            <a:r>
              <a:rPr lang="en-US" sz="2500" b="0" i="0" dirty="0">
                <a:effectLst/>
                <a:latin typeface="Nunito Sans" pitchFamily="2" charset="0"/>
              </a:rPr>
              <a:t>Fourth input accept value of integer y(Next Line)</a:t>
            </a:r>
          </a:p>
          <a:p>
            <a:pPr algn="l"/>
            <a:r>
              <a:rPr lang="en-US" sz="2500" b="1" i="0" dirty="0">
                <a:effectLst/>
                <a:latin typeface="Nunito Sans" pitchFamily="2" charset="0"/>
              </a:rPr>
              <a:t>The output format for testing:</a:t>
            </a:r>
            <a:endParaRPr lang="en-US" sz="2500" b="0" i="0" dirty="0">
              <a:effectLst/>
              <a:latin typeface="Nunito Sans" pitchFamily="2" charset="0"/>
            </a:endParaRPr>
          </a:p>
          <a:p>
            <a:pPr algn="l"/>
            <a:r>
              <a:rPr lang="en-US" sz="2500" b="0" i="0" dirty="0">
                <a:effectLst/>
                <a:latin typeface="Nunito Sans" pitchFamily="2" charset="0"/>
              </a:rPr>
              <a:t>•The output is an integer as per above logic (check the output in example 1, example 2)</a:t>
            </a:r>
          </a:p>
          <a:p>
            <a:pPr algn="l"/>
            <a:r>
              <a:rPr lang="en-US" sz="2500" b="0" i="0" dirty="0">
                <a:effectLst/>
                <a:latin typeface="Nunito Sans" pitchFamily="2" charset="0"/>
              </a:rPr>
              <a:t>•Additional message in output will cause the failure of test cases.</a:t>
            </a:r>
          </a:p>
          <a:p>
            <a:pPr algn="l"/>
            <a:r>
              <a:rPr lang="en-US" sz="2500" b="1" i="0" dirty="0">
                <a:effectLst/>
                <a:latin typeface="Nunito Sans" pitchFamily="2" charset="0"/>
              </a:rPr>
              <a:t>Instructions:</a:t>
            </a:r>
            <a:endParaRPr lang="en-US" sz="2500" b="0" i="0" dirty="0">
              <a:effectLst/>
              <a:latin typeface="Nunito Sans" pitchFamily="2" charset="0"/>
            </a:endParaRPr>
          </a:p>
          <a:p>
            <a:pPr algn="l"/>
            <a:r>
              <a:rPr lang="en-US" sz="2500" b="0" i="0" dirty="0">
                <a:effectLst/>
                <a:latin typeface="Nunito Sans" pitchFamily="2" charset="0"/>
              </a:rPr>
              <a:t>•System does not allow any kind of hard coded input value or values.</a:t>
            </a:r>
          </a:p>
          <a:p>
            <a:pPr algn="l"/>
            <a:r>
              <a:rPr lang="en-US" sz="2500" b="0" i="0" dirty="0">
                <a:effectLst/>
                <a:latin typeface="Nunito Sans" pitchFamily="2" charset="0"/>
              </a:rPr>
              <a:t>•Return </a:t>
            </a:r>
            <a:r>
              <a:rPr lang="en-US" sz="2500" b="0" i="0" dirty="0" err="1">
                <a:effectLst/>
                <a:latin typeface="Nunito Sans" pitchFamily="2" charset="0"/>
              </a:rPr>
              <a:t>programme</a:t>
            </a:r>
            <a:r>
              <a:rPr lang="en-US" sz="2500" b="0" i="0" dirty="0">
                <a:effectLst/>
                <a:latin typeface="Nunito Sans" pitchFamily="2" charset="0"/>
              </a:rPr>
              <a:t> code by the candidate will be verified against the inputs which are supplied from the system.</a:t>
            </a:r>
          </a:p>
        </p:txBody>
      </p:sp>
    </p:spTree>
    <p:extLst>
      <p:ext uri="{BB962C8B-B14F-4D97-AF65-F5344CB8AC3E}">
        <p14:creationId xmlns:p14="http://schemas.microsoft.com/office/powerpoint/2010/main" val="1734146579"/>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Handle the special cases where N or M is 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Calculate the maximum number of coins based on the position on the board</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34237626"/>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X</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132600949"/>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Handle the special cases where N or M is 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Calculate the maximum number of coins based on the position on the board</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27998242"/>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M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462900442"/>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Handle the special cases where N or M is 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523289992"/>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Y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675639732"/>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Handle the special cases where N or M is 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N ==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or</a:t>
            </a:r>
            <a:r>
              <a:rPr lang="en-IN" sz="2000" b="0" dirty="0">
                <a:solidFill>
                  <a:srgbClr val="D4D4D4"/>
                </a:solidFill>
                <a:effectLst/>
                <a:latin typeface="Nunito Sans" pitchFamily="2" charset="0"/>
              </a:rPr>
              <a:t> M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min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Calculate the maximum number of coins based on the position on the board</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diagonalSize</a:t>
            </a:r>
            <a:r>
              <a:rPr lang="en-IN" sz="2000" b="0" dirty="0">
                <a:solidFill>
                  <a:srgbClr val="D4D4D4"/>
                </a:solidFill>
                <a:effectLst/>
                <a:latin typeface="Nunito Sans" pitchFamily="2" charset="0"/>
              </a:rPr>
              <a:t> = X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X &lt;= Y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Y</a:t>
            </a: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diagonalSize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j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and</a:t>
            </a:r>
            <a:r>
              <a:rPr lang="en-IN" sz="2000" b="0" dirty="0">
                <a:solidFill>
                  <a:srgbClr val="D4D4D4"/>
                </a:solidFill>
                <a:effectLst/>
                <a:latin typeface="Nunito Sans" pitchFamily="2" charset="0"/>
              </a:rPr>
              <a:t> j %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and</a:t>
            </a:r>
            <a:r>
              <a:rPr lang="en-IN" sz="2000" b="0" dirty="0">
                <a:solidFill>
                  <a:srgbClr val="D4D4D4"/>
                </a:solidFill>
                <a:effectLst/>
                <a:latin typeface="Nunito Sans" pitchFamily="2" charset="0"/>
              </a:rPr>
              <a:t> j %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diagonalSize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r>
              <a:rPr lang="en-IN" sz="2000" b="0" dirty="0">
                <a:solidFill>
                  <a:srgbClr val="D4D4D4"/>
                </a:solidFill>
                <a:effectLst/>
                <a:latin typeface="Nunito Sans" pitchFamily="2" charset="0"/>
              </a:rPr>
              <a:t> += X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X &lt;= Y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Y</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maxCoins</a:t>
            </a:r>
            <a:endParaRPr lang="en-IN" sz="2000" b="0" dirty="0">
              <a:solidFill>
                <a:srgbClr val="D4D4D4"/>
              </a:solidFill>
              <a:effectLst/>
              <a:latin typeface="Nunito Sans" pitchFamily="2" charset="0"/>
            </a:endParaRPr>
          </a:p>
          <a:p>
            <a:r>
              <a:rPr lang="en-IN" sz="2000" b="0" dirty="0">
                <a:solidFill>
                  <a:srgbClr val="608B4E"/>
                </a:solidFill>
                <a:effectLst/>
                <a:latin typeface="Nunito Sans" pitchFamily="2" charset="0"/>
              </a:rPr>
              <a:t># Get input in a single line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 = </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result = </a:t>
            </a:r>
            <a:r>
              <a:rPr lang="en-IN" sz="2000" b="0" dirty="0" err="1">
                <a:solidFill>
                  <a:srgbClr val="D4D4D4"/>
                </a:solidFill>
                <a:effectLst/>
                <a:latin typeface="Nunito Sans" pitchFamily="2" charset="0"/>
              </a:rPr>
              <a:t>maxCoins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787795534"/>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6247864"/>
          </a:xfrm>
          <a:prstGeom prst="rect">
            <a:avLst/>
          </a:prstGeom>
          <a:noFill/>
        </p:spPr>
        <p:txBody>
          <a:bodyPr wrap="square">
            <a:spAutoFit/>
          </a:bodyPr>
          <a:lstStyle/>
          <a:p>
            <a:pPr algn="l"/>
            <a:r>
              <a:rPr lang="en-US" sz="2500" b="0" i="0" dirty="0">
                <a:effectLst/>
                <a:latin typeface="Nunito Sans" pitchFamily="2" charset="0"/>
              </a:rPr>
              <a:t>You will be given a String 's' of length, 'n' and you need to find out the two longest non-intersecting subsequences of the given string ‘</a:t>
            </a:r>
            <a:r>
              <a:rPr lang="en-US" sz="2500" b="0" i="0" dirty="0" err="1">
                <a:effectLst/>
                <a:latin typeface="Nunito Sans" pitchFamily="2" charset="0"/>
              </a:rPr>
              <a:t>S’which</a:t>
            </a:r>
            <a:r>
              <a:rPr lang="en-US" sz="2500" b="0" i="0" dirty="0">
                <a:effectLst/>
                <a:latin typeface="Nunito Sans" pitchFamily="2" charset="0"/>
              </a:rPr>
              <a:t> are anagrams to each other.</a:t>
            </a:r>
          </a:p>
          <a:p>
            <a:pPr algn="l"/>
            <a:r>
              <a:rPr lang="en-US" sz="2500" b="0" i="0" dirty="0">
                <a:effectLst/>
                <a:latin typeface="Nunito Sans" pitchFamily="2" charset="0"/>
              </a:rPr>
              <a:t>Formally, you need to find out two subsequences from the given string such that the last index of the first subsequence is less than the first index of second subsequence and they are anagrams to each other.</a:t>
            </a:r>
          </a:p>
          <a:p>
            <a:pPr algn="l"/>
            <a:r>
              <a:rPr lang="en-US" sz="2500" b="1" i="0" dirty="0">
                <a:effectLst/>
                <a:latin typeface="Nunito Sans" pitchFamily="2" charset="0"/>
              </a:rPr>
              <a:t>Anagram Strings: </a:t>
            </a:r>
            <a:r>
              <a:rPr lang="en-US" sz="2500" b="0" i="0" dirty="0">
                <a:effectLst/>
                <a:latin typeface="Nunito Sans" pitchFamily="2" charset="0"/>
              </a:rPr>
              <a:t>Two strings are anagrams of each other if they are of the same length and each character appears in both of them the same number of times. For e.g., “time” and “mite” are anagrams.</a:t>
            </a:r>
          </a:p>
          <a:p>
            <a:pPr algn="l"/>
            <a:r>
              <a:rPr lang="en-US" sz="2500" b="1" i="0" dirty="0">
                <a:effectLst/>
                <a:latin typeface="Nunito Sans" pitchFamily="2" charset="0"/>
              </a:rPr>
              <a:t>Subsequence: </a:t>
            </a:r>
            <a:r>
              <a:rPr lang="en-US" sz="2500" b="0" i="0" dirty="0">
                <a:effectLst/>
                <a:latin typeface="Nunito Sans" pitchFamily="2" charset="0"/>
              </a:rPr>
              <a:t>Any string that can be obtained by deleting zero or more characters from a given string keeping the order of characters the same.</a:t>
            </a:r>
          </a:p>
          <a:p>
            <a:pPr algn="l"/>
            <a:r>
              <a:rPr lang="en-US" sz="2500" b="0" i="0" dirty="0">
                <a:effectLst/>
                <a:latin typeface="Nunito Sans" pitchFamily="2" charset="0"/>
              </a:rPr>
              <a:t>For example S =“</a:t>
            </a:r>
            <a:r>
              <a:rPr lang="en-US" sz="2500" b="0" i="0" dirty="0" err="1">
                <a:effectLst/>
                <a:latin typeface="Nunito Sans" pitchFamily="2" charset="0"/>
              </a:rPr>
              <a:t>aaababcd</a:t>
            </a:r>
            <a:r>
              <a:rPr lang="en-US" sz="2500" b="0" i="0" dirty="0">
                <a:effectLst/>
                <a:latin typeface="Nunito Sans" pitchFamily="2" charset="0"/>
              </a:rPr>
              <a:t>”</a:t>
            </a:r>
          </a:p>
          <a:p>
            <a:pPr algn="l"/>
            <a:r>
              <a:rPr lang="en-US" sz="2500" b="0" i="0" dirty="0">
                <a:effectLst/>
                <a:latin typeface="Nunito Sans" pitchFamily="2" charset="0"/>
              </a:rPr>
              <a:t>Subsequences "</a:t>
            </a:r>
            <a:r>
              <a:rPr lang="en-US" sz="2500" b="0" i="0" dirty="0" err="1">
                <a:effectLst/>
                <a:latin typeface="Nunito Sans" pitchFamily="2" charset="0"/>
              </a:rPr>
              <a:t>aab</a:t>
            </a:r>
            <a:r>
              <a:rPr lang="en-US" sz="2500" b="0" i="0" dirty="0">
                <a:effectLst/>
                <a:latin typeface="Nunito Sans" pitchFamily="2" charset="0"/>
              </a:rPr>
              <a:t>" (0,1,3) and "</a:t>
            </a:r>
            <a:r>
              <a:rPr lang="en-US" sz="2500" b="0" i="0" dirty="0" err="1">
                <a:effectLst/>
                <a:latin typeface="Nunito Sans" pitchFamily="2" charset="0"/>
              </a:rPr>
              <a:t>aab</a:t>
            </a:r>
            <a:r>
              <a:rPr lang="en-US" sz="2500" b="0" i="0" dirty="0">
                <a:effectLst/>
                <a:latin typeface="Nunito Sans" pitchFamily="2" charset="0"/>
              </a:rPr>
              <a:t>" (2,4,5) are invalid. They a are anagrams but they are intersecting (i.e., the last index of first subsequence {3} is greater than the first Index of second Subsequence {2}).</a:t>
            </a:r>
          </a:p>
          <a:p>
            <a:pPr algn="l"/>
            <a:endParaRPr lang="en-US" sz="2500" b="1" i="0" dirty="0">
              <a:effectLst/>
              <a:latin typeface="Nunito Sans" pitchFamily="2" charset="0"/>
            </a:endParaRPr>
          </a:p>
        </p:txBody>
      </p:sp>
    </p:spTree>
    <p:extLst>
      <p:ext uri="{BB962C8B-B14F-4D97-AF65-F5344CB8AC3E}">
        <p14:creationId xmlns:p14="http://schemas.microsoft.com/office/powerpoint/2010/main" val="2471226233"/>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478423"/>
          </a:xfrm>
          <a:prstGeom prst="rect">
            <a:avLst/>
          </a:prstGeom>
          <a:noFill/>
        </p:spPr>
        <p:txBody>
          <a:bodyPr wrap="square">
            <a:spAutoFit/>
          </a:bodyPr>
          <a:lstStyle/>
          <a:p>
            <a:pPr algn="l"/>
            <a:r>
              <a:rPr lang="en-US" sz="2500" b="0" i="0" dirty="0">
                <a:effectLst/>
                <a:latin typeface="Nunito Sans" pitchFamily="2" charset="0"/>
              </a:rPr>
              <a:t>Subsequences "ab" {0.3} and "ab" {4,5} are valid. They are anagrams as well as not intersecting.</a:t>
            </a:r>
          </a:p>
          <a:p>
            <a:pPr algn="l"/>
            <a:r>
              <a:rPr lang="en-US" sz="2500" b="0" i="0" dirty="0">
                <a:effectLst/>
                <a:latin typeface="Nunito Sans" pitchFamily="2" charset="0"/>
              </a:rPr>
              <a:t>You need to find out the longest such subsequence. Have a look at explanations of sample examples for better understanding.</a:t>
            </a:r>
          </a:p>
          <a:p>
            <a:pPr algn="l"/>
            <a:r>
              <a:rPr lang="en-US" sz="2500" b="0" i="0" dirty="0">
                <a:effectLst/>
                <a:latin typeface="Nunito Sans" pitchFamily="2" charset="0"/>
              </a:rPr>
              <a:t>String's will contain only the English lowercase letters (a-z).</a:t>
            </a:r>
          </a:p>
          <a:p>
            <a:pPr algn="l"/>
            <a:r>
              <a:rPr lang="en-US" sz="2500" b="1" i="0" dirty="0">
                <a:effectLst/>
                <a:latin typeface="Nunito Sans" pitchFamily="2" charset="0"/>
              </a:rPr>
              <a:t>Example 1: </a:t>
            </a:r>
            <a:endParaRPr lang="en-US" sz="2500" b="0" i="0" dirty="0">
              <a:effectLst/>
              <a:latin typeface="Nunito Sans" pitchFamily="2" charset="0"/>
            </a:endParaRPr>
          </a:p>
          <a:p>
            <a:pPr algn="l"/>
            <a:r>
              <a:rPr lang="en-US" sz="2500" b="1" i="0" dirty="0">
                <a:effectLst/>
                <a:latin typeface="Nunito Sans" pitchFamily="2" charset="0"/>
              </a:rPr>
              <a:t>Input:</a:t>
            </a:r>
            <a:endParaRPr lang="en-US" sz="2500" b="0" i="0" dirty="0">
              <a:effectLst/>
              <a:latin typeface="Nunito Sans" pitchFamily="2" charset="0"/>
            </a:endParaRPr>
          </a:p>
          <a:p>
            <a:pPr algn="l"/>
            <a:r>
              <a:rPr lang="en-US" sz="2500" b="0" i="0" dirty="0">
                <a:effectLst/>
                <a:latin typeface="Nunito Sans" pitchFamily="2" charset="0"/>
              </a:rPr>
              <a:t>11   -&gt; n (length of string)  </a:t>
            </a:r>
          </a:p>
          <a:p>
            <a:pPr algn="l"/>
            <a:r>
              <a:rPr lang="en-US" sz="2500" b="0" i="0" dirty="0" err="1">
                <a:effectLst/>
                <a:latin typeface="Nunito Sans" pitchFamily="2" charset="0"/>
              </a:rPr>
              <a:t>codingisfun</a:t>
            </a:r>
            <a:r>
              <a:rPr lang="en-US" sz="2500" b="0" i="0" dirty="0">
                <a:effectLst/>
                <a:latin typeface="Nunito Sans" pitchFamily="2" charset="0"/>
              </a:rPr>
              <a:t> -&gt; Sting ‘s’</a:t>
            </a: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2</a:t>
            </a:r>
          </a:p>
          <a:p>
            <a:pPr algn="l"/>
            <a:r>
              <a:rPr lang="en-US" sz="2500" b="1" i="0" dirty="0">
                <a:effectLst/>
                <a:latin typeface="Nunito Sans" pitchFamily="2" charset="0"/>
              </a:rPr>
              <a:t>Explanation:</a:t>
            </a:r>
            <a:endParaRPr lang="en-US" sz="2500" b="0" i="0" dirty="0">
              <a:effectLst/>
              <a:latin typeface="Nunito Sans" pitchFamily="2" charset="0"/>
            </a:endParaRPr>
          </a:p>
          <a:p>
            <a:pPr algn="l"/>
            <a:r>
              <a:rPr lang="en-US" sz="2500" b="0" i="0" dirty="0">
                <a:effectLst/>
                <a:latin typeface="Nunito Sans" pitchFamily="2" charset="0"/>
              </a:rPr>
              <a:t>The longest possible subsequences are “in”-&gt;{3,4} and “in”-&gt;{6,10}. They are anagrams to each other as well as they are non intersecting.</a:t>
            </a:r>
          </a:p>
        </p:txBody>
      </p:sp>
    </p:spTree>
    <p:extLst>
      <p:ext uri="{BB962C8B-B14F-4D97-AF65-F5344CB8AC3E}">
        <p14:creationId xmlns:p14="http://schemas.microsoft.com/office/powerpoint/2010/main" val="2351188068"/>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093702"/>
          </a:xfrm>
          <a:prstGeom prst="rect">
            <a:avLst/>
          </a:prstGeom>
          <a:noFill/>
        </p:spPr>
        <p:txBody>
          <a:bodyPr wrap="square">
            <a:spAutoFit/>
          </a:bodyPr>
          <a:lstStyle/>
          <a:p>
            <a:pPr algn="l"/>
            <a:r>
              <a:rPr lang="en-US" sz="2500" b="1" i="0" dirty="0">
                <a:effectLst/>
                <a:latin typeface="Nunito Sans" pitchFamily="2" charset="0"/>
              </a:rPr>
              <a:t>Example 2:</a:t>
            </a:r>
            <a:endParaRPr lang="en-US" sz="2500" b="0" i="0" dirty="0">
              <a:effectLst/>
              <a:latin typeface="Nunito Sans" pitchFamily="2" charset="0"/>
            </a:endParaRPr>
          </a:p>
          <a:p>
            <a:pPr algn="l"/>
            <a:r>
              <a:rPr lang="en-US" sz="2500" b="1" i="0" dirty="0">
                <a:effectLst/>
                <a:latin typeface="Nunito Sans" pitchFamily="2" charset="0"/>
              </a:rPr>
              <a:t>Input: </a:t>
            </a:r>
            <a:endParaRPr lang="en-US" sz="2500" b="0" i="0" dirty="0">
              <a:effectLst/>
              <a:latin typeface="Nunito Sans" pitchFamily="2" charset="0"/>
            </a:endParaRPr>
          </a:p>
          <a:p>
            <a:pPr algn="l"/>
            <a:r>
              <a:rPr lang="en-US" sz="2500" b="0" i="0" dirty="0">
                <a:effectLst/>
                <a:latin typeface="Nunito Sans" pitchFamily="2" charset="0"/>
              </a:rPr>
              <a:t>11 -&gt; n (length of string)</a:t>
            </a:r>
          </a:p>
          <a:p>
            <a:pPr algn="l"/>
            <a:r>
              <a:rPr lang="en-US" sz="2500" b="0" i="0" dirty="0" err="1">
                <a:effectLst/>
                <a:latin typeface="Nunito Sans" pitchFamily="2" charset="0"/>
              </a:rPr>
              <a:t>maharashtra</a:t>
            </a:r>
            <a:r>
              <a:rPr lang="en-US" sz="2500" b="0" i="0" dirty="0">
                <a:effectLst/>
                <a:latin typeface="Nunito Sans" pitchFamily="2" charset="0"/>
              </a:rPr>
              <a:t> -&gt;string ‘s’</a:t>
            </a: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4</a:t>
            </a:r>
          </a:p>
          <a:p>
            <a:pPr algn="l"/>
            <a:r>
              <a:rPr lang="en-US" sz="2500" b="1" i="0" dirty="0">
                <a:effectLst/>
                <a:latin typeface="Nunito Sans" pitchFamily="2" charset="0"/>
              </a:rPr>
              <a:t>Explanation:</a:t>
            </a:r>
            <a:endParaRPr lang="en-US" sz="2500" b="0" i="0" dirty="0">
              <a:effectLst/>
              <a:latin typeface="Nunito Sans" pitchFamily="2" charset="0"/>
            </a:endParaRPr>
          </a:p>
          <a:p>
            <a:pPr algn="l"/>
            <a:r>
              <a:rPr lang="en-US" sz="2500" b="0" i="0" dirty="0">
                <a:effectLst/>
                <a:latin typeface="Nunito Sans" pitchFamily="2" charset="0"/>
              </a:rPr>
              <a:t>The longest possible sub-sequences are ”</a:t>
            </a:r>
            <a:r>
              <a:rPr lang="en-US" sz="2500" b="0" i="0" dirty="0" err="1">
                <a:effectLst/>
                <a:latin typeface="Nunito Sans" pitchFamily="2" charset="0"/>
              </a:rPr>
              <a:t>ahar</a:t>
            </a:r>
            <a:r>
              <a:rPr lang="en-US" sz="2500" b="0" i="0" dirty="0">
                <a:effectLst/>
                <a:latin typeface="Nunito Sans" pitchFamily="2" charset="0"/>
              </a:rPr>
              <a:t>”-&gt;{1,2,3,4}and ”</a:t>
            </a:r>
            <a:r>
              <a:rPr lang="en-US" sz="2500" b="0" i="0" dirty="0" err="1">
                <a:effectLst/>
                <a:latin typeface="Nunito Sans" pitchFamily="2" charset="0"/>
              </a:rPr>
              <a:t>ahar</a:t>
            </a:r>
            <a:r>
              <a:rPr lang="en-US" sz="2500" b="0" i="0" dirty="0">
                <a:effectLst/>
                <a:latin typeface="Nunito Sans" pitchFamily="2" charset="0"/>
              </a:rPr>
              <a:t>” {5,7,9,10}.</a:t>
            </a:r>
          </a:p>
          <a:p>
            <a:pPr algn="l"/>
            <a:r>
              <a:rPr lang="en-US" sz="2500" b="0" i="0" dirty="0">
                <a:effectLst/>
                <a:latin typeface="Nunito Sans" pitchFamily="2" charset="0"/>
              </a:rPr>
              <a:t>They are anagrams and non intersecting subsequences.</a:t>
            </a:r>
          </a:p>
          <a:p>
            <a:pPr algn="l"/>
            <a:r>
              <a:rPr lang="en-US" sz="2500" b="1" i="0" dirty="0">
                <a:effectLst/>
                <a:latin typeface="Nunito Sans" pitchFamily="2" charset="0"/>
              </a:rPr>
              <a:t>:</a:t>
            </a:r>
            <a:endParaRPr lang="en-US" sz="2500" b="0" i="0" dirty="0">
              <a:effectLst/>
              <a:latin typeface="Nunito Sans" pitchFamily="2" charset="0"/>
            </a:endParaRPr>
          </a:p>
          <a:p>
            <a:pPr algn="l"/>
            <a:r>
              <a:rPr lang="en-US" sz="2500" b="0" i="0" dirty="0">
                <a:effectLst/>
                <a:latin typeface="Nunito Sans" pitchFamily="2" charset="0"/>
              </a:rPr>
              <a:t>1&lt;=n&lt;=10000</a:t>
            </a:r>
          </a:p>
          <a:p>
            <a:r>
              <a:rPr lang="en-US" sz="2500" b="0" i="0" dirty="0">
                <a:effectLst/>
                <a:latin typeface="Nunito Sans" pitchFamily="2" charset="0"/>
              </a:rPr>
              <a:t>String S </a:t>
            </a:r>
            <a:r>
              <a:rPr lang="en-US" sz="2500" b="0" i="0" dirty="0" err="1">
                <a:effectLst/>
                <a:latin typeface="Nunito Sans" pitchFamily="2" charset="0"/>
              </a:rPr>
              <a:t>wi</a:t>
            </a:r>
            <a:r>
              <a:rPr lang="en-US" sz="2500" b="1" dirty="0" err="1">
                <a:latin typeface="Nunito Sans" pitchFamily="2" charset="0"/>
              </a:rPr>
              <a:t>Constraints</a:t>
            </a:r>
            <a:r>
              <a:rPr lang="en-US" sz="2500" b="0" i="0" dirty="0" err="1">
                <a:effectLst/>
                <a:latin typeface="Nunito Sans" pitchFamily="2" charset="0"/>
              </a:rPr>
              <a:t>ll</a:t>
            </a:r>
            <a:r>
              <a:rPr lang="en-US" sz="2500" b="0" i="0" dirty="0">
                <a:effectLst/>
                <a:latin typeface="Nunito Sans" pitchFamily="2" charset="0"/>
              </a:rPr>
              <a:t> only contain English lowercase letters (a-z) without any other symbols.</a:t>
            </a:r>
          </a:p>
        </p:txBody>
      </p:sp>
    </p:spTree>
    <p:extLst>
      <p:ext uri="{BB962C8B-B14F-4D97-AF65-F5344CB8AC3E}">
        <p14:creationId xmlns:p14="http://schemas.microsoft.com/office/powerpoint/2010/main" val="1419320376"/>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2015936"/>
          </a:xfrm>
          <a:prstGeom prst="rect">
            <a:avLst/>
          </a:prstGeom>
          <a:noFill/>
        </p:spPr>
        <p:txBody>
          <a:bodyPr wrap="square">
            <a:spAutoFit/>
          </a:bodyPr>
          <a:lstStyle/>
          <a:p>
            <a:pPr algn="l"/>
            <a:r>
              <a:rPr lang="en-US" sz="2500" b="1" i="0" dirty="0">
                <a:effectLst/>
                <a:latin typeface="Nunito Sans" pitchFamily="2" charset="0"/>
              </a:rPr>
              <a:t>The input format for testing:</a:t>
            </a:r>
            <a:endParaRPr lang="en-US" sz="2500" b="0" i="0" dirty="0">
              <a:effectLst/>
              <a:latin typeface="Nunito Sans" pitchFamily="2" charset="0"/>
            </a:endParaRPr>
          </a:p>
          <a:p>
            <a:pPr algn="l"/>
            <a:r>
              <a:rPr lang="en-US" sz="2500" b="1" i="0" dirty="0">
                <a:effectLst/>
                <a:latin typeface="Nunito Sans" pitchFamily="2" charset="0"/>
              </a:rPr>
              <a:t>First line:</a:t>
            </a:r>
            <a:r>
              <a:rPr lang="en-US" sz="2500" b="0" i="0" dirty="0">
                <a:effectLst/>
                <a:latin typeface="Nunito Sans" pitchFamily="2" charset="0"/>
              </a:rPr>
              <a:t> Contains an integer n [length of strings]</a:t>
            </a:r>
          </a:p>
          <a:p>
            <a:pPr algn="l"/>
            <a:r>
              <a:rPr lang="en-US" sz="2500" b="1" i="0" dirty="0">
                <a:effectLst/>
                <a:latin typeface="Nunito Sans" pitchFamily="2" charset="0"/>
              </a:rPr>
              <a:t>Second line: </a:t>
            </a:r>
            <a:r>
              <a:rPr lang="en-US" sz="2500" b="0" i="0" dirty="0">
                <a:effectLst/>
                <a:latin typeface="Nunito Sans" pitchFamily="2" charset="0"/>
              </a:rPr>
              <a:t>Contains string ‘s’ (of length ‘n’)</a:t>
            </a:r>
          </a:p>
          <a:p>
            <a:pPr algn="l"/>
            <a:r>
              <a:rPr lang="en-US" sz="2500" b="1" i="0" dirty="0">
                <a:effectLst/>
                <a:latin typeface="Nunito Sans" pitchFamily="2" charset="0"/>
              </a:rPr>
              <a:t>The output format for testing:</a:t>
            </a:r>
            <a:endParaRPr lang="en-US" sz="2500" b="0" i="0" dirty="0">
              <a:effectLst/>
              <a:latin typeface="Nunito Sans" pitchFamily="2" charset="0"/>
            </a:endParaRPr>
          </a:p>
          <a:p>
            <a:pPr algn="l"/>
            <a:r>
              <a:rPr lang="en-US" sz="2500" b="0" i="0" dirty="0">
                <a:effectLst/>
                <a:latin typeface="Nunito Sans" pitchFamily="2" charset="0"/>
              </a:rPr>
              <a:t>Output is a single integer denoting the maximum length of the string</a:t>
            </a:r>
          </a:p>
        </p:txBody>
      </p:sp>
    </p:spTree>
    <p:extLst>
      <p:ext uri="{BB962C8B-B14F-4D97-AF65-F5344CB8AC3E}">
        <p14:creationId xmlns:p14="http://schemas.microsoft.com/office/powerpoint/2010/main" val="641373134"/>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err="1">
                <a:solidFill>
                  <a:srgbClr val="CE9178"/>
                </a:solidFill>
                <a:effectLst/>
                <a:latin typeface="Nunito Sans" pitchFamily="2" charset="0"/>
              </a:rPr>
              <a:t>stdio.h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err="1">
                <a:solidFill>
                  <a:srgbClr val="CE9178"/>
                </a:solidFill>
                <a:effectLst/>
                <a:latin typeface="Nunito Sans" pitchFamily="2" charset="0"/>
              </a:rPr>
              <a:t>string.h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max</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b</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 </a:t>
            </a:r>
            <a:r>
              <a:rPr lang="en-US" sz="2000" b="0" dirty="0">
                <a:solidFill>
                  <a:srgbClr val="DCDCDC"/>
                </a:solidFill>
                <a:effectLst/>
                <a:latin typeface="Nunito Sans" pitchFamily="2" charset="0"/>
              </a:rPr>
              <a:t>&gt;</a:t>
            </a:r>
            <a:r>
              <a:rPr lang="en-US" sz="2000" b="0" dirty="0">
                <a:solidFill>
                  <a:srgbClr val="D4D4D4"/>
                </a:solidFill>
                <a:effectLst/>
                <a:latin typeface="Nunito Sans" pitchFamily="2" charset="0"/>
              </a:rPr>
              <a:t> b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b</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longestAnagramSubsequence</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frequencies</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26</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Array to store the frequency of each character</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26</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memset</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569CD6"/>
                </a:solidFill>
                <a:effectLst/>
                <a:latin typeface="Nunito Sans" pitchFamily="2" charset="0"/>
              </a:rPr>
              <a:t>sizeof</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Initialize </a:t>
            </a:r>
            <a:r>
              <a:rPr lang="en-US" sz="2000" b="0" dirty="0" err="1">
                <a:solidFill>
                  <a:srgbClr val="608B4E"/>
                </a:solidFill>
                <a:effectLst/>
                <a:latin typeface="Nunito Sans" pitchFamily="2" charset="0"/>
              </a:rPr>
              <a:t>dp</a:t>
            </a:r>
            <a:r>
              <a:rPr lang="en-US" sz="2000" b="0" dirty="0">
                <a:solidFill>
                  <a:srgbClr val="608B4E"/>
                </a:solidFill>
                <a:effectLst/>
                <a:latin typeface="Nunito Sans" pitchFamily="2" charset="0"/>
              </a:rPr>
              <a:t> array with 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currChar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frequencies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currChar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j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26</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j</a:t>
            </a:r>
            <a:r>
              <a:rPr lang="en-US" sz="2000" b="0" dirty="0" err="1">
                <a:solidFill>
                  <a:srgbClr val="DCDCDC"/>
                </a:solidFill>
                <a:effectLst/>
                <a:latin typeface="Nunito Sans" pitchFamily="2" charset="0"/>
              </a:rPr>
              <a: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Carry forward the length from previous index</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currChar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53640976"/>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frequencies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frequencies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Find the maximum length among all characters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10001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49253412"/>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longestAnagramSubsequence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cstring</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longestAnagramSubsequence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frequencies</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Array to store the frequency of each character</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a:t>
            </a:r>
            <a:r>
              <a:rPr lang="en-IN" sz="2000" b="0" dirty="0" err="1">
                <a:solidFill>
                  <a:srgbClr val="608B4E"/>
                </a:solidFill>
                <a:effectLst/>
                <a:latin typeface="Nunito Sans" pitchFamily="2" charset="0"/>
              </a:rPr>
              <a:t>dp</a:t>
            </a:r>
            <a:r>
              <a:rPr lang="en-IN" sz="2000" b="0" dirty="0">
                <a:solidFill>
                  <a:srgbClr val="608B4E"/>
                </a:solidFill>
                <a:effectLst/>
                <a:latin typeface="Nunito Sans" pitchFamily="2" charset="0"/>
              </a:rPr>
              <a:t>[</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][j] stores the length of the longest subsequence ending at index j</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memset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sizeof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Initialize </a:t>
            </a:r>
            <a:r>
              <a:rPr lang="en-IN" sz="2000" b="0" dirty="0" err="1">
                <a:solidFill>
                  <a:srgbClr val="608B4E"/>
                </a:solidFill>
                <a:effectLst/>
                <a:latin typeface="Nunito Sans" pitchFamily="2" charset="0"/>
              </a:rPr>
              <a:t>dp</a:t>
            </a:r>
            <a:r>
              <a:rPr lang="en-IN" sz="2000" b="0" dirty="0">
                <a:solidFill>
                  <a:srgbClr val="608B4E"/>
                </a:solidFill>
                <a:effectLst/>
                <a:latin typeface="Nunito Sans" pitchFamily="2" charset="0"/>
              </a:rPr>
              <a:t> array with 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frequencies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currChar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Carry forward the length from previous index</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Increment the length for the current character</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024734210"/>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608B4E"/>
                </a:solidFill>
                <a:effectLst/>
                <a:latin typeface="Nunito Sans" pitchFamily="2" charset="0"/>
              </a:rPr>
              <a:t>// Adjust the length based on the frequency of the character</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frequencies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frequencies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Find the maximum length among all characters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785614147"/>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10001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longestAnagramSubsequence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005176986"/>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Arrays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longestAnagramSubsequence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frequencies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Array to store the frequency of each character</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a:t>
            </a:r>
            <a:r>
              <a:rPr lang="en-IN" sz="2000" b="0" dirty="0" err="1">
                <a:solidFill>
                  <a:srgbClr val="608B4E"/>
                </a:solidFill>
                <a:effectLst/>
                <a:latin typeface="Nunito Sans" pitchFamily="2" charset="0"/>
              </a:rPr>
              <a:t>dp</a:t>
            </a:r>
            <a:r>
              <a:rPr lang="en-IN" sz="2000" b="0" dirty="0">
                <a:solidFill>
                  <a:srgbClr val="608B4E"/>
                </a:solidFill>
                <a:effectLst/>
                <a:latin typeface="Nunito Sans" pitchFamily="2" charset="0"/>
              </a:rPr>
              <a:t>[</a:t>
            </a:r>
            <a:r>
              <a:rPr lang="en-IN" sz="2000" b="0" dirty="0" err="1">
                <a:solidFill>
                  <a:srgbClr val="608B4E"/>
                </a:solidFill>
                <a:effectLst/>
                <a:latin typeface="Nunito Sans" pitchFamily="2" charset="0"/>
              </a:rPr>
              <a:t>i</a:t>
            </a:r>
            <a:r>
              <a:rPr lang="en-IN" sz="2000" b="0" dirty="0">
                <a:solidFill>
                  <a:srgbClr val="608B4E"/>
                </a:solidFill>
                <a:effectLst/>
                <a:latin typeface="Nunito Sans" pitchFamily="2" charset="0"/>
              </a:rPr>
              <a:t>][j] stores the length of the longest subsequence ending </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Arrays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fill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frequencies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Initialize frequencies array as 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frequencies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currChar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Carry forward the length from the previous index</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dirty="0">
                <a:solidFill>
                  <a:srgbClr val="D4D4D4"/>
                </a:solidFill>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654346137"/>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Increment the length for the current character</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Adjust the length based on the frequency of the character</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frequencies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frequencies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Find the maximum length among all characters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83016721"/>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toCharArray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longestAnagramSubsequence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820744630"/>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max</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b</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 &gt; b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b</a:t>
            </a:r>
          </a:p>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longestAnagramSubsequence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frequencies =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26</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Array to store the frequency of each character</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4D4D4"/>
                </a:solidFill>
                <a:effectLst/>
                <a:latin typeface="Nunito Sans" pitchFamily="2" charset="0"/>
              </a:rPr>
              <a:t> =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_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26</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a:t>
            </a:r>
            <a:r>
              <a:rPr lang="en-US" sz="2000" b="0" dirty="0" err="1">
                <a:solidFill>
                  <a:srgbClr val="608B4E"/>
                </a:solidFill>
                <a:effectLst/>
                <a:latin typeface="Nunito Sans" pitchFamily="2" charset="0"/>
              </a:rPr>
              <a:t>dp</a:t>
            </a:r>
            <a:r>
              <a:rPr lang="en-US" sz="2000" b="0" dirty="0">
                <a:solidFill>
                  <a:srgbClr val="608B4E"/>
                </a:solidFill>
                <a:effectLst/>
                <a:latin typeface="Nunito Sans" pitchFamily="2" charset="0"/>
              </a:rPr>
              <a:t>[</a:t>
            </a:r>
            <a:r>
              <a:rPr lang="en-US" sz="2000" b="0" dirty="0" err="1">
                <a:solidFill>
                  <a:srgbClr val="608B4E"/>
                </a:solidFill>
                <a:effectLst/>
                <a:latin typeface="Nunito Sans" pitchFamily="2" charset="0"/>
              </a:rPr>
              <a:t>i</a:t>
            </a:r>
            <a:r>
              <a:rPr lang="en-US" sz="2000" b="0" dirty="0">
                <a:solidFill>
                  <a:srgbClr val="608B4E"/>
                </a:solidFill>
                <a:effectLst/>
                <a:latin typeface="Nunito Sans" pitchFamily="2" charset="0"/>
              </a:rPr>
              <a:t>][j] stores the length of the longest subsequence ending at index j with character </a:t>
            </a:r>
            <a:r>
              <a:rPr lang="en-US" sz="2000" b="0" dirty="0" err="1">
                <a:solidFill>
                  <a:srgbClr val="608B4E"/>
                </a:solidFill>
                <a:effectLst/>
                <a:latin typeface="Nunito Sans" pitchFamily="2" charset="0"/>
              </a:rPr>
              <a:t>i</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currChar</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frequencies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currChar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j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26</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Carry forward the length from previous index</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j == </a:t>
            </a:r>
            <a:r>
              <a:rPr lang="en-US" sz="2000" b="0" dirty="0" err="1">
                <a:solidFill>
                  <a:srgbClr val="D4D4D4"/>
                </a:solidFill>
                <a:effectLst/>
                <a:latin typeface="Nunito Sans" pitchFamily="2" charset="0"/>
              </a:rPr>
              <a:t>currChar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Increment the length for the current character</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Adjust the length based on the frequency of the character</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k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frequencies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frequencies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k</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&gt;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569CD6"/>
                </a:solidFill>
                <a:effectLst/>
                <a:latin typeface="Nunito Sans" pitchFamily="2" charset="0"/>
              </a:rPr>
              <a:t>max</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k</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maxLength</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Find the maximum length among all characters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26</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maxLength</a:t>
            </a:r>
            <a:r>
              <a:rPr lang="en-US" sz="2000" b="0" dirty="0">
                <a:solidFill>
                  <a:srgbClr val="D4D4D4"/>
                </a:solidFill>
                <a:effectLst/>
                <a:latin typeface="Nunito Sans" pitchFamily="2" charset="0"/>
              </a:rPr>
              <a:t> = </a:t>
            </a:r>
            <a:r>
              <a:rPr lang="en-US" sz="2000" b="0" dirty="0">
                <a:solidFill>
                  <a:srgbClr val="569CD6"/>
                </a:solidFill>
                <a:effectLst/>
                <a:latin typeface="Nunito Sans" pitchFamily="2" charset="0"/>
              </a:rPr>
              <a:t>max</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maxLength</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24180854"/>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maxLength</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s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result = </a:t>
            </a:r>
            <a:r>
              <a:rPr lang="en-US" sz="2000" b="0" dirty="0" err="1">
                <a:solidFill>
                  <a:srgbClr val="D4D4D4"/>
                </a:solidFill>
                <a:effectLst/>
                <a:latin typeface="Nunito Sans" pitchFamily="2" charset="0"/>
              </a:rPr>
              <a:t>longestAnagramSubsequence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result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45783691"/>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093702"/>
          </a:xfrm>
          <a:prstGeom prst="rect">
            <a:avLst/>
          </a:prstGeom>
          <a:noFill/>
        </p:spPr>
        <p:txBody>
          <a:bodyPr wrap="square">
            <a:spAutoFit/>
          </a:bodyPr>
          <a:lstStyle/>
          <a:p>
            <a:pPr algn="l"/>
            <a:r>
              <a:rPr lang="en-US" sz="2500" b="0" i="0" dirty="0">
                <a:effectLst/>
                <a:latin typeface="Nunito Sans" pitchFamily="2" charset="0"/>
              </a:rPr>
              <a:t>Rohan was assigned a strange homework. He is always passionate about working on sequences, but this time, he finds things to be a bit messy. So, he called his friend Jack to work with him and solve the sequence problem.</a:t>
            </a:r>
          </a:p>
          <a:p>
            <a:pPr algn="l"/>
            <a:r>
              <a:rPr lang="en-US" sz="2500" b="0" i="0" dirty="0">
                <a:effectLst/>
                <a:latin typeface="Nunito Sans" pitchFamily="2" charset="0"/>
              </a:rPr>
              <a:t>So, the problem states that:</a:t>
            </a:r>
          </a:p>
          <a:p>
            <a:pPr algn="l"/>
            <a:r>
              <a:rPr lang="en-US" sz="2500" b="0" i="0" dirty="0">
                <a:effectLst/>
                <a:latin typeface="Nunito Sans" pitchFamily="2" charset="0"/>
              </a:rPr>
              <a:t>Consider a sequence S with N elements, all the elements are integer values.</a:t>
            </a:r>
          </a:p>
          <a:p>
            <a:pPr algn="l"/>
            <a:r>
              <a:rPr lang="en-US" sz="2500" b="0" i="0" dirty="0">
                <a:effectLst/>
                <a:latin typeface="Nunito Sans" pitchFamily="2" charset="0"/>
              </a:rPr>
              <a:t>Find the number of pairs in the format of (</a:t>
            </a:r>
            <a:r>
              <a:rPr lang="en-US" sz="2500" b="0" i="0" dirty="0" err="1">
                <a:effectLst/>
                <a:latin typeface="Nunito Sans" pitchFamily="2" charset="0"/>
              </a:rPr>
              <a:t>x,y</a:t>
            </a:r>
            <a:r>
              <a:rPr lang="en-US" sz="2500" b="0" i="0" dirty="0">
                <a:effectLst/>
                <a:latin typeface="Nunito Sans" pitchFamily="2" charset="0"/>
              </a:rPr>
              <a:t>) such that the element ‘x’ has occurred in sequence S, minimum ‘y’ times. And the element ‘y’ has occurred in sequence S minimum ‘x’ times. So, x and y are the elements of S as well.</a:t>
            </a:r>
          </a:p>
          <a:p>
            <a:pPr algn="l"/>
            <a:r>
              <a:rPr lang="en-US" sz="2500" b="0" i="0" dirty="0">
                <a:effectLst/>
                <a:latin typeface="Nunito Sans" pitchFamily="2" charset="0"/>
              </a:rPr>
              <a:t>Jack has to find all such combinations and return the total number of such combinations.</a:t>
            </a:r>
          </a:p>
          <a:p>
            <a:pPr algn="l"/>
            <a:r>
              <a:rPr lang="en-US" sz="2500" b="0" i="0" dirty="0">
                <a:effectLst/>
                <a:latin typeface="Nunito Sans" pitchFamily="2" charset="0"/>
              </a:rPr>
              <a:t>Let us try to understand it with an example.</a:t>
            </a:r>
          </a:p>
          <a:p>
            <a:pPr algn="l"/>
            <a:r>
              <a:rPr lang="en-US" sz="2500" b="0" i="0" dirty="0">
                <a:effectLst/>
                <a:latin typeface="Nunito Sans" pitchFamily="2" charset="0"/>
              </a:rPr>
              <a:t>Consider N=5, and</a:t>
            </a:r>
          </a:p>
          <a:p>
            <a:pPr algn="l"/>
            <a:r>
              <a:rPr lang="en-US" sz="2500" b="0" i="0" dirty="0">
                <a:effectLst/>
                <a:latin typeface="Nunito Sans" pitchFamily="2" charset="0"/>
              </a:rPr>
              <a:t>A=[1, 2, 3, 4, 5]</a:t>
            </a:r>
          </a:p>
        </p:txBody>
      </p:sp>
    </p:spTree>
    <p:extLst>
      <p:ext uri="{BB962C8B-B14F-4D97-AF65-F5344CB8AC3E}">
        <p14:creationId xmlns:p14="http://schemas.microsoft.com/office/powerpoint/2010/main" val="2878186517"/>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825234"/>
            <a:ext cx="12192000" cy="5863144"/>
          </a:xfrm>
          <a:prstGeom prst="rect">
            <a:avLst/>
          </a:prstGeom>
          <a:noFill/>
        </p:spPr>
        <p:txBody>
          <a:bodyPr wrap="square">
            <a:spAutoFit/>
          </a:bodyPr>
          <a:lstStyle/>
          <a:p>
            <a:pPr algn="l"/>
            <a:r>
              <a:rPr lang="en-US" sz="2500" b="0" i="0" dirty="0">
                <a:effectLst/>
                <a:latin typeface="Nunito Sans" pitchFamily="2" charset="0"/>
              </a:rPr>
              <a:t>The number of pairs from the above elements of the sequence can be as follows:</a:t>
            </a:r>
          </a:p>
          <a:p>
            <a:pPr algn="l"/>
            <a:r>
              <a:rPr lang="en-US" sz="2500" b="0" i="0" dirty="0">
                <a:effectLst/>
                <a:latin typeface="Nunito Sans" pitchFamily="2" charset="0"/>
              </a:rPr>
              <a:t>(1,1): Can be considered as 1(x) occurred a minimum number of 1(y) number of times.</a:t>
            </a:r>
          </a:p>
          <a:p>
            <a:pPr algn="l"/>
            <a:r>
              <a:rPr lang="en-US" sz="2500" b="0" i="0" dirty="0">
                <a:effectLst/>
                <a:latin typeface="Nunito Sans" pitchFamily="2" charset="0"/>
              </a:rPr>
              <a:t>(1,2): Cannot be considered as 1(x) didn’t occur a minimum of 2(y) number of times.</a:t>
            </a:r>
          </a:p>
          <a:p>
            <a:pPr algn="l"/>
            <a:r>
              <a:rPr lang="en-US" sz="2500" b="0" i="0" dirty="0">
                <a:effectLst/>
                <a:latin typeface="Nunito Sans" pitchFamily="2" charset="0"/>
              </a:rPr>
              <a:t>(1,3)-(1,4)-(1,5): Similar to (1,2): Cannot be considered.</a:t>
            </a:r>
          </a:p>
          <a:p>
            <a:pPr algn="l"/>
            <a:r>
              <a:rPr lang="en-US" sz="2500" b="0" i="0" dirty="0">
                <a:effectLst/>
                <a:latin typeface="Nunito Sans" pitchFamily="2" charset="0"/>
              </a:rPr>
              <a:t>(2,2)- till (2,5): Cannot be considered.</a:t>
            </a:r>
          </a:p>
          <a:p>
            <a:pPr algn="l"/>
            <a:r>
              <a:rPr lang="en-US" sz="2500" b="0" i="0" dirty="0">
                <a:effectLst/>
                <a:latin typeface="Nunito Sans" pitchFamily="2" charset="0"/>
              </a:rPr>
              <a:t>We can follow other combinations as well, but none of them follows the above conditions like (1,1). Hence there is only one pair, which follows the rule.</a:t>
            </a:r>
          </a:p>
          <a:p>
            <a:pPr algn="l"/>
            <a:r>
              <a:rPr lang="en-US" sz="2500" b="0" i="0" dirty="0">
                <a:effectLst/>
                <a:latin typeface="Nunito Sans" pitchFamily="2" charset="0"/>
              </a:rPr>
              <a:t>Hence the answer is 1.</a:t>
            </a:r>
          </a:p>
          <a:p>
            <a:pPr algn="l"/>
            <a:r>
              <a:rPr lang="en-US" sz="2500" b="1" i="0" dirty="0">
                <a:effectLst/>
                <a:latin typeface="Nunito Sans" pitchFamily="2" charset="0"/>
              </a:rPr>
              <a:t>Example 1:</a:t>
            </a:r>
            <a:endParaRPr lang="en-US" sz="2500" b="0" i="0" dirty="0">
              <a:effectLst/>
              <a:latin typeface="Nunito Sans" pitchFamily="2" charset="0"/>
            </a:endParaRPr>
          </a:p>
          <a:p>
            <a:pPr algn="l"/>
            <a:r>
              <a:rPr lang="en-US" sz="2500" b="1" i="0" dirty="0">
                <a:effectLst/>
                <a:latin typeface="Nunito Sans" pitchFamily="2" charset="0"/>
              </a:rPr>
              <a:t>Input </a:t>
            </a:r>
            <a:r>
              <a:rPr lang="en-US" sz="2500" b="0" i="0" dirty="0">
                <a:effectLst/>
                <a:latin typeface="Nunito Sans" pitchFamily="2" charset="0"/>
              </a:rPr>
              <a:t>: </a:t>
            </a:r>
          </a:p>
          <a:p>
            <a:pPr algn="l"/>
            <a:r>
              <a:rPr lang="en-US" sz="2500" b="0" i="0" dirty="0">
                <a:effectLst/>
                <a:latin typeface="Nunito Sans" pitchFamily="2" charset="0"/>
              </a:rPr>
              <a:t>5  -&gt; Input integer, N</a:t>
            </a:r>
          </a:p>
          <a:p>
            <a:pPr algn="l"/>
            <a:r>
              <a:rPr lang="en-US" sz="2500" b="0" i="0" dirty="0">
                <a:effectLst/>
                <a:latin typeface="Nunito Sans" pitchFamily="2" charset="0"/>
              </a:rPr>
              <a:t>1 1 2 2 3   -&gt; Input integer, S[]</a:t>
            </a:r>
          </a:p>
          <a:p>
            <a:pPr algn="l"/>
            <a:r>
              <a:rPr lang="en-US" sz="2500" b="1" i="0" dirty="0">
                <a:effectLst/>
                <a:latin typeface="Nunito Sans" pitchFamily="2" charset="0"/>
              </a:rPr>
              <a:t>Output </a:t>
            </a:r>
            <a:r>
              <a:rPr lang="en-US" sz="2500" b="0" i="0" dirty="0">
                <a:effectLst/>
                <a:latin typeface="Nunito Sans" pitchFamily="2" charset="0"/>
              </a:rPr>
              <a:t>:</a:t>
            </a:r>
          </a:p>
          <a:p>
            <a:pPr algn="l"/>
            <a:r>
              <a:rPr lang="en-US" sz="2500" b="0" i="0" dirty="0">
                <a:effectLst/>
                <a:latin typeface="Nunito Sans" pitchFamily="2" charset="0"/>
              </a:rPr>
              <a:t>4-&gt; output</a:t>
            </a:r>
          </a:p>
        </p:txBody>
      </p:sp>
    </p:spTree>
    <p:extLst>
      <p:ext uri="{BB962C8B-B14F-4D97-AF65-F5344CB8AC3E}">
        <p14:creationId xmlns:p14="http://schemas.microsoft.com/office/powerpoint/2010/main" val="3922549562"/>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478423"/>
          </a:xfrm>
          <a:prstGeom prst="rect">
            <a:avLst/>
          </a:prstGeom>
          <a:noFill/>
        </p:spPr>
        <p:txBody>
          <a:bodyPr wrap="square">
            <a:spAutoFit/>
          </a:bodyPr>
          <a:lstStyle/>
          <a:p>
            <a:pPr algn="l"/>
            <a:r>
              <a:rPr lang="en-US" sz="2500" b="1" i="0" dirty="0">
                <a:effectLst/>
                <a:latin typeface="Nunito Sans" pitchFamily="2" charset="0"/>
              </a:rPr>
              <a:t>Explanation:</a:t>
            </a:r>
            <a:endParaRPr lang="en-US" sz="2500" b="0" i="0" dirty="0">
              <a:effectLst/>
              <a:latin typeface="Nunito Sans" pitchFamily="2" charset="0"/>
            </a:endParaRPr>
          </a:p>
          <a:p>
            <a:pPr algn="l"/>
            <a:r>
              <a:rPr lang="en-US" sz="2500" b="0" i="0" dirty="0">
                <a:effectLst/>
                <a:latin typeface="Nunito Sans" pitchFamily="2" charset="0"/>
              </a:rPr>
              <a:t>We can have the below combination:</a:t>
            </a:r>
          </a:p>
          <a:p>
            <a:pPr algn="l"/>
            <a:r>
              <a:rPr lang="en-US" sz="2500" b="0" i="0" dirty="0">
                <a:effectLst/>
                <a:latin typeface="Nunito Sans" pitchFamily="2" charset="0"/>
              </a:rPr>
              <a:t>(1,1): Can be considered as 1(x) occurred a minimum of 1(y) number of times</a:t>
            </a:r>
          </a:p>
          <a:p>
            <a:pPr algn="l"/>
            <a:r>
              <a:rPr lang="en-US" sz="2500" b="0" i="0" dirty="0">
                <a:effectLst/>
                <a:latin typeface="Nunito Sans" pitchFamily="2" charset="0"/>
              </a:rPr>
              <a:t>(1,2): Can be considered as 1(x) occurred at minimum of 2(y) number of times, and who has acquired a minimum of 2(y) number if times.</a:t>
            </a:r>
          </a:p>
          <a:p>
            <a:pPr algn="l"/>
            <a:r>
              <a:rPr lang="en-US" sz="2500" b="1" i="0" dirty="0">
                <a:effectLst/>
                <a:latin typeface="Nunito Sans" pitchFamily="2" charset="0"/>
              </a:rPr>
              <a:t>Example 2:</a:t>
            </a:r>
            <a:endParaRPr lang="en-US" sz="2500" b="0" i="0" dirty="0">
              <a:effectLst/>
              <a:latin typeface="Nunito Sans" pitchFamily="2" charset="0"/>
            </a:endParaRPr>
          </a:p>
          <a:p>
            <a:pPr algn="l"/>
            <a:r>
              <a:rPr lang="en-US" sz="2500" b="1" i="0" dirty="0">
                <a:effectLst/>
                <a:latin typeface="Nunito Sans" pitchFamily="2" charset="0"/>
              </a:rPr>
              <a:t>Input :</a:t>
            </a:r>
            <a:endParaRPr lang="en-US" sz="2500" b="0" i="0" dirty="0">
              <a:effectLst/>
              <a:latin typeface="Nunito Sans" pitchFamily="2" charset="0"/>
            </a:endParaRPr>
          </a:p>
          <a:p>
            <a:pPr algn="l"/>
            <a:r>
              <a:rPr lang="en-US" sz="2500" b="0" i="0" dirty="0">
                <a:effectLst/>
                <a:latin typeface="Nunito Sans" pitchFamily="2" charset="0"/>
              </a:rPr>
              <a:t>5   -&gt; Input integer, N</a:t>
            </a:r>
          </a:p>
          <a:p>
            <a:pPr algn="l"/>
            <a:r>
              <a:rPr lang="en-US" sz="2500" b="0" i="0" dirty="0">
                <a:effectLst/>
                <a:latin typeface="Nunito Sans" pitchFamily="2" charset="0"/>
              </a:rPr>
              <a:t>1 2 3 4 5 -&gt;Input integer, S[]</a:t>
            </a:r>
          </a:p>
          <a:p>
            <a:pPr algn="l"/>
            <a:r>
              <a:rPr lang="en-US" sz="2500" b="0" i="0" dirty="0">
                <a:effectLst/>
                <a:latin typeface="Nunito Sans" pitchFamily="2" charset="0"/>
              </a:rPr>
              <a:t>Output :</a:t>
            </a:r>
          </a:p>
          <a:p>
            <a:pPr algn="l"/>
            <a:r>
              <a:rPr lang="en-US" sz="2500" b="0" i="0" dirty="0">
                <a:effectLst/>
                <a:latin typeface="Nunito Sans" pitchFamily="2" charset="0"/>
              </a:rPr>
              <a:t>1                       -&gt; output</a:t>
            </a:r>
          </a:p>
          <a:p>
            <a:pPr algn="l"/>
            <a:r>
              <a:rPr lang="en-US" sz="2500" b="1" i="0" dirty="0">
                <a:effectLst/>
                <a:latin typeface="Nunito Sans" pitchFamily="2" charset="0"/>
              </a:rPr>
              <a:t>Explanation:</a:t>
            </a:r>
            <a:endParaRPr lang="en-US" sz="2500" b="0" i="0" dirty="0">
              <a:effectLst/>
              <a:latin typeface="Nunito Sans" pitchFamily="2" charset="0"/>
            </a:endParaRPr>
          </a:p>
          <a:p>
            <a:pPr algn="l"/>
            <a:r>
              <a:rPr lang="en-US" sz="2500" b="0" i="0" dirty="0">
                <a:effectLst/>
                <a:latin typeface="Nunito Sans" pitchFamily="2" charset="0"/>
              </a:rPr>
              <a:t>In this scenario, as explained in the demo example we have only 1 pair that matches the criteria hence the answer is 1.</a:t>
            </a:r>
          </a:p>
        </p:txBody>
      </p:sp>
    </p:spTree>
    <p:extLst>
      <p:ext uri="{BB962C8B-B14F-4D97-AF65-F5344CB8AC3E}">
        <p14:creationId xmlns:p14="http://schemas.microsoft.com/office/powerpoint/2010/main" val="185167773"/>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863144"/>
          </a:xfrm>
          <a:prstGeom prst="rect">
            <a:avLst/>
          </a:prstGeom>
          <a:noFill/>
        </p:spPr>
        <p:txBody>
          <a:bodyPr wrap="square">
            <a:spAutoFit/>
          </a:bodyPr>
          <a:lstStyle/>
          <a:p>
            <a:pPr algn="l"/>
            <a:r>
              <a:rPr lang="en-US" sz="2500" b="1" i="0" dirty="0">
                <a:effectLst/>
                <a:latin typeface="Nunito Sans" pitchFamily="2" charset="0"/>
              </a:rPr>
              <a:t>Constraints:</a:t>
            </a:r>
            <a:endParaRPr lang="en-US" sz="2500" b="0" i="0" dirty="0">
              <a:effectLst/>
              <a:latin typeface="Nunito Sans" pitchFamily="2" charset="0"/>
            </a:endParaRPr>
          </a:p>
          <a:p>
            <a:pPr algn="l"/>
            <a:r>
              <a:rPr lang="en-US" sz="2500" b="0" i="0" dirty="0">
                <a:effectLst/>
                <a:latin typeface="Nunito Sans" pitchFamily="2" charset="0"/>
              </a:rPr>
              <a:t>2&lt;=N&lt;=100000</a:t>
            </a:r>
          </a:p>
          <a:p>
            <a:pPr algn="l"/>
            <a:r>
              <a:rPr lang="en-US" sz="2500" b="0" i="0" dirty="0">
                <a:effectLst/>
                <a:latin typeface="Nunito Sans" pitchFamily="2" charset="0"/>
              </a:rPr>
              <a:t>1&lt;=S[]&lt;=100000</a:t>
            </a:r>
          </a:p>
          <a:p>
            <a:pPr algn="l"/>
            <a:r>
              <a:rPr lang="en-US" sz="2500" b="0" i="0" dirty="0">
                <a:effectLst/>
                <a:latin typeface="Nunito Sans" pitchFamily="2" charset="0"/>
              </a:rPr>
              <a:t>Only positive integer values</a:t>
            </a:r>
          </a:p>
          <a:p>
            <a:pPr algn="l"/>
            <a:r>
              <a:rPr lang="en-US" sz="2500" b="1" i="0" dirty="0">
                <a:effectLst/>
                <a:latin typeface="Nunito Sans" pitchFamily="2" charset="0"/>
              </a:rPr>
              <a:t>The input format for testing</a:t>
            </a:r>
            <a:endParaRPr lang="en-US" sz="2500" b="0" i="0" dirty="0">
              <a:effectLst/>
              <a:latin typeface="Nunito Sans" pitchFamily="2" charset="0"/>
            </a:endParaRPr>
          </a:p>
          <a:p>
            <a:pPr algn="l"/>
            <a:r>
              <a:rPr lang="en-US" sz="2500" b="0" i="0" dirty="0">
                <a:effectLst/>
                <a:latin typeface="Nunito Sans" pitchFamily="2" charset="0"/>
              </a:rPr>
              <a:t>First input -accept value of integer N</a:t>
            </a:r>
          </a:p>
          <a:p>
            <a:pPr algn="l"/>
            <a:r>
              <a:rPr lang="en-US" sz="2500" b="0" i="0" dirty="0">
                <a:effectLst/>
                <a:latin typeface="Nunito Sans" pitchFamily="2" charset="0"/>
              </a:rPr>
              <a:t>Next ‘N’ Lines –Elements of sequence S[]</a:t>
            </a:r>
          </a:p>
          <a:p>
            <a:pPr algn="l"/>
            <a:r>
              <a:rPr lang="en-US" sz="2500" b="1" i="0" dirty="0">
                <a:effectLst/>
                <a:latin typeface="Nunito Sans" pitchFamily="2" charset="0"/>
              </a:rPr>
              <a:t>The output format for testing:</a:t>
            </a:r>
            <a:endParaRPr lang="en-US" sz="2500" b="0" i="0" dirty="0">
              <a:effectLst/>
              <a:latin typeface="Nunito Sans" pitchFamily="2" charset="0"/>
            </a:endParaRPr>
          </a:p>
          <a:p>
            <a:pPr algn="l"/>
            <a:r>
              <a:rPr lang="en-US" sz="2500" b="0" i="0" dirty="0">
                <a:effectLst/>
                <a:latin typeface="Nunito Sans" pitchFamily="2" charset="0"/>
              </a:rPr>
              <a:t>The output is an integer value as per the above logic.</a:t>
            </a:r>
          </a:p>
          <a:p>
            <a:pPr algn="l"/>
            <a:r>
              <a:rPr lang="en-US" sz="2500" b="0" i="0" dirty="0">
                <a:effectLst/>
                <a:latin typeface="Nunito Sans" pitchFamily="2" charset="0"/>
              </a:rPr>
              <a:t>(Check the output in Example 1, Example 2).</a:t>
            </a:r>
          </a:p>
          <a:p>
            <a:pPr algn="l"/>
            <a:r>
              <a:rPr lang="en-US" sz="2500" b="0" i="0" dirty="0">
                <a:effectLst/>
                <a:latin typeface="Nunito Sans" pitchFamily="2" charset="0"/>
              </a:rPr>
              <a:t>Additional message in output will cause the failure of test cases.</a:t>
            </a:r>
          </a:p>
          <a:p>
            <a:pPr algn="l"/>
            <a:r>
              <a:rPr lang="en-US" sz="2500" b="1" i="0" dirty="0">
                <a:effectLst/>
                <a:latin typeface="Nunito Sans" pitchFamily="2" charset="0"/>
              </a:rPr>
              <a:t>Instructions:</a:t>
            </a:r>
            <a:endParaRPr lang="en-US" sz="2500" b="0" i="0" dirty="0">
              <a:effectLst/>
              <a:latin typeface="Nunito Sans" pitchFamily="2" charset="0"/>
            </a:endParaRPr>
          </a:p>
          <a:p>
            <a:pPr algn="l"/>
            <a:r>
              <a:rPr lang="en-US" sz="2500" b="0" i="0" dirty="0">
                <a:effectLst/>
                <a:latin typeface="Nunito Sans" pitchFamily="2" charset="0"/>
              </a:rPr>
              <a:t>System doesn’t allow any kind of hard coded input value or values.</a:t>
            </a:r>
          </a:p>
          <a:p>
            <a:pPr algn="l"/>
            <a:r>
              <a:rPr lang="en-US" sz="2500" b="0" i="0" dirty="0">
                <a:effectLst/>
                <a:latin typeface="Nunito Sans" pitchFamily="2" charset="0"/>
              </a:rPr>
              <a:t>Open </a:t>
            </a:r>
            <a:r>
              <a:rPr lang="en-US" sz="2500" b="0" i="0" dirty="0" err="1">
                <a:effectLst/>
                <a:latin typeface="Nunito Sans" pitchFamily="2" charset="0"/>
              </a:rPr>
              <a:t>programme</a:t>
            </a:r>
            <a:r>
              <a:rPr lang="en-US" sz="2500" b="0" i="0" dirty="0">
                <a:effectLst/>
                <a:latin typeface="Nunito Sans" pitchFamily="2" charset="0"/>
              </a:rPr>
              <a:t> for salaries will be verified against the input which are supplied from the system.</a:t>
            </a:r>
          </a:p>
        </p:txBody>
      </p:sp>
    </p:spTree>
    <p:extLst>
      <p:ext uri="{BB962C8B-B14F-4D97-AF65-F5344CB8AC3E}">
        <p14:creationId xmlns:p14="http://schemas.microsoft.com/office/powerpoint/2010/main" val="3868147337"/>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err="1">
                <a:solidFill>
                  <a:srgbClr val="CE9178"/>
                </a:solidFill>
                <a:effectLst/>
                <a:latin typeface="Nunito Sans" pitchFamily="2" charset="0"/>
              </a:rPr>
              <a:t>stdio.h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err="1">
                <a:solidFill>
                  <a:srgbClr val="CE9178"/>
                </a:solidFill>
                <a:effectLst/>
                <a:latin typeface="Nunito Sans" pitchFamily="2" charset="0"/>
              </a:rPr>
              <a:t>stdlib.h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#define</a:t>
            </a:r>
            <a:r>
              <a:rPr lang="en-US" sz="2000" b="0" dirty="0">
                <a:solidFill>
                  <a:srgbClr val="D4D4D4"/>
                </a:solidFill>
                <a:effectLst/>
                <a:latin typeface="Nunito Sans" pitchFamily="2" charset="0"/>
              </a:rPr>
              <a:t> MAX_SIZE </a:t>
            </a:r>
            <a:r>
              <a:rPr lang="en-US" sz="2000" b="0" dirty="0">
                <a:solidFill>
                  <a:srgbClr val="B5CEA8"/>
                </a:solidFill>
                <a:effectLst/>
                <a:latin typeface="Nunito Sans" pitchFamily="2" charset="0"/>
              </a:rPr>
              <a:t>100000</a:t>
            </a:r>
            <a:endParaRPr lang="en-US" sz="2000" b="0" dirty="0">
              <a:solidFill>
                <a:srgbClr val="D4D4D4"/>
              </a:solidFill>
              <a:effectLst/>
              <a:latin typeface="Nunito Sans" pitchFamily="2" charset="0"/>
            </a:endParaRPr>
          </a:p>
          <a:p>
            <a:r>
              <a:rPr lang="en-US" sz="2000" b="0" dirty="0">
                <a:solidFill>
                  <a:srgbClr val="608B4E"/>
                </a:solidFill>
                <a:effectLst/>
                <a:latin typeface="Nunito Sans" pitchFamily="2" charset="0"/>
              </a:rPr>
              <a:t>// Function to find the number of valid pairs</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findValidPairs</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MAX_SIZE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Array to store the frequency of each </a:t>
            </a:r>
            <a:r>
              <a:rPr lang="en-US" sz="2000" b="0" dirty="0" err="1">
                <a:solidFill>
                  <a:srgbClr val="608B4E"/>
                </a:solidFill>
                <a:effectLst/>
                <a:latin typeface="Nunito Sans" pitchFamily="2" charset="0"/>
              </a:rPr>
              <a:t>ele</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frequencies of elements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Find the number of valid pairs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x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y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x</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y </a:t>
            </a:r>
            <a:r>
              <a:rPr lang="en-US" sz="2000" b="0" dirty="0">
                <a:solidFill>
                  <a:srgbClr val="DCDCDC"/>
                </a:solidFill>
                <a:effectLst/>
                <a:latin typeface="Nunito Sans" pitchFamily="2" charset="0"/>
              </a:rPr>
              <a:t>&gt;=</a:t>
            </a:r>
            <a:r>
              <a:rPr lang="en-US" sz="2000" b="0" dirty="0">
                <a:solidFill>
                  <a:srgbClr val="D4D4D4"/>
                </a:solidFill>
                <a:effectLst/>
                <a:latin typeface="Nunito Sans" pitchFamily="2" charset="0"/>
              </a:rPr>
              <a:t> x</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600247"/>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validPairs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MAX_SIZE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findValidPairs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70486501"/>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a:solidFill>
                  <a:srgbClr val="CE9178"/>
                </a:solidFill>
                <a:effectLst/>
                <a:latin typeface="Nunito Sans" pitchFamily="2" charset="0"/>
              </a:rPr>
              <a:t>iostream</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using</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namespace</a:t>
            </a:r>
            <a:r>
              <a:rPr lang="en-US" sz="2000" b="0" dirty="0">
                <a:solidFill>
                  <a:srgbClr val="D4D4D4"/>
                </a:solidFill>
                <a:effectLst/>
                <a:latin typeface="Nunito Sans" pitchFamily="2" charset="0"/>
              </a:rPr>
              <a:t> std</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#define</a:t>
            </a:r>
            <a:r>
              <a:rPr lang="en-US" sz="2000" b="0" dirty="0">
                <a:solidFill>
                  <a:srgbClr val="D4D4D4"/>
                </a:solidFill>
                <a:effectLst/>
                <a:latin typeface="Nunito Sans" pitchFamily="2" charset="0"/>
              </a:rPr>
              <a:t> MAX_SIZE </a:t>
            </a:r>
            <a:r>
              <a:rPr lang="en-US" sz="2000" b="0" dirty="0">
                <a:solidFill>
                  <a:srgbClr val="B5CEA8"/>
                </a:solidFill>
                <a:effectLst/>
                <a:latin typeface="Nunito Sans" pitchFamily="2" charset="0"/>
              </a:rPr>
              <a:t>100000</a:t>
            </a:r>
            <a:endParaRPr lang="en-US" sz="2000" b="0" dirty="0">
              <a:solidFill>
                <a:srgbClr val="D4D4D4"/>
              </a:solidFill>
              <a:effectLst/>
              <a:latin typeface="Nunito Sans" pitchFamily="2" charset="0"/>
            </a:endParaRPr>
          </a:p>
          <a:p>
            <a:r>
              <a:rPr lang="en-US" sz="2000" b="0" dirty="0">
                <a:solidFill>
                  <a:srgbClr val="608B4E"/>
                </a:solidFill>
                <a:effectLst/>
                <a:latin typeface="Nunito Sans" pitchFamily="2" charset="0"/>
              </a:rPr>
              <a:t>// Function to find the number of valid pairs</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findValidPairs</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MAX_SIZE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frequencies of elements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Find the number of valid pairs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x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y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x</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y </a:t>
            </a:r>
            <a:r>
              <a:rPr lang="en-US" sz="2000" b="0" dirty="0">
                <a:solidFill>
                  <a:srgbClr val="DCDCDC"/>
                </a:solidFill>
                <a:effectLst/>
                <a:latin typeface="Nunito Sans" pitchFamily="2" charset="0"/>
              </a:rPr>
              <a:t>&gt;=</a:t>
            </a:r>
            <a:r>
              <a:rPr lang="en-US" sz="2000" b="0" dirty="0">
                <a:solidFill>
                  <a:srgbClr val="D4D4D4"/>
                </a:solidFill>
                <a:effectLst/>
                <a:latin typeface="Nunito Sans" pitchFamily="2" charset="0"/>
              </a:rPr>
              <a:t> x</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604786467"/>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validPairs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MAX_SIZE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findValidPairs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062219048"/>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import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java</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util</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Scanner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class</a:t>
            </a:r>
            <a:r>
              <a:rPr lang="en-US" sz="2000" b="0" dirty="0">
                <a:solidFill>
                  <a:srgbClr val="D4D4D4"/>
                </a:solidFill>
                <a:effectLst/>
                <a:latin typeface="Nunito Sans" pitchFamily="2" charset="0"/>
              </a:rPr>
              <a:t> Main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static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final</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MAX_SIZE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100000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Function to find the number of valid pairs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static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findValidPairs</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frequency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new</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MAX_SIZE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frequencies of elements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Find the number of valid pairs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x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y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x</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y </a:t>
            </a:r>
            <a:r>
              <a:rPr lang="en-US" sz="2000" b="0" dirty="0">
                <a:solidFill>
                  <a:srgbClr val="DCDCDC"/>
                </a:solidFill>
                <a:effectLst/>
                <a:latin typeface="Nunito Sans" pitchFamily="2" charset="0"/>
              </a:rPr>
              <a:t>&gt;=</a:t>
            </a:r>
            <a:r>
              <a:rPr lang="en-US" sz="2000" b="0" dirty="0">
                <a:solidFill>
                  <a:srgbClr val="D4D4D4"/>
                </a:solidFill>
                <a:effectLst/>
                <a:latin typeface="Nunito Sans" pitchFamily="2" charset="0"/>
              </a:rPr>
              <a:t> x</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37257195"/>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validPairs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MAX_SIZE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findValidPairs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565763993"/>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608B4E"/>
                </a:solidFill>
                <a:effectLst/>
                <a:latin typeface="Nunito Sans" pitchFamily="2" charset="0"/>
              </a:rPr>
              <a:t># Function to find the number of valid pairs</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findValidPairs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frequency =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MAX_SIZE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frequencies of elements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Find the number of valid pairs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x =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y = frequency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x</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y &gt;= x</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validPairs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MAX_SIZE = </a:t>
            </a:r>
            <a:r>
              <a:rPr lang="en-US" sz="2000" b="0" dirty="0">
                <a:solidFill>
                  <a:srgbClr val="B5CEA8"/>
                </a:solidFill>
                <a:effectLst/>
                <a:latin typeface="Nunito Sans" pitchFamily="2" charset="0"/>
              </a:rPr>
              <a:t>100000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S = </a:t>
            </a:r>
            <a:r>
              <a:rPr lang="en-US" sz="2000" b="0" dirty="0">
                <a:solidFill>
                  <a:srgbClr val="569CD6"/>
                </a:solidFill>
                <a:effectLst/>
                <a:latin typeface="Nunito Sans" pitchFamily="2" charset="0"/>
              </a:rPr>
              <a:t>list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map</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.split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result = </a:t>
            </a:r>
            <a:r>
              <a:rPr lang="en-US" sz="2000" b="0" dirty="0" err="1">
                <a:solidFill>
                  <a:srgbClr val="D4D4D4"/>
                </a:solidFill>
                <a:effectLst/>
                <a:latin typeface="Nunito Sans" pitchFamily="2" charset="0"/>
              </a:rPr>
              <a:t>findValidPairs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result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67047478"/>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632311"/>
          </a:xfrm>
          <a:prstGeom prst="rect">
            <a:avLst/>
          </a:prstGeom>
          <a:noFill/>
        </p:spPr>
        <p:txBody>
          <a:bodyPr wrap="square">
            <a:spAutoFit/>
          </a:bodyPr>
          <a:lstStyle/>
          <a:p>
            <a:pPr algn="l"/>
            <a:r>
              <a:rPr lang="en-US" sz="2400" b="0" i="0" dirty="0">
                <a:effectLst/>
                <a:latin typeface="Nunito Sans" pitchFamily="2" charset="0"/>
              </a:rPr>
              <a:t>Rohan went to a gold showroom. All the </a:t>
            </a:r>
            <a:r>
              <a:rPr lang="en-US" sz="2400" b="0" i="0" dirty="0" err="1">
                <a:effectLst/>
                <a:latin typeface="Nunito Sans" pitchFamily="2" charset="0"/>
              </a:rPr>
              <a:t>jewellery</a:t>
            </a:r>
            <a:r>
              <a:rPr lang="en-US" sz="2400" b="0" i="0" dirty="0">
                <a:effectLst/>
                <a:latin typeface="Nunito Sans" pitchFamily="2" charset="0"/>
              </a:rPr>
              <a:t> is tagged with an index on it. The indices are integers from 1 to N. He wanted to two items of </a:t>
            </a:r>
            <a:r>
              <a:rPr lang="en-US" sz="2400" b="0" i="0" dirty="0" err="1">
                <a:effectLst/>
                <a:latin typeface="Nunito Sans" pitchFamily="2" charset="0"/>
              </a:rPr>
              <a:t>jewellery</a:t>
            </a:r>
            <a:r>
              <a:rPr lang="en-US" sz="2400" b="0" i="0" dirty="0">
                <a:effectLst/>
                <a:latin typeface="Nunito Sans" pitchFamily="2" charset="0"/>
              </a:rPr>
              <a:t> for his wife. When asked for a discount on </a:t>
            </a:r>
            <a:r>
              <a:rPr lang="en-US" sz="2400" b="0" i="0" dirty="0" err="1">
                <a:effectLst/>
                <a:latin typeface="Nunito Sans" pitchFamily="2" charset="0"/>
              </a:rPr>
              <a:t>jewellery</a:t>
            </a:r>
            <a:r>
              <a:rPr lang="en-US" sz="2400" b="0" i="0" dirty="0">
                <a:effectLst/>
                <a:latin typeface="Nunito Sans" pitchFamily="2" charset="0"/>
              </a:rPr>
              <a:t> items, the store manager who is retired mathematics professor replied with an unusual response:</a:t>
            </a:r>
          </a:p>
          <a:p>
            <a:pPr algn="l"/>
            <a:r>
              <a:rPr lang="en-US" sz="2400" b="1" i="0" dirty="0">
                <a:effectLst/>
                <a:latin typeface="Nunito Sans" pitchFamily="2" charset="0"/>
              </a:rPr>
              <a:t>The discount will be the number of all those elements falling between the indices (inclusive of both) of 2 items which have a prime number of divisors.</a:t>
            </a:r>
            <a:endParaRPr lang="en-US" sz="2400" b="0" i="0" dirty="0">
              <a:effectLst/>
              <a:latin typeface="Nunito Sans" pitchFamily="2" charset="0"/>
            </a:endParaRPr>
          </a:p>
          <a:p>
            <a:pPr algn="l"/>
            <a:r>
              <a:rPr lang="en-US" sz="2400" b="0" i="0" dirty="0">
                <a:effectLst/>
                <a:latin typeface="Nunito Sans" pitchFamily="2" charset="0"/>
              </a:rPr>
              <a:t>Assuming that Rohan will buy 2 different pieces of </a:t>
            </a:r>
            <a:r>
              <a:rPr lang="en-US" sz="2400" b="0" i="0" dirty="0" err="1">
                <a:effectLst/>
                <a:latin typeface="Nunito Sans" pitchFamily="2" charset="0"/>
              </a:rPr>
              <a:t>jewellery</a:t>
            </a:r>
            <a:r>
              <a:rPr lang="en-US" sz="2400" b="0" i="0" dirty="0">
                <a:effectLst/>
                <a:latin typeface="Nunito Sans" pitchFamily="2" charset="0"/>
              </a:rPr>
              <a:t>, which is present at index ‘</a:t>
            </a:r>
            <a:r>
              <a:rPr lang="en-US" sz="2400" b="0" i="0" dirty="0" err="1">
                <a:effectLst/>
                <a:latin typeface="Nunito Sans" pitchFamily="2" charset="0"/>
              </a:rPr>
              <a:t>i</a:t>
            </a:r>
            <a:r>
              <a:rPr lang="en-US" sz="2400" b="0" i="0" dirty="0">
                <a:effectLst/>
                <a:latin typeface="Nunito Sans" pitchFamily="2" charset="0"/>
              </a:rPr>
              <a:t>’ and ‘j’, respectively. Find the discount percentage he will receive from the </a:t>
            </a:r>
            <a:r>
              <a:rPr lang="en-US" sz="2400" b="0" i="0" dirty="0" err="1">
                <a:effectLst/>
                <a:latin typeface="Nunito Sans" pitchFamily="2" charset="0"/>
              </a:rPr>
              <a:t>jewellery</a:t>
            </a:r>
            <a:r>
              <a:rPr lang="en-US" sz="2400" b="0" i="0" dirty="0">
                <a:effectLst/>
                <a:latin typeface="Nunito Sans" pitchFamily="2" charset="0"/>
              </a:rPr>
              <a:t> store.</a:t>
            </a:r>
          </a:p>
          <a:p>
            <a:pPr algn="l"/>
            <a:r>
              <a:rPr lang="en-US" sz="2400" b="0" i="0" dirty="0">
                <a:effectLst/>
                <a:latin typeface="Nunito Sans" pitchFamily="2" charset="0"/>
              </a:rPr>
              <a:t>Input is the two indices of the respective </a:t>
            </a:r>
            <a:r>
              <a:rPr lang="en-US" sz="2400" b="0" i="0" dirty="0" err="1">
                <a:effectLst/>
                <a:latin typeface="Nunito Sans" pitchFamily="2" charset="0"/>
              </a:rPr>
              <a:t>jewellery</a:t>
            </a:r>
            <a:r>
              <a:rPr lang="en-US" sz="2400" b="0" i="0" dirty="0">
                <a:effectLst/>
                <a:latin typeface="Nunito Sans" pitchFamily="2" charset="0"/>
              </a:rPr>
              <a:t> items.</a:t>
            </a:r>
          </a:p>
          <a:p>
            <a:pPr algn="l"/>
            <a:r>
              <a:rPr lang="en-US" sz="2400" b="0" i="0" dirty="0">
                <a:effectLst/>
                <a:latin typeface="Nunito Sans" pitchFamily="2" charset="0"/>
              </a:rPr>
              <a:t>Output is the integer value; which Rohan is going to receive as a discount.</a:t>
            </a:r>
          </a:p>
          <a:p>
            <a:pPr algn="l"/>
            <a:r>
              <a:rPr lang="en-US" sz="2400" b="0" i="0" dirty="0">
                <a:effectLst/>
                <a:latin typeface="Nunito Sans" pitchFamily="2" charset="0"/>
              </a:rPr>
              <a:t>Let to try to understand it with an example.</a:t>
            </a:r>
          </a:p>
          <a:p>
            <a:pPr algn="l"/>
            <a:r>
              <a:rPr lang="en-US" sz="2400" b="0" i="0" dirty="0">
                <a:effectLst/>
                <a:latin typeface="Nunito Sans" pitchFamily="2" charset="0"/>
              </a:rPr>
              <a:t>Let’s say Rohan picked 2 items that are present at index 10 and 15 respectively.</a:t>
            </a:r>
          </a:p>
          <a:p>
            <a:pPr algn="l"/>
            <a:r>
              <a:rPr lang="en-US" sz="2400" b="0" i="0" dirty="0">
                <a:effectLst/>
                <a:latin typeface="Nunito Sans" pitchFamily="2" charset="0"/>
              </a:rPr>
              <a:t>This M means I = 10 and J = 15.</a:t>
            </a:r>
          </a:p>
          <a:p>
            <a:pPr algn="l"/>
            <a:endParaRPr lang="en-US" sz="2400" b="0" i="0" dirty="0">
              <a:effectLst/>
              <a:latin typeface="Nunito Sans" pitchFamily="2" charset="0"/>
            </a:endParaRPr>
          </a:p>
        </p:txBody>
      </p:sp>
    </p:spTree>
    <p:extLst>
      <p:ext uri="{BB962C8B-B14F-4D97-AF65-F5344CB8AC3E}">
        <p14:creationId xmlns:p14="http://schemas.microsoft.com/office/powerpoint/2010/main" val="3500532024"/>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6001643"/>
          </a:xfrm>
          <a:prstGeom prst="rect">
            <a:avLst/>
          </a:prstGeom>
          <a:noFill/>
        </p:spPr>
        <p:txBody>
          <a:bodyPr wrap="square">
            <a:spAutoFit/>
          </a:bodyPr>
          <a:lstStyle/>
          <a:p>
            <a:pPr algn="l"/>
            <a:r>
              <a:rPr lang="en-US" sz="2400" b="0" i="0" dirty="0">
                <a:effectLst/>
                <a:latin typeface="Nunito Sans" pitchFamily="2" charset="0"/>
              </a:rPr>
              <a:t>Now let us check the number of divisors for each number from 10 to 15:</a:t>
            </a:r>
          </a:p>
          <a:p>
            <a:pPr algn="l"/>
            <a:r>
              <a:rPr lang="en-US" sz="2400" b="0" i="0" dirty="0">
                <a:effectLst/>
                <a:latin typeface="Nunito Sans" pitchFamily="2" charset="0"/>
              </a:rPr>
              <a:t>10:Number of divisors are 1,2,5, and 10, total 4, and 4 is not prime. Excluded.</a:t>
            </a:r>
          </a:p>
          <a:p>
            <a:pPr algn="l"/>
            <a:r>
              <a:rPr lang="en-US" sz="2400" b="0" i="0" dirty="0">
                <a:effectLst/>
                <a:latin typeface="Nunito Sans" pitchFamily="2" charset="0"/>
              </a:rPr>
              <a:t>11 : Number of divisors are 1 and 11, total 2, 2 is prime. Included.</a:t>
            </a:r>
          </a:p>
          <a:p>
            <a:pPr algn="l"/>
            <a:r>
              <a:rPr lang="en-US" sz="2400" b="0" i="0" dirty="0">
                <a:effectLst/>
                <a:latin typeface="Nunito Sans" pitchFamily="2" charset="0"/>
              </a:rPr>
              <a:t>12 : Number of divisors are 1,2,3,4,6 and 12, total 6, 6 is not prime. Excluded.</a:t>
            </a:r>
          </a:p>
          <a:p>
            <a:pPr algn="l"/>
            <a:r>
              <a:rPr lang="en-US" sz="2400" b="0" i="0" dirty="0">
                <a:effectLst/>
                <a:latin typeface="Nunito Sans" pitchFamily="2" charset="0"/>
              </a:rPr>
              <a:t>13 : Number of divisors are 1 and 13, total 2, 2 is prime. Included.</a:t>
            </a:r>
          </a:p>
          <a:p>
            <a:pPr algn="l"/>
            <a:r>
              <a:rPr lang="en-US" sz="2400" b="0" i="0" dirty="0">
                <a:effectLst/>
                <a:latin typeface="Nunito Sans" pitchFamily="2" charset="0"/>
              </a:rPr>
              <a:t>14 : Number of divisors are 1,2,7 and 14, total 4, 4 is not prime. Excluded.</a:t>
            </a:r>
          </a:p>
          <a:p>
            <a:pPr algn="l"/>
            <a:r>
              <a:rPr lang="en-US" sz="2400" b="0" i="0" dirty="0">
                <a:effectLst/>
                <a:latin typeface="Nunito Sans" pitchFamily="2" charset="0"/>
              </a:rPr>
              <a:t>15 : Number of divisors are 1,3,5 and 15, total 4, 4 is not prime. Excluded.</a:t>
            </a:r>
          </a:p>
          <a:p>
            <a:pPr algn="l"/>
            <a:r>
              <a:rPr lang="en-US" sz="2400" b="0" i="0" dirty="0">
                <a:effectLst/>
                <a:latin typeface="Nunito Sans" pitchFamily="2" charset="0"/>
              </a:rPr>
              <a:t>So, the total number of elements with a prime number of divisors is only 2 between 10 and 15.</a:t>
            </a:r>
          </a:p>
          <a:p>
            <a:pPr algn="l"/>
            <a:r>
              <a:rPr lang="en-US" sz="2400" b="0" i="0" dirty="0">
                <a:effectLst/>
                <a:latin typeface="Nunito Sans" pitchFamily="2" charset="0"/>
              </a:rPr>
              <a:t>Hence the answer is 2.</a:t>
            </a:r>
          </a:p>
          <a:p>
            <a:pPr algn="l"/>
            <a:r>
              <a:rPr lang="en-US" sz="2400" b="1" i="0" dirty="0">
                <a:effectLst/>
                <a:latin typeface="Nunito Sans" pitchFamily="2" charset="0"/>
              </a:rPr>
              <a:t>Example 1: </a:t>
            </a:r>
            <a:endParaRPr lang="en-US" sz="2400" b="0" i="0" dirty="0">
              <a:effectLst/>
              <a:latin typeface="Nunito Sans" pitchFamily="2" charset="0"/>
            </a:endParaRPr>
          </a:p>
          <a:p>
            <a:pPr algn="l"/>
            <a:r>
              <a:rPr lang="en-US" sz="2400" b="1" i="0" dirty="0">
                <a:effectLst/>
                <a:latin typeface="Nunito Sans" pitchFamily="2" charset="0"/>
              </a:rPr>
              <a:t>Input : </a:t>
            </a:r>
            <a:endParaRPr lang="en-US" sz="2400" b="0" i="0" dirty="0">
              <a:effectLst/>
              <a:latin typeface="Nunito Sans" pitchFamily="2" charset="0"/>
            </a:endParaRPr>
          </a:p>
          <a:p>
            <a:pPr algn="l"/>
            <a:r>
              <a:rPr lang="en-US" sz="2400" b="0" i="0" dirty="0">
                <a:effectLst/>
                <a:latin typeface="Nunito Sans" pitchFamily="2" charset="0"/>
              </a:rPr>
              <a:t>10 -&gt; Input integer, I</a:t>
            </a:r>
          </a:p>
          <a:p>
            <a:pPr algn="l"/>
            <a:r>
              <a:rPr lang="en-US" sz="2400" b="0" i="0" dirty="0">
                <a:effectLst/>
                <a:latin typeface="Nunito Sans" pitchFamily="2" charset="0"/>
              </a:rPr>
              <a:t>16 -&gt; Input integer, j</a:t>
            </a:r>
          </a:p>
          <a:p>
            <a:pPr algn="l"/>
            <a:r>
              <a:rPr lang="en-US" sz="2400" b="0" i="0" dirty="0">
                <a:effectLst/>
                <a:latin typeface="Nunito Sans" pitchFamily="2" charset="0"/>
              </a:rPr>
              <a:t>Output :</a:t>
            </a:r>
          </a:p>
          <a:p>
            <a:pPr algn="l"/>
            <a:r>
              <a:rPr lang="en-US" sz="2400" b="0" i="0" dirty="0">
                <a:effectLst/>
                <a:latin typeface="Nunito Sans" pitchFamily="2" charset="0"/>
              </a:rPr>
              <a:t>3-&gt; output</a:t>
            </a:r>
          </a:p>
        </p:txBody>
      </p:sp>
    </p:spTree>
    <p:extLst>
      <p:ext uri="{BB962C8B-B14F-4D97-AF65-F5344CB8AC3E}">
        <p14:creationId xmlns:p14="http://schemas.microsoft.com/office/powerpoint/2010/main" val="2806525997"/>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262979"/>
          </a:xfrm>
          <a:prstGeom prst="rect">
            <a:avLst/>
          </a:prstGeom>
          <a:noFill/>
        </p:spPr>
        <p:txBody>
          <a:bodyPr wrap="square">
            <a:spAutoFit/>
          </a:bodyPr>
          <a:lstStyle/>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In the abo scenario let’s check the number of divisors for each number from 10 to 16.</a:t>
            </a:r>
          </a:p>
          <a:p>
            <a:pPr algn="l"/>
            <a:r>
              <a:rPr lang="en-US" sz="2400" b="0" i="0" dirty="0">
                <a:effectLst/>
                <a:latin typeface="Nunito Sans" pitchFamily="2" charset="0"/>
              </a:rPr>
              <a:t>10: Number of divisors are 1,2,5 and 10. Total 4 and 4 is not prime. Excluded</a:t>
            </a:r>
          </a:p>
          <a:p>
            <a:pPr algn="l"/>
            <a:r>
              <a:rPr lang="en-US" sz="2400" b="0" i="0" dirty="0">
                <a:effectLst/>
                <a:latin typeface="Nunito Sans" pitchFamily="2" charset="0"/>
              </a:rPr>
              <a:t>11: Number of divisors are 1 and 11. Total 2 and 2 is prime. Included</a:t>
            </a:r>
          </a:p>
          <a:p>
            <a:pPr algn="l"/>
            <a:r>
              <a:rPr lang="en-US" sz="2400" b="0" i="0" dirty="0">
                <a:effectLst/>
                <a:latin typeface="Nunito Sans" pitchFamily="2" charset="0"/>
              </a:rPr>
              <a:t>10: Number of divisors are 1,2,3,4,6 and 12. Total 5 and 5 is not prime. Excluded</a:t>
            </a:r>
          </a:p>
          <a:p>
            <a:pPr algn="l"/>
            <a:r>
              <a:rPr lang="en-US" sz="2400" b="0" i="0" dirty="0">
                <a:effectLst/>
                <a:latin typeface="Nunito Sans" pitchFamily="2" charset="0"/>
              </a:rPr>
              <a:t>13: Number of divisors are 1 and 13. Total 2 and 2 is prime. Included</a:t>
            </a:r>
          </a:p>
          <a:p>
            <a:pPr algn="l"/>
            <a:r>
              <a:rPr lang="en-US" sz="2400" b="0" i="0" dirty="0">
                <a:effectLst/>
                <a:latin typeface="Nunito Sans" pitchFamily="2" charset="0"/>
              </a:rPr>
              <a:t>14: Number of divisors are 1,2,7 and 14. Total 4 and 4 is not prime. Excluded</a:t>
            </a:r>
          </a:p>
          <a:p>
            <a:pPr algn="l"/>
            <a:r>
              <a:rPr lang="en-US" sz="2400" b="0" i="0" dirty="0">
                <a:effectLst/>
                <a:latin typeface="Nunito Sans" pitchFamily="2" charset="0"/>
              </a:rPr>
              <a:t>15: Number of divisors are 1,3,5 and 15. Total 4 and 4 is not prime. Excluded</a:t>
            </a:r>
          </a:p>
          <a:p>
            <a:pPr algn="l"/>
            <a:r>
              <a:rPr lang="en-US" sz="2400" b="0" i="0" dirty="0">
                <a:effectLst/>
                <a:latin typeface="Nunito Sans" pitchFamily="2" charset="0"/>
              </a:rPr>
              <a:t>•</a:t>
            </a:r>
            <a:r>
              <a:rPr lang="en-US" sz="2400" b="1" i="0" dirty="0">
                <a:effectLst/>
                <a:latin typeface="Nunito Sans" pitchFamily="2" charset="0"/>
              </a:rPr>
              <a:t>Example 2:</a:t>
            </a:r>
            <a:endParaRPr lang="en-US" sz="2400" b="0" i="0" dirty="0">
              <a:effectLst/>
              <a:latin typeface="Nunito Sans" pitchFamily="2" charset="0"/>
            </a:endParaRPr>
          </a:p>
          <a:p>
            <a:pPr algn="l"/>
            <a:r>
              <a:rPr lang="en-US" sz="2400" b="0" i="0" dirty="0">
                <a:effectLst/>
                <a:latin typeface="Nunito Sans" pitchFamily="2" charset="0"/>
              </a:rPr>
              <a:t>•</a:t>
            </a:r>
            <a:r>
              <a:rPr lang="en-US" sz="2400" b="1" i="0" dirty="0">
                <a:effectLst/>
                <a:latin typeface="Nunito Sans" pitchFamily="2" charset="0"/>
              </a:rPr>
              <a:t>Input :</a:t>
            </a:r>
            <a:endParaRPr lang="en-US" sz="2400" b="0" i="0" dirty="0">
              <a:effectLst/>
              <a:latin typeface="Nunito Sans" pitchFamily="2" charset="0"/>
            </a:endParaRPr>
          </a:p>
          <a:p>
            <a:pPr algn="l"/>
            <a:r>
              <a:rPr lang="en-US" sz="2400" b="0" i="0" dirty="0">
                <a:effectLst/>
                <a:latin typeface="Nunito Sans" pitchFamily="2" charset="0"/>
              </a:rPr>
              <a:t>•32 -&gt; Input integer, I</a:t>
            </a:r>
          </a:p>
          <a:p>
            <a:pPr algn="l"/>
            <a:r>
              <a:rPr lang="en-US" sz="2400" b="0" i="0" dirty="0">
                <a:effectLst/>
                <a:latin typeface="Nunito Sans" pitchFamily="2" charset="0"/>
              </a:rPr>
              <a:t>•40 -&gt; Input integer, j</a:t>
            </a:r>
          </a:p>
          <a:p>
            <a:pPr algn="l"/>
            <a:r>
              <a:rPr lang="en-US" sz="2400" b="0" i="0" dirty="0">
                <a:effectLst/>
                <a:latin typeface="Nunito Sans" pitchFamily="2" charset="0"/>
              </a:rPr>
              <a:t>•Output :</a:t>
            </a:r>
          </a:p>
          <a:p>
            <a:pPr algn="l"/>
            <a:r>
              <a:rPr lang="en-US" sz="2400" b="0" i="0" dirty="0">
                <a:effectLst/>
                <a:latin typeface="Nunito Sans" pitchFamily="2" charset="0"/>
              </a:rPr>
              <a:t>•1  -&gt; output</a:t>
            </a:r>
          </a:p>
        </p:txBody>
      </p:sp>
    </p:spTree>
    <p:extLst>
      <p:ext uri="{BB962C8B-B14F-4D97-AF65-F5344CB8AC3E}">
        <p14:creationId xmlns:p14="http://schemas.microsoft.com/office/powerpoint/2010/main" val="2588089920"/>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154984"/>
          </a:xfrm>
          <a:prstGeom prst="rect">
            <a:avLst/>
          </a:prstGeom>
          <a:noFill/>
        </p:spPr>
        <p:txBody>
          <a:bodyPr wrap="square">
            <a:spAutoFit/>
          </a:bodyPr>
          <a:lstStyle/>
          <a:p>
            <a:pPr algn="l"/>
            <a:r>
              <a:rPr lang="en-US" sz="2400" b="1" i="0" dirty="0" err="1">
                <a:effectLst/>
                <a:latin typeface="Nunito Sans" pitchFamily="2" charset="0"/>
              </a:rPr>
              <a:t>Explanation:</a:t>
            </a:r>
            <a:r>
              <a:rPr lang="en-US" sz="2400" b="0" i="0" dirty="0" err="1">
                <a:effectLst/>
                <a:latin typeface="Nunito Sans" pitchFamily="2" charset="0"/>
              </a:rPr>
              <a:t>In</a:t>
            </a:r>
            <a:r>
              <a:rPr lang="en-US" sz="2400" b="0" i="0" dirty="0">
                <a:effectLst/>
                <a:latin typeface="Nunito Sans" pitchFamily="2" charset="0"/>
              </a:rPr>
              <a:t> the abo scenario let’s check the number of divisors for each number from 32 to 40.</a:t>
            </a:r>
          </a:p>
          <a:p>
            <a:pPr algn="l"/>
            <a:r>
              <a:rPr lang="en-US" sz="2400" b="0" i="0" dirty="0">
                <a:effectLst/>
                <a:latin typeface="Nunito Sans" pitchFamily="2" charset="0"/>
              </a:rPr>
              <a:t>32: Number of divisors are 1,2,4,8,16 and 32. Total 6 and 6 is not prime. Excluded</a:t>
            </a:r>
          </a:p>
          <a:p>
            <a:pPr algn="l"/>
            <a:r>
              <a:rPr lang="en-US" sz="2400" b="0" i="0" dirty="0">
                <a:effectLst/>
                <a:latin typeface="Nunito Sans" pitchFamily="2" charset="0"/>
              </a:rPr>
              <a:t>33: Number of divisors are 1,3,11 and 33. Total 4 and 4 is not prime. Excluded</a:t>
            </a:r>
          </a:p>
          <a:p>
            <a:pPr algn="l"/>
            <a:r>
              <a:rPr lang="en-US" sz="2400" b="0" i="0" dirty="0">
                <a:effectLst/>
                <a:latin typeface="Nunito Sans" pitchFamily="2" charset="0"/>
              </a:rPr>
              <a:t>34: Number of divisors are 1,2,17 and 34. Total 4 and 4 is not prime. Excluded</a:t>
            </a:r>
          </a:p>
          <a:p>
            <a:pPr algn="l"/>
            <a:r>
              <a:rPr lang="en-US" sz="2400" b="0" i="0" dirty="0">
                <a:effectLst/>
                <a:latin typeface="Nunito Sans" pitchFamily="2" charset="0"/>
              </a:rPr>
              <a:t>35: Number of divisors are 1,5,7 and 35. Total 4 and 4 is not prime. Excluded</a:t>
            </a:r>
          </a:p>
          <a:p>
            <a:pPr algn="l"/>
            <a:r>
              <a:rPr lang="en-US" sz="2400" b="0" i="0" dirty="0">
                <a:effectLst/>
                <a:latin typeface="Nunito Sans" pitchFamily="2" charset="0"/>
              </a:rPr>
              <a:t>36: Number of divisors are 1,2,3,4,6,9,12,18 and 36. Total 9 and 9 is not </a:t>
            </a:r>
            <a:r>
              <a:rPr lang="en-US" sz="2400" b="0" i="0" dirty="0" err="1">
                <a:effectLst/>
                <a:latin typeface="Nunito Sans" pitchFamily="2" charset="0"/>
              </a:rPr>
              <a:t>prime.Excluded</a:t>
            </a:r>
            <a:endParaRPr lang="en-US" sz="2400" b="0" i="0" dirty="0">
              <a:effectLst/>
              <a:latin typeface="Nunito Sans" pitchFamily="2" charset="0"/>
            </a:endParaRPr>
          </a:p>
          <a:p>
            <a:pPr algn="l"/>
            <a:r>
              <a:rPr lang="en-US" sz="2400" b="0" i="0" dirty="0">
                <a:effectLst/>
                <a:latin typeface="Nunito Sans" pitchFamily="2" charset="0"/>
              </a:rPr>
              <a:t>37: Number of divisors are 1 and 37. Total 2 and 2 is prime. Included.</a:t>
            </a:r>
          </a:p>
          <a:p>
            <a:pPr algn="l"/>
            <a:r>
              <a:rPr lang="en-US" sz="2400" b="0" i="0" dirty="0">
                <a:effectLst/>
                <a:latin typeface="Nunito Sans" pitchFamily="2" charset="0"/>
              </a:rPr>
              <a:t>38: Number of divisors are 1,2,19 and 38. Total 4 and 4 is not prime. Excluded</a:t>
            </a:r>
          </a:p>
          <a:p>
            <a:pPr algn="l"/>
            <a:r>
              <a:rPr lang="en-US" sz="2400" b="0" i="0" dirty="0">
                <a:effectLst/>
                <a:latin typeface="Nunito Sans" pitchFamily="2" charset="0"/>
              </a:rPr>
              <a:t>39: Number of divisors are 1,3,13 and 39. Total 4 and 4 is not prime. Excluded</a:t>
            </a:r>
          </a:p>
        </p:txBody>
      </p:sp>
    </p:spTree>
    <p:extLst>
      <p:ext uri="{BB962C8B-B14F-4D97-AF65-F5344CB8AC3E}">
        <p14:creationId xmlns:p14="http://schemas.microsoft.com/office/powerpoint/2010/main" val="2271737361"/>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3785652"/>
          </a:xfrm>
          <a:prstGeom prst="rect">
            <a:avLst/>
          </a:prstGeom>
          <a:noFill/>
        </p:spPr>
        <p:txBody>
          <a:bodyPr wrap="square">
            <a:spAutoFit/>
          </a:bodyPr>
          <a:lstStyle/>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•1&lt;=</a:t>
            </a:r>
            <a:r>
              <a:rPr lang="en-US" sz="2400" b="0" i="0" dirty="0" err="1">
                <a:effectLst/>
                <a:latin typeface="Nunito Sans" pitchFamily="2" charset="0"/>
              </a:rPr>
              <a:t>i</a:t>
            </a:r>
            <a:r>
              <a:rPr lang="en-US" sz="2400" b="0" i="0" dirty="0">
                <a:effectLst/>
                <a:latin typeface="Nunito Sans" pitchFamily="2" charset="0"/>
              </a:rPr>
              <a:t>&lt;j&lt;=100000</a:t>
            </a:r>
          </a:p>
          <a:p>
            <a:pPr algn="l"/>
            <a:r>
              <a:rPr lang="en-US" sz="2400" b="0" i="0" dirty="0">
                <a:effectLst/>
                <a:latin typeface="Nunito Sans" pitchFamily="2" charset="0"/>
              </a:rPr>
              <a:t>•Only integers</a:t>
            </a:r>
          </a:p>
          <a:p>
            <a:pPr algn="l"/>
            <a:r>
              <a:rPr lang="en-US" sz="2400" b="0" i="0" dirty="0">
                <a:effectLst/>
                <a:latin typeface="Nunito Sans" pitchFamily="2" charset="0"/>
              </a:rPr>
              <a:t>The candidate has to write the court to accept 2 inputs:</a:t>
            </a:r>
          </a:p>
          <a:p>
            <a:pPr algn="l"/>
            <a:r>
              <a:rPr lang="en-US" sz="2400" b="0" i="0" dirty="0">
                <a:effectLst/>
                <a:latin typeface="Nunito Sans" pitchFamily="2" charset="0"/>
              </a:rPr>
              <a:t>First input accept value of integer</a:t>
            </a:r>
          </a:p>
          <a:p>
            <a:pPr algn="l"/>
            <a:r>
              <a:rPr lang="en-US" sz="2400" b="0" i="0" dirty="0">
                <a:effectLst/>
                <a:latin typeface="Nunito Sans" pitchFamily="2" charset="0"/>
              </a:rPr>
              <a:t>Second input accept value of integer.</a:t>
            </a:r>
          </a:p>
          <a:p>
            <a:pPr algn="l"/>
            <a:r>
              <a:rPr lang="en-US" sz="2400" b="1" i="0" dirty="0">
                <a:effectLst/>
                <a:latin typeface="Nunito Sans" pitchFamily="2" charset="0"/>
              </a:rPr>
              <a:t>Instructions:</a:t>
            </a:r>
            <a:endParaRPr lang="en-US" sz="2400" b="0" i="0" dirty="0">
              <a:effectLst/>
              <a:latin typeface="Nunito Sans" pitchFamily="2" charset="0"/>
            </a:endParaRPr>
          </a:p>
          <a:p>
            <a:pPr algn="l"/>
            <a:r>
              <a:rPr lang="en-US" sz="2400" b="0" i="0" dirty="0">
                <a:effectLst/>
                <a:latin typeface="Nunito Sans" pitchFamily="2" charset="0"/>
              </a:rPr>
              <a:t>•System does not allow any kind of hard coded input value/values.</a:t>
            </a:r>
          </a:p>
          <a:p>
            <a:pPr algn="l"/>
            <a:r>
              <a:rPr lang="en-US" sz="2400" b="0" i="0" dirty="0">
                <a:effectLst/>
                <a:latin typeface="Nunito Sans" pitchFamily="2" charset="0"/>
              </a:rPr>
              <a:t>•Return </a:t>
            </a:r>
            <a:r>
              <a:rPr lang="en-US" sz="2400" b="0" i="0" dirty="0" err="1">
                <a:effectLst/>
                <a:latin typeface="Nunito Sans" pitchFamily="2" charset="0"/>
              </a:rPr>
              <a:t>programme</a:t>
            </a:r>
            <a:r>
              <a:rPr lang="en-US" sz="2400" b="0" i="0" dirty="0">
                <a:effectLst/>
                <a:latin typeface="Nunito Sans" pitchFamily="2" charset="0"/>
              </a:rPr>
              <a:t> code by the candidate will be verified against the inputs which are supplied from the system</a:t>
            </a:r>
          </a:p>
        </p:txBody>
      </p:sp>
    </p:spTree>
    <p:extLst>
      <p:ext uri="{BB962C8B-B14F-4D97-AF65-F5344CB8AC3E}">
        <p14:creationId xmlns:p14="http://schemas.microsoft.com/office/powerpoint/2010/main" val="4223347320"/>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math.h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isPrime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calculateDiscount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66208189"/>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divisors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divisors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isPrime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divisors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 %d"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discount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calculateDiscount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discount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US" sz="2000" dirty="0">
                <a:solidFill>
                  <a:srgbClr val="D4D4D4"/>
                </a:solidFill>
                <a:latin typeface="Nunito Sans" pitchFamily="2" charset="0"/>
              </a:rPr>
              <a:t>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526929568"/>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cmath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isPrime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calculateDiscount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341764096"/>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divisors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divisors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isPrime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divisors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discount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calculateDiscount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discount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 }</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7839849"/>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isPrime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calculateDiscount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743790349"/>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divisors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divisor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divisors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isPrime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divisors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discount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calculateDiscount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789066863"/>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discount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66277368"/>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isPrime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n &lt;=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B5CEA8"/>
                </a:solidFill>
                <a:effectLst/>
                <a:latin typeface="Nunito Sans" pitchFamily="2" charset="0"/>
              </a:rPr>
              <a:t>0.5</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n %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calculateDiscount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divisors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divisor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 divisor ==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divisors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isPrime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divisors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p>
          <a:p>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j=</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discount = </a:t>
            </a:r>
            <a:r>
              <a:rPr lang="en-IN" sz="2000" b="0" dirty="0" err="1">
                <a:solidFill>
                  <a:srgbClr val="D4D4D4"/>
                </a:solidFill>
                <a:effectLst/>
                <a:latin typeface="Nunito Sans" pitchFamily="2" charset="0"/>
              </a:rPr>
              <a:t>calculateDiscount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discount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14418965"/>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893647"/>
          </a:xfrm>
          <a:prstGeom prst="rect">
            <a:avLst/>
          </a:prstGeom>
          <a:noFill/>
        </p:spPr>
        <p:txBody>
          <a:bodyPr wrap="square">
            <a:spAutoFit/>
          </a:bodyPr>
          <a:lstStyle/>
          <a:p>
            <a:pPr algn="l"/>
            <a:r>
              <a:rPr lang="en-US" sz="2400" b="0" i="0" dirty="0">
                <a:effectLst/>
                <a:latin typeface="Nunito Sans" pitchFamily="2" charset="0"/>
              </a:rPr>
              <a:t>You are given an Array ‘</a:t>
            </a:r>
            <a:r>
              <a:rPr lang="en-US" sz="2400" b="0" i="0" dirty="0" err="1">
                <a:effectLst/>
                <a:latin typeface="Nunito Sans" pitchFamily="2" charset="0"/>
              </a:rPr>
              <a:t>Arr</a:t>
            </a:r>
            <a:r>
              <a:rPr lang="en-US" sz="2400" b="0" i="0" dirty="0">
                <a:effectLst/>
                <a:latin typeface="Nunito Sans" pitchFamily="2" charset="0"/>
              </a:rPr>
              <a:t>’ of ‘N’ positive integers. You need to convert the given array ‘</a:t>
            </a:r>
            <a:r>
              <a:rPr lang="en-US" sz="2400" b="0" i="0" dirty="0" err="1">
                <a:effectLst/>
                <a:latin typeface="Nunito Sans" pitchFamily="2" charset="0"/>
              </a:rPr>
              <a:t>Arr</a:t>
            </a:r>
            <a:r>
              <a:rPr lang="en-US" sz="2400" b="0" i="0" dirty="0">
                <a:effectLst/>
                <a:latin typeface="Nunito Sans" pitchFamily="2" charset="0"/>
              </a:rPr>
              <a:t>’ to Zero-Array.</a:t>
            </a:r>
          </a:p>
          <a:p>
            <a:pPr algn="l"/>
            <a:r>
              <a:rPr lang="en-US" sz="2400" b="0" i="0" dirty="0">
                <a:effectLst/>
                <a:latin typeface="Nunito Sans" pitchFamily="2" charset="0"/>
              </a:rPr>
              <a:t>An Array ‘A’ is know as Zero-Array if the bitwise AND (&amp;) of all the elements of the array is Zero.</a:t>
            </a:r>
          </a:p>
          <a:p>
            <a:pPr algn="l"/>
            <a:r>
              <a:rPr lang="en-US" sz="2400" b="0" i="0" dirty="0">
                <a:effectLst/>
                <a:latin typeface="Nunito Sans" pitchFamily="2" charset="0"/>
              </a:rPr>
              <a:t>In other words, Array ‘A’ with length ‘L’ is known as Zero –Array if A[0] &amp; A[1] &amp; A[2]………&amp; A[L] = 0.</a:t>
            </a:r>
          </a:p>
          <a:p>
            <a:pPr algn="l"/>
            <a:r>
              <a:rPr lang="en-US" sz="2400" b="0" i="0" dirty="0">
                <a:effectLst/>
                <a:latin typeface="Nunito Sans" pitchFamily="2" charset="0"/>
              </a:rPr>
              <a:t>For example array [1,2,3]is a Zero-Array, you can perform the following move any number of times:</a:t>
            </a:r>
          </a:p>
          <a:p>
            <a:pPr algn="l"/>
            <a:r>
              <a:rPr lang="en-US" sz="2400" b="0" i="0" dirty="0">
                <a:effectLst/>
                <a:latin typeface="Nunito Sans" pitchFamily="2" charset="0"/>
              </a:rPr>
              <a:t>•Choose any array elements from Array ‘</a:t>
            </a:r>
            <a:r>
              <a:rPr lang="en-US" sz="2400" b="0" i="0" dirty="0" err="1">
                <a:effectLst/>
                <a:latin typeface="Nunito Sans" pitchFamily="2" charset="0"/>
              </a:rPr>
              <a:t>Arr</a:t>
            </a:r>
            <a:r>
              <a:rPr lang="en-US" sz="2400" b="0" i="0" dirty="0">
                <a:effectLst/>
                <a:latin typeface="Nunito Sans" pitchFamily="2" charset="0"/>
              </a:rPr>
              <a:t>’, say </a:t>
            </a:r>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 and flip exactly one bit in </a:t>
            </a:r>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 (Flipping a bit means if the bit is 1 then covert it to 0 and if the bit is 0 then convert it to 1)</a:t>
            </a:r>
          </a:p>
          <a:p>
            <a:pPr algn="l"/>
            <a:r>
              <a:rPr lang="en-US" sz="2400" b="0" i="0" dirty="0">
                <a:effectLst/>
                <a:latin typeface="Nunito Sans" pitchFamily="2" charset="0"/>
              </a:rPr>
              <a:t>•You need to find the minimum number of moves to convert the given array ‘</a:t>
            </a:r>
            <a:r>
              <a:rPr lang="en-US" sz="2400" b="0" i="0" dirty="0" err="1">
                <a:effectLst/>
                <a:latin typeface="Nunito Sans" pitchFamily="2" charset="0"/>
              </a:rPr>
              <a:t>Arr</a:t>
            </a:r>
            <a:r>
              <a:rPr lang="en-US" sz="2400" b="0" i="0" dirty="0">
                <a:effectLst/>
                <a:latin typeface="Nunito Sans" pitchFamily="2" charset="0"/>
              </a:rPr>
              <a:t>’ to Zero-Array .</a:t>
            </a:r>
          </a:p>
        </p:txBody>
      </p:sp>
    </p:spTree>
    <p:extLst>
      <p:ext uri="{BB962C8B-B14F-4D97-AF65-F5344CB8AC3E}">
        <p14:creationId xmlns:p14="http://schemas.microsoft.com/office/powerpoint/2010/main" val="972090766"/>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524315"/>
          </a:xfrm>
          <a:prstGeom prst="rect">
            <a:avLst/>
          </a:prstGeom>
          <a:noFill/>
        </p:spPr>
        <p:txBody>
          <a:bodyPr wrap="square">
            <a:spAutoFit/>
          </a:bodyPr>
          <a:lstStyle/>
          <a:p>
            <a:pPr algn="l"/>
            <a:r>
              <a:rPr lang="en-US" sz="2400" b="1" i="0" dirty="0">
                <a:effectLst/>
                <a:latin typeface="Nunito Sans" pitchFamily="2" charset="0"/>
              </a:rPr>
              <a:t>The input format for testing</a:t>
            </a:r>
            <a:endParaRPr lang="en-US" sz="2400" b="0" i="0" dirty="0">
              <a:effectLst/>
              <a:latin typeface="Nunito Sans" pitchFamily="2" charset="0"/>
            </a:endParaRPr>
          </a:p>
          <a:p>
            <a:pPr algn="l"/>
            <a:r>
              <a:rPr lang="en-US" sz="2400" b="0" i="0" dirty="0">
                <a:effectLst/>
                <a:latin typeface="Nunito Sans" pitchFamily="2" charset="0"/>
              </a:rPr>
              <a:t>First Line Contains a positive Integer N (Size of the array)</a:t>
            </a:r>
          </a:p>
          <a:p>
            <a:pPr algn="l"/>
            <a:r>
              <a:rPr lang="en-US" sz="2400" b="0" i="0" dirty="0">
                <a:effectLst/>
                <a:latin typeface="Nunito Sans" pitchFamily="2" charset="0"/>
              </a:rPr>
              <a:t>Next Line Contains N space-separated positive integers</a:t>
            </a:r>
          </a:p>
          <a:p>
            <a:pPr algn="l"/>
            <a:r>
              <a:rPr lang="en-US" sz="2400" b="1" i="0" dirty="0">
                <a:effectLst/>
                <a:latin typeface="Nunito Sans" pitchFamily="2" charset="0"/>
              </a:rPr>
              <a:t>The Output format for testing:</a:t>
            </a:r>
            <a:endParaRPr lang="en-US" sz="2400" b="0" i="0" dirty="0">
              <a:effectLst/>
              <a:latin typeface="Nunito Sans" pitchFamily="2" charset="0"/>
            </a:endParaRPr>
          </a:p>
          <a:p>
            <a:pPr algn="l"/>
            <a:r>
              <a:rPr lang="en-US" sz="2400" b="0" i="0" dirty="0">
                <a:effectLst/>
                <a:latin typeface="Nunito Sans" pitchFamily="2" charset="0"/>
              </a:rPr>
              <a:t>The output is an integer value as per above logic. (Check the output in Example 1, Example 2).</a:t>
            </a:r>
          </a:p>
          <a:p>
            <a:pPr algn="l"/>
            <a:r>
              <a:rPr lang="en-US" sz="2400" b="0" i="0" dirty="0">
                <a:effectLst/>
                <a:latin typeface="Nunito Sans" pitchFamily="2" charset="0"/>
              </a:rPr>
              <a:t>Additional messages in output will cause the failure of test cases.</a:t>
            </a:r>
          </a:p>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N==Length of Array ‘</a:t>
            </a:r>
            <a:r>
              <a:rPr lang="en-US" sz="2400" b="0" i="0" dirty="0" err="1">
                <a:effectLst/>
                <a:latin typeface="Nunito Sans" pitchFamily="2" charset="0"/>
              </a:rPr>
              <a:t>Arr</a:t>
            </a:r>
            <a:r>
              <a:rPr lang="en-US" sz="2400" b="0" i="0" dirty="0">
                <a:effectLst/>
                <a:latin typeface="Nunito Sans" pitchFamily="2" charset="0"/>
              </a:rPr>
              <a:t>’</a:t>
            </a:r>
          </a:p>
          <a:p>
            <a:pPr algn="l"/>
            <a:r>
              <a:rPr lang="en-US" sz="2400" b="0" i="0" dirty="0">
                <a:effectLst/>
                <a:latin typeface="Nunito Sans" pitchFamily="2" charset="0"/>
              </a:rPr>
              <a:t>1&lt;=N&lt;= 1000</a:t>
            </a:r>
          </a:p>
          <a:p>
            <a:pPr algn="l"/>
            <a:r>
              <a:rPr lang="en-US" sz="2400" b="0" i="0" dirty="0">
                <a:effectLst/>
                <a:latin typeface="Nunito Sans" pitchFamily="2" charset="0"/>
              </a:rPr>
              <a:t>1&lt;=</a:t>
            </a:r>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]&lt;= 10000,</a:t>
            </a:r>
          </a:p>
          <a:p>
            <a:pPr algn="l"/>
            <a:r>
              <a:rPr lang="en-US" sz="2400" b="0" i="0" dirty="0">
                <a:effectLst/>
                <a:latin typeface="Nunito Sans" pitchFamily="2" charset="0"/>
              </a:rPr>
              <a:t>for all valid (0 &lt;=</a:t>
            </a:r>
            <a:r>
              <a:rPr lang="en-US" sz="2400" b="0" i="0" dirty="0" err="1">
                <a:effectLst/>
                <a:latin typeface="Nunito Sans" pitchFamily="2" charset="0"/>
              </a:rPr>
              <a:t>i</a:t>
            </a:r>
            <a:r>
              <a:rPr lang="en-US" sz="2400" b="0" i="0" dirty="0">
                <a:effectLst/>
                <a:latin typeface="Nunito Sans" pitchFamily="2" charset="0"/>
              </a:rPr>
              <a:t>&lt;=N-1) </a:t>
            </a:r>
          </a:p>
        </p:txBody>
      </p:sp>
    </p:spTree>
    <p:extLst>
      <p:ext uri="{BB962C8B-B14F-4D97-AF65-F5344CB8AC3E}">
        <p14:creationId xmlns:p14="http://schemas.microsoft.com/office/powerpoint/2010/main" val="3531076110"/>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3416320"/>
          </a:xfrm>
          <a:prstGeom prst="rect">
            <a:avLst/>
          </a:prstGeom>
          <a:noFill/>
        </p:spPr>
        <p:txBody>
          <a:bodyPr wrap="square">
            <a:spAutoFit/>
          </a:bodyPr>
          <a:lstStyle/>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5 -&gt; N (size of the array)</a:t>
            </a:r>
          </a:p>
          <a:p>
            <a:pPr algn="l"/>
            <a:r>
              <a:rPr lang="en-US" sz="2400" b="0" i="0" dirty="0">
                <a:effectLst/>
                <a:latin typeface="Nunito Sans" pitchFamily="2" charset="0"/>
              </a:rPr>
              <a:t>10 11 13 5 3 -&gt; Array ‘</a:t>
            </a:r>
            <a:r>
              <a:rPr lang="en-US" sz="2400" b="0" i="0" dirty="0" err="1">
                <a:effectLst/>
                <a:latin typeface="Nunito Sans" pitchFamily="2" charset="0"/>
              </a:rPr>
              <a:t>Arr</a:t>
            </a:r>
            <a:r>
              <a:rPr lang="en-US" sz="2400" b="0" i="0" dirty="0">
                <a:effectLst/>
                <a:latin typeface="Nunito Sans" pitchFamily="2" charset="0"/>
              </a:rPr>
              <a:t>’ (Elements of the array will be space separated</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0</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The given array is already a zero Array since 10 &amp; 11 &amp; 13 &amp; 5 &amp; 3 = 0.</a:t>
            </a:r>
          </a:p>
          <a:p>
            <a:pPr algn="l"/>
            <a:r>
              <a:rPr lang="en-US" sz="2400" b="0" i="0" dirty="0" err="1">
                <a:effectLst/>
                <a:latin typeface="Nunito Sans" pitchFamily="2" charset="0"/>
              </a:rPr>
              <a:t>So,minimum</a:t>
            </a:r>
            <a:r>
              <a:rPr lang="en-US" sz="2400" b="0" i="0" dirty="0">
                <a:effectLst/>
                <a:latin typeface="Nunito Sans" pitchFamily="2" charset="0"/>
              </a:rPr>
              <a:t> number of moves required are 0.</a:t>
            </a:r>
          </a:p>
        </p:txBody>
      </p:sp>
    </p:spTree>
    <p:extLst>
      <p:ext uri="{BB962C8B-B14F-4D97-AF65-F5344CB8AC3E}">
        <p14:creationId xmlns:p14="http://schemas.microsoft.com/office/powerpoint/2010/main" val="1237659356"/>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err="1">
                <a:solidFill>
                  <a:srgbClr val="CE9178"/>
                </a:solidFill>
                <a:effectLst/>
                <a:latin typeface="Nunito Sans" pitchFamily="2" charset="0"/>
              </a:rPr>
              <a:t>stdio.h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size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elements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Initialize the bitwise AND with the first element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bitwise AND of all elements in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Count the number of set bits in the bitwise AND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786230742"/>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Print the minimum number of moves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11909290"/>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a:solidFill>
                  <a:srgbClr val="CE9178"/>
                </a:solidFill>
                <a:effectLst/>
                <a:latin typeface="Nunito Sans" pitchFamily="2" charset="0"/>
              </a:rPr>
              <a:t>iostream</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using</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namespace</a:t>
            </a:r>
            <a:r>
              <a:rPr lang="en-US" sz="2000" b="0" dirty="0">
                <a:solidFill>
                  <a:srgbClr val="D4D4D4"/>
                </a:solidFill>
                <a:effectLst/>
                <a:latin typeface="Nunito Sans" pitchFamily="2" charset="0"/>
              </a:rPr>
              <a:t> std</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size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elements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Initialize the bitwise AND with the first element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bitwise AND of all elements in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Count the number of set bits in the bitwise AND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37115908"/>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&lt;&lt;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Print the minimum number of moves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12981526"/>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import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java</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util</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Scanner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class</a:t>
            </a:r>
            <a:r>
              <a:rPr lang="en-US" sz="2000" b="0" dirty="0">
                <a:solidFill>
                  <a:srgbClr val="D4D4D4"/>
                </a:solidFill>
                <a:effectLst/>
                <a:latin typeface="Nunito Sans" pitchFamily="2" charset="0"/>
              </a:rPr>
              <a:t> Main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static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void</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String</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args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Scanner </a:t>
            </a:r>
            <a:r>
              <a:rPr lang="en-US" sz="2000" b="0" dirty="0" err="1">
                <a:solidFill>
                  <a:srgbClr val="D4D4D4"/>
                </a:solidFill>
                <a:effectLst/>
                <a:latin typeface="Nunito Sans" pitchFamily="2" charset="0"/>
              </a:rPr>
              <a:t>scanner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new</a:t>
            </a:r>
            <a:r>
              <a:rPr lang="en-US" sz="2000" b="0" dirty="0">
                <a:solidFill>
                  <a:srgbClr val="D4D4D4"/>
                </a:solidFill>
                <a:effectLst/>
                <a:latin typeface="Nunito Sans" pitchFamily="2" charset="0"/>
              </a:rPr>
              <a:t> Scanner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System</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scanner</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nextInt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size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new</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scanner</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nextInt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elements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bitwise AND of all elements in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Count the number of set bits in the bitwise AND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099471857"/>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bitwiseAnd</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minMoves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bitwiseAnd</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minMoves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Print the minimum number of moves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07770884"/>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size of the array</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Arr</a:t>
            </a:r>
            <a:r>
              <a:rPr lang="en-US" sz="2000" b="0" dirty="0">
                <a:solidFill>
                  <a:srgbClr val="D4D4D4"/>
                </a:solidFill>
                <a:effectLst/>
                <a:latin typeface="Nunito Sans" pitchFamily="2" charset="0"/>
              </a:rPr>
              <a:t> = </a:t>
            </a:r>
            <a:r>
              <a:rPr lang="en-US" sz="2000" b="0" dirty="0">
                <a:solidFill>
                  <a:srgbClr val="569CD6"/>
                </a:solidFill>
                <a:effectLst/>
                <a:latin typeface="Nunito Sans" pitchFamily="2" charset="0"/>
              </a:rPr>
              <a:t>list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map</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.split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elements of the array</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Initialize the bitwise AND with the first element</a:t>
            </a:r>
            <a:endParaRPr lang="en-US" sz="2000" b="0" dirty="0">
              <a:solidFill>
                <a:srgbClr val="D4D4D4"/>
              </a:solidFill>
              <a:effectLst/>
              <a:latin typeface="Nunito Sans" pitchFamily="2" charset="0"/>
            </a:endParaRPr>
          </a:p>
          <a:p>
            <a:r>
              <a:rPr lang="en-US" sz="2000" b="0" dirty="0">
                <a:solidFill>
                  <a:srgbClr val="608B4E"/>
                </a:solidFill>
                <a:effectLst/>
                <a:latin typeface="Nunito Sans" pitchFamily="2" charset="0"/>
              </a:rPr>
              <a:t># Calculate the bitwise AND of all elements in the array</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&amp;=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608B4E"/>
                </a:solidFill>
                <a:effectLst/>
                <a:latin typeface="Nunito Sans" pitchFamily="2" charset="0"/>
              </a:rPr>
              <a:t># Count the number of set bits in the bitwise AND</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&amp;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&gt;&gt;=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Print the minimum number of moves</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853887652"/>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893647"/>
          </a:xfrm>
          <a:prstGeom prst="rect">
            <a:avLst/>
          </a:prstGeom>
          <a:noFill/>
        </p:spPr>
        <p:txBody>
          <a:bodyPr wrap="square">
            <a:spAutoFit/>
          </a:bodyPr>
          <a:lstStyle/>
          <a:p>
            <a:pPr algn="l"/>
            <a:r>
              <a:rPr lang="en-US" sz="2400" b="0" i="0" dirty="0">
                <a:effectLst/>
                <a:latin typeface="Nunito Sans" pitchFamily="2" charset="0"/>
              </a:rPr>
              <a:t>You are given an Array ‘</a:t>
            </a:r>
            <a:r>
              <a:rPr lang="en-US" sz="2400" b="0" i="0" dirty="0" err="1">
                <a:effectLst/>
                <a:latin typeface="Nunito Sans" pitchFamily="2" charset="0"/>
              </a:rPr>
              <a:t>Arr</a:t>
            </a:r>
            <a:r>
              <a:rPr lang="en-US" sz="2400" b="0" i="0" dirty="0">
                <a:effectLst/>
                <a:latin typeface="Nunito Sans" pitchFamily="2" charset="0"/>
              </a:rPr>
              <a:t>’ of ‘N’ positive integers. You need to convert the given array ‘</a:t>
            </a:r>
            <a:r>
              <a:rPr lang="en-US" sz="2400" b="0" i="0" dirty="0" err="1">
                <a:effectLst/>
                <a:latin typeface="Nunito Sans" pitchFamily="2" charset="0"/>
              </a:rPr>
              <a:t>Arr</a:t>
            </a:r>
            <a:r>
              <a:rPr lang="en-US" sz="2400" b="0" i="0" dirty="0">
                <a:effectLst/>
                <a:latin typeface="Nunito Sans" pitchFamily="2" charset="0"/>
              </a:rPr>
              <a:t>’ to Zero-Array.</a:t>
            </a:r>
          </a:p>
          <a:p>
            <a:pPr algn="l"/>
            <a:r>
              <a:rPr lang="en-US" sz="2400" b="0" i="0" dirty="0">
                <a:effectLst/>
                <a:latin typeface="Nunito Sans" pitchFamily="2" charset="0"/>
              </a:rPr>
              <a:t>An Array ‘A’ is know as Zero-Array if the bitwise AND (&amp;) of all the elements of the array is Zero.</a:t>
            </a:r>
          </a:p>
          <a:p>
            <a:pPr algn="l"/>
            <a:r>
              <a:rPr lang="en-US" sz="2400" b="0" i="0" dirty="0">
                <a:effectLst/>
                <a:latin typeface="Nunito Sans" pitchFamily="2" charset="0"/>
              </a:rPr>
              <a:t>In other words, Array ‘A’ with length ‘L’ is known as Zero –Array if A[0] &amp; A[1] &amp; A[2]………&amp; A[L] = 0.</a:t>
            </a:r>
          </a:p>
          <a:p>
            <a:pPr algn="l"/>
            <a:r>
              <a:rPr lang="en-US" sz="2400" b="0" i="0" dirty="0">
                <a:effectLst/>
                <a:latin typeface="Nunito Sans" pitchFamily="2" charset="0"/>
              </a:rPr>
              <a:t>For example array [1,2,3]is a Zero-Array, you can perform the following move any number of times:</a:t>
            </a:r>
          </a:p>
          <a:p>
            <a:pPr algn="l"/>
            <a:r>
              <a:rPr lang="en-US" sz="2400" b="0" i="0" dirty="0">
                <a:effectLst/>
                <a:latin typeface="Nunito Sans" pitchFamily="2" charset="0"/>
              </a:rPr>
              <a:t>•Choose any array elements from Array ‘</a:t>
            </a:r>
            <a:r>
              <a:rPr lang="en-US" sz="2400" b="0" i="0" dirty="0" err="1">
                <a:effectLst/>
                <a:latin typeface="Nunito Sans" pitchFamily="2" charset="0"/>
              </a:rPr>
              <a:t>Arr</a:t>
            </a:r>
            <a:r>
              <a:rPr lang="en-US" sz="2400" b="0" i="0" dirty="0">
                <a:effectLst/>
                <a:latin typeface="Nunito Sans" pitchFamily="2" charset="0"/>
              </a:rPr>
              <a:t>’, say </a:t>
            </a:r>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 and flip exactly one bit in </a:t>
            </a:r>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 (Flipping a bit means if the bit is 1 then covert it to 0 and if the bit is 0 then convert it to 1)</a:t>
            </a:r>
          </a:p>
          <a:p>
            <a:pPr algn="l"/>
            <a:r>
              <a:rPr lang="en-US" sz="2400" b="0" i="0" dirty="0">
                <a:effectLst/>
                <a:latin typeface="Nunito Sans" pitchFamily="2" charset="0"/>
              </a:rPr>
              <a:t>•You need to find the minimum number of moves to convert the given array ‘</a:t>
            </a:r>
            <a:r>
              <a:rPr lang="en-US" sz="2400" b="0" i="0" dirty="0" err="1">
                <a:effectLst/>
                <a:latin typeface="Nunito Sans" pitchFamily="2" charset="0"/>
              </a:rPr>
              <a:t>Arr</a:t>
            </a:r>
            <a:r>
              <a:rPr lang="en-US" sz="2400" b="0" i="0" dirty="0">
                <a:effectLst/>
                <a:latin typeface="Nunito Sans" pitchFamily="2" charset="0"/>
              </a:rPr>
              <a:t>’ to Zero-Array .</a:t>
            </a:r>
          </a:p>
        </p:txBody>
      </p:sp>
    </p:spTree>
    <p:extLst>
      <p:ext uri="{BB962C8B-B14F-4D97-AF65-F5344CB8AC3E}">
        <p14:creationId xmlns:p14="http://schemas.microsoft.com/office/powerpoint/2010/main" val="1110411350"/>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524315"/>
          </a:xfrm>
          <a:prstGeom prst="rect">
            <a:avLst/>
          </a:prstGeom>
          <a:noFill/>
        </p:spPr>
        <p:txBody>
          <a:bodyPr wrap="square">
            <a:spAutoFit/>
          </a:bodyPr>
          <a:lstStyle/>
          <a:p>
            <a:pPr algn="l"/>
            <a:r>
              <a:rPr lang="en-US" sz="2400" b="1" i="0" dirty="0">
                <a:effectLst/>
                <a:latin typeface="Nunito Sans" pitchFamily="2" charset="0"/>
              </a:rPr>
              <a:t>The input format for testing</a:t>
            </a:r>
            <a:endParaRPr lang="en-US" sz="2400" b="0" i="0" dirty="0">
              <a:effectLst/>
              <a:latin typeface="Nunito Sans" pitchFamily="2" charset="0"/>
            </a:endParaRPr>
          </a:p>
          <a:p>
            <a:pPr algn="l"/>
            <a:r>
              <a:rPr lang="en-US" sz="2400" b="0" i="0" dirty="0">
                <a:effectLst/>
                <a:latin typeface="Nunito Sans" pitchFamily="2" charset="0"/>
              </a:rPr>
              <a:t>First Line Contains a positive Integer N (Size of the array)</a:t>
            </a:r>
          </a:p>
          <a:p>
            <a:pPr algn="l"/>
            <a:r>
              <a:rPr lang="en-US" sz="2400" b="0" i="0" dirty="0">
                <a:effectLst/>
                <a:latin typeface="Nunito Sans" pitchFamily="2" charset="0"/>
              </a:rPr>
              <a:t>Next Line Contains N space-separated positive integers</a:t>
            </a:r>
          </a:p>
          <a:p>
            <a:pPr algn="l"/>
            <a:r>
              <a:rPr lang="en-US" sz="2400" b="1" i="0" dirty="0">
                <a:effectLst/>
                <a:latin typeface="Nunito Sans" pitchFamily="2" charset="0"/>
              </a:rPr>
              <a:t>The Output format for testing:</a:t>
            </a:r>
            <a:endParaRPr lang="en-US" sz="2400" b="0" i="0" dirty="0">
              <a:effectLst/>
              <a:latin typeface="Nunito Sans" pitchFamily="2" charset="0"/>
            </a:endParaRPr>
          </a:p>
          <a:p>
            <a:pPr algn="l"/>
            <a:r>
              <a:rPr lang="en-US" sz="2400" b="0" i="0" dirty="0">
                <a:effectLst/>
                <a:latin typeface="Nunito Sans" pitchFamily="2" charset="0"/>
              </a:rPr>
              <a:t>The output is an integer value as per above logic. (Check the output in Example 1, Example 2).</a:t>
            </a:r>
          </a:p>
          <a:p>
            <a:pPr algn="l"/>
            <a:r>
              <a:rPr lang="en-US" sz="2400" b="0" i="0" dirty="0">
                <a:effectLst/>
                <a:latin typeface="Nunito Sans" pitchFamily="2" charset="0"/>
              </a:rPr>
              <a:t>Additional messages in output will cause the failure of test cases.</a:t>
            </a:r>
          </a:p>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N==Length of Array ‘</a:t>
            </a:r>
            <a:r>
              <a:rPr lang="en-US" sz="2400" b="0" i="0" dirty="0" err="1">
                <a:effectLst/>
                <a:latin typeface="Nunito Sans" pitchFamily="2" charset="0"/>
              </a:rPr>
              <a:t>Arr</a:t>
            </a:r>
            <a:r>
              <a:rPr lang="en-US" sz="2400" b="0" i="0" dirty="0">
                <a:effectLst/>
                <a:latin typeface="Nunito Sans" pitchFamily="2" charset="0"/>
              </a:rPr>
              <a:t>’</a:t>
            </a:r>
          </a:p>
          <a:p>
            <a:pPr algn="l"/>
            <a:r>
              <a:rPr lang="en-US" sz="2400" b="0" i="0" dirty="0">
                <a:effectLst/>
                <a:latin typeface="Nunito Sans" pitchFamily="2" charset="0"/>
              </a:rPr>
              <a:t>1&lt;=N&lt;= 1000</a:t>
            </a:r>
          </a:p>
          <a:p>
            <a:pPr algn="l"/>
            <a:r>
              <a:rPr lang="en-US" sz="2400" b="0" i="0" dirty="0">
                <a:effectLst/>
                <a:latin typeface="Nunito Sans" pitchFamily="2" charset="0"/>
              </a:rPr>
              <a:t>1&lt;=</a:t>
            </a:r>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]&lt;= 10000,</a:t>
            </a:r>
          </a:p>
          <a:p>
            <a:pPr algn="l"/>
            <a:r>
              <a:rPr lang="en-US" sz="2400" b="0" i="0" dirty="0">
                <a:effectLst/>
                <a:latin typeface="Nunito Sans" pitchFamily="2" charset="0"/>
              </a:rPr>
              <a:t>for all valid (0 &lt;=</a:t>
            </a:r>
            <a:r>
              <a:rPr lang="en-US" sz="2400" b="0" i="0" dirty="0" err="1">
                <a:effectLst/>
                <a:latin typeface="Nunito Sans" pitchFamily="2" charset="0"/>
              </a:rPr>
              <a:t>i</a:t>
            </a:r>
            <a:r>
              <a:rPr lang="en-US" sz="2400" b="0" i="0" dirty="0">
                <a:effectLst/>
                <a:latin typeface="Nunito Sans" pitchFamily="2" charset="0"/>
              </a:rPr>
              <a:t>&lt;=N-1) </a:t>
            </a:r>
          </a:p>
        </p:txBody>
      </p:sp>
    </p:spTree>
    <p:extLst>
      <p:ext uri="{BB962C8B-B14F-4D97-AF65-F5344CB8AC3E}">
        <p14:creationId xmlns:p14="http://schemas.microsoft.com/office/powerpoint/2010/main" val="2860974472"/>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3416320"/>
          </a:xfrm>
          <a:prstGeom prst="rect">
            <a:avLst/>
          </a:prstGeom>
          <a:noFill/>
        </p:spPr>
        <p:txBody>
          <a:bodyPr wrap="square">
            <a:spAutoFit/>
          </a:bodyPr>
          <a:lstStyle/>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5 -&gt; N (size of the array)</a:t>
            </a:r>
          </a:p>
          <a:p>
            <a:pPr algn="l"/>
            <a:r>
              <a:rPr lang="en-US" sz="2400" b="0" i="0" dirty="0">
                <a:effectLst/>
                <a:latin typeface="Nunito Sans" pitchFamily="2" charset="0"/>
              </a:rPr>
              <a:t>10 11 13 5 3 -&gt; Array ‘</a:t>
            </a:r>
            <a:r>
              <a:rPr lang="en-US" sz="2400" b="0" i="0" dirty="0" err="1">
                <a:effectLst/>
                <a:latin typeface="Nunito Sans" pitchFamily="2" charset="0"/>
              </a:rPr>
              <a:t>Arr</a:t>
            </a:r>
            <a:r>
              <a:rPr lang="en-US" sz="2400" b="0" i="0" dirty="0">
                <a:effectLst/>
                <a:latin typeface="Nunito Sans" pitchFamily="2" charset="0"/>
              </a:rPr>
              <a:t>’ (Elements of the array will be space separated</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0</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The given array is already a zero Array since 10 &amp; 11 &amp; 13 &amp; 5 &amp; 3 = 0.</a:t>
            </a:r>
          </a:p>
          <a:p>
            <a:pPr algn="l"/>
            <a:r>
              <a:rPr lang="en-US" sz="2400" b="0" i="0" dirty="0" err="1">
                <a:effectLst/>
                <a:latin typeface="Nunito Sans" pitchFamily="2" charset="0"/>
              </a:rPr>
              <a:t>So,minimum</a:t>
            </a:r>
            <a:r>
              <a:rPr lang="en-US" sz="2400" b="0" i="0" dirty="0">
                <a:effectLst/>
                <a:latin typeface="Nunito Sans" pitchFamily="2" charset="0"/>
              </a:rPr>
              <a:t> number of moves required are 0.</a:t>
            </a:r>
          </a:p>
        </p:txBody>
      </p:sp>
    </p:spTree>
    <p:extLst>
      <p:ext uri="{BB962C8B-B14F-4D97-AF65-F5344CB8AC3E}">
        <p14:creationId xmlns:p14="http://schemas.microsoft.com/office/powerpoint/2010/main" val="2260065418"/>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err="1">
                <a:solidFill>
                  <a:srgbClr val="CE9178"/>
                </a:solidFill>
                <a:effectLst/>
                <a:latin typeface="Nunito Sans" pitchFamily="2" charset="0"/>
              </a:rPr>
              <a:t>stdio.h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size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elements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Initialize the bitwise AND with the first element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bitwise AND of all elements in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Count the number of set bits in the bitwise AND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365628565"/>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Print the minimum number of moves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626637336"/>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a:solidFill>
                  <a:srgbClr val="CE9178"/>
                </a:solidFill>
                <a:effectLst/>
                <a:latin typeface="Nunito Sans" pitchFamily="2" charset="0"/>
              </a:rPr>
              <a:t>iostream</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using</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namespace</a:t>
            </a:r>
            <a:r>
              <a:rPr lang="en-US" sz="2000" b="0" dirty="0">
                <a:solidFill>
                  <a:srgbClr val="D4D4D4"/>
                </a:solidFill>
                <a:effectLst/>
                <a:latin typeface="Nunito Sans" pitchFamily="2" charset="0"/>
              </a:rPr>
              <a:t> std</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size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elements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Initialize the bitwise AND with the first element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bitwise AND of all elements in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Count the number of set bits in the bitwise AND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937567631"/>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&lt;&lt;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Print the minimum number of moves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596853363"/>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import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java</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util</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Scanner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class</a:t>
            </a:r>
            <a:r>
              <a:rPr lang="en-US" sz="2000" b="0" dirty="0">
                <a:solidFill>
                  <a:srgbClr val="D4D4D4"/>
                </a:solidFill>
                <a:effectLst/>
                <a:latin typeface="Nunito Sans" pitchFamily="2" charset="0"/>
              </a:rPr>
              <a:t> Main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static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void</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String</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args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Scanner </a:t>
            </a:r>
            <a:r>
              <a:rPr lang="en-US" sz="2000" b="0" dirty="0" err="1">
                <a:solidFill>
                  <a:srgbClr val="D4D4D4"/>
                </a:solidFill>
                <a:effectLst/>
                <a:latin typeface="Nunito Sans" pitchFamily="2" charset="0"/>
              </a:rPr>
              <a:t>scanner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new</a:t>
            </a:r>
            <a:r>
              <a:rPr lang="en-US" sz="2000" b="0" dirty="0">
                <a:solidFill>
                  <a:srgbClr val="D4D4D4"/>
                </a:solidFill>
                <a:effectLst/>
                <a:latin typeface="Nunito Sans" pitchFamily="2" charset="0"/>
              </a:rPr>
              <a:t> Scanner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System</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scanner</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nextInt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size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new</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scanner</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nextInt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elements of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Calculate the bitwise AND of all elements in the array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Count the number of set bits in the bitwise AND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202736782"/>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bitwiseAnd</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minMoves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bitwiseAnd</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minMoves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Print the minimum number of moves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836890927"/>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size of the array</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Arr</a:t>
            </a:r>
            <a:r>
              <a:rPr lang="en-US" sz="2000" b="0" dirty="0">
                <a:solidFill>
                  <a:srgbClr val="D4D4D4"/>
                </a:solidFill>
                <a:effectLst/>
                <a:latin typeface="Nunito Sans" pitchFamily="2" charset="0"/>
              </a:rPr>
              <a:t> = </a:t>
            </a:r>
            <a:r>
              <a:rPr lang="en-US" sz="2000" b="0" dirty="0">
                <a:solidFill>
                  <a:srgbClr val="569CD6"/>
                </a:solidFill>
                <a:effectLst/>
                <a:latin typeface="Nunito Sans" pitchFamily="2" charset="0"/>
              </a:rPr>
              <a:t>list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map</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.split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Read the elements of the array</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Initialize the bitwise AND with the first element</a:t>
            </a:r>
            <a:endParaRPr lang="en-US" sz="2000" b="0" dirty="0">
              <a:solidFill>
                <a:srgbClr val="D4D4D4"/>
              </a:solidFill>
              <a:effectLst/>
              <a:latin typeface="Nunito Sans" pitchFamily="2" charset="0"/>
            </a:endParaRPr>
          </a:p>
          <a:p>
            <a:r>
              <a:rPr lang="en-US" sz="2000" b="0" dirty="0">
                <a:solidFill>
                  <a:srgbClr val="608B4E"/>
                </a:solidFill>
                <a:effectLst/>
                <a:latin typeface="Nunito Sans" pitchFamily="2" charset="0"/>
              </a:rPr>
              <a:t># Calculate the bitwise AND of all elements in the array</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&amp;=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608B4E"/>
                </a:solidFill>
                <a:effectLst/>
                <a:latin typeface="Nunito Sans" pitchFamily="2" charset="0"/>
              </a:rPr>
              <a:t># Count the number of set bits in the bitwise AND</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&amp;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minMoves</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bitwiseAnd</a:t>
            </a:r>
            <a:r>
              <a:rPr lang="en-US" sz="2000" b="0" dirty="0">
                <a:solidFill>
                  <a:srgbClr val="D4D4D4"/>
                </a:solidFill>
                <a:effectLst/>
                <a:latin typeface="Nunito Sans" pitchFamily="2" charset="0"/>
              </a:rPr>
              <a:t> &gt;&gt;=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minMoves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Print the minimum number of moves</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13638316"/>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6001643"/>
          </a:xfrm>
          <a:prstGeom prst="rect">
            <a:avLst/>
          </a:prstGeom>
          <a:noFill/>
        </p:spPr>
        <p:txBody>
          <a:bodyPr wrap="square">
            <a:spAutoFit/>
          </a:bodyPr>
          <a:lstStyle/>
          <a:p>
            <a:pPr algn="l"/>
            <a:r>
              <a:rPr lang="en-US" sz="2400" b="0" i="0" dirty="0">
                <a:effectLst/>
                <a:latin typeface="Nunito Sans" pitchFamily="2" charset="0"/>
              </a:rPr>
              <a:t>An English teacher wants the overall development of the students. She plans a surprise quiz to test the analytical skills of the students. She gives two words (str1,str2), the task for the students here is:</a:t>
            </a:r>
          </a:p>
          <a:p>
            <a:pPr algn="l"/>
            <a:r>
              <a:rPr lang="en-US" sz="2400" b="0" i="0" dirty="0">
                <a:effectLst/>
                <a:latin typeface="Nunito Sans" pitchFamily="2" charset="0"/>
              </a:rPr>
              <a:t>Observe both the words carefully. Change the word1 to word2.</a:t>
            </a:r>
          </a:p>
          <a:p>
            <a:pPr algn="l"/>
            <a:r>
              <a:rPr lang="en-US" sz="2400" b="0" i="0" dirty="0">
                <a:effectLst/>
                <a:latin typeface="Nunito Sans" pitchFamily="2" charset="0"/>
              </a:rPr>
              <a:t>The student who can change the words with a minimum number of steps is the winner.</a:t>
            </a:r>
          </a:p>
          <a:p>
            <a:pPr algn="l"/>
            <a:r>
              <a:rPr lang="en-US" sz="2400" b="1" i="0" dirty="0">
                <a:effectLst/>
                <a:latin typeface="Nunito Sans" pitchFamily="2" charset="0"/>
              </a:rPr>
              <a:t>Note</a:t>
            </a:r>
            <a:r>
              <a:rPr lang="en-US" sz="2400" b="0" i="0" dirty="0">
                <a:effectLst/>
                <a:latin typeface="Nunito Sans" pitchFamily="2" charset="0"/>
              </a:rPr>
              <a:t>:</a:t>
            </a:r>
          </a:p>
          <a:p>
            <a:pPr algn="l"/>
            <a:r>
              <a:rPr lang="en-US" sz="2400" b="0" i="0" dirty="0">
                <a:effectLst/>
                <a:latin typeface="Nunito Sans" pitchFamily="2" charset="0"/>
              </a:rPr>
              <a:t>Only of the operations – insert, delete or replace can be performed in one step.</a:t>
            </a:r>
          </a:p>
          <a:p>
            <a:pPr algn="l"/>
            <a:r>
              <a:rPr lang="en-US" sz="2400" b="0" i="0" dirty="0">
                <a:effectLst/>
                <a:latin typeface="Nunito Sans" pitchFamily="2" charset="0"/>
              </a:rPr>
              <a:t>All the operators should be performed only on word1. The string cannot have any special characters, space or number.</a:t>
            </a:r>
          </a:p>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Str1={a-z)</a:t>
            </a:r>
          </a:p>
          <a:p>
            <a:pPr algn="l"/>
            <a:r>
              <a:rPr lang="en-US" sz="2400" b="0" i="0" dirty="0">
                <a:effectLst/>
                <a:latin typeface="Nunito Sans" pitchFamily="2" charset="0"/>
              </a:rPr>
              <a:t>Str1 != (A-Z0-9,special characters)</a:t>
            </a:r>
          </a:p>
          <a:p>
            <a:pPr algn="l"/>
            <a:r>
              <a:rPr lang="en-US" sz="2400" b="0" i="0" dirty="0">
                <a:effectLst/>
                <a:latin typeface="Nunito Sans" pitchFamily="2" charset="0"/>
              </a:rPr>
              <a:t>No spaces between characters</a:t>
            </a:r>
          </a:p>
          <a:p>
            <a:pPr algn="l"/>
            <a:r>
              <a:rPr lang="en-US" sz="2400" b="0" i="0" dirty="0">
                <a:effectLst/>
                <a:latin typeface="Nunito Sans" pitchFamily="2" charset="0"/>
              </a:rPr>
              <a:t>Size of Str1 and Str2&lt;50</a:t>
            </a:r>
          </a:p>
          <a:p>
            <a:pPr algn="l"/>
            <a:endParaRPr lang="en-US" sz="2400" b="0" i="0" dirty="0">
              <a:effectLst/>
              <a:latin typeface="Nunito Sans" pitchFamily="2" charset="0"/>
            </a:endParaRPr>
          </a:p>
        </p:txBody>
      </p:sp>
    </p:spTree>
    <p:extLst>
      <p:ext uri="{BB962C8B-B14F-4D97-AF65-F5344CB8AC3E}">
        <p14:creationId xmlns:p14="http://schemas.microsoft.com/office/powerpoint/2010/main" val="685732890"/>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632311"/>
          </a:xfrm>
          <a:prstGeom prst="rect">
            <a:avLst/>
          </a:prstGeom>
          <a:noFill/>
        </p:spPr>
        <p:txBody>
          <a:bodyPr wrap="square">
            <a:spAutoFit/>
          </a:bodyPr>
          <a:lstStyle/>
          <a:p>
            <a:pPr algn="l"/>
            <a:r>
              <a:rPr lang="en-US" sz="2400" b="1" i="0" dirty="0">
                <a:effectLst/>
                <a:latin typeface="Nunito Sans" pitchFamily="2" charset="0"/>
              </a:rPr>
              <a:t>Input format for testing</a:t>
            </a:r>
            <a:endParaRPr lang="en-US" sz="2400" b="0" i="0" dirty="0">
              <a:effectLst/>
              <a:latin typeface="Nunito Sans" pitchFamily="2" charset="0"/>
            </a:endParaRPr>
          </a:p>
          <a:p>
            <a:pPr algn="l"/>
            <a:r>
              <a:rPr lang="en-US" sz="2400" b="0" i="0" dirty="0">
                <a:effectLst/>
                <a:latin typeface="Nunito Sans" pitchFamily="2" charset="0"/>
              </a:rPr>
              <a:t>The candidate has to write the code to accept 2 input(s).</a:t>
            </a:r>
          </a:p>
          <a:p>
            <a:pPr algn="l"/>
            <a:r>
              <a:rPr lang="en-US" sz="2400" b="0" i="0" dirty="0">
                <a:effectLst/>
                <a:latin typeface="Nunito Sans" pitchFamily="2" charset="0"/>
              </a:rPr>
              <a:t>First Input - Accept value str1 which is a string.</a:t>
            </a:r>
          </a:p>
          <a:p>
            <a:pPr algn="l"/>
            <a:r>
              <a:rPr lang="en-US" sz="2400" b="0" i="0" dirty="0">
                <a:effectLst/>
                <a:latin typeface="Nunito Sans" pitchFamily="2" charset="0"/>
              </a:rPr>
              <a:t>Second Input -Accept value str1 which is a string.</a:t>
            </a:r>
          </a:p>
          <a:p>
            <a:pPr algn="l"/>
            <a:r>
              <a:rPr lang="en-US" sz="2400" b="1" i="0" dirty="0">
                <a:effectLst/>
                <a:latin typeface="Nunito Sans" pitchFamily="2" charset="0"/>
              </a:rPr>
              <a:t>Output format for testing</a:t>
            </a:r>
            <a:endParaRPr lang="en-US" sz="2400" b="0" i="0" dirty="0">
              <a:effectLst/>
              <a:latin typeface="Nunito Sans" pitchFamily="2" charset="0"/>
            </a:endParaRPr>
          </a:p>
          <a:p>
            <a:pPr algn="l"/>
            <a:r>
              <a:rPr lang="en-US" sz="2400" b="0" i="0" dirty="0">
                <a:effectLst/>
                <a:latin typeface="Nunito Sans" pitchFamily="2" charset="0"/>
              </a:rPr>
              <a:t>The output should be a single integer value or a message if given in the problem statement (Check the output in Example 1. Example 2)</a:t>
            </a:r>
          </a:p>
          <a:p>
            <a:pPr algn="l"/>
            <a:r>
              <a:rPr lang="en-US" sz="2400" b="0" i="0" dirty="0">
                <a:effectLst/>
                <a:latin typeface="Nunito Sans" pitchFamily="2" charset="0"/>
              </a:rPr>
              <a:t>Additional messages in output will cause the failure of test cases.</a:t>
            </a:r>
          </a:p>
          <a:p>
            <a:pPr algn="l"/>
            <a:r>
              <a:rPr lang="en-US" sz="2400" b="1" i="0" dirty="0">
                <a:effectLst/>
                <a:latin typeface="Nunito Sans" pitchFamily="2" charset="0"/>
              </a:rPr>
              <a:t>Example 1 </a:t>
            </a:r>
            <a:endParaRPr lang="en-US" sz="2400" b="0" i="0" dirty="0">
              <a:effectLst/>
              <a:latin typeface="Nunito Sans" pitchFamily="2" charset="0"/>
            </a:endParaRPr>
          </a:p>
          <a:p>
            <a:pPr algn="l"/>
            <a:r>
              <a:rPr lang="en-US" sz="2400" b="1" i="0" dirty="0">
                <a:effectLst/>
                <a:latin typeface="Nunito Sans" pitchFamily="2" charset="0"/>
              </a:rPr>
              <a:t>Input: </a:t>
            </a:r>
            <a:endParaRPr lang="en-US" sz="2400" b="0" i="0" dirty="0">
              <a:effectLst/>
              <a:latin typeface="Nunito Sans" pitchFamily="2" charset="0"/>
            </a:endParaRPr>
          </a:p>
          <a:p>
            <a:pPr algn="l"/>
            <a:r>
              <a:rPr lang="en-US" sz="2400" b="0" i="0" dirty="0">
                <a:effectLst/>
                <a:latin typeface="Nunito Sans" pitchFamily="2" charset="0"/>
              </a:rPr>
              <a:t>Capture -&gt; value of str 1</a:t>
            </a:r>
          </a:p>
          <a:p>
            <a:pPr algn="l"/>
            <a:r>
              <a:rPr lang="en-US" sz="2400" b="0" i="0" dirty="0">
                <a:effectLst/>
                <a:latin typeface="Nunito Sans" pitchFamily="2" charset="0"/>
              </a:rPr>
              <a:t>Capsule -&gt; value of str 2</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2-&gt; number of steps required to convert str 1 to str 2</a:t>
            </a:r>
          </a:p>
          <a:p>
            <a:pPr algn="l"/>
            <a:r>
              <a:rPr lang="en-US" sz="2400" b="1" i="0" dirty="0">
                <a:effectLst/>
                <a:latin typeface="Nunito Sans" pitchFamily="2" charset="0"/>
              </a:rPr>
              <a:t>﻿</a:t>
            </a:r>
            <a:endParaRPr lang="en-US" sz="2400" b="0" i="0" dirty="0">
              <a:effectLst/>
              <a:latin typeface="Nunito Sans" pitchFamily="2" charset="0"/>
            </a:endParaRPr>
          </a:p>
        </p:txBody>
      </p:sp>
    </p:spTree>
    <p:extLst>
      <p:ext uri="{BB962C8B-B14F-4D97-AF65-F5344CB8AC3E}">
        <p14:creationId xmlns:p14="http://schemas.microsoft.com/office/powerpoint/2010/main" val="3034902623"/>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39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632311"/>
          </a:xfrm>
          <a:prstGeom prst="rect">
            <a:avLst/>
          </a:prstGeom>
          <a:noFill/>
        </p:spPr>
        <p:txBody>
          <a:bodyPr wrap="square">
            <a:spAutoFit/>
          </a:bodyPr>
          <a:lstStyle/>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To convert capture to capsule in</a:t>
            </a:r>
          </a:p>
          <a:p>
            <a:pPr algn="l"/>
            <a:r>
              <a:rPr lang="en-US" sz="2400" b="0" i="0" dirty="0">
                <a:effectLst/>
                <a:latin typeface="Nunito Sans" pitchFamily="2" charset="0"/>
              </a:rPr>
              <a:t>Step 1: 't' is replaced with ‘s’(</a:t>
            </a:r>
            <a:r>
              <a:rPr lang="en-US" sz="2400" b="0" i="0" dirty="0" err="1">
                <a:effectLst/>
                <a:latin typeface="Nunito Sans" pitchFamily="2" charset="0"/>
              </a:rPr>
              <a:t>capsure</a:t>
            </a:r>
            <a:r>
              <a:rPr lang="en-US" sz="2400" b="0" i="0" dirty="0">
                <a:effectLst/>
                <a:latin typeface="Nunito Sans" pitchFamily="2" charset="0"/>
              </a:rPr>
              <a:t>)</a:t>
            </a:r>
          </a:p>
          <a:p>
            <a:pPr algn="l"/>
            <a:r>
              <a:rPr lang="en-US" sz="2400" b="0" i="0" dirty="0">
                <a:effectLst/>
                <a:latin typeface="Nunito Sans" pitchFamily="2" charset="0"/>
              </a:rPr>
              <a:t>Step 2: 'r' is replaced with ‘l' (capsule)</a:t>
            </a:r>
          </a:p>
          <a:p>
            <a:pPr algn="l"/>
            <a:r>
              <a:rPr lang="en-US" sz="2400" b="0" i="0" dirty="0">
                <a:effectLst/>
                <a:latin typeface="Nunito Sans" pitchFamily="2" charset="0"/>
              </a:rPr>
              <a:t>Hence, the output is 2.</a:t>
            </a:r>
          </a:p>
          <a:p>
            <a:pPr algn="l"/>
            <a:r>
              <a:rPr lang="en-US" sz="2400" b="1" i="0" dirty="0">
                <a:effectLst/>
                <a:latin typeface="Nunito Sans" pitchFamily="2" charset="0"/>
              </a:rPr>
              <a:t>Example 2 </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Computer -&gt; value of str 1</a:t>
            </a:r>
          </a:p>
          <a:p>
            <a:pPr algn="l"/>
            <a:r>
              <a:rPr lang="en-US" sz="2400" b="0" i="0" dirty="0">
                <a:effectLst/>
                <a:latin typeface="Nunito Sans" pitchFamily="2" charset="0"/>
              </a:rPr>
              <a:t>Compute -&gt; value of str 2</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1 -&gt; number of steps required to convert computer to compute,</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To convert from computer to compute, in</a:t>
            </a:r>
          </a:p>
          <a:p>
            <a:pPr algn="l"/>
            <a:r>
              <a:rPr lang="en-US" sz="2400" b="0" i="0" dirty="0">
                <a:effectLst/>
                <a:latin typeface="Nunito Sans" pitchFamily="2" charset="0"/>
              </a:rPr>
              <a:t>Step 1: ‘r’ is removed (computer)</a:t>
            </a:r>
          </a:p>
          <a:p>
            <a:pPr algn="l"/>
            <a:r>
              <a:rPr lang="en-US" sz="2400" b="0" i="0" dirty="0">
                <a:effectLst/>
                <a:latin typeface="Nunito Sans" pitchFamily="2" charset="0"/>
              </a:rPr>
              <a:t>Hence, the output is 1.</a:t>
            </a:r>
          </a:p>
        </p:txBody>
      </p:sp>
    </p:spTree>
    <p:extLst>
      <p:ext uri="{BB962C8B-B14F-4D97-AF65-F5344CB8AC3E}">
        <p14:creationId xmlns:p14="http://schemas.microsoft.com/office/powerpoint/2010/main" val="1479214302"/>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string.h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min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findMinSteps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Create a 2D table to store subproblem results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Fill the table bottom-up</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868731845"/>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608B4E"/>
                </a:solidFill>
                <a:effectLst/>
                <a:latin typeface="Nunito Sans" pitchFamily="2" charset="0"/>
              </a:rPr>
              <a:t>// If str1 is empty, then we need to insert all characters from str2</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str2 is empty, then we need to delete all characters from str1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last characters are the same, no operation needed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last characters are different, consider all possibilities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min</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dirty="0">
                <a:solidFill>
                  <a:srgbClr val="D4D4D4"/>
                </a:solidFill>
                <a:latin typeface="Nunito Sans" pitchFamily="2" charset="0"/>
              </a:rPr>
              <a:t> </a:t>
            </a:r>
            <a:r>
              <a:rPr lang="en-US" sz="2000" b="0" dirty="0">
                <a:solidFill>
                  <a:srgbClr val="DCDCDC"/>
                </a:solidFill>
                <a:effectLst/>
                <a:latin typeface="Nunito Sans" pitchFamily="2" charset="0"/>
              </a:rPr>
              <a:t>}</a:t>
            </a:r>
            <a:r>
              <a:rPr lang="en-US" sz="2000" dirty="0">
                <a:solidFill>
                  <a:srgbClr val="D4D4D4"/>
                </a:solidFill>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r>
              <a:rPr lang="en-US" sz="2000" dirty="0">
                <a:solidFill>
                  <a:srgbClr val="D4D4D4"/>
                </a:solidFill>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str1</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50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50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minSteps</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findMinSteps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minSteps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517083300"/>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cstring</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min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findMinSteps</a:t>
            </a:r>
            <a:r>
              <a:rPr lang="en-IN" sz="2000" b="0" dirty="0">
                <a:solidFill>
                  <a:srgbClr val="DCDCDC"/>
                </a:solidFill>
                <a:effectLst/>
                <a:latin typeface="Nunito Sans" pitchFamily="2" charset="0"/>
              </a:rPr>
              <a:t>(</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Create a 2D table to store subproblem results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Fill the table bottom-up</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61823863"/>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str1 is empty, then we need to insert all characters from str2</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str2 is empty, then we need to delete all characters from str1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last characters are the same, no operation needed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str1</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last characters are different, consider all possibilities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min</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str1</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50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50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str1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minSteps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findMinSteps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00385708"/>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102987086"/>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min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findMinSteps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String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Create a 2D table to store subproblem results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Fill the table bottom-up</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37505618"/>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str1 is empty, then we need to insert all characters from str2</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str2 is empty, then we need to delete all characters from str1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last characters are the same, no operation needed</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charAt</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charAt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last characters are different, consider all possibilities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min</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static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void</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String</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args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23058317"/>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minSteps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findMinSteps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56656500"/>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min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b</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 &lt;= b </a:t>
            </a:r>
            <a:r>
              <a:rPr lang="en-US" sz="2000" b="0" dirty="0">
                <a:solidFill>
                  <a:srgbClr val="569CD6"/>
                </a:solidFill>
                <a:effectLst/>
                <a:latin typeface="Nunito Sans" pitchFamily="2" charset="0"/>
              </a:rPr>
              <a:t>and</a:t>
            </a:r>
            <a:r>
              <a:rPr lang="en-US" sz="2000" b="0" dirty="0">
                <a:solidFill>
                  <a:srgbClr val="D4D4D4"/>
                </a:solidFill>
                <a:effectLst/>
                <a:latin typeface="Nunito Sans" pitchFamily="2" charset="0"/>
              </a:rPr>
              <a:t> a &lt;=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a:t>
            </a:r>
          </a:p>
          <a:p>
            <a:r>
              <a:rPr lang="en-US" sz="2000" b="0" dirty="0">
                <a:solidFill>
                  <a:srgbClr val="D4D4D4"/>
                </a:solidFill>
                <a:effectLst/>
                <a:latin typeface="Nunito Sans" pitchFamily="2" charset="0"/>
              </a:rPr>
              <a:t>    </a:t>
            </a:r>
            <a:r>
              <a:rPr lang="en-US" sz="2000" b="0" dirty="0" err="1">
                <a:solidFill>
                  <a:srgbClr val="569CD6"/>
                </a:solidFill>
                <a:effectLst/>
                <a:latin typeface="Nunito Sans" pitchFamily="2" charset="0"/>
              </a:rPr>
              <a:t>elif</a:t>
            </a:r>
            <a:r>
              <a:rPr lang="en-US" sz="2000" b="0" dirty="0">
                <a:solidFill>
                  <a:srgbClr val="D4D4D4"/>
                </a:solidFill>
                <a:effectLst/>
                <a:latin typeface="Nunito Sans" pitchFamily="2" charset="0"/>
              </a:rPr>
              <a:t> b &lt;= a </a:t>
            </a:r>
            <a:r>
              <a:rPr lang="en-US" sz="2000" b="0" dirty="0">
                <a:solidFill>
                  <a:srgbClr val="569CD6"/>
                </a:solidFill>
                <a:effectLst/>
                <a:latin typeface="Nunito Sans" pitchFamily="2" charset="0"/>
              </a:rPr>
              <a:t>and</a:t>
            </a:r>
            <a:r>
              <a:rPr lang="en-US" sz="2000" b="0" dirty="0">
                <a:solidFill>
                  <a:srgbClr val="D4D4D4"/>
                </a:solidFill>
                <a:effectLst/>
                <a:latin typeface="Nunito Sans" pitchFamily="2" charset="0"/>
              </a:rPr>
              <a:t> b &lt;=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b</a:t>
            </a: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a:t>
            </a:r>
          </a:p>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findMinSteps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m = </a:t>
            </a:r>
            <a:r>
              <a:rPr lang="en-US" sz="2000" b="0" dirty="0" err="1">
                <a:solidFill>
                  <a:srgbClr val="569CD6"/>
                </a:solidFill>
                <a:effectLst/>
                <a:latin typeface="Nunito Sans" pitchFamily="2" charset="0"/>
              </a:rPr>
              <a:t>len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n = </a:t>
            </a:r>
            <a:r>
              <a:rPr lang="en-US" sz="2000" b="0" dirty="0" err="1">
                <a:solidFill>
                  <a:srgbClr val="569CD6"/>
                </a:solidFill>
                <a:effectLst/>
                <a:latin typeface="Nunito Sans" pitchFamily="2" charset="0"/>
              </a:rPr>
              <a:t>len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Create a 2D table to store subproblem results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4D4D4"/>
                </a:solidFill>
                <a:effectLst/>
                <a:latin typeface="Nunito Sans" pitchFamily="2" charset="0"/>
              </a:rPr>
              <a:t> =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_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Fill the table bottom-up</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m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j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str1 is empty, then we need to insert all characters from str2</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j</a:t>
            </a: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str2 is empty, then we need to delete all characters from str1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569CD6"/>
                </a:solidFill>
                <a:effectLst/>
                <a:latin typeface="Nunito Sans" pitchFamily="2" charset="0"/>
              </a:rPr>
              <a:t>elif</a:t>
            </a:r>
            <a:r>
              <a:rPr lang="en-US" sz="2000" b="0" dirty="0">
                <a:solidFill>
                  <a:srgbClr val="D4D4D4"/>
                </a:solidFill>
                <a:effectLst/>
                <a:latin typeface="Nunito Sans" pitchFamily="2" charset="0"/>
              </a:rPr>
              <a:t> j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dp</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D4D4D4"/>
                </a:solidFill>
                <a:effectLst/>
                <a:latin typeface="Nunito Sans" pitchFamily="2" charset="0"/>
              </a:rPr>
              <a:t>i</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last characters are the same, no operation needed</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612803703"/>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err="1">
                <a:solidFill>
                  <a:srgbClr val="569CD6"/>
                </a:solidFill>
                <a:effectLst/>
                <a:latin typeface="Nunito Sans" pitchFamily="2" charset="0"/>
              </a:rPr>
              <a:t>elif</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If the last characters are different, consider all possibilities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min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str1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str2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minSteps</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findMinSteps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47686146"/>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893647"/>
          </a:xfrm>
          <a:prstGeom prst="rect">
            <a:avLst/>
          </a:prstGeom>
          <a:noFill/>
        </p:spPr>
        <p:txBody>
          <a:bodyPr wrap="square">
            <a:spAutoFit/>
          </a:bodyPr>
          <a:lstStyle/>
          <a:p>
            <a:pPr algn="l"/>
            <a:r>
              <a:rPr lang="en-US" sz="2400" b="0" i="0" dirty="0">
                <a:effectLst/>
                <a:latin typeface="Nunito Sans" pitchFamily="2" charset="0"/>
              </a:rPr>
              <a:t>A single currency note(N) and a coin(R) are given. The task is to fight in how many ways can make the value that is equal to the currency note using the </a:t>
            </a:r>
            <a:r>
              <a:rPr lang="en-US" sz="2400" b="0" i="0" dirty="0" err="1">
                <a:effectLst/>
                <a:latin typeface="Nunito Sans" pitchFamily="2" charset="0"/>
              </a:rPr>
              <a:t>coin.The</a:t>
            </a:r>
            <a:r>
              <a:rPr lang="en-US" sz="2400" b="0" i="0" dirty="0">
                <a:effectLst/>
                <a:latin typeface="Nunito Sans" pitchFamily="2" charset="0"/>
              </a:rPr>
              <a:t> coin can be used in the following ways:</a:t>
            </a:r>
          </a:p>
          <a:p>
            <a:pPr algn="l"/>
            <a:r>
              <a:rPr lang="en-US" sz="2400" b="0" i="0" dirty="0">
                <a:effectLst/>
                <a:latin typeface="Nunito Sans" pitchFamily="2" charset="0"/>
              </a:rPr>
              <a:t>The value of the coin represents the maximum range values(1,R) that can be used to make the sum equal to N. Each integer value up to the range C can be used multiple times to make the sum.</a:t>
            </a:r>
          </a:p>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 1&lt; =N&lt;=100</a:t>
            </a:r>
          </a:p>
          <a:p>
            <a:pPr algn="l"/>
            <a:r>
              <a:rPr lang="en-US" sz="2400" b="0" i="0" dirty="0">
                <a:effectLst/>
                <a:latin typeface="Nunito Sans" pitchFamily="2" charset="0"/>
              </a:rPr>
              <a:t> 1&lt;=R &lt;=100</a:t>
            </a:r>
          </a:p>
          <a:p>
            <a:pPr algn="l"/>
            <a:r>
              <a:rPr lang="en-US" sz="2400" b="1" i="0" dirty="0">
                <a:effectLst/>
                <a:latin typeface="Nunito Sans" pitchFamily="2" charset="0"/>
              </a:rPr>
              <a:t>The Input format for testing</a:t>
            </a:r>
            <a:endParaRPr lang="en-US" sz="2400" b="0" i="0" dirty="0">
              <a:effectLst/>
              <a:latin typeface="Nunito Sans" pitchFamily="2" charset="0"/>
            </a:endParaRPr>
          </a:p>
          <a:p>
            <a:pPr algn="l"/>
            <a:r>
              <a:rPr lang="en-US" sz="2400" b="0" i="0" dirty="0">
                <a:effectLst/>
                <a:latin typeface="Nunito Sans" pitchFamily="2" charset="0"/>
              </a:rPr>
              <a:t>•The candidate has to write the code to accept 2 input(s)</a:t>
            </a:r>
          </a:p>
          <a:p>
            <a:pPr algn="l"/>
            <a:r>
              <a:rPr lang="en-US" sz="2400" b="0" i="0" dirty="0">
                <a:effectLst/>
                <a:latin typeface="Nunito Sans" pitchFamily="2" charset="0"/>
              </a:rPr>
              <a:t>•First Input - Accept value for input string.</a:t>
            </a:r>
          </a:p>
          <a:p>
            <a:pPr algn="l"/>
            <a:r>
              <a:rPr lang="en-US" sz="2400" b="0" i="0" dirty="0">
                <a:effectLst/>
                <a:latin typeface="Nunito Sans" pitchFamily="2" charset="0"/>
              </a:rPr>
              <a:t>•First Input - Accept value for input key.</a:t>
            </a:r>
          </a:p>
        </p:txBody>
      </p:sp>
    </p:spTree>
    <p:extLst>
      <p:ext uri="{BB962C8B-B14F-4D97-AF65-F5344CB8AC3E}">
        <p14:creationId xmlns:p14="http://schemas.microsoft.com/office/powerpoint/2010/main" val="2154761842"/>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3785652"/>
          </a:xfrm>
          <a:prstGeom prst="rect">
            <a:avLst/>
          </a:prstGeom>
          <a:noFill/>
        </p:spPr>
        <p:txBody>
          <a:bodyPr wrap="square">
            <a:spAutoFit/>
          </a:bodyPr>
          <a:lstStyle/>
          <a:p>
            <a:pPr algn="l"/>
            <a:r>
              <a:rPr lang="en-US" sz="2400" b="1" i="0" dirty="0">
                <a:effectLst/>
                <a:latin typeface="Nunito Sans" pitchFamily="2" charset="0"/>
              </a:rPr>
              <a:t>The Output format for testing</a:t>
            </a:r>
            <a:endParaRPr lang="en-US" sz="2400" b="0" i="0" dirty="0">
              <a:effectLst/>
              <a:latin typeface="Nunito Sans" pitchFamily="2" charset="0"/>
            </a:endParaRPr>
          </a:p>
          <a:p>
            <a:pPr algn="l"/>
            <a:r>
              <a:rPr lang="en-US" sz="2400" b="0" i="0" dirty="0">
                <a:effectLst/>
                <a:latin typeface="Nunito Sans" pitchFamily="2" charset="0"/>
              </a:rPr>
              <a:t>•The output should be a sorted string based on the input key given by the user as mentioned in the above criteria. (Check the output in Example 1, Example 2)</a:t>
            </a:r>
          </a:p>
          <a:p>
            <a:pPr algn="l"/>
            <a:r>
              <a:rPr lang="en-US" sz="2400" b="0" i="0" dirty="0">
                <a:effectLst/>
                <a:latin typeface="Nunito Sans" pitchFamily="2" charset="0"/>
              </a:rPr>
              <a:t>•Additional messages in output will cause the failure of test cases.</a:t>
            </a:r>
          </a:p>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8 -&gt; Value of N</a:t>
            </a:r>
          </a:p>
          <a:p>
            <a:pPr algn="l"/>
            <a:r>
              <a:rPr lang="en-US" sz="2400" b="0" i="0" dirty="0">
                <a:effectLst/>
                <a:latin typeface="Nunito Sans" pitchFamily="2" charset="0"/>
              </a:rPr>
              <a:t>2 -&gt; Value of R</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5→Maximum combinations using values up to R to get the sum equal to N</a:t>
            </a:r>
          </a:p>
        </p:txBody>
      </p:sp>
    </p:spTree>
    <p:extLst>
      <p:ext uri="{BB962C8B-B14F-4D97-AF65-F5344CB8AC3E}">
        <p14:creationId xmlns:p14="http://schemas.microsoft.com/office/powerpoint/2010/main" val="970904768"/>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3785652"/>
          </a:xfrm>
          <a:prstGeom prst="rect">
            <a:avLst/>
          </a:prstGeom>
          <a:noFill/>
        </p:spPr>
        <p:txBody>
          <a:bodyPr wrap="square">
            <a:spAutoFit/>
          </a:bodyPr>
          <a:lstStyle/>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The various combinations the currency note N=8 can be formed using the values </a:t>
            </a:r>
            <a:r>
              <a:rPr lang="en-US" sz="2400" b="0" i="0" dirty="0" err="1">
                <a:effectLst/>
                <a:latin typeface="Nunito Sans" pitchFamily="2" charset="0"/>
              </a:rPr>
              <a:t>upto</a:t>
            </a:r>
            <a:r>
              <a:rPr lang="en-US" sz="2400" b="0" i="0" dirty="0">
                <a:effectLst/>
                <a:latin typeface="Nunito Sans" pitchFamily="2" charset="0"/>
              </a:rPr>
              <a:t> range 2 are:</a:t>
            </a:r>
          </a:p>
          <a:p>
            <a:pPr algn="l"/>
            <a:r>
              <a:rPr lang="en-US" sz="2400" b="0" i="0" dirty="0">
                <a:effectLst/>
                <a:latin typeface="Nunito Sans" pitchFamily="2" charset="0"/>
              </a:rPr>
              <a:t>1+1+1+1+1+1+1+1=8</a:t>
            </a:r>
          </a:p>
          <a:p>
            <a:pPr algn="l"/>
            <a:r>
              <a:rPr lang="en-US" sz="2400" b="0" i="0" dirty="0">
                <a:effectLst/>
                <a:latin typeface="Nunito Sans" pitchFamily="2" charset="0"/>
              </a:rPr>
              <a:t>2+1+1+1+1+1+1=8</a:t>
            </a:r>
          </a:p>
          <a:p>
            <a:pPr algn="l"/>
            <a:r>
              <a:rPr lang="en-US" sz="2400" b="0" i="0" dirty="0">
                <a:effectLst/>
                <a:latin typeface="Nunito Sans" pitchFamily="2" charset="0"/>
              </a:rPr>
              <a:t>2+2+1+1+1+1=8</a:t>
            </a:r>
          </a:p>
          <a:p>
            <a:pPr algn="l"/>
            <a:r>
              <a:rPr lang="en-US" sz="2400" b="0" i="0" dirty="0">
                <a:effectLst/>
                <a:latin typeface="Nunito Sans" pitchFamily="2" charset="0"/>
              </a:rPr>
              <a:t>2+2+2+1+1=8</a:t>
            </a:r>
          </a:p>
          <a:p>
            <a:pPr algn="l"/>
            <a:r>
              <a:rPr lang="en-US" sz="2400" b="0" i="0" dirty="0">
                <a:effectLst/>
                <a:latin typeface="Nunito Sans" pitchFamily="2" charset="0"/>
              </a:rPr>
              <a:t>2+2+2+2=8</a:t>
            </a:r>
          </a:p>
          <a:p>
            <a:pPr algn="l"/>
            <a:r>
              <a:rPr lang="en-US" sz="2400" b="0" i="0" dirty="0">
                <a:effectLst/>
                <a:latin typeface="Nunito Sans" pitchFamily="2" charset="0"/>
              </a:rPr>
              <a:t>Hence there are 5 ways the coin with range up to 2 can be used to get the value of currency note </a:t>
            </a:r>
            <a:r>
              <a:rPr lang="en-US" sz="2400" b="0" i="0" dirty="0" err="1">
                <a:effectLst/>
                <a:latin typeface="Nunito Sans" pitchFamily="2" charset="0"/>
              </a:rPr>
              <a:t>i.e</a:t>
            </a:r>
            <a:r>
              <a:rPr lang="en-US" sz="2400" b="0" i="0" dirty="0">
                <a:effectLst/>
                <a:latin typeface="Nunito Sans" pitchFamily="2" charset="0"/>
              </a:rPr>
              <a:t> 8</a:t>
            </a:r>
          </a:p>
        </p:txBody>
      </p:sp>
    </p:spTree>
    <p:extLst>
      <p:ext uri="{BB962C8B-B14F-4D97-AF65-F5344CB8AC3E}">
        <p14:creationId xmlns:p14="http://schemas.microsoft.com/office/powerpoint/2010/main" val="3531387341"/>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893647"/>
          </a:xfrm>
          <a:prstGeom prst="rect">
            <a:avLst/>
          </a:prstGeom>
          <a:noFill/>
        </p:spPr>
        <p:txBody>
          <a:bodyPr wrap="square">
            <a:spAutoFit/>
          </a:bodyPr>
          <a:lstStyle/>
          <a:p>
            <a:pPr algn="l"/>
            <a:r>
              <a:rPr lang="en-US" sz="2400" b="1" i="0" dirty="0">
                <a:effectLst/>
                <a:latin typeface="Nunito Sans" pitchFamily="2" charset="0"/>
              </a:rPr>
              <a:t>Example 2:</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2 -&gt; Value of N</a:t>
            </a:r>
          </a:p>
          <a:p>
            <a:pPr algn="l"/>
            <a:r>
              <a:rPr lang="en-US" sz="2400" b="0" i="0" dirty="0">
                <a:effectLst/>
                <a:latin typeface="Nunito Sans" pitchFamily="2" charset="0"/>
              </a:rPr>
              <a:t>2-&gt; Value of R</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2→Maximum combinations using values up to R to get the sum equal to N</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The various combinations the currency note N=2 can be formed using the values </a:t>
            </a:r>
            <a:r>
              <a:rPr lang="en-US" sz="2400" b="0" i="0" dirty="0" err="1">
                <a:effectLst/>
                <a:latin typeface="Nunito Sans" pitchFamily="2" charset="0"/>
              </a:rPr>
              <a:t>upto</a:t>
            </a:r>
            <a:r>
              <a:rPr lang="en-US" sz="2400" b="0" i="0" dirty="0">
                <a:effectLst/>
                <a:latin typeface="Nunito Sans" pitchFamily="2" charset="0"/>
              </a:rPr>
              <a:t> range 2 are:</a:t>
            </a:r>
          </a:p>
          <a:p>
            <a:pPr algn="l"/>
            <a:r>
              <a:rPr lang="en-US" sz="2400" b="0" i="0" dirty="0">
                <a:effectLst/>
                <a:latin typeface="Nunito Sans" pitchFamily="2" charset="0"/>
              </a:rPr>
              <a:t>R={1,2}</a:t>
            </a:r>
          </a:p>
          <a:p>
            <a:pPr algn="l"/>
            <a:r>
              <a:rPr lang="en-US" sz="2400" b="0" i="0" dirty="0">
                <a:effectLst/>
                <a:latin typeface="Nunito Sans" pitchFamily="2" charset="0"/>
              </a:rPr>
              <a:t>1+1=2</a:t>
            </a:r>
          </a:p>
          <a:p>
            <a:pPr algn="l"/>
            <a:r>
              <a:rPr lang="en-US" sz="2400" b="0" i="0" dirty="0">
                <a:effectLst/>
                <a:latin typeface="Nunito Sans" pitchFamily="2" charset="0"/>
              </a:rPr>
              <a:t>Hence there are 2 ways the coin with range up to 2 can be used to get the value of currency note </a:t>
            </a:r>
            <a:r>
              <a:rPr lang="en-US" sz="2400" b="0" i="0" dirty="0" err="1">
                <a:effectLst/>
                <a:latin typeface="Nunito Sans" pitchFamily="2" charset="0"/>
              </a:rPr>
              <a:t>i.e</a:t>
            </a:r>
            <a:r>
              <a:rPr lang="en-US" sz="2400" b="0" i="0" dirty="0">
                <a:effectLst/>
                <a:latin typeface="Nunito Sans" pitchFamily="2" charset="0"/>
              </a:rPr>
              <a:t> 2</a:t>
            </a:r>
          </a:p>
        </p:txBody>
      </p:sp>
    </p:spTree>
    <p:extLst>
      <p:ext uri="{BB962C8B-B14F-4D97-AF65-F5344CB8AC3E}">
        <p14:creationId xmlns:p14="http://schemas.microsoft.com/office/powerpoint/2010/main" val="2648039332"/>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findCombinations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Dynamic programming array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Base case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a</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combinations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findCombinations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combinations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39595725"/>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findCombinations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Dynamic programming array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Base case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a:t>
            </a:r>
            <a:r>
              <a:rPr lang="en-IN" sz="2000" dirty="0">
                <a:solidFill>
                  <a:srgbClr val="DCDCDC"/>
                </a:solidFill>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combinations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findCombinations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combinations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126103151"/>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findCombinations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Dynamic programming array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Base case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combinations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findCombinations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combinations</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88945527"/>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findCombinations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4D4D4"/>
                </a:solidFill>
                <a:effectLst/>
                <a:latin typeface="Nunito Sans" pitchFamily="2" charset="0"/>
              </a:rPr>
              <a:t> =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Dynamic programming array</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Base case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j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j -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Calculate combinations using values up to range R</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R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combinations = </a:t>
            </a:r>
            <a:r>
              <a:rPr lang="en-IN" sz="2000" b="0" dirty="0" err="1">
                <a:solidFill>
                  <a:srgbClr val="D4D4D4"/>
                </a:solidFill>
                <a:effectLst/>
                <a:latin typeface="Nunito Sans" pitchFamily="2" charset="0"/>
              </a:rPr>
              <a:t>findCombinations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combinations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33027604"/>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itchFamily="2" charset="0"/>
              </a:rPr>
              <a:t>Topic/Course</a:t>
            </a:r>
            <a:endParaRPr sz="4500" b="1" dirty="0">
              <a:solidFill>
                <a:schemeClr val="bg1"/>
              </a:solidFill>
              <a:latin typeface="Nunito Sans" pitchFamily="2" charset="0"/>
            </a:endParaRPr>
          </a:p>
        </p:txBody>
      </p:sp>
      <p:sp>
        <p:nvSpPr>
          <p:cNvPr id="12" name="Here is where the title goes. Sometimes it could be two lines too"/>
          <p:cNvSpPr txBox="1"/>
          <p:nvPr/>
        </p:nvSpPr>
        <p:spPr>
          <a:xfrm>
            <a:off x="2228196" y="2514600"/>
            <a:ext cx="6745013" cy="284934"/>
          </a:xfrm>
          <a:prstGeom prst="rect">
            <a:avLst/>
          </a:prstGeom>
          <a:ln w="12700">
            <a:miter lim="400000"/>
          </a:ln>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itchFamily="2" charset="0"/>
              </a:rPr>
              <a:t>Sub-Topic (Example: name of college)</a:t>
            </a:r>
            <a:endParaRPr sz="1500" b="1" dirty="0">
              <a:solidFill>
                <a:schemeClr val="bg1"/>
              </a:solidFill>
              <a:latin typeface="Nunito Sans" pitchFamily="2" charset="0"/>
            </a:endParaRPr>
          </a:p>
        </p:txBody>
      </p:sp>
      <p:sp>
        <p:nvSpPr>
          <p:cNvPr id="13" name="TextBox 12"/>
          <p:cNvSpPr txBox="1"/>
          <p:nvPr/>
        </p:nvSpPr>
        <p:spPr>
          <a:xfrm>
            <a:off x="1015554" y="1740939"/>
            <a:ext cx="10160892" cy="1014730"/>
          </a:xfrm>
          <a:prstGeom prst="rect">
            <a:avLst/>
          </a:prstGeom>
          <a:noFill/>
        </p:spPr>
        <p:txBody>
          <a:bodyPr wrap="square" rtlCol="0">
            <a:spAutoFit/>
          </a:bodyPr>
          <a:lstStyle/>
          <a:p>
            <a:r>
              <a:rPr lang="en-US" sz="6000" dirty="0">
                <a:latin typeface="Nunito Sans SemiBold" panose="00000700000000000000" pitchFamily="2" charset="0"/>
              </a:rPr>
              <a:t>Set E</a:t>
            </a:r>
          </a:p>
        </p:txBody>
      </p:sp>
      <p:sp>
        <p:nvSpPr>
          <p:cNvPr id="10" name="Rectangle 9"/>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8000" cy="298969"/>
          </a:xfrm>
          <a:prstGeom prst="rect">
            <a:avLst/>
          </a:prstGeom>
        </p:spPr>
      </p:pic>
    </p:spTree>
    <p:extLst>
      <p:ext uri="{BB962C8B-B14F-4D97-AF65-F5344CB8AC3E}">
        <p14:creationId xmlns:p14="http://schemas.microsoft.com/office/powerpoint/2010/main" val="3060909612"/>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41</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6001643"/>
          </a:xfrm>
          <a:prstGeom prst="rect">
            <a:avLst/>
          </a:prstGeom>
          <a:noFill/>
        </p:spPr>
        <p:txBody>
          <a:bodyPr wrap="square">
            <a:spAutoFit/>
          </a:bodyPr>
          <a:lstStyle/>
          <a:p>
            <a:pPr algn="l"/>
            <a:r>
              <a:rPr lang="en-US" sz="2400" b="0" i="0" dirty="0">
                <a:effectLst/>
                <a:latin typeface="Nunito Sans" pitchFamily="2" charset="0"/>
              </a:rPr>
              <a:t>Given N stones, each stone has some weight assigned to it. A box with C capacity is also given. The task is to find out, the minimum number po/boxes which are e require the box.</a:t>
            </a:r>
          </a:p>
          <a:p>
            <a:pPr algn="l"/>
            <a:r>
              <a:rPr lang="en-US" sz="2400" b="0" i="0" dirty="0">
                <a:effectLst/>
                <a:latin typeface="Nunito Sans" pitchFamily="2" charset="0"/>
              </a:rPr>
              <a:t>Note: C&gt;</a:t>
            </a:r>
            <a:r>
              <a:rPr lang="en-US" sz="2400" b="0" i="0" dirty="0" err="1">
                <a:effectLst/>
                <a:latin typeface="Nunito Sans" pitchFamily="2" charset="0"/>
              </a:rPr>
              <a:t>Arr</a:t>
            </a:r>
            <a:r>
              <a:rPr lang="en-US" sz="2400" b="0" i="0" dirty="0">
                <a:effectLst/>
                <a:latin typeface="Nunito Sans" pitchFamily="2" charset="0"/>
              </a:rPr>
              <a:t>[0] to </a:t>
            </a:r>
            <a:r>
              <a:rPr lang="en-US" sz="2400" b="0" i="0" dirty="0" err="1">
                <a:effectLst/>
                <a:latin typeface="Nunito Sans" pitchFamily="2" charset="0"/>
              </a:rPr>
              <a:t>Arr</a:t>
            </a:r>
            <a:r>
              <a:rPr lang="en-US" sz="2400" b="0" i="0" dirty="0">
                <a:effectLst/>
                <a:latin typeface="Nunito Sans" pitchFamily="2" charset="0"/>
              </a:rPr>
              <a:t>[N], where </a:t>
            </a:r>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 represents the weight of </a:t>
            </a:r>
            <a:r>
              <a:rPr lang="en-US" sz="2400" b="0" i="0" dirty="0" err="1">
                <a:effectLst/>
                <a:latin typeface="Nunito Sans" pitchFamily="2" charset="0"/>
              </a:rPr>
              <a:t>ith</a:t>
            </a:r>
            <a:r>
              <a:rPr lang="en-US" sz="2400" b="0" i="0" dirty="0">
                <a:effectLst/>
                <a:latin typeface="Nunito Sans" pitchFamily="2" charset="0"/>
              </a:rPr>
              <a:t> stone.</a:t>
            </a:r>
          </a:p>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5 -&gt; Value of N</a:t>
            </a:r>
          </a:p>
          <a:p>
            <a:pPr algn="l"/>
            <a:r>
              <a:rPr lang="en-US" sz="2400" b="0" i="0" dirty="0">
                <a:effectLst/>
                <a:latin typeface="Nunito Sans" pitchFamily="2" charset="0"/>
              </a:rPr>
              <a:t>10 20 30 40 50 -&gt; Element of </a:t>
            </a:r>
            <a:r>
              <a:rPr lang="en-US" sz="2400" b="0" i="0" dirty="0" err="1">
                <a:effectLst/>
                <a:latin typeface="Nunito Sans" pitchFamily="2" charset="0"/>
              </a:rPr>
              <a:t>Arr</a:t>
            </a:r>
            <a:r>
              <a:rPr lang="en-US" sz="2400" b="0" i="0" dirty="0">
                <a:effectLst/>
                <a:latin typeface="Nunito Sans" pitchFamily="2" charset="0"/>
              </a:rPr>
              <a:t>[]</a:t>
            </a:r>
          </a:p>
          <a:p>
            <a:pPr algn="l"/>
            <a:r>
              <a:rPr lang="en-US" sz="2400" b="0" i="0" dirty="0">
                <a:effectLst/>
                <a:latin typeface="Nunito Sans" pitchFamily="2" charset="0"/>
              </a:rPr>
              <a:t>60 -&gt; Value of C</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3 -&gt;Minimum 3 boxes required.</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err="1">
                <a:effectLst/>
                <a:latin typeface="Nunito Sans" pitchFamily="2" charset="0"/>
              </a:rPr>
              <a:t>Arr</a:t>
            </a:r>
            <a:r>
              <a:rPr lang="en-US" sz="2400" b="0" i="0" dirty="0">
                <a:effectLst/>
                <a:latin typeface="Nunito Sans" pitchFamily="2" charset="0"/>
              </a:rPr>
              <a:t>[]={10,20,30,40,50} and C-60</a:t>
            </a:r>
          </a:p>
          <a:p>
            <a:pPr algn="l"/>
            <a:r>
              <a:rPr lang="en-US" sz="2400" b="0" i="0" dirty="0">
                <a:effectLst/>
                <a:latin typeface="Nunito Sans" pitchFamily="2" charset="0"/>
              </a:rPr>
              <a:t>1st box={10,20,30}</a:t>
            </a:r>
          </a:p>
          <a:p>
            <a:pPr algn="l"/>
            <a:r>
              <a:rPr lang="en-US" sz="2400" b="0" i="0" dirty="0">
                <a:effectLst/>
                <a:latin typeface="Nunito Sans" pitchFamily="2" charset="0"/>
              </a:rPr>
              <a:t>2nd box=(40)</a:t>
            </a:r>
          </a:p>
          <a:p>
            <a:pPr algn="l"/>
            <a:endParaRPr lang="en-US" sz="2400" b="0" i="0" dirty="0">
              <a:effectLst/>
              <a:latin typeface="Nunito Sans" pitchFamily="2" charset="0"/>
            </a:endParaRPr>
          </a:p>
        </p:txBody>
      </p:sp>
    </p:spTree>
    <p:extLst>
      <p:ext uri="{BB962C8B-B14F-4D97-AF65-F5344CB8AC3E}">
        <p14:creationId xmlns:p14="http://schemas.microsoft.com/office/powerpoint/2010/main" val="910433572"/>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41</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4154984"/>
          </a:xfrm>
          <a:prstGeom prst="rect">
            <a:avLst/>
          </a:prstGeom>
          <a:noFill/>
        </p:spPr>
        <p:txBody>
          <a:bodyPr wrap="square">
            <a:spAutoFit/>
          </a:bodyPr>
          <a:lstStyle/>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1&lt;N&lt;=100</a:t>
            </a:r>
          </a:p>
          <a:p>
            <a:pPr algn="l"/>
            <a:r>
              <a:rPr lang="en-US" sz="2400" b="0" i="0" dirty="0">
                <a:effectLst/>
                <a:latin typeface="Nunito Sans" pitchFamily="2" charset="0"/>
              </a:rPr>
              <a:t>1&lt;=</a:t>
            </a:r>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]&lt;=100</a:t>
            </a:r>
          </a:p>
          <a:p>
            <a:pPr algn="l"/>
            <a:r>
              <a:rPr lang="en-US" sz="2400" b="0" i="0" dirty="0" err="1">
                <a:effectLst/>
                <a:latin typeface="Nunito Sans" pitchFamily="2" charset="0"/>
              </a:rPr>
              <a:t>Arr</a:t>
            </a:r>
            <a:r>
              <a:rPr lang="en-US" sz="2400" b="0" i="0" dirty="0">
                <a:effectLst/>
                <a:latin typeface="Nunito Sans" pitchFamily="2" charset="0"/>
              </a:rPr>
              <a:t>[</a:t>
            </a:r>
            <a:r>
              <a:rPr lang="en-US" sz="2400" b="0" i="0" dirty="0" err="1">
                <a:effectLst/>
                <a:latin typeface="Nunito Sans" pitchFamily="2" charset="0"/>
              </a:rPr>
              <a:t>i</a:t>
            </a:r>
            <a:r>
              <a:rPr lang="en-US" sz="2400" b="0" i="0" dirty="0">
                <a:effectLst/>
                <a:latin typeface="Nunito Sans" pitchFamily="2" charset="0"/>
              </a:rPr>
              <a:t>]&lt;C&lt;=200</a:t>
            </a:r>
          </a:p>
          <a:p>
            <a:pPr algn="l"/>
            <a:r>
              <a:rPr lang="en-US" sz="2400" b="1" i="0" dirty="0">
                <a:effectLst/>
                <a:latin typeface="Nunito Sans" pitchFamily="2" charset="0"/>
              </a:rPr>
              <a:t>Example 2:</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4 -&gt; Value of N</a:t>
            </a:r>
          </a:p>
          <a:p>
            <a:pPr algn="l"/>
            <a:r>
              <a:rPr lang="en-US" sz="2400" b="0" i="0" dirty="0">
                <a:effectLst/>
                <a:latin typeface="Nunito Sans" pitchFamily="2" charset="0"/>
              </a:rPr>
              <a:t>10 20 30 30 -&gt; Element of </a:t>
            </a:r>
            <a:r>
              <a:rPr lang="en-US" sz="2400" b="0" i="0" dirty="0" err="1">
                <a:effectLst/>
                <a:latin typeface="Nunito Sans" pitchFamily="2" charset="0"/>
              </a:rPr>
              <a:t>Arr</a:t>
            </a:r>
            <a:r>
              <a:rPr lang="en-US" sz="2400" b="0" i="0" dirty="0">
                <a:effectLst/>
                <a:latin typeface="Nunito Sans" pitchFamily="2" charset="0"/>
              </a:rPr>
              <a:t>[]</a:t>
            </a:r>
          </a:p>
          <a:p>
            <a:pPr algn="l"/>
            <a:r>
              <a:rPr lang="en-US" sz="2400" b="0" i="0" dirty="0">
                <a:effectLst/>
                <a:latin typeface="Nunito Sans" pitchFamily="2" charset="0"/>
              </a:rPr>
              <a:t>80 -&gt; Value of C</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 2 -&gt; Minimum 2 boxes required.</a:t>
            </a:r>
          </a:p>
        </p:txBody>
      </p:sp>
    </p:spTree>
    <p:extLst>
      <p:ext uri="{BB962C8B-B14F-4D97-AF65-F5344CB8AC3E}">
        <p14:creationId xmlns:p14="http://schemas.microsoft.com/office/powerpoint/2010/main" val="424884696"/>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minBoxesRequired</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boxes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72052544"/>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minBoxesRequired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25245516"/>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#include&lt;</a:t>
            </a:r>
            <a:r>
              <a:rPr lang="en-IN" sz="2000" b="0" dirty="0">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minBoxesRequired</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boxes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34968336"/>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minBoxesRequired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966505379"/>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minBoxesRequired</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boxes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currentCapacity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58861340"/>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minBoxesRequired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63525009"/>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min_boxes_required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current_capacity</a:t>
            </a:r>
            <a:r>
              <a:rPr lang="en-IN" sz="2000" b="0" dirty="0">
                <a:solidFill>
                  <a:srgbClr val="D4D4D4"/>
                </a:solidFill>
                <a:effectLst/>
                <a:latin typeface="Nunito Sans" pitchFamily="2" charset="0"/>
              </a:rPr>
              <a:t> = c</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&lt;= </a:t>
            </a:r>
            <a:r>
              <a:rPr lang="en-IN" sz="2000" b="0" dirty="0" err="1">
                <a:solidFill>
                  <a:srgbClr val="D4D4D4"/>
                </a:solidFill>
                <a:effectLst/>
                <a:latin typeface="Nunito Sans" pitchFamily="2" charset="0"/>
              </a:rPr>
              <a:t>current_capacity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current_capacity</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current_capacity</a:t>
            </a:r>
            <a:r>
              <a:rPr lang="en-IN" sz="2000" b="0" dirty="0">
                <a:solidFill>
                  <a:srgbClr val="D4D4D4"/>
                </a:solidFill>
                <a:effectLst/>
                <a:latin typeface="Nunito Sans" pitchFamily="2" charset="0"/>
              </a:rPr>
              <a:t> = c -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current_capacity</a:t>
            </a:r>
            <a:r>
              <a:rPr lang="en-IN" sz="2000" b="0" dirty="0">
                <a:solidFill>
                  <a:srgbClr val="D4D4D4"/>
                </a:solidFill>
                <a:effectLst/>
                <a:latin typeface="Nunito Sans" pitchFamily="2" charset="0"/>
              </a:rPr>
              <a:t> &lt;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boxes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boxes</a:t>
            </a:r>
          </a:p>
          <a:p>
            <a:r>
              <a:rPr lang="en-IN" sz="2000" b="0" dirty="0">
                <a:solidFill>
                  <a:srgbClr val="D4D4D4"/>
                </a:solidFill>
                <a:effectLst/>
                <a:latin typeface="Nunito Sans" pitchFamily="2" charset="0"/>
              </a:rPr>
              <a:t>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arr</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c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min_boxes</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min_boxes_required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min_boxes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992378062"/>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59657" y="907427"/>
            <a:ext cx="11858172" cy="5262979"/>
          </a:xfrm>
          <a:prstGeom prst="rect">
            <a:avLst/>
          </a:prstGeom>
          <a:noFill/>
        </p:spPr>
        <p:txBody>
          <a:bodyPr wrap="square">
            <a:spAutoFit/>
          </a:bodyPr>
          <a:lstStyle/>
          <a:p>
            <a:pPr algn="l"/>
            <a:r>
              <a:rPr lang="en-US" sz="2400" b="0" i="0" dirty="0">
                <a:effectLst/>
                <a:latin typeface="Nunito Sans" pitchFamily="2" charset="0"/>
              </a:rPr>
              <a:t>Given a string Str, which contains numbers (0 to 9)and also letters of the English and to 'Z'). The task is to reverse string the string in such a way that the </a:t>
            </a:r>
            <a:r>
              <a:rPr lang="en-US" sz="2400" b="0" i="0" dirty="0" err="1">
                <a:effectLst/>
                <a:latin typeface="Nunito Sans" pitchFamily="2" charset="0"/>
              </a:rPr>
              <a:t>positiors</a:t>
            </a:r>
            <a:r>
              <a:rPr lang="en-US" sz="2400" b="0" i="0" dirty="0">
                <a:effectLst/>
                <a:latin typeface="Nunito Sans" pitchFamily="2" charset="0"/>
              </a:rPr>
              <a:t> of numbers in the string are left unaltered.</a:t>
            </a:r>
          </a:p>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a1b2igh3 -&gt; Value of Str</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h1g2iba3</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Without changing the positions of 1, 2 and 3, only the positions of characters 'h', 'g, "</a:t>
            </a:r>
            <a:r>
              <a:rPr lang="en-US" sz="2400" b="0" i="0" dirty="0" err="1">
                <a:effectLst/>
                <a:latin typeface="Nunito Sans" pitchFamily="2" charset="0"/>
              </a:rPr>
              <a:t>i</a:t>
            </a:r>
            <a:r>
              <a:rPr lang="en-US" sz="2400" b="0" i="0" dirty="0">
                <a:effectLst/>
                <a:latin typeface="Nunito Sans" pitchFamily="2" charset="0"/>
              </a:rPr>
              <a:t>', 'b' and 'a' have been reversed.</a:t>
            </a:r>
          </a:p>
          <a:p>
            <a:pPr algn="l"/>
            <a:br>
              <a:rPr lang="en-US" sz="2400" b="0" i="0" dirty="0">
                <a:effectLst/>
                <a:latin typeface="Nunito Sans" pitchFamily="2" charset="0"/>
              </a:rPr>
            </a:br>
            <a:endParaRPr lang="en-US" sz="2400" b="0" i="0" dirty="0">
              <a:effectLst/>
              <a:latin typeface="Nunito Sans" pitchFamily="2" charset="0"/>
            </a:endParaRPr>
          </a:p>
          <a:p>
            <a:pPr algn="l"/>
            <a:r>
              <a:rPr lang="en-US" sz="2400" b="1" i="0" dirty="0">
                <a:effectLst/>
                <a:latin typeface="Nunito Sans" pitchFamily="2" charset="0"/>
              </a:rPr>
              <a:t>﻿</a:t>
            </a:r>
            <a:endParaRPr lang="en-US" sz="2400" b="0" i="0" dirty="0">
              <a:effectLst/>
              <a:latin typeface="Nunito Sans" pitchFamily="2" charset="0"/>
            </a:endParaRPr>
          </a:p>
        </p:txBody>
      </p:sp>
    </p:spTree>
    <p:extLst>
      <p:ext uri="{BB962C8B-B14F-4D97-AF65-F5344CB8AC3E}">
        <p14:creationId xmlns:p14="http://schemas.microsoft.com/office/powerpoint/2010/main" val="2727929887"/>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1938992"/>
          </a:xfrm>
          <a:prstGeom prst="rect">
            <a:avLst/>
          </a:prstGeom>
          <a:noFill/>
        </p:spPr>
        <p:txBody>
          <a:bodyPr wrap="square">
            <a:spAutoFit/>
          </a:bodyPr>
          <a:lstStyle/>
          <a:p>
            <a:pPr algn="l"/>
            <a:r>
              <a:rPr lang="en-US" sz="2400" b="1" i="0" dirty="0">
                <a:effectLst/>
                <a:latin typeface="Nunito Sans" pitchFamily="2" charset="0"/>
              </a:rPr>
              <a:t>Example 2:</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Ab5c7de96 -&gt; Value of Str</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ed5c7bA96</a:t>
            </a:r>
          </a:p>
        </p:txBody>
      </p:sp>
    </p:spTree>
    <p:extLst>
      <p:ext uri="{BB962C8B-B14F-4D97-AF65-F5344CB8AC3E}">
        <p14:creationId xmlns:p14="http://schemas.microsoft.com/office/powerpoint/2010/main" val="381705946"/>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ctype.h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reverseString</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start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end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Skip numbers in the string</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isdigit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isdigit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52933171"/>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608B4E"/>
                </a:solidFill>
                <a:effectLst/>
                <a:latin typeface="Nunito Sans" pitchFamily="2" charset="0"/>
              </a:rPr>
              <a:t>// Swap characters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temp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temp</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reverseString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813176945"/>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cctype</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reverseString</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start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end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Skip numbers in the string</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isdigit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isdigit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16439461"/>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Swap characters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temp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temp</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reverseString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962131427"/>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reverseString</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start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end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Skip numbers in the string</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Character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isDigit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Character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isDigit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Swap characters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temp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698120824"/>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temp</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input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nextLine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input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toCharArray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reverseString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51758958"/>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reverseString</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 = </a:t>
            </a:r>
            <a:r>
              <a:rPr lang="en-IN" sz="2000" b="0" dirty="0" err="1">
                <a:solidFill>
                  <a:srgbClr val="569CD6"/>
                </a:solidFill>
                <a:effectLst/>
                <a:latin typeface="Nunito Sans" pitchFamily="2" charset="0"/>
              </a:rPr>
              <a:t>len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start &lt; 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Skip numbers in the string</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t>
            </a:r>
            <a:r>
              <a:rPr lang="en-IN" sz="2000" b="0" dirty="0" err="1">
                <a:solidFill>
                  <a:srgbClr val="D4D4D4"/>
                </a:solidFill>
                <a:effectLst/>
                <a:latin typeface="Nunito Sans" pitchFamily="2" charset="0"/>
              </a:rPr>
              <a:t>isdigit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t>
            </a:r>
            <a:r>
              <a:rPr lang="en-IN" sz="2000" b="0" dirty="0" err="1">
                <a:solidFill>
                  <a:srgbClr val="D4D4D4"/>
                </a:solidFill>
                <a:effectLst/>
                <a:latin typeface="Nunito Sans" pitchFamily="2" charset="0"/>
              </a:rPr>
              <a:t>isdigit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Swap characters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end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start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start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end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608B4E"/>
                </a:solidFill>
                <a:effectLst/>
                <a:latin typeface="Nunito Sans" pitchFamily="2" charset="0"/>
              </a:rPr>
              <a:t># Main function</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input_str</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str_list</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input_str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reverseString</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str_list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.join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str_list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543576892"/>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154984"/>
          </a:xfrm>
          <a:prstGeom prst="rect">
            <a:avLst/>
          </a:prstGeom>
          <a:noFill/>
        </p:spPr>
        <p:txBody>
          <a:bodyPr wrap="square">
            <a:spAutoFit/>
          </a:bodyPr>
          <a:lstStyle/>
          <a:p>
            <a:pPr algn="l"/>
            <a:r>
              <a:rPr lang="en-US" sz="2400" b="0" i="0" dirty="0">
                <a:effectLst/>
                <a:latin typeface="Nunito Sans" pitchFamily="2" charset="0"/>
              </a:rPr>
              <a:t>A thief pretending to be a customer entered a </a:t>
            </a:r>
            <a:r>
              <a:rPr lang="en-US" sz="2400" b="0" i="0" dirty="0" err="1">
                <a:effectLst/>
                <a:latin typeface="Nunito Sans" pitchFamily="2" charset="0"/>
              </a:rPr>
              <a:t>jewellery</a:t>
            </a:r>
            <a:r>
              <a:rPr lang="en-US" sz="2400" b="0" i="0" dirty="0">
                <a:effectLst/>
                <a:latin typeface="Nunito Sans" pitchFamily="2" charset="0"/>
              </a:rPr>
              <a:t> store. On the same night, he planned a burglary. There is 'N' number of items with their (a[]) on display boards. The thief scans through the prices of all the items. The task here is to find the most valuable (costliest) items of </a:t>
            </a:r>
            <a:r>
              <a:rPr lang="en-US" sz="2400" b="0" i="0" dirty="0" err="1">
                <a:effectLst/>
                <a:latin typeface="Nunito Sans" pitchFamily="2" charset="0"/>
              </a:rPr>
              <a:t>jewellery</a:t>
            </a:r>
            <a:r>
              <a:rPr lang="en-US" sz="2400" b="0" i="0" dirty="0">
                <a:effectLst/>
                <a:latin typeface="Nunito Sans" pitchFamily="2" charset="0"/>
              </a:rPr>
              <a:t> to steal.</a:t>
            </a:r>
          </a:p>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8 →Value of N</a:t>
            </a:r>
          </a:p>
          <a:p>
            <a:pPr algn="l"/>
            <a:r>
              <a:rPr lang="en-US" sz="2400" b="0" i="0" dirty="0">
                <a:effectLst/>
                <a:latin typeface="Nunito Sans" pitchFamily="2" charset="0"/>
              </a:rPr>
              <a:t>102 101 5 7 99 1 2 3→ a[], Elements a[0]to a[N- 1], where input each element is </a:t>
            </a:r>
            <a:r>
              <a:rPr lang="en-US" sz="2400" b="0" i="0" dirty="0" err="1">
                <a:effectLst/>
                <a:latin typeface="Nunito Sans" pitchFamily="2" charset="0"/>
              </a:rPr>
              <a:t>seperated</a:t>
            </a:r>
            <a:r>
              <a:rPr lang="en-US" sz="2400" b="0" i="0" dirty="0">
                <a:effectLst/>
                <a:latin typeface="Nunito Sans" pitchFamily="2" charset="0"/>
              </a:rPr>
              <a:t> by a new line</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111→Number of elements whose adjacent elements are greater</a:t>
            </a:r>
          </a:p>
        </p:txBody>
      </p:sp>
    </p:spTree>
    <p:extLst>
      <p:ext uri="{BB962C8B-B14F-4D97-AF65-F5344CB8AC3E}">
        <p14:creationId xmlns:p14="http://schemas.microsoft.com/office/powerpoint/2010/main" val="1416973122"/>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632311"/>
          </a:xfrm>
          <a:prstGeom prst="rect">
            <a:avLst/>
          </a:prstGeom>
          <a:noFill/>
        </p:spPr>
        <p:txBody>
          <a:bodyPr wrap="square">
            <a:spAutoFit/>
          </a:bodyPr>
          <a:lstStyle/>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Starting from the first element we create subarrays of elements which are in ascending order.</a:t>
            </a:r>
          </a:p>
          <a:p>
            <a:pPr algn="l"/>
            <a:r>
              <a:rPr lang="en-US" sz="2400" b="0" i="0" dirty="0">
                <a:effectLst/>
                <a:latin typeface="Nunito Sans" pitchFamily="2" charset="0"/>
              </a:rPr>
              <a:t>a[0]&gt;a[1]</a:t>
            </a:r>
          </a:p>
          <a:p>
            <a:pPr algn="l"/>
            <a:r>
              <a:rPr lang="en-US" sz="2400" b="0" i="0" dirty="0">
                <a:effectLst/>
                <a:latin typeface="Nunito Sans" pitchFamily="2" charset="0"/>
              </a:rPr>
              <a:t>Subarray 1: {102}</a:t>
            </a:r>
          </a:p>
          <a:p>
            <a:pPr algn="l"/>
            <a:r>
              <a:rPr lang="en-US" sz="2400" b="0" i="0" dirty="0">
                <a:effectLst/>
                <a:latin typeface="Nunito Sans" pitchFamily="2" charset="0"/>
              </a:rPr>
              <a:t>a[1]&gt;a[2]</a:t>
            </a:r>
          </a:p>
          <a:p>
            <a:pPr algn="l"/>
            <a:r>
              <a:rPr lang="en-US" sz="2400" b="0" i="0" dirty="0">
                <a:effectLst/>
                <a:latin typeface="Nunito Sans" pitchFamily="2" charset="0"/>
              </a:rPr>
              <a:t>Subarray 2: {101}</a:t>
            </a:r>
          </a:p>
          <a:p>
            <a:pPr algn="l"/>
            <a:r>
              <a:rPr lang="en-US" sz="2400" b="0" i="0" dirty="0">
                <a:effectLst/>
                <a:latin typeface="Nunito Sans" pitchFamily="2" charset="0"/>
              </a:rPr>
              <a:t>a[2]&lt;a[3]</a:t>
            </a:r>
          </a:p>
          <a:p>
            <a:pPr algn="l"/>
            <a:r>
              <a:rPr lang="en-US" sz="2400" b="0" i="0" dirty="0">
                <a:effectLst/>
                <a:latin typeface="Nunito Sans" pitchFamily="2" charset="0"/>
              </a:rPr>
              <a:t>In this </a:t>
            </a:r>
            <a:r>
              <a:rPr lang="en-US" sz="2400" b="0" i="0" dirty="0" err="1">
                <a:effectLst/>
                <a:latin typeface="Nunito Sans" pitchFamily="2" charset="0"/>
              </a:rPr>
              <a:t>case,we</a:t>
            </a:r>
            <a:r>
              <a:rPr lang="en-US" sz="2400" b="0" i="0" dirty="0">
                <a:effectLst/>
                <a:latin typeface="Nunito Sans" pitchFamily="2" charset="0"/>
              </a:rPr>
              <a:t> will continue to compare with next element until we find a greater number.</a:t>
            </a:r>
          </a:p>
          <a:p>
            <a:pPr algn="l"/>
            <a:r>
              <a:rPr lang="en-US" sz="2400" b="0" i="0" dirty="0">
                <a:effectLst/>
                <a:latin typeface="Nunito Sans" pitchFamily="2" charset="0"/>
              </a:rPr>
              <a:t>a[3]&lt;a[4],continue</a:t>
            </a:r>
          </a:p>
          <a:p>
            <a:pPr algn="l"/>
            <a:r>
              <a:rPr lang="en-US" sz="2400" b="0" i="0" dirty="0">
                <a:effectLst/>
                <a:latin typeface="Nunito Sans" pitchFamily="2" charset="0"/>
              </a:rPr>
              <a:t>a[4]&gt;a[5],stop and create sub array</a:t>
            </a:r>
          </a:p>
          <a:p>
            <a:pPr algn="l"/>
            <a:r>
              <a:rPr lang="en-US" sz="2400" b="0" i="0" dirty="0">
                <a:effectLst/>
                <a:latin typeface="Nunito Sans" pitchFamily="2" charset="0"/>
              </a:rPr>
              <a:t>Subarray 3: {5,7,99}</a:t>
            </a:r>
          </a:p>
          <a:p>
            <a:pPr algn="l"/>
            <a:r>
              <a:rPr lang="en-US" sz="2400" b="0" i="0" dirty="0">
                <a:effectLst/>
                <a:latin typeface="Nunito Sans" pitchFamily="2" charset="0"/>
              </a:rPr>
              <a:t>a[5]&gt;a[6],continue</a:t>
            </a:r>
          </a:p>
          <a:p>
            <a:pPr algn="l"/>
            <a:r>
              <a:rPr lang="en-US" sz="2400" b="0" i="0" dirty="0">
                <a:effectLst/>
                <a:latin typeface="Nunito Sans" pitchFamily="2" charset="0"/>
              </a:rPr>
              <a:t>a[6]&gt;a[7],end of array</a:t>
            </a:r>
          </a:p>
        </p:txBody>
      </p:sp>
    </p:spTree>
    <p:extLst>
      <p:ext uri="{BB962C8B-B14F-4D97-AF65-F5344CB8AC3E}">
        <p14:creationId xmlns:p14="http://schemas.microsoft.com/office/powerpoint/2010/main" val="4072660846"/>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154984"/>
          </a:xfrm>
          <a:prstGeom prst="rect">
            <a:avLst/>
          </a:prstGeom>
          <a:noFill/>
        </p:spPr>
        <p:txBody>
          <a:bodyPr wrap="square">
            <a:spAutoFit/>
          </a:bodyPr>
          <a:lstStyle/>
          <a:p>
            <a:pPr algn="l"/>
            <a:r>
              <a:rPr lang="en-US" sz="2400" b="0" i="0" dirty="0">
                <a:effectLst/>
                <a:latin typeface="Nunito Sans" pitchFamily="2" charset="0"/>
              </a:rPr>
              <a:t>Subarray 4:{1,2,3}</a:t>
            </a:r>
          </a:p>
          <a:p>
            <a:pPr algn="l"/>
            <a:r>
              <a:rPr lang="en-US" sz="2400" b="0" i="0" dirty="0">
                <a:effectLst/>
                <a:latin typeface="Nunito Sans" pitchFamily="2" charset="0"/>
              </a:rPr>
              <a:t>Summing up prices of each subarray:</a:t>
            </a:r>
          </a:p>
          <a:p>
            <a:pPr algn="l"/>
            <a:r>
              <a:rPr lang="en-US" sz="2400" b="0" i="0" dirty="0" err="1">
                <a:effectLst/>
                <a:latin typeface="Nunito Sans" pitchFamily="2" charset="0"/>
              </a:rPr>
              <a:t>above,we</a:t>
            </a:r>
            <a:r>
              <a:rPr lang="en-US" sz="2400" b="0" i="0" dirty="0">
                <a:effectLst/>
                <a:latin typeface="Nunito Sans" pitchFamily="2" charset="0"/>
              </a:rPr>
              <a:t> can deduce the sub array 3 has the most valuable items.</a:t>
            </a:r>
          </a:p>
          <a:p>
            <a:pPr algn="l"/>
            <a:r>
              <a:rPr lang="en-US" sz="2400" b="0" i="0" dirty="0">
                <a:effectLst/>
                <a:latin typeface="Nunito Sans" pitchFamily="2" charset="0"/>
              </a:rPr>
              <a:t>Hence the output is 111. </a:t>
            </a:r>
          </a:p>
          <a:p>
            <a:pPr algn="l"/>
            <a:r>
              <a:rPr lang="en-US" sz="2400" b="1" i="0" dirty="0">
                <a:effectLst/>
                <a:latin typeface="Nunito Sans" pitchFamily="2" charset="0"/>
              </a:rPr>
              <a:t>Example 2:</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5 →Value of N</a:t>
            </a:r>
          </a:p>
          <a:p>
            <a:pPr algn="l"/>
            <a:r>
              <a:rPr lang="en-US" sz="2400" b="0" i="0" dirty="0">
                <a:effectLst/>
                <a:latin typeface="Nunito Sans" pitchFamily="2" charset="0"/>
              </a:rPr>
              <a:t>10 20 30 40 50 → a[], Elements a[0]to a[N- 1], where input each element is </a:t>
            </a:r>
            <a:r>
              <a:rPr lang="en-US" sz="2400" b="0" i="0" dirty="0" err="1">
                <a:effectLst/>
                <a:latin typeface="Nunito Sans" pitchFamily="2" charset="0"/>
              </a:rPr>
              <a:t>seperated</a:t>
            </a:r>
            <a:r>
              <a:rPr lang="en-US" sz="2400" b="0" i="0" dirty="0">
                <a:effectLst/>
                <a:latin typeface="Nunito Sans" pitchFamily="2" charset="0"/>
              </a:rPr>
              <a:t> by a new line</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150→Number of elements whose adjacent elements are greater</a:t>
            </a:r>
          </a:p>
        </p:txBody>
      </p:sp>
    </p:spTree>
    <p:extLst>
      <p:ext uri="{BB962C8B-B14F-4D97-AF65-F5344CB8AC3E}">
        <p14:creationId xmlns:p14="http://schemas.microsoft.com/office/powerpoint/2010/main" val="3896082444"/>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countValuableItems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078715552"/>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Check if the last element is part of a valuable item</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5510454"/>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result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countValuableItems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result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53806122"/>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countValuableItems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Check if the last element is part of a valuable item</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926039081"/>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2</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currentSum</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maxSum</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max</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maxSum</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currentSum</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maxSum</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a</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result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countValuableItems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&lt;&lt;</a:t>
            </a:r>
            <a:r>
              <a:rPr lang="en-US" sz="2000" b="0" dirty="0">
                <a:solidFill>
                  <a:srgbClr val="D4D4D4"/>
                </a:solidFill>
                <a:effectLst/>
                <a:latin typeface="Nunito Sans" pitchFamily="2" charset="0"/>
              </a:rPr>
              <a:t>result </a:t>
            </a:r>
            <a:r>
              <a:rPr lang="en-US" sz="2000" b="0" dirty="0">
                <a:solidFill>
                  <a:srgbClr val="DCDCDC"/>
                </a:solidFill>
                <a:effectLst/>
                <a:latin typeface="Nunito Sans" pitchFamily="2" charset="0"/>
              </a:rPr>
              <a:t>&lt;&lt;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endl</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19501982"/>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countValuableItems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62210511"/>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Check if the last element is part of a valuable item</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997764524"/>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countValuableItems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791026210"/>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countValuableItems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&lt;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&gt; </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currentSum</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Check if the last element is part of a valuable item</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&lt;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currentSum</a:t>
            </a:r>
            <a:r>
              <a:rPr lang="en-IN" sz="2000" b="0" dirty="0">
                <a:solidFill>
                  <a:srgbClr val="D4D4D4"/>
                </a:solidFill>
                <a:effectLst/>
                <a:latin typeface="Nunito Sans" pitchFamily="2" charset="0"/>
              </a:rPr>
              <a:t> &gt; </a:t>
            </a:r>
            <a:r>
              <a:rPr lang="en-IN" sz="2000" b="0" dirty="0" err="1">
                <a:solidFill>
                  <a:srgbClr val="D4D4D4"/>
                </a:solidFill>
                <a:effectLst/>
                <a:latin typeface="Nunito Sans" pitchFamily="2" charset="0"/>
              </a:rPr>
              <a:t>maxSum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currentSum</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maxSum</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a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667334094"/>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result = </a:t>
            </a:r>
            <a:r>
              <a:rPr lang="en-US" sz="2000" b="0" dirty="0" err="1">
                <a:solidFill>
                  <a:srgbClr val="D4D4D4"/>
                </a:solidFill>
                <a:effectLst/>
                <a:latin typeface="Nunito Sans" pitchFamily="2" charset="0"/>
              </a:rPr>
              <a:t>countValuableItems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result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076073"/>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893647"/>
          </a:xfrm>
          <a:prstGeom prst="rect">
            <a:avLst/>
          </a:prstGeom>
          <a:noFill/>
        </p:spPr>
        <p:txBody>
          <a:bodyPr wrap="square">
            <a:spAutoFit/>
          </a:bodyPr>
          <a:lstStyle/>
          <a:p>
            <a:pPr algn="l"/>
            <a:r>
              <a:rPr lang="en-US" sz="2400" b="0" i="0" dirty="0">
                <a:effectLst/>
                <a:latin typeface="Nunito Sans" pitchFamily="2" charset="0"/>
              </a:rPr>
              <a:t>An automation company is about to launch its beta version of automatic doors for the home. Before using voice assistant or Smartphone control, they build a remote control to operate the doors. Due to technical wirework issues, the automation process isn't operating correctly. Assume, there are an N number of doors in a home. It so happens that if one door is opened/closed using a remote control, all the doors in the following indexes will also change their state. i.e. if the initial state of a door(a[0]) is open(1), on pressing the open button on the remote control, all the doors(a[1],a[2],a[3]........) change</a:t>
            </a:r>
          </a:p>
          <a:p>
            <a:pPr algn="l"/>
            <a:r>
              <a:rPr lang="en-US" sz="2400" b="0" i="0" dirty="0">
                <a:effectLst/>
                <a:latin typeface="Nunito Sans" pitchFamily="2" charset="0"/>
              </a:rPr>
              <a:t>their state. Initially, the state of each whether doors open close (0) is given as array elements. The task </a:t>
            </a:r>
            <a:r>
              <a:rPr lang="en-US" sz="2400" b="0" i="0" dirty="0" err="1">
                <a:effectLst/>
                <a:latin typeface="Nunito Sans" pitchFamily="2" charset="0"/>
              </a:rPr>
              <a:t>hereis</a:t>
            </a:r>
            <a:r>
              <a:rPr lang="en-US" sz="2400" b="0" i="0" dirty="0">
                <a:effectLst/>
                <a:latin typeface="Nunito Sans" pitchFamily="2" charset="0"/>
              </a:rPr>
              <a:t> to find the LEAST number of times the button (On/Off) on the remote control has to be used such that all the doors are opened.</a:t>
            </a:r>
          </a:p>
          <a:p>
            <a:pPr algn="l"/>
            <a:r>
              <a:rPr lang="en-US" sz="2400" b="1" i="0" dirty="0">
                <a:effectLst/>
                <a:latin typeface="Nunito Sans" pitchFamily="2" charset="0"/>
              </a:rPr>
              <a:t>Note: </a:t>
            </a:r>
            <a:r>
              <a:rPr lang="en-US" sz="2400" b="0" i="0" dirty="0">
                <a:effectLst/>
                <a:latin typeface="Nunito Sans" pitchFamily="2" charset="0"/>
              </a:rPr>
              <a:t>The On/Off button for each door can be pressed multiple times.</a:t>
            </a:r>
          </a:p>
          <a:p>
            <a:pPr algn="l"/>
            <a:endParaRPr lang="en-US" sz="2400" b="0" i="0" dirty="0">
              <a:effectLst/>
              <a:latin typeface="Nunito Sans" pitchFamily="2" charset="0"/>
            </a:endParaRPr>
          </a:p>
        </p:txBody>
      </p:sp>
    </p:spTree>
    <p:extLst>
      <p:ext uri="{BB962C8B-B14F-4D97-AF65-F5344CB8AC3E}">
        <p14:creationId xmlns:p14="http://schemas.microsoft.com/office/powerpoint/2010/main" val="2883291723"/>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524315"/>
          </a:xfrm>
          <a:prstGeom prst="rect">
            <a:avLst/>
          </a:prstGeom>
          <a:noFill/>
        </p:spPr>
        <p:txBody>
          <a:bodyPr wrap="square">
            <a:spAutoFit/>
          </a:bodyPr>
          <a:lstStyle/>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5 -&gt; value of N</a:t>
            </a:r>
          </a:p>
          <a:p>
            <a:pPr algn="l"/>
            <a:r>
              <a:rPr lang="en-US" sz="2400" b="0" i="0" dirty="0">
                <a:effectLst/>
                <a:latin typeface="Nunito Sans" pitchFamily="2" charset="0"/>
              </a:rPr>
              <a:t>(1,0,1,1,1] → a[], Element of a[0]to a[N-1],While</a:t>
            </a:r>
          </a:p>
          <a:p>
            <a:pPr algn="l"/>
            <a:r>
              <a:rPr lang="en-US" sz="2400" b="0" i="0" dirty="0">
                <a:effectLst/>
                <a:latin typeface="Nunito Sans" pitchFamily="2" charset="0"/>
              </a:rPr>
              <a:t>Input each element is separated by new line</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2 → Least count of button press</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a0=[1,0,1,1,1]</a:t>
            </a:r>
          </a:p>
          <a:p>
            <a:pPr algn="l"/>
            <a:r>
              <a:rPr lang="en-US" sz="2400" b="0" i="0" dirty="0">
                <a:effectLst/>
                <a:latin typeface="Nunito Sans" pitchFamily="2" charset="0"/>
              </a:rPr>
              <a:t>Press button 1: [1,1,0,0,0]</a:t>
            </a:r>
          </a:p>
          <a:p>
            <a:pPr algn="l"/>
            <a:r>
              <a:rPr lang="en-US" sz="2400" b="0" i="0" dirty="0">
                <a:effectLst/>
                <a:latin typeface="Nunito Sans" pitchFamily="2" charset="0"/>
              </a:rPr>
              <a:t>Press button 2: [1,1,1,1,1]</a:t>
            </a:r>
          </a:p>
          <a:p>
            <a:pPr algn="l"/>
            <a:r>
              <a:rPr lang="en-US" sz="2400" b="0" i="0" dirty="0">
                <a:effectLst/>
                <a:latin typeface="Nunito Sans" pitchFamily="2" charset="0"/>
              </a:rPr>
              <a:t>Hence, Least 2 button press required to open the all doors</a:t>
            </a:r>
          </a:p>
        </p:txBody>
      </p:sp>
    </p:spTree>
    <p:extLst>
      <p:ext uri="{BB962C8B-B14F-4D97-AF65-F5344CB8AC3E}">
        <p14:creationId xmlns:p14="http://schemas.microsoft.com/office/powerpoint/2010/main" val="2083186134"/>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err="1">
                <a:solidFill>
                  <a:srgbClr val="CE9178"/>
                </a:solidFill>
                <a:effectLst/>
                <a:latin typeface="Nunito Sans" pitchFamily="2" charset="0"/>
              </a:rPr>
              <a:t>stdio.h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findLeastButtonPress</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Iterate over the doors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current door is closed (0), press the button</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doors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Change the state of all following doors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j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j</a:t>
            </a:r>
            <a:r>
              <a:rPr lang="en-US" sz="2000" b="0" dirty="0" err="1">
                <a:solidFill>
                  <a:srgbClr val="DCDCDC"/>
                </a:solidFill>
                <a:effectLst/>
                <a:latin typeface="Nunito Sans" pitchFamily="2" charset="0"/>
              </a:rPr>
              <a: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65177986"/>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doors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doors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findLeastButtonPress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doors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385956766"/>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a:solidFill>
                  <a:srgbClr val="CE9178"/>
                </a:solidFill>
                <a:effectLst/>
                <a:latin typeface="Nunito Sans" pitchFamily="2" charset="0"/>
              </a:rPr>
              <a:t>iostream</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a:solidFill>
                  <a:srgbClr val="CE9178"/>
                </a:solidFill>
                <a:effectLst/>
                <a:latin typeface="Nunito Sans" pitchFamily="2" charset="0"/>
              </a:rPr>
              <a:t>vector</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using</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namespace</a:t>
            </a:r>
            <a:r>
              <a:rPr lang="en-US" sz="2000" b="0" dirty="0">
                <a:solidFill>
                  <a:srgbClr val="D4D4D4"/>
                </a:solidFill>
                <a:effectLst/>
                <a:latin typeface="Nunito Sans" pitchFamily="2" charset="0"/>
              </a:rPr>
              <a:t> std</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findLeastButtonPress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vector</a:t>
            </a:r>
            <a:r>
              <a:rPr lang="en-US" sz="2000" b="0" dirty="0">
                <a:solidFill>
                  <a:srgbClr val="DCDCDC"/>
                </a:solidFill>
                <a:effectLst/>
                <a:latin typeface="Nunito Sans" pitchFamily="2" charset="0"/>
              </a:rPr>
              <a:t>&lt;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&gt;&amp;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doors</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size</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Iterate over the doors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current door is closed (0), press the button</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doors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Change the state of all following doors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j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j</a:t>
            </a:r>
            <a:r>
              <a:rPr lang="en-US" sz="2000" b="0" dirty="0" err="1">
                <a:solidFill>
                  <a:srgbClr val="DCDCDC"/>
                </a:solidFill>
                <a:effectLst/>
                <a:latin typeface="Nunito Sans" pitchFamily="2" charset="0"/>
              </a:rPr>
              <a: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549368933"/>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doors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doors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findLeastButtonPress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doors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75207161"/>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import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java</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util</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Scanner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class</a:t>
            </a:r>
            <a:r>
              <a:rPr lang="en-US" sz="2000" b="0" dirty="0">
                <a:solidFill>
                  <a:srgbClr val="D4D4D4"/>
                </a:solidFill>
                <a:effectLst/>
                <a:latin typeface="Nunito Sans" pitchFamily="2" charset="0"/>
              </a:rPr>
              <a:t> Main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public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static</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findLeastButtonPress</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Iterate over the doors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current door is closed (0), press the button</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doors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Change the state of all following doors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j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j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j</a:t>
            </a:r>
            <a:r>
              <a:rPr lang="en-US" sz="2000" b="0" dirty="0" err="1">
                <a:solidFill>
                  <a:srgbClr val="DCDCDC"/>
                </a:solidFill>
                <a:effectLst/>
                <a:latin typeface="Nunito Sans" pitchFamily="2" charset="0"/>
              </a:rPr>
              <a: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808146916"/>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doors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doors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findLeastButtonPress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doors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248764649"/>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findLeastButtonPress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Iterate over the doors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If the current door is closed (0), press the button</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608B4E"/>
                </a:solidFill>
                <a:effectLst/>
                <a:latin typeface="Nunito Sans" pitchFamily="2" charset="0"/>
              </a:rPr>
              <a:t># Change the state of all following doors</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j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 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j</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count</a:t>
            </a:r>
          </a:p>
          <a:p>
            <a:r>
              <a:rPr lang="en-US" sz="2000" b="0" dirty="0">
                <a:solidFill>
                  <a:srgbClr val="608B4E"/>
                </a:solidFill>
                <a:effectLst/>
                <a:latin typeface="Nunito Sans" pitchFamily="2" charset="0"/>
              </a:rPr>
              <a:t># Main function</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doors = </a:t>
            </a:r>
            <a:r>
              <a:rPr lang="en-US" sz="2000" b="0" dirty="0">
                <a:solidFill>
                  <a:srgbClr val="569CD6"/>
                </a:solidFill>
                <a:effectLst/>
                <a:latin typeface="Nunito Sans" pitchFamily="2" charset="0"/>
              </a:rPr>
              <a:t>list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map</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.split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result = </a:t>
            </a:r>
            <a:r>
              <a:rPr lang="en-US" sz="2000" b="0" dirty="0" err="1">
                <a:solidFill>
                  <a:srgbClr val="D4D4D4"/>
                </a:solidFill>
                <a:effectLst/>
                <a:latin typeface="Nunito Sans" pitchFamily="2" charset="0"/>
              </a:rPr>
              <a:t>findLeastButtonPress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doors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result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789078042"/>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262979"/>
          </a:xfrm>
          <a:prstGeom prst="rect">
            <a:avLst/>
          </a:prstGeom>
          <a:noFill/>
        </p:spPr>
        <p:txBody>
          <a:bodyPr wrap="square">
            <a:spAutoFit/>
          </a:bodyPr>
          <a:lstStyle/>
          <a:p>
            <a:pPr algn="l"/>
            <a:r>
              <a:rPr lang="en-US" sz="2400" b="0" i="0" dirty="0">
                <a:effectLst/>
                <a:latin typeface="Nunito Sans" pitchFamily="2" charset="0"/>
              </a:rPr>
              <a:t>A safety and security services agency communicates to its employees only in secret messages in case of emergency. The employee sends the message with a secret code(key). Here, the code will be same combination of characters in both the messages(strings) sent. The task is to find the combination of letters(key) that is present both the strings.</a:t>
            </a:r>
          </a:p>
          <a:p>
            <a:pPr algn="l"/>
            <a:r>
              <a:rPr lang="en-US" sz="2400" b="1" i="0" dirty="0">
                <a:effectLst/>
                <a:latin typeface="Nunito Sans" pitchFamily="2" charset="0"/>
              </a:rPr>
              <a:t>Input format for testing:</a:t>
            </a:r>
            <a:endParaRPr lang="en-US" sz="2400" b="0" i="0" dirty="0">
              <a:effectLst/>
              <a:latin typeface="Nunito Sans" pitchFamily="2" charset="0"/>
            </a:endParaRPr>
          </a:p>
          <a:p>
            <a:pPr algn="l"/>
            <a:r>
              <a:rPr lang="en-US" sz="2400" b="0" i="0" dirty="0">
                <a:effectLst/>
                <a:latin typeface="Nunito Sans" pitchFamily="2" charset="0"/>
              </a:rPr>
              <a:t>The candidate has to write the code to accept 2 inputs.</a:t>
            </a:r>
          </a:p>
          <a:p>
            <a:pPr algn="l"/>
            <a:r>
              <a:rPr lang="en-US" sz="2400" b="0" i="0" dirty="0">
                <a:effectLst/>
                <a:latin typeface="Nunito Sans" pitchFamily="2" charset="0"/>
              </a:rPr>
              <a:t>First Input- Accept a string value consisting of only literal characters.</a:t>
            </a:r>
          </a:p>
          <a:p>
            <a:pPr algn="l"/>
            <a:r>
              <a:rPr lang="en-US" sz="2400" b="0" i="0" dirty="0">
                <a:effectLst/>
                <a:latin typeface="Nunito Sans" pitchFamily="2" charset="0"/>
              </a:rPr>
              <a:t>Second Input-Accept a string value consisting of only characters.</a:t>
            </a:r>
          </a:p>
          <a:p>
            <a:pPr algn="l"/>
            <a:r>
              <a:rPr lang="en-US" sz="2400" b="1" i="0" dirty="0">
                <a:effectLst/>
                <a:latin typeface="Nunito Sans" pitchFamily="2" charset="0"/>
              </a:rPr>
              <a:t>Output format for testing:</a:t>
            </a:r>
            <a:endParaRPr lang="en-US" sz="2400" b="0" i="0" dirty="0">
              <a:effectLst/>
              <a:latin typeface="Nunito Sans" pitchFamily="2" charset="0"/>
            </a:endParaRPr>
          </a:p>
          <a:p>
            <a:pPr algn="l"/>
            <a:r>
              <a:rPr lang="en-US" sz="2400" b="0" i="0" dirty="0">
                <a:effectLst/>
                <a:latin typeface="Nunito Sans" pitchFamily="2" charset="0"/>
              </a:rPr>
              <a:t>The output should be string of characters which is same in both the input strings (check the output in Example 1 and 2)</a:t>
            </a:r>
          </a:p>
          <a:p>
            <a:pPr algn="l"/>
            <a:r>
              <a:rPr lang="en-US" sz="2400" b="0" i="0" dirty="0">
                <a:effectLst/>
                <a:latin typeface="Nunito Sans" pitchFamily="2" charset="0"/>
              </a:rPr>
              <a:t>The output should be generated in alphabetic order sequence.</a:t>
            </a:r>
          </a:p>
          <a:p>
            <a:pPr algn="l"/>
            <a:r>
              <a:rPr lang="en-US" sz="2400" b="0" i="0" dirty="0">
                <a:effectLst/>
                <a:latin typeface="Nunito Sans" pitchFamily="2" charset="0"/>
              </a:rPr>
              <a:t>Additional message in output cause the failure of test cases.</a:t>
            </a:r>
          </a:p>
        </p:txBody>
      </p:sp>
    </p:spTree>
    <p:extLst>
      <p:ext uri="{BB962C8B-B14F-4D97-AF65-F5344CB8AC3E}">
        <p14:creationId xmlns:p14="http://schemas.microsoft.com/office/powerpoint/2010/main" val="2703047704"/>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154984"/>
          </a:xfrm>
          <a:prstGeom prst="rect">
            <a:avLst/>
          </a:prstGeom>
          <a:noFill/>
        </p:spPr>
        <p:txBody>
          <a:bodyPr wrap="square">
            <a:spAutoFit/>
          </a:bodyPr>
          <a:lstStyle/>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Str 1= {a-z}</a:t>
            </a:r>
          </a:p>
          <a:p>
            <a:pPr algn="l"/>
            <a:r>
              <a:rPr lang="en-US" sz="2400" b="0" i="0" dirty="0">
                <a:effectLst/>
                <a:latin typeface="Nunito Sans" pitchFamily="2" charset="0"/>
              </a:rPr>
              <a:t>Str 2= {a-z}</a:t>
            </a:r>
          </a:p>
          <a:p>
            <a:pPr algn="l"/>
            <a:r>
              <a:rPr lang="en-US" sz="2400" b="0" i="0" dirty="0">
                <a:effectLst/>
                <a:latin typeface="Nunito Sans" pitchFamily="2" charset="0"/>
              </a:rPr>
              <a:t>0&lt;size of str 1 &lt;20</a:t>
            </a:r>
          </a:p>
          <a:p>
            <a:pPr algn="l"/>
            <a:r>
              <a:rPr lang="en-US" sz="2400" b="0" i="0" dirty="0">
                <a:effectLst/>
                <a:latin typeface="Nunito Sans" pitchFamily="2" charset="0"/>
              </a:rPr>
              <a:t>0&lt; size of str 2 &lt;20</a:t>
            </a:r>
          </a:p>
          <a:p>
            <a:pPr algn="l"/>
            <a:r>
              <a:rPr lang="en-US" sz="2400" b="1" i="0" dirty="0">
                <a:effectLst/>
                <a:latin typeface="Nunito Sans" pitchFamily="2" charset="0"/>
              </a:rPr>
              <a:t>Example1: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beads -&gt; value for str1</a:t>
            </a:r>
          </a:p>
          <a:p>
            <a:pPr algn="l"/>
            <a:r>
              <a:rPr lang="en-US" sz="2400" b="0" i="0" dirty="0">
                <a:effectLst/>
                <a:latin typeface="Nunito Sans" pitchFamily="2" charset="0"/>
              </a:rPr>
              <a:t>leaps → value for str2</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err="1">
                <a:effectLst/>
                <a:latin typeface="Nunito Sans" pitchFamily="2" charset="0"/>
              </a:rPr>
              <a:t>aes</a:t>
            </a:r>
            <a:r>
              <a:rPr lang="en-US" sz="2400" b="0" i="0" dirty="0">
                <a:effectLst/>
                <a:latin typeface="Nunito Sans" pitchFamily="2" charset="0"/>
              </a:rPr>
              <a:t> -&gt; the key ‘</a:t>
            </a:r>
            <a:r>
              <a:rPr lang="en-US" sz="2400" b="0" i="0" dirty="0" err="1">
                <a:effectLst/>
                <a:latin typeface="Nunito Sans" pitchFamily="2" charset="0"/>
              </a:rPr>
              <a:t>aes</a:t>
            </a:r>
            <a:r>
              <a:rPr lang="en-US" sz="2400" b="0" i="0" dirty="0">
                <a:effectLst/>
                <a:latin typeface="Nunito Sans" pitchFamily="2" charset="0"/>
              </a:rPr>
              <a:t>’ is present in both strings</a:t>
            </a:r>
          </a:p>
        </p:txBody>
      </p:sp>
    </p:spTree>
    <p:extLst>
      <p:ext uri="{BB962C8B-B14F-4D97-AF65-F5344CB8AC3E}">
        <p14:creationId xmlns:p14="http://schemas.microsoft.com/office/powerpoint/2010/main" val="2190561624"/>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2308324"/>
          </a:xfrm>
          <a:prstGeom prst="rect">
            <a:avLst/>
          </a:prstGeom>
          <a:noFill/>
        </p:spPr>
        <p:txBody>
          <a:bodyPr wrap="square">
            <a:spAutoFit/>
          </a:bodyPr>
          <a:lstStyle/>
          <a:p>
            <a:pPr algn="l"/>
            <a:r>
              <a:rPr lang="en-US" sz="2400" b="1" i="0" dirty="0">
                <a:effectLst/>
                <a:latin typeface="Nunito Sans" pitchFamily="2" charset="0"/>
              </a:rPr>
              <a:t>Example2:</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err="1">
                <a:effectLst/>
                <a:latin typeface="Nunito Sans" pitchFamily="2" charset="0"/>
              </a:rPr>
              <a:t>abcdefgh</a:t>
            </a:r>
            <a:r>
              <a:rPr lang="en-US" sz="2400" b="0" i="0" dirty="0">
                <a:effectLst/>
                <a:latin typeface="Nunito Sans" pitchFamily="2" charset="0"/>
              </a:rPr>
              <a:t> -&gt; value for str1</a:t>
            </a:r>
          </a:p>
          <a:p>
            <a:pPr algn="l"/>
            <a:r>
              <a:rPr lang="en-US" sz="2400" b="0" i="0" dirty="0" err="1">
                <a:effectLst/>
                <a:latin typeface="Nunito Sans" pitchFamily="2" charset="0"/>
              </a:rPr>
              <a:t>abcdxyz</a:t>
            </a:r>
            <a:r>
              <a:rPr lang="en-US" sz="2400" b="0" i="0" dirty="0">
                <a:effectLst/>
                <a:latin typeface="Nunito Sans" pitchFamily="2" charset="0"/>
              </a:rPr>
              <a:t> → value for str2</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err="1">
                <a:effectLst/>
                <a:latin typeface="Nunito Sans" pitchFamily="2" charset="0"/>
              </a:rPr>
              <a:t>abcd</a:t>
            </a:r>
            <a:r>
              <a:rPr lang="en-US" sz="2400" b="0" i="0" dirty="0">
                <a:effectLst/>
                <a:latin typeface="Nunito Sans" pitchFamily="2" charset="0"/>
              </a:rPr>
              <a:t> –&gt; key ‘</a:t>
            </a:r>
            <a:r>
              <a:rPr lang="en-US" sz="2400" b="0" i="0" dirty="0" err="1">
                <a:effectLst/>
                <a:latin typeface="Nunito Sans" pitchFamily="2" charset="0"/>
              </a:rPr>
              <a:t>abcd</a:t>
            </a:r>
            <a:r>
              <a:rPr lang="en-US" sz="2400" b="0" i="0" dirty="0">
                <a:effectLst/>
                <a:latin typeface="Nunito Sans" pitchFamily="2" charset="0"/>
              </a:rPr>
              <a:t>’ is present in both the strings</a:t>
            </a:r>
          </a:p>
        </p:txBody>
      </p:sp>
    </p:spTree>
    <p:extLst>
      <p:ext uri="{BB962C8B-B14F-4D97-AF65-F5344CB8AC3E}">
        <p14:creationId xmlns:p14="http://schemas.microsoft.com/office/powerpoint/2010/main" val="3167741584"/>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string.h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findCommonKey</a:t>
            </a:r>
            <a:r>
              <a:rPr lang="en-IN" sz="2000" b="0" dirty="0">
                <a:solidFill>
                  <a:srgbClr val="DCDCDC"/>
                </a:solidFill>
                <a:effectLst/>
                <a:latin typeface="Nunito Sans" pitchFamily="2" charset="0"/>
              </a:rPr>
              <a:t>(</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len1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len2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len1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len2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str2</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index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count1</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count1</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minCount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65348290"/>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findCommonKey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670810121"/>
      </p:ext>
    </p:extLst>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string</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string </a:t>
            </a:r>
            <a:r>
              <a:rPr lang="en-IN" sz="2000" b="0" dirty="0" err="1">
                <a:solidFill>
                  <a:srgbClr val="D4D4D4"/>
                </a:solidFill>
                <a:effectLst/>
                <a:latin typeface="Nunito Sans" pitchFamily="2" charset="0"/>
              </a:rPr>
              <a:t>findCommonKey</a:t>
            </a:r>
            <a:r>
              <a:rPr lang="en-IN" sz="2000" b="0" dirty="0">
                <a:solidFill>
                  <a:srgbClr val="DCDCDC"/>
                </a:solidFill>
                <a:effectLst/>
                <a:latin typeface="Nunito Sans" pitchFamily="2" charset="0"/>
              </a:rPr>
              <a:t>(</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string</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string</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commonKey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count1</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count1</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minCount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734072029"/>
      </p:ext>
    </p:extLst>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str1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commonKey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findCommonKey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632849728"/>
      </p:ext>
    </p:extLst>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findCommonKey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String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StringBuilder </a:t>
            </a:r>
            <a:r>
              <a:rPr lang="en-IN" sz="2000" b="0" dirty="0" err="1">
                <a:solidFill>
                  <a:srgbClr val="D4D4D4"/>
                </a:solidFill>
                <a:effectLst/>
                <a:latin typeface="Nunito Sans" pitchFamily="2" charset="0"/>
              </a:rPr>
              <a:t>commonKey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StringBuilder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count1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count2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toCharArray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count1</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toCharArray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Math</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min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count1</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count2</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minCount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append</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62838576"/>
      </p:ext>
    </p:extLst>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commonKey</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toString</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str1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nextLine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str2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nextLine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commonKey</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findCommonKey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commonKey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61970309"/>
      </p:ext>
    </p:extLst>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find_common_key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common_key</a:t>
            </a:r>
            <a:r>
              <a:rPr lang="en-US" sz="2000" b="0" dirty="0">
                <a:solidFill>
                  <a:srgbClr val="D4D4D4"/>
                </a:solidFill>
                <a:effectLst/>
                <a:latin typeface="Nunito Sans" pitchFamily="2" charset="0"/>
              </a:rPr>
              <a:t> = </a:t>
            </a:r>
            <a:r>
              <a:rPr lang="en-US" sz="2000" b="0" dirty="0">
                <a:solidFill>
                  <a:srgbClr val="CE9178"/>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count1 =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26</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count2 =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26</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ch</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str1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count1</a:t>
            </a:r>
            <a:r>
              <a:rPr lang="en-US" sz="2000" b="0" dirty="0">
                <a:solidFill>
                  <a:srgbClr val="DCDCDC"/>
                </a:solidFill>
                <a:effectLst/>
                <a:latin typeface="Nunito Sans" pitchFamily="2" charset="0"/>
              </a:rPr>
              <a:t>[</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ch</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ch</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count2</a:t>
            </a:r>
            <a:r>
              <a:rPr lang="en-US" sz="2000" b="0" dirty="0">
                <a:solidFill>
                  <a:srgbClr val="DCDCDC"/>
                </a:solidFill>
                <a:effectLst/>
                <a:latin typeface="Nunito Sans" pitchFamily="2" charset="0"/>
              </a:rPr>
              <a:t>[</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ch</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26</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min_count</a:t>
            </a:r>
            <a:r>
              <a:rPr lang="en-US" sz="2000" b="0" dirty="0">
                <a:solidFill>
                  <a:srgbClr val="D4D4D4"/>
                </a:solidFill>
                <a:effectLst/>
                <a:latin typeface="Nunito Sans" pitchFamily="2" charset="0"/>
              </a:rPr>
              <a:t> = </a:t>
            </a:r>
            <a:r>
              <a:rPr lang="en-US" sz="2000" b="0" dirty="0">
                <a:solidFill>
                  <a:srgbClr val="569CD6"/>
                </a:solidFill>
                <a:effectLst/>
                <a:latin typeface="Nunito Sans" pitchFamily="2" charset="0"/>
              </a:rPr>
              <a:t>min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count1</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count2</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common_key</a:t>
            </a:r>
            <a:r>
              <a:rPr lang="en-US" sz="2000" b="0" dirty="0">
                <a:solidFill>
                  <a:srgbClr val="D4D4D4"/>
                </a:solidFill>
                <a:effectLst/>
                <a:latin typeface="Nunito Sans" pitchFamily="2" charset="0"/>
              </a:rPr>
              <a:t> += </a:t>
            </a:r>
            <a:r>
              <a:rPr lang="en-US" sz="2000" b="0" dirty="0">
                <a:solidFill>
                  <a:srgbClr val="569CD6"/>
                </a:solidFill>
                <a:effectLst/>
                <a:latin typeface="Nunito Sans" pitchFamily="2" charset="0"/>
              </a:rPr>
              <a:t>chr</a:t>
            </a:r>
            <a:r>
              <a:rPr lang="en-US" sz="2000" b="0" dirty="0">
                <a:solidFill>
                  <a:srgbClr val="DCDCDC"/>
                </a:solidFill>
                <a:effectLst/>
                <a:latin typeface="Nunito Sans" pitchFamily="2" charset="0"/>
              </a:rPr>
              <a:t>(</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D4D4D4"/>
                </a:solidFill>
                <a:effectLst/>
                <a:latin typeface="Nunito Sans" pitchFamily="2" charset="0"/>
              </a:rPr>
              <a:t>min_count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common_key</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str1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str2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common_key</a:t>
            </a:r>
            <a:r>
              <a:rPr lang="en-US" sz="2000" b="0" dirty="0">
                <a:solidFill>
                  <a:srgbClr val="D4D4D4"/>
                </a:solidFill>
                <a:effectLst/>
                <a:latin typeface="Nunito Sans" pitchFamily="2" charset="0"/>
              </a:rPr>
              <a:t> = </a:t>
            </a:r>
            <a:r>
              <a:rPr lang="en-US" sz="2000" b="0" dirty="0" err="1">
                <a:solidFill>
                  <a:srgbClr val="D4D4D4"/>
                </a:solidFill>
                <a:effectLst/>
                <a:latin typeface="Nunito Sans" pitchFamily="2" charset="0"/>
              </a:rPr>
              <a:t>find_common_key</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str2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common_key</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115116146"/>
      </p:ext>
    </p:extLst>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524315"/>
          </a:xfrm>
          <a:prstGeom prst="rect">
            <a:avLst/>
          </a:prstGeom>
          <a:noFill/>
        </p:spPr>
        <p:txBody>
          <a:bodyPr wrap="square">
            <a:spAutoFit/>
          </a:bodyPr>
          <a:lstStyle/>
          <a:p>
            <a:pPr algn="l"/>
            <a:r>
              <a:rPr lang="en-US" sz="2400" b="0" i="0" dirty="0">
                <a:effectLst/>
                <a:latin typeface="Nunito Sans" pitchFamily="2" charset="0"/>
              </a:rPr>
              <a:t>An upmarket housing society has N number of row </a:t>
            </a:r>
            <a:r>
              <a:rPr lang="en-US" sz="2400" b="0" i="0" dirty="0" err="1">
                <a:effectLst/>
                <a:latin typeface="Nunito Sans" pitchFamily="2" charset="0"/>
              </a:rPr>
              <a:t>houtes</a:t>
            </a:r>
            <a:r>
              <a:rPr lang="en-US" sz="2400" b="0" i="0" dirty="0">
                <a:effectLst/>
                <a:latin typeface="Nunito Sans" pitchFamily="2" charset="0"/>
              </a:rPr>
              <a:t> The electrical boards of all the houses are connected through common wiring. Due to the faulty wiring system a major fire broke out and all the houses are in the grave danger. The fire brigade has arrived and they have started evacuating people from their </a:t>
            </a:r>
            <a:r>
              <a:rPr lang="en-US" sz="2400" b="0" i="0" dirty="0" err="1">
                <a:effectLst/>
                <a:latin typeface="Nunito Sans" pitchFamily="2" charset="0"/>
              </a:rPr>
              <a:t>houses.The</a:t>
            </a:r>
            <a:r>
              <a:rPr lang="en-US" sz="2400" b="0" i="0" dirty="0">
                <a:effectLst/>
                <a:latin typeface="Nunito Sans" pitchFamily="2" charset="0"/>
              </a:rPr>
              <a:t> number of people in each house depicts the elements of array(a[]).the task here is to find the number of steps that the fire fighters Will require to evacuate members the houses in the following manner –</a:t>
            </a:r>
          </a:p>
          <a:p>
            <a:pPr algn="l"/>
            <a:r>
              <a:rPr lang="en-US" sz="2400" b="0" i="0" dirty="0">
                <a:effectLst/>
                <a:latin typeface="Nunito Sans" pitchFamily="2" charset="0"/>
              </a:rPr>
              <a:t>1.evacuate the house with the largest number of members(L)</a:t>
            </a:r>
          </a:p>
          <a:p>
            <a:pPr algn="l"/>
            <a:r>
              <a:rPr lang="en-US" sz="2400" b="0" i="0" dirty="0">
                <a:effectLst/>
                <a:latin typeface="Nunito Sans" pitchFamily="2" charset="0"/>
              </a:rPr>
              <a:t>2.Next,clear all the houses to the right of the house 1</a:t>
            </a:r>
          </a:p>
          <a:p>
            <a:pPr algn="l"/>
            <a:r>
              <a:rPr lang="en-US" sz="2400" b="0" i="0" dirty="0">
                <a:effectLst/>
                <a:latin typeface="Nunito Sans" pitchFamily="2" charset="0"/>
              </a:rPr>
              <a:t>3.Repeat step 1 and step 2.</a:t>
            </a:r>
          </a:p>
          <a:p>
            <a:pPr algn="l"/>
            <a:r>
              <a:rPr lang="en-US" sz="2400" b="0" i="0" dirty="0">
                <a:effectLst/>
                <a:latin typeface="Nunito Sans" pitchFamily="2" charset="0"/>
              </a:rPr>
              <a:t>4.The task is complete when all the members are evacuated.</a:t>
            </a:r>
          </a:p>
          <a:p>
            <a:pPr algn="l"/>
            <a:endParaRPr lang="en-US" sz="2400" b="0" i="0" dirty="0">
              <a:effectLst/>
              <a:latin typeface="Nunito Sans" pitchFamily="2" charset="0"/>
            </a:endParaRPr>
          </a:p>
        </p:txBody>
      </p:sp>
    </p:spTree>
    <p:extLst>
      <p:ext uri="{BB962C8B-B14F-4D97-AF65-F5344CB8AC3E}">
        <p14:creationId xmlns:p14="http://schemas.microsoft.com/office/powerpoint/2010/main" val="2690079173"/>
      </p:ext>
    </p:extLst>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2677656"/>
          </a:xfrm>
          <a:prstGeom prst="rect">
            <a:avLst/>
          </a:prstGeom>
          <a:noFill/>
        </p:spPr>
        <p:txBody>
          <a:bodyPr wrap="square">
            <a:spAutoFit/>
          </a:bodyPr>
          <a:lstStyle/>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5 -&gt; value of N</a:t>
            </a:r>
          </a:p>
          <a:p>
            <a:pPr algn="l"/>
            <a:r>
              <a:rPr lang="en-US" sz="2400" b="0" i="0" dirty="0">
                <a:effectLst/>
                <a:latin typeface="Nunito Sans" pitchFamily="2" charset="0"/>
              </a:rPr>
              <a:t>10 5 15 6 25-&gt; a[],Elements a[0] to a[N-1] ,where input of each element is </a:t>
            </a:r>
            <a:r>
              <a:rPr lang="en-US" sz="2400" b="0" i="0" dirty="0" err="1">
                <a:effectLst/>
                <a:latin typeface="Nunito Sans" pitchFamily="2" charset="0"/>
              </a:rPr>
              <a:t>seperated</a:t>
            </a:r>
            <a:r>
              <a:rPr lang="en-US" sz="2400" b="0" i="0" dirty="0">
                <a:effectLst/>
                <a:latin typeface="Nunito Sans" pitchFamily="2" charset="0"/>
              </a:rPr>
              <a:t> by a new line.</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3 -&gt; value of S</a:t>
            </a:r>
          </a:p>
        </p:txBody>
      </p:sp>
    </p:spTree>
    <p:extLst>
      <p:ext uri="{BB962C8B-B14F-4D97-AF65-F5344CB8AC3E}">
        <p14:creationId xmlns:p14="http://schemas.microsoft.com/office/powerpoint/2010/main" val="1715994599"/>
      </p:ext>
    </p:extLst>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findEvacuationSteps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steps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maxIndex</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maxIndex</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80166865"/>
      </p:ext>
    </p:extLst>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3441451"/>
      </p:ext>
    </p:extLst>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evacuationSteps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findEvacuationSteps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evacuationSteps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164695194"/>
      </p:ext>
    </p:extLst>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algorithm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findEvacuationSteps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steps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max_element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maxIndex</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distance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find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max_element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02283183"/>
      </p:ext>
    </p:extLst>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evacuationSteps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findEvacuationSteps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evacuationSteps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931147206"/>
      </p:ext>
    </p:extLst>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findEvacuationSteps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steps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maxIndex</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52725470"/>
      </p:ext>
    </p:extLst>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maxIndex</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maxMembers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51729775"/>
      </p:ext>
    </p:extLst>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houses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evacuationSteps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findEvacuationSteps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evacuationSteps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55415301"/>
      </p:ext>
    </p:extLst>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find_evacuation_steps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steps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max_members</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max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max_members</a:t>
            </a:r>
            <a:r>
              <a:rPr lang="en-IN" sz="2000" b="0" dirty="0">
                <a:solidFill>
                  <a:srgbClr val="D4D4D4"/>
                </a:solidFill>
                <a:effectLst/>
                <a:latin typeface="Nunito Sans" pitchFamily="2" charset="0"/>
              </a:rPr>
              <a:t> &gt;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steps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max_index</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houses.index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max_members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max_index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houses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max_members</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max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steps</a:t>
            </a:r>
          </a:p>
          <a:p>
            <a:r>
              <a:rPr lang="en-IN" sz="2000" b="0" dirty="0">
                <a:solidFill>
                  <a:srgbClr val="D4D4D4"/>
                </a:solidFill>
                <a:effectLst/>
                <a:latin typeface="Nunito Sans" pitchFamily="2" charset="0"/>
              </a:rPr>
              <a:t>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houses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evacuation_steps</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find_evacuation_steps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houses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evacuation_steps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677105484"/>
      </p:ext>
    </p:extLst>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893647"/>
          </a:xfrm>
          <a:prstGeom prst="rect">
            <a:avLst/>
          </a:prstGeom>
          <a:noFill/>
        </p:spPr>
        <p:txBody>
          <a:bodyPr wrap="square">
            <a:spAutoFit/>
          </a:bodyPr>
          <a:lstStyle/>
          <a:p>
            <a:pPr algn="l"/>
            <a:r>
              <a:rPr lang="en-US" sz="2400" b="0" i="0" dirty="0">
                <a:effectLst/>
                <a:latin typeface="Nunito Sans" pitchFamily="2" charset="0"/>
              </a:rPr>
              <a:t>Our Friend Monk has finally found the Temple of Programming secrets. However, the door of the temple is firmly locked. Now, as per the rules of the temple, Monk needs to enter a Secret Password in a special language to unlock the door. This language, unlike English consists of </a:t>
            </a:r>
            <a:r>
              <a:rPr lang="en-US" sz="2400" b="0" i="1" dirty="0">
                <a:effectLst/>
                <a:latin typeface="Nunito Sans" pitchFamily="2" charset="0"/>
              </a:rPr>
              <a:t>K</a:t>
            </a:r>
            <a:r>
              <a:rPr lang="en-US" sz="2400" b="0" i="0" dirty="0">
                <a:effectLst/>
                <a:latin typeface="Nunito Sans" pitchFamily="2" charset="0"/>
              </a:rPr>
              <a:t> alphabets. The properties of this secret password are:</a:t>
            </a:r>
          </a:p>
          <a:p>
            <a:pPr algn="l">
              <a:buFont typeface="+mj-lt"/>
              <a:buAutoNum type="arabicPeriod"/>
            </a:pPr>
            <a:r>
              <a:rPr lang="en-US" sz="2400" b="0" i="0" dirty="0">
                <a:effectLst/>
                <a:latin typeface="Nunito Sans" pitchFamily="2" charset="0"/>
              </a:rPr>
              <a:t>It has a length of </a:t>
            </a:r>
            <a:r>
              <a:rPr lang="en-US" sz="2400" b="0" i="1" dirty="0">
                <a:effectLst/>
                <a:latin typeface="Nunito Sans" pitchFamily="2" charset="0"/>
              </a:rPr>
              <a:t>N</a:t>
            </a:r>
            <a:r>
              <a:rPr lang="en-US" sz="2400" b="0" i="0" dirty="0">
                <a:effectLst/>
                <a:latin typeface="Nunito Sans" pitchFamily="2" charset="0"/>
              </a:rPr>
              <a:t> characters.</a:t>
            </a:r>
          </a:p>
          <a:p>
            <a:pPr algn="l">
              <a:buFont typeface="+mj-lt"/>
              <a:buAutoNum type="arabicPeriod"/>
            </a:pPr>
            <a:r>
              <a:rPr lang="en-US" sz="2400" b="0" i="0" dirty="0">
                <a:effectLst/>
                <a:latin typeface="Nunito Sans" pitchFamily="2" charset="0"/>
              </a:rPr>
              <a:t>It is composed only of the </a:t>
            </a:r>
            <a:r>
              <a:rPr lang="en-US" sz="2400" b="0" i="1" dirty="0">
                <a:effectLst/>
                <a:latin typeface="Nunito Sans" pitchFamily="2" charset="0"/>
              </a:rPr>
              <a:t>K</a:t>
            </a:r>
            <a:r>
              <a:rPr lang="en-US" sz="2400" b="0" i="0" dirty="0">
                <a:effectLst/>
                <a:latin typeface="Nunito Sans" pitchFamily="2" charset="0"/>
              </a:rPr>
              <a:t> characters belonging to the Special language.</a:t>
            </a:r>
          </a:p>
          <a:p>
            <a:pPr algn="l">
              <a:buFont typeface="+mj-lt"/>
              <a:buAutoNum type="arabicPeriod"/>
            </a:pPr>
            <a:r>
              <a:rPr lang="en-US" sz="2400" b="0" i="0" dirty="0">
                <a:effectLst/>
                <a:latin typeface="Nunito Sans" pitchFamily="2" charset="0"/>
              </a:rPr>
              <a:t>Each character belonging to the special language has been used at max once in the secret code.</a:t>
            </a:r>
          </a:p>
          <a:p>
            <a:pPr algn="l"/>
            <a:r>
              <a:rPr lang="en-US" sz="2400" b="0" i="0" dirty="0">
                <a:effectLst/>
                <a:latin typeface="Nunito Sans" pitchFamily="2" charset="0"/>
              </a:rPr>
              <a:t>Now, Monk has no idea about what the ideal password may be and needs you help. You need to help Monk find the total number of distinct candidate Strings for it Modulo 109+7.</a:t>
            </a:r>
          </a:p>
          <a:p>
            <a:pPr algn="l"/>
            <a:br>
              <a:rPr lang="en-US" sz="2400" b="0" i="0" dirty="0">
                <a:effectLst/>
                <a:latin typeface="Nunito Sans" pitchFamily="2" charset="0"/>
              </a:rPr>
            </a:br>
            <a:endParaRPr lang="en-US" sz="2400" b="0" i="0" dirty="0">
              <a:effectLst/>
              <a:latin typeface="Nunito Sans" pitchFamily="2" charset="0"/>
            </a:endParaRPr>
          </a:p>
        </p:txBody>
      </p:sp>
    </p:spTree>
    <p:extLst>
      <p:ext uri="{BB962C8B-B14F-4D97-AF65-F5344CB8AC3E}">
        <p14:creationId xmlns:p14="http://schemas.microsoft.com/office/powerpoint/2010/main" val="2067284855"/>
      </p:ext>
    </p:extLst>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6001643"/>
          </a:xfrm>
          <a:prstGeom prst="rect">
            <a:avLst/>
          </a:prstGeom>
          <a:noFill/>
        </p:spPr>
        <p:txBody>
          <a:bodyPr wrap="square">
            <a:spAutoFit/>
          </a:bodyPr>
          <a:lstStyle/>
          <a:p>
            <a:pPr algn="l"/>
            <a:r>
              <a:rPr lang="en-US" sz="2400" b="1" i="0" dirty="0">
                <a:effectLst/>
                <a:latin typeface="Nunito Sans" pitchFamily="2" charset="0"/>
              </a:rPr>
              <a:t>Input Format:</a:t>
            </a:r>
            <a:endParaRPr lang="en-US" sz="2400" b="0" i="0" dirty="0">
              <a:effectLst/>
              <a:latin typeface="Nunito Sans" pitchFamily="2" charset="0"/>
            </a:endParaRPr>
          </a:p>
          <a:p>
            <a:pPr algn="l"/>
            <a:r>
              <a:rPr lang="en-US" sz="2400" b="0" i="0" dirty="0">
                <a:effectLst/>
                <a:latin typeface="Nunito Sans" pitchFamily="2" charset="0"/>
              </a:rPr>
              <a:t>The first line contains a single integer </a:t>
            </a:r>
            <a:r>
              <a:rPr lang="en-US" sz="2400" b="0" i="1" dirty="0">
                <a:effectLst/>
                <a:latin typeface="Nunito Sans" pitchFamily="2" charset="0"/>
              </a:rPr>
              <a:t>T</a:t>
            </a:r>
            <a:r>
              <a:rPr lang="en-US" sz="2400" b="0" i="0" dirty="0">
                <a:effectLst/>
                <a:latin typeface="Nunito Sans" pitchFamily="2" charset="0"/>
              </a:rPr>
              <a:t> denoting the number of test cases. Each of the next </a:t>
            </a:r>
            <a:r>
              <a:rPr lang="en-US" sz="2400" b="0" i="1" dirty="0">
                <a:effectLst/>
                <a:latin typeface="Nunito Sans" pitchFamily="2" charset="0"/>
              </a:rPr>
              <a:t>T</a:t>
            </a:r>
            <a:r>
              <a:rPr lang="en-US" sz="2400" b="0" i="0" dirty="0">
                <a:effectLst/>
                <a:latin typeface="Nunito Sans" pitchFamily="2" charset="0"/>
              </a:rPr>
              <a:t> lines contain two integers </a:t>
            </a:r>
            <a:r>
              <a:rPr lang="en-US" sz="2400" b="0" i="1" dirty="0">
                <a:effectLst/>
                <a:latin typeface="Nunito Sans" pitchFamily="2" charset="0"/>
              </a:rPr>
              <a:t>N</a:t>
            </a:r>
            <a:r>
              <a:rPr lang="en-US" sz="2400" b="0" i="0" dirty="0">
                <a:effectLst/>
                <a:latin typeface="Nunito Sans" pitchFamily="2" charset="0"/>
              </a:rPr>
              <a:t> and </a:t>
            </a:r>
            <a:r>
              <a:rPr lang="en-US" sz="2400" b="0" i="1" dirty="0">
                <a:effectLst/>
                <a:latin typeface="Nunito Sans" pitchFamily="2" charset="0"/>
              </a:rPr>
              <a:t>K</a:t>
            </a:r>
            <a:r>
              <a:rPr lang="en-US" sz="2400" b="0" i="0" dirty="0">
                <a:effectLst/>
                <a:latin typeface="Nunito Sans" pitchFamily="2" charset="0"/>
              </a:rPr>
              <a:t> denoting the length of the Secret Password and the number of characters of the Special language to be used respectively.</a:t>
            </a:r>
          </a:p>
          <a:p>
            <a:pPr algn="l"/>
            <a:br>
              <a:rPr lang="en-US" sz="2400" b="0" i="0" dirty="0">
                <a:effectLst/>
                <a:latin typeface="Nunito Sans" pitchFamily="2" charset="0"/>
              </a:rPr>
            </a:br>
            <a:endParaRPr lang="en-US" sz="2400" b="0" i="0" dirty="0">
              <a:effectLst/>
              <a:latin typeface="Nunito Sans" pitchFamily="2" charset="0"/>
            </a:endParaRPr>
          </a:p>
          <a:p>
            <a:pPr algn="l"/>
            <a:r>
              <a:rPr lang="en-US" sz="2400" b="1" i="0" dirty="0">
                <a:effectLst/>
                <a:latin typeface="Nunito Sans" pitchFamily="2" charset="0"/>
              </a:rPr>
              <a:t>Output Format:</a:t>
            </a:r>
            <a:endParaRPr lang="en-US" sz="2400" b="0" i="0" dirty="0">
              <a:effectLst/>
              <a:latin typeface="Nunito Sans" pitchFamily="2" charset="0"/>
            </a:endParaRPr>
          </a:p>
          <a:p>
            <a:pPr algn="l"/>
            <a:r>
              <a:rPr lang="en-US" sz="2400" b="0" i="0" dirty="0">
                <a:effectLst/>
                <a:latin typeface="Nunito Sans" pitchFamily="2" charset="0"/>
              </a:rPr>
              <a:t>For each test case, output the number of possible distinct secret passwords Modulo 109+7.</a:t>
            </a:r>
          </a:p>
          <a:p>
            <a:pPr algn="l"/>
            <a:r>
              <a:rPr lang="en-US" sz="2400" b="0" i="0" dirty="0">
                <a:effectLst/>
                <a:latin typeface="Nunito Sans" pitchFamily="2" charset="0"/>
              </a:rPr>
              <a:t>Constraints:</a:t>
            </a:r>
          </a:p>
          <a:p>
            <a:pPr algn="l"/>
            <a:r>
              <a:rPr lang="en-US" sz="2400" b="0" i="0" dirty="0">
                <a:effectLst/>
                <a:latin typeface="Nunito Sans" pitchFamily="2" charset="0"/>
              </a:rPr>
              <a:t>1≤T≤10</a:t>
            </a:r>
          </a:p>
          <a:p>
            <a:pPr algn="l"/>
            <a:r>
              <a:rPr lang="en-US" sz="2400" b="0" i="0" dirty="0">
                <a:effectLst/>
                <a:latin typeface="Nunito Sans" pitchFamily="2" charset="0"/>
              </a:rPr>
              <a:t>1≤N≤K≤105</a:t>
            </a:r>
          </a:p>
          <a:p>
            <a:pPr algn="l"/>
            <a:br>
              <a:rPr lang="en-US" sz="2400" b="0" i="0" dirty="0">
                <a:effectLst/>
                <a:latin typeface="Nunito Sans" pitchFamily="2" charset="0"/>
              </a:rPr>
            </a:br>
            <a:endParaRPr lang="en-US" sz="2400" b="0" i="0" dirty="0">
              <a:effectLst/>
              <a:latin typeface="Nunito Sans" pitchFamily="2" charset="0"/>
            </a:endParaRPr>
          </a:p>
          <a:p>
            <a:pPr algn="l"/>
            <a:r>
              <a:rPr lang="en-US" sz="2400" b="0" i="0" dirty="0">
                <a:effectLst/>
                <a:latin typeface="Nunito Sans" pitchFamily="2" charset="0"/>
              </a:rPr>
              <a:t>.</a:t>
            </a:r>
          </a:p>
        </p:txBody>
      </p:sp>
    </p:spTree>
    <p:extLst>
      <p:ext uri="{BB962C8B-B14F-4D97-AF65-F5344CB8AC3E}">
        <p14:creationId xmlns:p14="http://schemas.microsoft.com/office/powerpoint/2010/main" val="797554469"/>
      </p:ext>
    </p:extLst>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524315"/>
          </a:xfrm>
          <a:prstGeom prst="rect">
            <a:avLst/>
          </a:prstGeom>
          <a:noFill/>
        </p:spPr>
        <p:txBody>
          <a:bodyPr wrap="square">
            <a:spAutoFit/>
          </a:bodyPr>
          <a:lstStyle/>
          <a:p>
            <a:pPr algn="l"/>
            <a:r>
              <a:rPr lang="en-US" sz="2400" b="1" i="0" dirty="0">
                <a:effectLst/>
                <a:latin typeface="Nunito Sans" pitchFamily="2" charset="0"/>
              </a:rPr>
              <a:t>Note:</a:t>
            </a:r>
            <a:endParaRPr lang="en-US" sz="2400" b="0" i="0" dirty="0">
              <a:effectLst/>
              <a:latin typeface="Nunito Sans" pitchFamily="2" charset="0"/>
            </a:endParaRPr>
          </a:p>
          <a:p>
            <a:pPr algn="l"/>
            <a:r>
              <a:rPr lang="en-US" sz="2400" b="0" i="0" dirty="0">
                <a:effectLst/>
                <a:latin typeface="Nunito Sans" pitchFamily="2" charset="0"/>
              </a:rPr>
              <a:t>You need to print the value of each element and not their weight.</a:t>
            </a:r>
          </a:p>
          <a:p>
            <a:pPr algn="l"/>
            <a:endParaRPr lang="en-US" sz="2400" b="0" i="0" dirty="0">
              <a:effectLst/>
              <a:latin typeface="Nunito Sans" pitchFamily="2" charset="0"/>
            </a:endParaRPr>
          </a:p>
          <a:p>
            <a:pPr algn="l"/>
            <a:r>
              <a:rPr lang="en-US" sz="2400" b="0" i="0" dirty="0">
                <a:effectLst/>
                <a:latin typeface="Nunito Sans" pitchFamily="2" charset="0"/>
              </a:rPr>
              <a:t>Sample Input:</a:t>
            </a:r>
          </a:p>
          <a:p>
            <a:pPr algn="l"/>
            <a:r>
              <a:rPr lang="en-US" sz="2400" b="0" i="0" dirty="0">
                <a:effectLst/>
                <a:latin typeface="Nunito Sans" pitchFamily="2" charset="0"/>
              </a:rPr>
              <a:t>1</a:t>
            </a:r>
          </a:p>
          <a:p>
            <a:pPr algn="l"/>
            <a:r>
              <a:rPr lang="en-US" sz="2400" b="0" i="0" dirty="0">
                <a:effectLst/>
                <a:latin typeface="Nunito Sans" pitchFamily="2" charset="0"/>
              </a:rPr>
              <a:t>3 3</a:t>
            </a:r>
          </a:p>
          <a:p>
            <a:pPr algn="l"/>
            <a:endParaRPr lang="en-US" sz="2400" dirty="0">
              <a:latin typeface="Nunito Sans" pitchFamily="2" charset="0"/>
            </a:endParaRPr>
          </a:p>
          <a:p>
            <a:pPr algn="l"/>
            <a:endParaRPr lang="en-US" sz="2400" b="0" i="0" dirty="0">
              <a:effectLst/>
              <a:latin typeface="Nunito Sans" pitchFamily="2" charset="0"/>
            </a:endParaRPr>
          </a:p>
          <a:p>
            <a:pPr algn="l"/>
            <a:r>
              <a:rPr lang="en-US" sz="2400" b="0" i="0" dirty="0">
                <a:effectLst/>
                <a:latin typeface="Nunito Sans" pitchFamily="2" charset="0"/>
              </a:rPr>
              <a:t>Output:</a:t>
            </a:r>
          </a:p>
          <a:p>
            <a:pPr algn="l"/>
            <a:r>
              <a:rPr lang="en-US" sz="2400" b="0" i="0" dirty="0">
                <a:effectLst/>
                <a:latin typeface="Nunito Sans" pitchFamily="2" charset="0"/>
              </a:rPr>
              <a:t>6</a:t>
            </a:r>
            <a:br>
              <a:rPr lang="en-US" sz="2400" b="0" i="0" dirty="0">
                <a:effectLst/>
                <a:latin typeface="Nunito Sans" pitchFamily="2" charset="0"/>
              </a:rPr>
            </a:br>
            <a:endParaRPr lang="en-US" sz="2400" b="0" i="0" dirty="0">
              <a:effectLst/>
              <a:latin typeface="Nunito Sans" pitchFamily="2" charset="0"/>
            </a:endParaRPr>
          </a:p>
          <a:p>
            <a:pPr algn="l"/>
            <a:endParaRPr lang="en-US" sz="2400" b="0" i="0" dirty="0">
              <a:effectLst/>
              <a:latin typeface="Nunito Sans" pitchFamily="2" charset="0"/>
            </a:endParaRPr>
          </a:p>
        </p:txBody>
      </p:sp>
    </p:spTree>
    <p:extLst>
      <p:ext uri="{BB962C8B-B14F-4D97-AF65-F5344CB8AC3E}">
        <p14:creationId xmlns:p14="http://schemas.microsoft.com/office/powerpoint/2010/main" val="4053718971"/>
      </p:ext>
    </p:extLst>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785652"/>
          </a:xfrm>
          <a:prstGeom prst="rect">
            <a:avLst/>
          </a:prstGeom>
          <a:noFill/>
        </p:spPr>
        <p:txBody>
          <a:bodyPr wrap="square">
            <a:spAutoFit/>
          </a:bodyPr>
          <a:lstStyle/>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Let's number the characters of the special language to be </a:t>
            </a:r>
            <a:r>
              <a:rPr lang="en-US" sz="2400" b="0" i="1" dirty="0">
                <a:effectLst/>
                <a:latin typeface="Nunito Sans" pitchFamily="2" charset="0"/>
              </a:rPr>
              <a:t>1</a:t>
            </a:r>
            <a:r>
              <a:rPr lang="en-US" sz="2400" b="0" i="0" dirty="0">
                <a:effectLst/>
                <a:latin typeface="Nunito Sans" pitchFamily="2" charset="0"/>
              </a:rPr>
              <a:t> , </a:t>
            </a:r>
            <a:r>
              <a:rPr lang="en-US" sz="2400" b="0" i="1" dirty="0">
                <a:effectLst/>
                <a:latin typeface="Nunito Sans" pitchFamily="2" charset="0"/>
              </a:rPr>
              <a:t>2</a:t>
            </a:r>
            <a:r>
              <a:rPr lang="en-US" sz="2400" b="0" i="0" dirty="0">
                <a:effectLst/>
                <a:latin typeface="Nunito Sans" pitchFamily="2" charset="0"/>
              </a:rPr>
              <a:t> and </a:t>
            </a:r>
            <a:r>
              <a:rPr lang="en-US" sz="2400" b="0" i="1" dirty="0">
                <a:effectLst/>
                <a:latin typeface="Nunito Sans" pitchFamily="2" charset="0"/>
              </a:rPr>
              <a:t>3</a:t>
            </a:r>
            <a:r>
              <a:rPr lang="en-US" sz="2400" b="0" i="0" dirty="0">
                <a:effectLst/>
                <a:latin typeface="Nunito Sans" pitchFamily="2" charset="0"/>
              </a:rPr>
              <a:t> respectively. So, all possible candidate Strings are:</a:t>
            </a:r>
          </a:p>
          <a:p>
            <a:pPr algn="l"/>
            <a:r>
              <a:rPr lang="en-US" sz="2400" b="0" i="0" dirty="0">
                <a:effectLst/>
                <a:latin typeface="Nunito Sans" pitchFamily="2" charset="0"/>
              </a:rPr>
              <a:t>123</a:t>
            </a:r>
          </a:p>
          <a:p>
            <a:pPr algn="l"/>
            <a:r>
              <a:rPr lang="en-US" sz="2400" b="0" i="0" dirty="0">
                <a:effectLst/>
                <a:latin typeface="Nunito Sans" pitchFamily="2" charset="0"/>
              </a:rPr>
              <a:t>132</a:t>
            </a:r>
          </a:p>
          <a:p>
            <a:pPr algn="l"/>
            <a:r>
              <a:rPr lang="en-US" sz="2400" b="0" i="0" dirty="0">
                <a:effectLst/>
                <a:latin typeface="Nunito Sans" pitchFamily="2" charset="0"/>
              </a:rPr>
              <a:t>213</a:t>
            </a:r>
          </a:p>
          <a:p>
            <a:pPr algn="l"/>
            <a:r>
              <a:rPr lang="en-US" sz="2400" b="0" i="0" dirty="0">
                <a:effectLst/>
                <a:latin typeface="Nunito Sans" pitchFamily="2" charset="0"/>
              </a:rPr>
              <a:t>231</a:t>
            </a:r>
          </a:p>
          <a:p>
            <a:pPr algn="l"/>
            <a:r>
              <a:rPr lang="en-US" sz="2400" b="0" i="0" dirty="0">
                <a:effectLst/>
                <a:latin typeface="Nunito Sans" pitchFamily="2" charset="0"/>
              </a:rPr>
              <a:t>312</a:t>
            </a:r>
          </a:p>
          <a:p>
            <a:pPr algn="l"/>
            <a:r>
              <a:rPr lang="en-US" sz="2400" b="0" i="0" dirty="0">
                <a:effectLst/>
                <a:latin typeface="Nunito Sans" pitchFamily="2" charset="0"/>
              </a:rPr>
              <a:t>321</a:t>
            </a:r>
          </a:p>
          <a:p>
            <a:pPr algn="l"/>
            <a:r>
              <a:rPr lang="en-US" sz="2400" b="0" i="0" dirty="0">
                <a:effectLst/>
                <a:latin typeface="Nunito Sans" pitchFamily="2" charset="0"/>
              </a:rPr>
              <a:t>So, here we have </a:t>
            </a:r>
            <a:r>
              <a:rPr lang="en-US" sz="2400" b="0" i="1" dirty="0">
                <a:effectLst/>
                <a:latin typeface="Nunito Sans" pitchFamily="2" charset="0"/>
              </a:rPr>
              <a:t>6</a:t>
            </a:r>
            <a:r>
              <a:rPr lang="en-US" sz="2400" b="0" i="0" dirty="0">
                <a:effectLst/>
                <a:latin typeface="Nunito Sans" pitchFamily="2" charset="0"/>
              </a:rPr>
              <a:t> possible passwords. So, the answer = 6%(109+7)=6</a:t>
            </a:r>
          </a:p>
        </p:txBody>
      </p:sp>
    </p:spTree>
    <p:extLst>
      <p:ext uri="{BB962C8B-B14F-4D97-AF65-F5344CB8AC3E}">
        <p14:creationId xmlns:p14="http://schemas.microsoft.com/office/powerpoint/2010/main" val="771702921"/>
      </p:ext>
    </p:extLst>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#define</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ll</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long</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long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ll</a:t>
            </a:r>
            <a:r>
              <a:rPr lang="en-IN" sz="2000" b="0" dirty="0">
                <a:solidFill>
                  <a:srgbClr val="D4D4D4"/>
                </a:solidFill>
                <a:effectLst/>
                <a:latin typeface="Nunito Sans" pitchFamily="2" charset="0"/>
              </a:rPr>
              <a:t> MOD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1000000007</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ll</a:t>
            </a:r>
            <a:r>
              <a:rPr lang="en-IN" sz="2000" b="0" dirty="0">
                <a:solidFill>
                  <a:srgbClr val="D4D4D4"/>
                </a:solidFill>
                <a:effectLst/>
                <a:latin typeface="Nunito Sans" pitchFamily="2" charset="0"/>
              </a:rPr>
              <a:t> 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t>
            </a:r>
            <a:r>
              <a:rPr lang="en-IN" sz="2000" b="0" dirty="0" err="1">
                <a:solidFill>
                  <a:srgbClr val="CE9178"/>
                </a:solidFill>
                <a:effectLst/>
                <a:latin typeface="Nunito Sans" pitchFamily="2" charset="0"/>
              </a:rPr>
              <a:t>lld</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t>
            </a:r>
            <a:r>
              <a:rPr lang="en-IN" sz="2000" b="0" dirty="0" err="1">
                <a:solidFill>
                  <a:srgbClr val="CE9178"/>
                </a:solidFill>
                <a:effectLst/>
                <a:latin typeface="Nunito Sans" pitchFamily="2" charset="0"/>
              </a:rPr>
              <a:t>lld</a:t>
            </a:r>
            <a:r>
              <a:rPr lang="en-IN" sz="2000" b="0" dirty="0">
                <a:solidFill>
                  <a:srgbClr val="CE9178"/>
                </a:solidFill>
                <a:effectLst/>
                <a:latin typeface="Nunito Sans" pitchFamily="2" charset="0"/>
              </a:rPr>
              <a:t> %</a:t>
            </a:r>
            <a:r>
              <a:rPr lang="en-IN" sz="2000" b="0" dirty="0" err="1">
                <a:solidFill>
                  <a:srgbClr val="CE9178"/>
                </a:solidFill>
                <a:effectLst/>
                <a:latin typeface="Nunito Sans" pitchFamily="2" charset="0"/>
              </a:rPr>
              <a:t>lld</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MOD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t>
            </a:r>
            <a:r>
              <a:rPr lang="en-IN" sz="2000" b="0" dirty="0" err="1">
                <a:solidFill>
                  <a:srgbClr val="CE9178"/>
                </a:solidFill>
                <a:effectLst/>
                <a:latin typeface="Nunito Sans" pitchFamily="2" charset="0"/>
              </a:rPr>
              <a:t>lld</a:t>
            </a:r>
            <a:r>
              <a:rPr lang="en-IN" sz="2000" b="0" dirty="0">
                <a:solidFill>
                  <a:srgbClr val="CE9178"/>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73169145"/>
      </p:ext>
    </p:extLst>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#include&lt;</a:t>
            </a:r>
            <a:r>
              <a:rPr lang="en-IN" sz="2000" b="0" dirty="0">
                <a:solidFill>
                  <a:srgbClr val="CE9178"/>
                </a:solidFill>
                <a:effectLst/>
                <a:latin typeface="Nunito Sans" pitchFamily="2" charset="0"/>
              </a:rPr>
              <a:t>bits/stdc++.h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#define</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ll</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long</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long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ll</a:t>
            </a:r>
            <a:r>
              <a:rPr lang="en-IN" sz="2000" b="0" dirty="0">
                <a:solidFill>
                  <a:srgbClr val="D4D4D4"/>
                </a:solidFill>
                <a:effectLst/>
                <a:latin typeface="Nunito Sans" pitchFamily="2" charset="0"/>
              </a:rPr>
              <a:t> MOD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1000000007</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res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k</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a:t>
            </a:r>
            <a:r>
              <a:rPr lang="en-IN" sz="2000" b="0" dirty="0">
                <a:solidFill>
                  <a:srgbClr val="DCDCDC"/>
                </a:solidFill>
                <a:effectLst/>
                <a:latin typeface="Nunito Sans" pitchFamily="2" charset="0"/>
              </a:rPr>
              <a:t>&lt;=</a:t>
            </a:r>
            <a:r>
              <a:rPr lang="en-IN" sz="2000" b="0" dirty="0" err="1">
                <a:solidFill>
                  <a:srgbClr val="D4D4D4"/>
                </a:solidFill>
                <a:effectLst/>
                <a:latin typeface="Nunito Sans" pitchFamily="2" charset="0"/>
              </a:rPr>
              <a:t>k</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MOD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res</a:t>
            </a:r>
            <a:r>
              <a:rPr lang="en-IN" sz="2000" b="0" dirty="0">
                <a:solidFill>
                  <a:srgbClr val="DCDCDC"/>
                </a:solidFill>
                <a:effectLst/>
                <a:latin typeface="Nunito Sans" pitchFamily="2" charset="0"/>
              </a:rPr>
              <a:t>&lt;&lt;</a:t>
            </a:r>
            <a:r>
              <a:rPr lang="en-IN" sz="2000" b="0" dirty="0">
                <a:solidFill>
                  <a:srgbClr val="CE9178"/>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05064522"/>
      </p:ext>
    </p:extLst>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long</a:t>
            </a:r>
            <a:r>
              <a:rPr lang="en-IN" sz="2000" b="0" dirty="0">
                <a:solidFill>
                  <a:srgbClr val="D4D4D4"/>
                </a:solidFill>
                <a:effectLst/>
                <a:latin typeface="Nunito Sans" pitchFamily="2" charset="0"/>
              </a:rPr>
              <a:t> MOD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1000000007</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long</a:t>
            </a:r>
            <a:r>
              <a:rPr lang="en-IN" sz="2000" b="0" dirty="0">
                <a:solidFill>
                  <a:srgbClr val="D4D4D4"/>
                </a:solidFill>
                <a:effectLst/>
                <a:latin typeface="Nunito Sans" pitchFamily="2" charset="0"/>
              </a:rPr>
              <a:t> 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nextLong</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long</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nextLong</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long</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nextLong</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long</a:t>
            </a:r>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long</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MOD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08424909"/>
      </p:ext>
    </p:extLst>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MOD = </a:t>
            </a:r>
            <a:r>
              <a:rPr lang="en-IN" sz="2000" b="0" dirty="0">
                <a:solidFill>
                  <a:srgbClr val="B5CEA8"/>
                </a:solidFill>
                <a:effectLst/>
                <a:latin typeface="Nunito Sans" pitchFamily="2" charset="0"/>
              </a:rPr>
              <a:t>1000000007</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T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_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 </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k - n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res =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 *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MOD</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973521550"/>
      </p:ext>
    </p:extLst>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6001643"/>
          </a:xfrm>
          <a:prstGeom prst="rect">
            <a:avLst/>
          </a:prstGeom>
          <a:noFill/>
        </p:spPr>
        <p:txBody>
          <a:bodyPr wrap="square">
            <a:spAutoFit/>
          </a:bodyPr>
          <a:lstStyle/>
          <a:p>
            <a:pPr algn="l"/>
            <a:r>
              <a:rPr lang="en-US" sz="2400" b="0" i="0" dirty="0">
                <a:effectLst/>
                <a:latin typeface="Nunito Sans" pitchFamily="2" charset="0"/>
              </a:rPr>
              <a:t>Alice did a survey of students training for competitive programming, where the </a:t>
            </a:r>
            <a:r>
              <a:rPr lang="en-US" sz="2400" b="0" i="0" dirty="0" err="1">
                <a:effectLst/>
                <a:latin typeface="Nunito Sans" pitchFamily="2" charset="0"/>
              </a:rPr>
              <a:t>ith</a:t>
            </a:r>
            <a:r>
              <a:rPr lang="en-US" sz="2400" b="0" i="0" dirty="0">
                <a:effectLst/>
                <a:latin typeface="Nunito Sans" pitchFamily="2" charset="0"/>
              </a:rPr>
              <a:t> student gave the response - "I practiced for </a:t>
            </a:r>
            <a:r>
              <a:rPr lang="en-US" sz="2400" b="1" i="0" dirty="0">
                <a:effectLst/>
                <a:latin typeface="Nunito Sans" pitchFamily="2" charset="0"/>
              </a:rPr>
              <a:t>xi </a:t>
            </a:r>
            <a:r>
              <a:rPr lang="en-US" sz="2400" b="0" i="0" dirty="0">
                <a:effectLst/>
                <a:latin typeface="Nunito Sans" pitchFamily="2" charset="0"/>
              </a:rPr>
              <a:t>hours".</a:t>
            </a:r>
          </a:p>
          <a:p>
            <a:pPr algn="l"/>
            <a:r>
              <a:rPr lang="en-US" sz="2400" b="0" i="0" dirty="0">
                <a:effectLst/>
                <a:latin typeface="Nunito Sans" pitchFamily="2" charset="0"/>
              </a:rPr>
              <a:t>Alice recorded the observations as the number of minutes each student practiced </a:t>
            </a:r>
            <a:r>
              <a:rPr lang="en-US" sz="2400" b="1" i="0" dirty="0">
                <a:effectLst/>
                <a:latin typeface="Nunito Sans" pitchFamily="2" charset="0"/>
              </a:rPr>
              <a:t>(60 * xi). </a:t>
            </a:r>
            <a:r>
              <a:rPr lang="en-US" sz="2400" b="0" i="0" dirty="0">
                <a:effectLst/>
                <a:latin typeface="Nunito Sans" pitchFamily="2" charset="0"/>
              </a:rPr>
              <a:t>She could also have written the number with leading zeroes. For example if a student said "I studied for </a:t>
            </a:r>
            <a:r>
              <a:rPr lang="en-US" sz="2400" b="1" i="0" dirty="0">
                <a:effectLst/>
                <a:latin typeface="Nunito Sans" pitchFamily="2" charset="0"/>
              </a:rPr>
              <a:t>2</a:t>
            </a:r>
            <a:r>
              <a:rPr lang="en-US" sz="2400" b="0" i="0" dirty="0">
                <a:effectLst/>
                <a:latin typeface="Nunito Sans" pitchFamily="2" charset="0"/>
              </a:rPr>
              <a:t> hours", Alice could have stored the data as </a:t>
            </a:r>
            <a:r>
              <a:rPr lang="en-US" sz="2400" b="1" i="0" dirty="0">
                <a:effectLst/>
                <a:latin typeface="Nunito Sans" pitchFamily="2" charset="0"/>
              </a:rPr>
              <a:t>00120 </a:t>
            </a:r>
            <a:r>
              <a:rPr lang="en-US" sz="2400" b="0" i="0" dirty="0">
                <a:effectLst/>
                <a:latin typeface="Nunito Sans" pitchFamily="2" charset="0"/>
              </a:rPr>
              <a:t>instead of </a:t>
            </a:r>
            <a:r>
              <a:rPr lang="en-US" sz="2400" b="1" i="0" dirty="0">
                <a:effectLst/>
                <a:latin typeface="Nunito Sans" pitchFamily="2" charset="0"/>
              </a:rPr>
              <a:t>120</a:t>
            </a:r>
            <a:r>
              <a:rPr lang="en-US" sz="2400" b="0" i="0" dirty="0">
                <a:effectLst/>
                <a:latin typeface="Nunito Sans" pitchFamily="2" charset="0"/>
              </a:rPr>
              <a:t>.</a:t>
            </a:r>
          </a:p>
          <a:p>
            <a:pPr algn="l"/>
            <a:r>
              <a:rPr lang="en-US" sz="2400" b="0" i="0" dirty="0">
                <a:effectLst/>
                <a:latin typeface="Nunito Sans" pitchFamily="2" charset="0"/>
              </a:rPr>
              <a:t>Now Bob took Alice's notebook and for each number, he did one of the following operations :</a:t>
            </a:r>
          </a:p>
          <a:p>
            <a:pPr algn="l">
              <a:buFont typeface="+mj-lt"/>
              <a:buAutoNum type="arabicPeriod"/>
            </a:pPr>
            <a:r>
              <a:rPr lang="en-US" sz="2400" b="0" i="0" dirty="0">
                <a:effectLst/>
                <a:latin typeface="Nunito Sans" pitchFamily="2" charset="0"/>
              </a:rPr>
              <a:t>Rearranged its digits</a:t>
            </a:r>
          </a:p>
          <a:p>
            <a:pPr algn="l">
              <a:buFont typeface="+mj-lt"/>
              <a:buAutoNum type="arabicPeriod"/>
            </a:pPr>
            <a:r>
              <a:rPr lang="en-US" sz="2400" b="0" i="0" dirty="0">
                <a:effectLst/>
                <a:latin typeface="Nunito Sans" pitchFamily="2" charset="0"/>
              </a:rPr>
              <a:t>Wrote a Random number instead of it.</a:t>
            </a:r>
          </a:p>
          <a:p>
            <a:pPr algn="l"/>
            <a:r>
              <a:rPr lang="en-US" sz="2400" b="0" i="0" dirty="0">
                <a:effectLst/>
                <a:latin typeface="Nunito Sans" pitchFamily="2" charset="0"/>
              </a:rPr>
              <a:t>Thus Bob generated number </a:t>
            </a:r>
            <a:r>
              <a:rPr lang="en-US" sz="2400" b="1" i="0" dirty="0">
                <a:effectLst/>
                <a:latin typeface="Nunito Sans" pitchFamily="2" charset="0"/>
              </a:rPr>
              <a:t>y1, y2, ... </a:t>
            </a:r>
            <a:r>
              <a:rPr lang="en-US" sz="2400" b="1" i="0" dirty="0" err="1">
                <a:effectLst/>
                <a:latin typeface="Nunito Sans" pitchFamily="2" charset="0"/>
              </a:rPr>
              <a:t>yn</a:t>
            </a:r>
            <a:r>
              <a:rPr lang="en-US" sz="2400" b="1" i="0" dirty="0">
                <a:effectLst/>
                <a:latin typeface="Nunito Sans" pitchFamily="2" charset="0"/>
              </a:rPr>
              <a:t>.</a:t>
            </a:r>
            <a:endParaRPr lang="en-US" sz="2400" b="0" i="0" dirty="0">
              <a:effectLst/>
              <a:latin typeface="Nunito Sans" pitchFamily="2" charset="0"/>
            </a:endParaRPr>
          </a:p>
          <a:p>
            <a:pPr algn="l"/>
            <a:r>
              <a:rPr lang="en-US" sz="2400" b="0" i="0" dirty="0">
                <a:effectLst/>
                <a:latin typeface="Nunito Sans" pitchFamily="2" charset="0"/>
              </a:rPr>
              <a:t>Your task is to tell for each number </a:t>
            </a:r>
            <a:r>
              <a:rPr lang="en-US" sz="2400" b="1" i="0" dirty="0" err="1">
                <a:effectLst/>
                <a:latin typeface="Nunito Sans" pitchFamily="2" charset="0"/>
              </a:rPr>
              <a:t>yi</a:t>
            </a:r>
            <a:r>
              <a:rPr lang="en-US" sz="2400" b="0" i="0" dirty="0">
                <a:effectLst/>
                <a:latin typeface="Nunito Sans" pitchFamily="2" charset="0"/>
              </a:rPr>
              <a:t>, can it be a permutation of numbers divisible by </a:t>
            </a:r>
            <a:r>
              <a:rPr lang="en-US" sz="2400" b="1" i="0" dirty="0">
                <a:effectLst/>
                <a:latin typeface="Nunito Sans" pitchFamily="2" charset="0"/>
              </a:rPr>
              <a:t>60</a:t>
            </a:r>
            <a:r>
              <a:rPr lang="en-US" sz="2400" b="0" i="0" dirty="0">
                <a:effectLst/>
                <a:latin typeface="Nunito Sans" pitchFamily="2" charset="0"/>
              </a:rPr>
              <a:t>(possibly with leading zeroes)</a:t>
            </a:r>
          </a:p>
          <a:p>
            <a:pPr algn="l"/>
            <a:br>
              <a:rPr lang="en-US" sz="2400" b="0" i="0" dirty="0">
                <a:effectLst/>
                <a:latin typeface="Nunito Sans" pitchFamily="2" charset="0"/>
              </a:rPr>
            </a:br>
            <a:endParaRPr lang="en-US" sz="2400" b="0" i="0" dirty="0">
              <a:effectLst/>
              <a:latin typeface="Nunito Sans" pitchFamily="2" charset="0"/>
            </a:endParaRPr>
          </a:p>
          <a:p>
            <a:pPr algn="l"/>
            <a:endParaRPr lang="en-US" sz="2400" b="0" i="0" dirty="0">
              <a:effectLst/>
              <a:latin typeface="Nunito Sans" pitchFamily="2" charset="0"/>
            </a:endParaRPr>
          </a:p>
        </p:txBody>
      </p:sp>
    </p:spTree>
    <p:extLst>
      <p:ext uri="{BB962C8B-B14F-4D97-AF65-F5344CB8AC3E}">
        <p14:creationId xmlns:p14="http://schemas.microsoft.com/office/powerpoint/2010/main" val="2072384064"/>
      </p:ext>
    </p:extLst>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524315"/>
          </a:xfrm>
          <a:prstGeom prst="rect">
            <a:avLst/>
          </a:prstGeom>
          <a:noFill/>
        </p:spPr>
        <p:txBody>
          <a:bodyPr wrap="square">
            <a:spAutoFit/>
          </a:bodyPr>
          <a:lstStyle/>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The first line of input contains a single integer </a:t>
            </a:r>
            <a:r>
              <a:rPr lang="en-US" sz="2400" b="1" i="0" dirty="0">
                <a:effectLst/>
                <a:latin typeface="Nunito Sans" pitchFamily="2" charset="0"/>
              </a:rPr>
              <a:t>N </a:t>
            </a:r>
            <a:r>
              <a:rPr lang="en-US" sz="2400" b="0" i="0" dirty="0">
                <a:effectLst/>
                <a:latin typeface="Nunito Sans" pitchFamily="2" charset="0"/>
              </a:rPr>
              <a:t>- the number of people surveyed. (1 &lt;= N &lt;= 500)</a:t>
            </a:r>
          </a:p>
          <a:p>
            <a:pPr algn="l"/>
            <a:r>
              <a:rPr lang="en-US" sz="2400" b="0" i="0" dirty="0">
                <a:effectLst/>
                <a:latin typeface="Nunito Sans" pitchFamily="2" charset="0"/>
              </a:rPr>
              <a:t>The next </a:t>
            </a:r>
            <a:r>
              <a:rPr lang="en-US" sz="2400" b="1" i="0" dirty="0">
                <a:effectLst/>
                <a:latin typeface="Nunito Sans" pitchFamily="2" charset="0"/>
              </a:rPr>
              <a:t>N </a:t>
            </a:r>
            <a:r>
              <a:rPr lang="en-US" sz="2400" b="0" i="0" dirty="0">
                <a:effectLst/>
                <a:latin typeface="Nunito Sans" pitchFamily="2" charset="0"/>
              </a:rPr>
              <a:t>lines contains a single number of 2 to 100 digits.</a:t>
            </a:r>
          </a:p>
          <a:p>
            <a:pPr algn="l"/>
            <a:br>
              <a:rPr lang="en-US" sz="2400" b="0" i="0" dirty="0">
                <a:effectLst/>
                <a:latin typeface="Nunito Sans" pitchFamily="2" charset="0"/>
              </a:rPr>
            </a:br>
            <a:endParaRPr lang="en-US" sz="2400" b="0" i="0" dirty="0">
              <a:effectLst/>
              <a:latin typeface="Nunito Sans" pitchFamily="2" charset="0"/>
            </a:endParaRP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For each number print </a:t>
            </a:r>
            <a:r>
              <a:rPr lang="en-US" sz="2400" b="1" i="0" dirty="0">
                <a:effectLst/>
                <a:latin typeface="Nunito Sans" pitchFamily="2" charset="0"/>
              </a:rPr>
              <a:t>YES</a:t>
            </a:r>
            <a:r>
              <a:rPr lang="en-US" sz="2400" b="0" i="0" dirty="0">
                <a:effectLst/>
                <a:latin typeface="Nunito Sans" pitchFamily="2" charset="0"/>
              </a:rPr>
              <a:t>, if </a:t>
            </a:r>
            <a:r>
              <a:rPr lang="en-US" sz="2400" b="1" i="0" dirty="0" err="1">
                <a:effectLst/>
                <a:latin typeface="Nunito Sans" pitchFamily="2" charset="0"/>
              </a:rPr>
              <a:t>yi</a:t>
            </a:r>
            <a:r>
              <a:rPr lang="en-US" sz="2400" b="0" i="0" dirty="0">
                <a:effectLst/>
                <a:latin typeface="Nunito Sans" pitchFamily="2" charset="0"/>
              </a:rPr>
              <a:t> can be a permutation of numbers divisible by 60, else </a:t>
            </a:r>
            <a:r>
              <a:rPr lang="en-US" sz="2400" b="1" i="0" dirty="0">
                <a:effectLst/>
                <a:latin typeface="Nunito Sans" pitchFamily="2" charset="0"/>
              </a:rPr>
              <a:t>NO</a:t>
            </a:r>
            <a:r>
              <a:rPr lang="en-US" sz="2400" b="0" i="0" dirty="0">
                <a:effectLst/>
                <a:latin typeface="Nunito Sans" pitchFamily="2" charset="0"/>
              </a:rPr>
              <a:t>.</a:t>
            </a:r>
          </a:p>
          <a:p>
            <a:pPr algn="l"/>
            <a:br>
              <a:rPr lang="en-US" sz="2400" b="0" i="0" dirty="0">
                <a:effectLst/>
                <a:latin typeface="Nunito Sans" pitchFamily="2" charset="0"/>
              </a:rPr>
            </a:br>
            <a:endParaRPr lang="en-US" sz="2400" b="0" i="0" dirty="0">
              <a:effectLst/>
              <a:latin typeface="Nunito Sans" pitchFamily="2" charset="0"/>
            </a:endParaRPr>
          </a:p>
          <a:p>
            <a:pPr algn="l"/>
            <a:endParaRPr lang="en-US" sz="2400" b="0" i="0" dirty="0">
              <a:effectLst/>
              <a:latin typeface="Nunito Sans" pitchFamily="2" charset="0"/>
            </a:endParaRPr>
          </a:p>
        </p:txBody>
      </p:sp>
    </p:spTree>
    <p:extLst>
      <p:ext uri="{BB962C8B-B14F-4D97-AF65-F5344CB8AC3E}">
        <p14:creationId xmlns:p14="http://schemas.microsoft.com/office/powerpoint/2010/main" val="3190419025"/>
      </p:ext>
    </p:extLst>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6370975"/>
          </a:xfrm>
          <a:prstGeom prst="rect">
            <a:avLst/>
          </a:prstGeom>
          <a:noFill/>
        </p:spPr>
        <p:txBody>
          <a:bodyPr wrap="square">
            <a:spAutoFit/>
          </a:bodyPr>
          <a:lstStyle/>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5</a:t>
            </a:r>
          </a:p>
          <a:p>
            <a:pPr algn="l"/>
            <a:r>
              <a:rPr lang="en-US" sz="2400" b="0" i="0" dirty="0">
                <a:effectLst/>
                <a:latin typeface="Nunito Sans" pitchFamily="2" charset="0"/>
              </a:rPr>
              <a:t>603</a:t>
            </a:r>
          </a:p>
          <a:p>
            <a:pPr algn="l"/>
            <a:r>
              <a:rPr lang="en-US" sz="2400" b="0" i="0" dirty="0">
                <a:effectLst/>
                <a:latin typeface="Nunito Sans" pitchFamily="2" charset="0"/>
              </a:rPr>
              <a:t>006</a:t>
            </a:r>
          </a:p>
          <a:p>
            <a:pPr algn="l"/>
            <a:r>
              <a:rPr lang="en-US" sz="2400" b="0" i="0" dirty="0">
                <a:effectLst/>
                <a:latin typeface="Nunito Sans" pitchFamily="2" charset="0"/>
              </a:rPr>
              <a:t>205</a:t>
            </a:r>
          </a:p>
          <a:p>
            <a:pPr algn="l"/>
            <a:r>
              <a:rPr lang="en-US" sz="2400" b="0" i="0" dirty="0">
                <a:effectLst/>
                <a:latin typeface="Nunito Sans" pitchFamily="2" charset="0"/>
              </a:rPr>
              <a:t>228</a:t>
            </a:r>
          </a:p>
          <a:p>
            <a:pPr algn="l"/>
            <a:r>
              <a:rPr lang="en-US" sz="2400" b="0" i="0" dirty="0">
                <a:effectLst/>
                <a:latin typeface="Nunito Sans" pitchFamily="2" charset="0"/>
              </a:rPr>
              <a:t>1053</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YES</a:t>
            </a:r>
          </a:p>
          <a:p>
            <a:pPr algn="l"/>
            <a:r>
              <a:rPr lang="en-US" sz="2400" b="0" i="0" dirty="0">
                <a:effectLst/>
                <a:latin typeface="Nunito Sans" pitchFamily="2" charset="0"/>
              </a:rPr>
              <a:t>YES</a:t>
            </a:r>
          </a:p>
          <a:p>
            <a:pPr algn="l"/>
            <a:r>
              <a:rPr lang="en-US" sz="2400" b="0" i="0" dirty="0">
                <a:effectLst/>
                <a:latin typeface="Nunito Sans" pitchFamily="2" charset="0"/>
              </a:rPr>
              <a:t>NO</a:t>
            </a:r>
          </a:p>
          <a:p>
            <a:pPr algn="l"/>
            <a:r>
              <a:rPr lang="en-US" sz="2400" b="0" i="0" dirty="0">
                <a:effectLst/>
                <a:latin typeface="Nunito Sans" pitchFamily="2" charset="0"/>
              </a:rPr>
              <a:t>NO</a:t>
            </a:r>
          </a:p>
          <a:p>
            <a:pPr algn="l"/>
            <a:r>
              <a:rPr lang="en-US" sz="2400" b="0" i="0" dirty="0">
                <a:effectLst/>
                <a:latin typeface="Nunito Sans" pitchFamily="2" charset="0"/>
              </a:rPr>
              <a:t>NO</a:t>
            </a:r>
          </a:p>
          <a:p>
            <a:pPr algn="l"/>
            <a:br>
              <a:rPr lang="en-US" sz="2400" b="0" i="0" dirty="0">
                <a:effectLst/>
                <a:latin typeface="Nunito Sans" pitchFamily="2" charset="0"/>
              </a:rPr>
            </a:br>
            <a:endParaRPr lang="en-US" sz="2400" b="0" i="0" dirty="0">
              <a:effectLst/>
              <a:latin typeface="Nunito Sans" pitchFamily="2" charset="0"/>
            </a:endParaRPr>
          </a:p>
          <a:p>
            <a:pPr algn="l"/>
            <a:endParaRPr lang="en-US" sz="2400" b="0" i="0" dirty="0">
              <a:effectLst/>
              <a:latin typeface="Nunito Sans" pitchFamily="2" charset="0"/>
            </a:endParaRPr>
          </a:p>
        </p:txBody>
      </p:sp>
    </p:spTree>
    <p:extLst>
      <p:ext uri="{BB962C8B-B14F-4D97-AF65-F5344CB8AC3E}">
        <p14:creationId xmlns:p14="http://schemas.microsoft.com/office/powerpoint/2010/main" val="1468194665"/>
      </p:ext>
    </p:extLst>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2308324"/>
          </a:xfrm>
          <a:prstGeom prst="rect">
            <a:avLst/>
          </a:prstGeom>
          <a:noFill/>
        </p:spPr>
        <p:txBody>
          <a:bodyPr wrap="square">
            <a:spAutoFit/>
          </a:bodyPr>
          <a:lstStyle/>
          <a:p>
            <a:pPr algn="l"/>
            <a:r>
              <a:rPr lang="en-US" sz="2400" b="1" i="0" dirty="0">
                <a:effectLst/>
                <a:latin typeface="Nunito Sans" pitchFamily="2" charset="0"/>
              </a:rPr>
              <a:t>Example 2</a:t>
            </a: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1</a:t>
            </a:r>
          </a:p>
          <a:p>
            <a:pPr algn="l"/>
            <a:r>
              <a:rPr lang="en-US" sz="2400" b="0" i="0" dirty="0">
                <a:effectLst/>
                <a:latin typeface="Nunito Sans" pitchFamily="2" charset="0"/>
              </a:rPr>
              <a:t>0000000000000000000000000000000000000000000000</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YES</a:t>
            </a:r>
          </a:p>
        </p:txBody>
      </p:sp>
    </p:spTree>
    <p:extLst>
      <p:ext uri="{BB962C8B-B14F-4D97-AF65-F5344CB8AC3E}">
        <p14:creationId xmlns:p14="http://schemas.microsoft.com/office/powerpoint/2010/main" val="3184613960"/>
      </p:ext>
    </p:extLst>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stdbool.h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string.h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isDivisibleBy3</a:t>
            </a:r>
            <a:r>
              <a:rPr lang="en-IN" sz="2000" b="0" dirty="0">
                <a:solidFill>
                  <a:srgbClr val="DCDCDC"/>
                </a:solidFill>
                <a:effectLst/>
                <a:latin typeface="Nunito Sans" pitchFamily="2" charset="0"/>
              </a:rPr>
              <a:t>(</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ct_0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even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ct_0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even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ct_0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even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49813802"/>
      </p:ext>
    </p:extLst>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isDivisibleBy3</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"YES\n"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"NO\n"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28921705"/>
      </p:ext>
    </p:extLst>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bits/</a:t>
            </a:r>
            <a:r>
              <a:rPr lang="en-IN" sz="2000" b="0" dirty="0" err="1">
                <a:solidFill>
                  <a:srgbClr val="CE9178"/>
                </a:solidFill>
                <a:effectLst/>
                <a:latin typeface="Nunito Sans" pitchFamily="2" charset="0"/>
              </a:rPr>
              <a:t>stdc</a:t>
            </a:r>
            <a:r>
              <a:rPr lang="en-IN" sz="2000" b="0" dirty="0">
                <a:solidFill>
                  <a:srgbClr val="CE9178"/>
                </a:solidFill>
                <a:effectLst/>
                <a:latin typeface="Nunito Sans" pitchFamily="2" charset="0"/>
              </a:rPr>
              <a:t>++.h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ct_0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even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size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ct_0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even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and ct_0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and even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"YES\n"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"NO\n"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520529009"/>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boolean</a:t>
            </a:r>
            <a:r>
              <a:rPr lang="en-IN" sz="2000" b="0" dirty="0">
                <a:solidFill>
                  <a:srgbClr val="D4D4D4"/>
                </a:solidFill>
                <a:effectLst/>
                <a:latin typeface="Nunito Sans" pitchFamily="2" charset="0"/>
              </a:rPr>
              <a:t> isDivisibleBy3</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ct_0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even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ct_0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even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ct_0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even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nextLine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35680095"/>
      </p:ext>
    </p:extLst>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String 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nextLine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isDivisibleBy3</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"YES"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"NO"</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close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328994136"/>
      </p:ext>
    </p:extLst>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is_divisible_by_3</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_sum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ct_0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even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err="1">
                <a:solidFill>
                  <a:srgbClr val="569CD6"/>
                </a:solidFill>
                <a:effectLst/>
                <a:latin typeface="Nunito Sans" pitchFamily="2" charset="0"/>
              </a:rPr>
              <a:t>len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_sum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ct_0 +=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CE9178"/>
                </a:solidFill>
                <a:effectLst/>
                <a:latin typeface="Nunito Sans" pitchFamily="2" charset="0"/>
              </a:rPr>
              <a:t>'0'</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even += </a:t>
            </a:r>
            <a:r>
              <a:rPr lang="en-US" sz="2000" b="0" dirty="0">
                <a:solidFill>
                  <a:srgbClr val="B5CEA8"/>
                </a:solidFill>
                <a:effectLst/>
                <a:latin typeface="Nunito Sans" pitchFamily="2" charset="0"/>
              </a:rPr>
              <a:t>1</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2</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_sum % </a:t>
            </a:r>
            <a:r>
              <a:rPr lang="en-US" sz="2000" b="0" dirty="0">
                <a:solidFill>
                  <a:srgbClr val="B5CEA8"/>
                </a:solidFill>
                <a:effectLst/>
                <a:latin typeface="Nunito Sans" pitchFamily="2" charset="0"/>
              </a:rPr>
              <a:t>3</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and</a:t>
            </a:r>
            <a:r>
              <a:rPr lang="en-US" sz="2000" b="0" dirty="0">
                <a:solidFill>
                  <a:srgbClr val="D4D4D4"/>
                </a:solidFill>
                <a:effectLst/>
                <a:latin typeface="Nunito Sans" pitchFamily="2" charset="0"/>
              </a:rPr>
              <a:t> ct_0 &gt; </a:t>
            </a:r>
            <a:r>
              <a:rPr lang="en-US" sz="2000" b="0" dirty="0">
                <a:solidFill>
                  <a:srgbClr val="B5CEA8"/>
                </a:solidFill>
                <a:effectLst/>
                <a:latin typeface="Nunito Sans" pitchFamily="2" charset="0"/>
              </a:rPr>
              <a:t>0</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and</a:t>
            </a:r>
            <a:r>
              <a:rPr lang="en-US" sz="2000" b="0" dirty="0">
                <a:solidFill>
                  <a:srgbClr val="D4D4D4"/>
                </a:solidFill>
                <a:effectLst/>
                <a:latin typeface="Nunito Sans" pitchFamily="2" charset="0"/>
              </a:rPr>
              <a:t> even &gt;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_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s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is_divisible_by_3</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"YES"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"NO"</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986530123"/>
      </p:ext>
    </p:extLst>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262979"/>
          </a:xfrm>
          <a:prstGeom prst="rect">
            <a:avLst/>
          </a:prstGeom>
          <a:noFill/>
        </p:spPr>
        <p:txBody>
          <a:bodyPr wrap="square">
            <a:spAutoFit/>
          </a:bodyPr>
          <a:lstStyle/>
          <a:p>
            <a:pPr algn="l"/>
            <a:r>
              <a:rPr lang="en-US" sz="2400" b="0" i="0" dirty="0">
                <a:effectLst/>
                <a:latin typeface="Nunito Sans" pitchFamily="2" charset="0"/>
              </a:rPr>
              <a:t>Nick went to a carnival where he saw one of the booths having a strange game. The game was simple.</a:t>
            </a:r>
          </a:p>
          <a:p>
            <a:pPr algn="l"/>
            <a:r>
              <a:rPr lang="en-US" sz="2400" b="0" i="0" dirty="0">
                <a:effectLst/>
                <a:latin typeface="Nunito Sans" pitchFamily="2" charset="0"/>
              </a:rPr>
              <a:t>There will be an integer number A displayed on the Screen, and you will be </a:t>
            </a:r>
            <a:r>
              <a:rPr lang="en-US" sz="2400" b="0" i="0" dirty="0" err="1">
                <a:effectLst/>
                <a:latin typeface="Nunito Sans" pitchFamily="2" charset="0"/>
              </a:rPr>
              <a:t>gwen</a:t>
            </a:r>
            <a:r>
              <a:rPr lang="en-US" sz="2400" b="0" i="0" dirty="0">
                <a:effectLst/>
                <a:latin typeface="Nunito Sans" pitchFamily="2" charset="0"/>
              </a:rPr>
              <a:t> another number B from the booth.</a:t>
            </a:r>
          </a:p>
          <a:p>
            <a:pPr algn="l"/>
            <a:r>
              <a:rPr lang="en-US" sz="2400" b="0" i="0" dirty="0">
                <a:effectLst/>
                <a:latin typeface="Nunito Sans" pitchFamily="2" charset="0"/>
              </a:rPr>
              <a:t>Now, you can convert the same </a:t>
            </a:r>
            <a:r>
              <a:rPr lang="en-US" sz="2400" b="0" i="0" dirty="0" err="1">
                <a:effectLst/>
                <a:latin typeface="Nunito Sans" pitchFamily="2" charset="0"/>
              </a:rPr>
              <a:t>number.B</a:t>
            </a:r>
            <a:r>
              <a:rPr lang="en-US" sz="2400" b="0" i="0" dirty="0">
                <a:effectLst/>
                <a:latin typeface="Nunito Sans" pitchFamily="2" charset="0"/>
              </a:rPr>
              <a:t> into </a:t>
            </a:r>
            <a:r>
              <a:rPr lang="en-US" sz="2400" b="0" i="0" dirty="0" err="1">
                <a:effectLst/>
                <a:latin typeface="Nunito Sans" pitchFamily="2" charset="0"/>
              </a:rPr>
              <a:t>binary,right</a:t>
            </a:r>
            <a:r>
              <a:rPr lang="en-US" sz="2400" b="0" i="0" dirty="0">
                <a:effectLst/>
                <a:latin typeface="Nunito Sans" pitchFamily="2" charset="0"/>
              </a:rPr>
              <a:t>-adjust the binary digits any number of times, and then give back the decimal conversion C of </a:t>
            </a:r>
            <a:r>
              <a:rPr lang="en-US" sz="2400" b="0" i="0" dirty="0" err="1">
                <a:effectLst/>
                <a:latin typeface="Nunito Sans" pitchFamily="2" charset="0"/>
              </a:rPr>
              <a:t>it.You</a:t>
            </a:r>
            <a:r>
              <a:rPr lang="en-US" sz="2400" b="0" i="0" dirty="0">
                <a:effectLst/>
                <a:latin typeface="Nunito Sans" pitchFamily="2" charset="0"/>
              </a:rPr>
              <a:t> have to return a number such that, if your number C and the number displayed on the screen A goes through an Exclusive-OR operation it should output the maximum </a:t>
            </a:r>
            <a:r>
              <a:rPr lang="en-US" sz="2400" b="0" i="0" dirty="0" err="1">
                <a:effectLst/>
                <a:latin typeface="Nunito Sans" pitchFamily="2" charset="0"/>
              </a:rPr>
              <a:t>result.Your</a:t>
            </a:r>
            <a:r>
              <a:rPr lang="en-US" sz="2400" b="0" i="0" dirty="0">
                <a:effectLst/>
                <a:latin typeface="Nunito Sans" pitchFamily="2" charset="0"/>
              </a:rPr>
              <a:t> task is to find out the minimum right binary operation which has to be performed to achieve the maximum results.</a:t>
            </a:r>
          </a:p>
          <a:p>
            <a:pPr algn="l"/>
            <a:r>
              <a:rPr lang="en-US" sz="2400" b="0" i="0" dirty="0">
                <a:effectLst/>
                <a:latin typeface="Nunito Sans" pitchFamily="2" charset="0"/>
              </a:rPr>
              <a:t>Below is an idea of right-adjust operation:</a:t>
            </a:r>
          </a:p>
          <a:p>
            <a:pPr algn="l"/>
            <a:r>
              <a:rPr lang="en-US" sz="2400" b="0" i="0" dirty="0">
                <a:effectLst/>
                <a:latin typeface="Nunito Sans" pitchFamily="2" charset="0"/>
              </a:rPr>
              <a:t>Suppose there is a binary number represented as</a:t>
            </a:r>
          </a:p>
          <a:p>
            <a:pPr algn="l"/>
            <a:r>
              <a:rPr lang="en-US" sz="2400" b="0" i="0" dirty="0">
                <a:effectLst/>
                <a:latin typeface="Nunito Sans" pitchFamily="2" charset="0"/>
              </a:rPr>
              <a:t>D1,D2,D3,D4, where D1, D2, D3 and D4 are the different digits.</a:t>
            </a:r>
          </a:p>
          <a:p>
            <a:pPr algn="l"/>
            <a:endParaRPr lang="en-US" sz="2400" b="1" i="0" dirty="0">
              <a:effectLst/>
              <a:latin typeface="Nunito Sans" pitchFamily="2" charset="0"/>
            </a:endParaRPr>
          </a:p>
        </p:txBody>
      </p:sp>
    </p:spTree>
    <p:extLst>
      <p:ext uri="{BB962C8B-B14F-4D97-AF65-F5344CB8AC3E}">
        <p14:creationId xmlns:p14="http://schemas.microsoft.com/office/powerpoint/2010/main" val="68100838"/>
      </p:ext>
    </p:extLst>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6001643"/>
          </a:xfrm>
          <a:prstGeom prst="rect">
            <a:avLst/>
          </a:prstGeom>
          <a:noFill/>
        </p:spPr>
        <p:txBody>
          <a:bodyPr wrap="square">
            <a:spAutoFit/>
          </a:bodyPr>
          <a:lstStyle/>
          <a:p>
            <a:pPr algn="l"/>
            <a:r>
              <a:rPr lang="en-US" sz="2400" b="0" i="0" dirty="0">
                <a:effectLst/>
                <a:latin typeface="Nunito Sans" pitchFamily="2" charset="0"/>
              </a:rPr>
              <a:t>1. Right-Shift operation will make the number as D3D1D2D3</a:t>
            </a:r>
          </a:p>
          <a:p>
            <a:pPr algn="l"/>
            <a:r>
              <a:rPr lang="en-US" sz="2400" b="0" i="0" dirty="0">
                <a:effectLst/>
                <a:latin typeface="Nunito Sans" pitchFamily="2" charset="0"/>
              </a:rPr>
              <a:t>The next Right-Shift operation will make the number as D3D4D1D2</a:t>
            </a:r>
          </a:p>
          <a:p>
            <a:pPr algn="l"/>
            <a:r>
              <a:rPr lang="en-US" sz="2400" b="0" i="0" dirty="0">
                <a:effectLst/>
                <a:latin typeface="Nunito Sans" pitchFamily="2" charset="0"/>
              </a:rPr>
              <a:t>Given A and B, find the number of operations requir28231160 achieve the maximum result of A (EX-OR) B, and also output the result of it.</a:t>
            </a:r>
          </a:p>
          <a:p>
            <a:pPr algn="l"/>
            <a:r>
              <a:rPr lang="en-US" sz="2400" b="0" i="0" dirty="0">
                <a:effectLst/>
                <a:latin typeface="Nunito Sans" pitchFamily="2" charset="0"/>
              </a:rPr>
              <a:t>**Note: while performing an Exclusive-OR operation, the number of binary digits should be the same.</a:t>
            </a:r>
          </a:p>
          <a:p>
            <a:pPr algn="l"/>
            <a:r>
              <a:rPr lang="en-US" sz="2400" b="0" i="0" dirty="0">
                <a:effectLst/>
                <a:latin typeface="Nunito Sans" pitchFamily="2" charset="0"/>
              </a:rPr>
              <a:t>Let us try to understand it with an example.</a:t>
            </a:r>
          </a:p>
          <a:p>
            <a:pPr algn="l"/>
            <a:r>
              <a:rPr lang="en-US" sz="2400" b="0" i="0" dirty="0">
                <a:effectLst/>
                <a:latin typeface="Nunito Sans" pitchFamily="2" charset="0"/>
              </a:rPr>
              <a:t>consider the input A= 4 and B=5</a:t>
            </a:r>
          </a:p>
          <a:p>
            <a:pPr algn="l"/>
            <a:r>
              <a:rPr lang="en-US" sz="2400" b="0" i="0" dirty="0">
                <a:effectLst/>
                <a:latin typeface="Nunito Sans" pitchFamily="2" charset="0"/>
              </a:rPr>
              <a:t>The respective binary of:</a:t>
            </a:r>
          </a:p>
          <a:p>
            <a:pPr algn="l"/>
            <a:r>
              <a:rPr lang="en-US" sz="2400" b="0" i="0" dirty="0">
                <a:effectLst/>
                <a:latin typeface="Nunito Sans" pitchFamily="2" charset="0"/>
              </a:rPr>
              <a:t>A = 100</a:t>
            </a:r>
          </a:p>
          <a:p>
            <a:pPr algn="l"/>
            <a:r>
              <a:rPr lang="en-US" sz="2400" b="0" i="0" dirty="0">
                <a:effectLst/>
                <a:latin typeface="Nunito Sans" pitchFamily="2" charset="0"/>
              </a:rPr>
              <a:t>B=101</a:t>
            </a:r>
          </a:p>
          <a:p>
            <a:pPr algn="l"/>
            <a:r>
              <a:rPr lang="en-US" sz="2400" b="0" i="0" dirty="0">
                <a:effectLst/>
                <a:latin typeface="Nunito Sans" pitchFamily="2" charset="0"/>
              </a:rPr>
              <a:t>Default: A(EX-OR) B= 100 (EX-OR) 101=001 = 1</a:t>
            </a:r>
          </a:p>
          <a:p>
            <a:pPr algn="l"/>
            <a:r>
              <a:rPr lang="en-US" sz="2400" b="0" i="0" dirty="0">
                <a:effectLst/>
                <a:latin typeface="Nunito Sans" pitchFamily="2" charset="0"/>
              </a:rPr>
              <a:t>Right-Shift-#1:</a:t>
            </a:r>
          </a:p>
          <a:p>
            <a:pPr algn="l"/>
            <a:r>
              <a:rPr lang="en-US" sz="2400" b="0" i="0" dirty="0">
                <a:effectLst/>
                <a:latin typeface="Nunito Sans" pitchFamily="2" charset="0"/>
              </a:rPr>
              <a:t>B become 110</a:t>
            </a:r>
          </a:p>
          <a:p>
            <a:pPr algn="l"/>
            <a:r>
              <a:rPr lang="en-US" sz="2400" b="0" i="0" dirty="0">
                <a:effectLst/>
                <a:latin typeface="Nunito Sans" pitchFamily="2" charset="0"/>
              </a:rPr>
              <a:t>A (EX-OR) B = 100 (EX-OR)110=010=2</a:t>
            </a:r>
          </a:p>
          <a:p>
            <a:pPr algn="l"/>
            <a:endParaRPr lang="en-US" sz="2400" b="0" i="0" dirty="0">
              <a:effectLst/>
              <a:latin typeface="Nunito Sans" pitchFamily="2" charset="0"/>
            </a:endParaRPr>
          </a:p>
        </p:txBody>
      </p:sp>
    </p:spTree>
    <p:extLst>
      <p:ext uri="{BB962C8B-B14F-4D97-AF65-F5344CB8AC3E}">
        <p14:creationId xmlns:p14="http://schemas.microsoft.com/office/powerpoint/2010/main" val="3743514454"/>
      </p:ext>
    </p:extLst>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632311"/>
          </a:xfrm>
          <a:prstGeom prst="rect">
            <a:avLst/>
          </a:prstGeom>
          <a:noFill/>
        </p:spPr>
        <p:txBody>
          <a:bodyPr wrap="square">
            <a:spAutoFit/>
          </a:bodyPr>
          <a:lstStyle/>
          <a:p>
            <a:pPr algn="l"/>
            <a:r>
              <a:rPr lang="en-US" sz="2400" b="0" i="0" dirty="0">
                <a:effectLst/>
                <a:latin typeface="Nunito Sans" pitchFamily="2" charset="0"/>
              </a:rPr>
              <a:t>Right-Shift-#2:</a:t>
            </a:r>
          </a:p>
          <a:p>
            <a:pPr algn="l"/>
            <a:r>
              <a:rPr lang="en-US" sz="2400" b="0" i="0" dirty="0">
                <a:effectLst/>
                <a:latin typeface="Nunito Sans" pitchFamily="2" charset="0"/>
              </a:rPr>
              <a:t>B become 011</a:t>
            </a:r>
          </a:p>
          <a:p>
            <a:pPr algn="l"/>
            <a:r>
              <a:rPr lang="en-US" sz="2400" b="0" i="0" dirty="0">
                <a:effectLst/>
                <a:latin typeface="Nunito Sans" pitchFamily="2" charset="0"/>
              </a:rPr>
              <a:t>A (EX-OR) B = 100 (EX-OR)011=111=7</a:t>
            </a:r>
          </a:p>
          <a:p>
            <a:pPr algn="l"/>
            <a:r>
              <a:rPr lang="en-US" sz="2400" b="0" i="0" dirty="0">
                <a:effectLst/>
                <a:latin typeface="Nunito Sans" pitchFamily="2" charset="0"/>
              </a:rPr>
              <a:t>For a 3 digit </a:t>
            </a:r>
            <a:r>
              <a:rPr lang="en-US" sz="2400" b="0" i="0" dirty="0" err="1">
                <a:effectLst/>
                <a:latin typeface="Nunito Sans" pitchFamily="2" charset="0"/>
              </a:rPr>
              <a:t>binary,this</a:t>
            </a:r>
            <a:r>
              <a:rPr lang="en-US" sz="2400" b="0" i="0" dirty="0">
                <a:effectLst/>
                <a:latin typeface="Nunito Sans" pitchFamily="2" charset="0"/>
              </a:rPr>
              <a:t> is the highest value that can be </a:t>
            </a:r>
            <a:r>
              <a:rPr lang="en-US" sz="2400" b="0" i="0" dirty="0" err="1">
                <a:effectLst/>
                <a:latin typeface="Nunito Sans" pitchFamily="2" charset="0"/>
              </a:rPr>
              <a:t>acheived.Hence</a:t>
            </a:r>
            <a:r>
              <a:rPr lang="en-US" sz="2400" b="0" i="0" dirty="0">
                <a:effectLst/>
                <a:latin typeface="Nunito Sans" pitchFamily="2" charset="0"/>
              </a:rPr>
              <a:t> after 2 </a:t>
            </a:r>
            <a:r>
              <a:rPr lang="en-US" sz="2400" b="0" i="0" dirty="0" err="1">
                <a:effectLst/>
                <a:latin typeface="Nunito Sans" pitchFamily="2" charset="0"/>
              </a:rPr>
              <a:t>operations,the</a:t>
            </a:r>
            <a:r>
              <a:rPr lang="en-US" sz="2400" b="0" i="0" dirty="0">
                <a:effectLst/>
                <a:latin typeface="Nunito Sans" pitchFamily="2" charset="0"/>
              </a:rPr>
              <a:t> result was 7.So the answer is 2 7(separated by space)</a:t>
            </a:r>
          </a:p>
          <a:p>
            <a:pPr algn="l"/>
            <a:r>
              <a:rPr lang="en-US" sz="2400" b="1" i="0" dirty="0">
                <a:effectLst/>
                <a:latin typeface="Nunito Sans" pitchFamily="2" charset="0"/>
              </a:rPr>
              <a:t>Input format</a:t>
            </a:r>
            <a:endParaRPr lang="en-US" sz="2400" b="0" i="0" dirty="0">
              <a:effectLst/>
              <a:latin typeface="Nunito Sans" pitchFamily="2" charset="0"/>
            </a:endParaRPr>
          </a:p>
          <a:p>
            <a:pPr algn="l"/>
            <a:r>
              <a:rPr lang="en-US" sz="2400" b="0" i="0" dirty="0">
                <a:effectLst/>
                <a:latin typeface="Nunito Sans" pitchFamily="2" charset="0"/>
              </a:rPr>
              <a:t>First Input -Accept value of Integer, A.</a:t>
            </a:r>
          </a:p>
          <a:p>
            <a:pPr algn="l"/>
            <a:r>
              <a:rPr lang="en-US" sz="2400" b="0" i="0" dirty="0">
                <a:effectLst/>
                <a:latin typeface="Nunito Sans" pitchFamily="2" charset="0"/>
              </a:rPr>
              <a:t>Second Input -Accept value of Integer, B (Next Line)</a:t>
            </a:r>
          </a:p>
          <a:p>
            <a:pPr algn="l"/>
            <a:r>
              <a:rPr lang="en-US" sz="2400" b="1" i="0" dirty="0">
                <a:effectLst/>
                <a:latin typeface="Nunito Sans" pitchFamily="2" charset="0"/>
              </a:rPr>
              <a:t>Output format</a:t>
            </a:r>
            <a:endParaRPr lang="en-US" sz="2400" b="0" i="0" dirty="0">
              <a:effectLst/>
              <a:latin typeface="Nunito Sans" pitchFamily="2" charset="0"/>
            </a:endParaRPr>
          </a:p>
          <a:p>
            <a:pPr algn="l"/>
            <a:r>
              <a:rPr lang="en-US" sz="2400" b="0" i="0" dirty="0">
                <a:effectLst/>
                <a:latin typeface="Nunito Sans" pitchFamily="2" charset="0"/>
              </a:rPr>
              <a:t>The output are 2 integer values (Separated by Space) as per above logic. (Check the output in Example 1. Example 2)</a:t>
            </a:r>
          </a:p>
          <a:p>
            <a:pPr algn="l"/>
            <a:r>
              <a:rPr lang="en-US" sz="2400" b="0" i="0" dirty="0">
                <a:effectLst/>
                <a:latin typeface="Nunito Sans" pitchFamily="2" charset="0"/>
              </a:rPr>
              <a:t>Additional messages in output will cause the failure of test cases.</a:t>
            </a:r>
          </a:p>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1&lt;=A, B&lt;=1000000</a:t>
            </a:r>
          </a:p>
          <a:p>
            <a:pPr algn="l"/>
            <a:r>
              <a:rPr lang="en-US" sz="2400" b="0" i="0" dirty="0">
                <a:effectLst/>
                <a:latin typeface="Nunito Sans" pitchFamily="2" charset="0"/>
              </a:rPr>
              <a:t>Only positive Integer values</a:t>
            </a:r>
          </a:p>
        </p:txBody>
      </p:sp>
    </p:spTree>
    <p:extLst>
      <p:ext uri="{BB962C8B-B14F-4D97-AF65-F5344CB8AC3E}">
        <p14:creationId xmlns:p14="http://schemas.microsoft.com/office/powerpoint/2010/main" val="3470062331"/>
      </p:ext>
    </p:extLst>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49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262979"/>
          </a:xfrm>
          <a:prstGeom prst="rect">
            <a:avLst/>
          </a:prstGeom>
          <a:noFill/>
        </p:spPr>
        <p:txBody>
          <a:bodyPr wrap="square">
            <a:spAutoFit/>
          </a:bodyPr>
          <a:lstStyle/>
          <a:p>
            <a:pPr algn="l"/>
            <a:r>
              <a:rPr lang="en-US" sz="2400" b="1" i="0" dirty="0">
                <a:effectLst/>
                <a:latin typeface="Nunito Sans" pitchFamily="2" charset="0"/>
              </a:rPr>
              <a:t>Example 1:</a:t>
            </a:r>
            <a:endParaRPr lang="en-US" sz="2400" b="0" i="0" dirty="0">
              <a:effectLst/>
              <a:latin typeface="Nunito Sans" pitchFamily="2" charset="0"/>
            </a:endParaRPr>
          </a:p>
          <a:p>
            <a:pPr algn="l"/>
            <a:r>
              <a:rPr lang="en-US" sz="2400" b="1" i="0" dirty="0">
                <a:effectLst/>
                <a:latin typeface="Nunito Sans" pitchFamily="2" charset="0"/>
              </a:rPr>
              <a:t>Input:</a:t>
            </a:r>
            <a:endParaRPr lang="en-US" sz="2400" b="0" i="0" dirty="0">
              <a:effectLst/>
              <a:latin typeface="Nunito Sans" pitchFamily="2" charset="0"/>
            </a:endParaRPr>
          </a:p>
          <a:p>
            <a:pPr algn="l"/>
            <a:r>
              <a:rPr lang="en-US" sz="2400" b="0" i="0" dirty="0">
                <a:effectLst/>
                <a:latin typeface="Nunito Sans" pitchFamily="2" charset="0"/>
              </a:rPr>
              <a:t>1  -&gt; Input integer ,A</a:t>
            </a:r>
          </a:p>
          <a:p>
            <a:pPr algn="l"/>
            <a:r>
              <a:rPr lang="en-US" sz="2400" b="0" i="0" dirty="0">
                <a:effectLst/>
                <a:latin typeface="Nunito Sans" pitchFamily="2" charset="0"/>
              </a:rPr>
              <a:t>3  -&gt;Input integer , B</a:t>
            </a:r>
          </a:p>
          <a:p>
            <a:pPr algn="l"/>
            <a:r>
              <a:rPr lang="en-US" sz="2400" b="1" i="0" dirty="0">
                <a:effectLst/>
                <a:latin typeface="Nunito Sans" pitchFamily="2" charset="0"/>
              </a:rPr>
              <a:t>Output:</a:t>
            </a:r>
            <a:endParaRPr lang="en-US" sz="2400" b="0" i="0" dirty="0">
              <a:effectLst/>
              <a:latin typeface="Nunito Sans" pitchFamily="2" charset="0"/>
            </a:endParaRPr>
          </a:p>
          <a:p>
            <a:pPr algn="l"/>
            <a:r>
              <a:rPr lang="en-US" sz="2400" b="0" i="0" dirty="0">
                <a:effectLst/>
                <a:latin typeface="Nunito Sans" pitchFamily="2" charset="0"/>
              </a:rPr>
              <a:t>0 2   -&gt;Output</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In this scenario, the respective binary </a:t>
            </a:r>
            <a:r>
              <a:rPr lang="en-US" sz="2400" b="0" i="0" dirty="0" err="1">
                <a:effectLst/>
                <a:latin typeface="Nunito Sans" pitchFamily="2" charset="0"/>
              </a:rPr>
              <a:t>ofA</a:t>
            </a:r>
            <a:r>
              <a:rPr lang="en-US" sz="2400" b="0" i="0" dirty="0">
                <a:effectLst/>
                <a:latin typeface="Nunito Sans" pitchFamily="2" charset="0"/>
              </a:rPr>
              <a:t>=01 B=110Default: A (EX-OR) B=01 (EX-OR) 11=10=2 Right-Shift-1:</a:t>
            </a:r>
          </a:p>
          <a:p>
            <a:pPr algn="l"/>
            <a:r>
              <a:rPr lang="en-US" sz="2400" b="0" i="0" dirty="0">
                <a:effectLst/>
                <a:latin typeface="Nunito Sans" pitchFamily="2" charset="0"/>
              </a:rPr>
              <a:t>become 11</a:t>
            </a:r>
          </a:p>
          <a:p>
            <a:pPr algn="l"/>
            <a:r>
              <a:rPr lang="en-US" sz="2400" b="0" i="0" dirty="0">
                <a:effectLst/>
                <a:latin typeface="Nunito Sans" pitchFamily="2" charset="0"/>
              </a:rPr>
              <a:t>(EX-OR)=01 (EX-OR) 11=10=2</a:t>
            </a:r>
          </a:p>
          <a:p>
            <a:pPr algn="l"/>
            <a:r>
              <a:rPr lang="en-US" sz="2400" b="0" i="0" dirty="0">
                <a:effectLst/>
                <a:latin typeface="Nunito Sans" pitchFamily="2" charset="0"/>
              </a:rPr>
              <a:t>There will not be any change the value of B after performing any number of Right-Shift operations Hence the output is going to be the same always.</a:t>
            </a:r>
          </a:p>
          <a:p>
            <a:pPr algn="l"/>
            <a:r>
              <a:rPr lang="en-US" sz="2400" b="0" i="0" dirty="0">
                <a:effectLst/>
                <a:latin typeface="Nunito Sans" pitchFamily="2" charset="0"/>
              </a:rPr>
              <a:t>So the output will be 0 2.</a:t>
            </a:r>
          </a:p>
        </p:txBody>
      </p:sp>
    </p:spTree>
    <p:extLst>
      <p:ext uri="{BB962C8B-B14F-4D97-AF65-F5344CB8AC3E}">
        <p14:creationId xmlns:p14="http://schemas.microsoft.com/office/powerpoint/2010/main" val="122858249"/>
      </p:ext>
    </p:extLst>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countRightShifts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 %d"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shifts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countRightShifts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shifts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 %d\n"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shifts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348538140"/>
      </p:ext>
    </p:extLst>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countRightShifts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shifts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countRightShifts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shifts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shifts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 "</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51412666"/>
      </p:ext>
    </p:extLst>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countRightShifts</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shifts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countRightShifts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B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shifts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shifts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 "</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402922454"/>
      </p:ext>
    </p:extLst>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'z'</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'Z'</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9</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"9\n"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9</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76608789"/>
      </p:ext>
    </p:extLst>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dirty="0" err="1">
                <a:latin typeface="Nunito Sans" panose="020B0604020202020204" charset="0"/>
              </a:rPr>
              <a:t>def</a:t>
            </a:r>
            <a:r>
              <a:rPr lang="en-US" sz="2000" dirty="0">
                <a:latin typeface="Nunito Sans" panose="020B0604020202020204" charset="0"/>
              </a:rPr>
              <a:t> </a:t>
            </a:r>
            <a:r>
              <a:rPr lang="en-US" sz="2000" dirty="0" err="1">
                <a:latin typeface="Nunito Sans" panose="020B0604020202020204" charset="0"/>
              </a:rPr>
              <a:t>count_right_shifts</a:t>
            </a:r>
            <a:r>
              <a:rPr lang="en-US" sz="2000" dirty="0">
                <a:latin typeface="Nunito Sans" panose="020B0604020202020204" charset="0"/>
              </a:rPr>
              <a:t>(</a:t>
            </a:r>
            <a:r>
              <a:rPr lang="en-US" sz="2000" dirty="0" err="1">
                <a:latin typeface="Nunito Sans" panose="020B0604020202020204" charset="0"/>
              </a:rPr>
              <a:t>num</a:t>
            </a:r>
            <a:r>
              <a:rPr lang="en-US" sz="2000" dirty="0">
                <a:latin typeface="Nunito Sans" panose="020B0604020202020204" charset="0"/>
              </a:rPr>
              <a:t>):</a:t>
            </a:r>
          </a:p>
          <a:p>
            <a:r>
              <a:rPr lang="en-US" sz="2000" dirty="0">
                <a:latin typeface="Nunito Sans" panose="020B0604020202020204" charset="0"/>
              </a:rPr>
              <a:t>    count = 0</a:t>
            </a:r>
          </a:p>
          <a:p>
            <a:r>
              <a:rPr lang="en-US" sz="2000" dirty="0">
                <a:latin typeface="Nunito Sans" panose="020B0604020202020204" charset="0"/>
              </a:rPr>
              <a:t>    while </a:t>
            </a:r>
            <a:r>
              <a:rPr lang="en-US" sz="2000" dirty="0" err="1">
                <a:latin typeface="Nunito Sans" panose="020B0604020202020204" charset="0"/>
              </a:rPr>
              <a:t>num</a:t>
            </a:r>
            <a:r>
              <a:rPr lang="en-US" sz="2000" dirty="0">
                <a:latin typeface="Nunito Sans" panose="020B0604020202020204" charset="0"/>
              </a:rPr>
              <a:t> % 2 == 0:</a:t>
            </a:r>
          </a:p>
          <a:p>
            <a:r>
              <a:rPr lang="en-US" sz="2000" dirty="0">
                <a:latin typeface="Nunito Sans" panose="020B0604020202020204" charset="0"/>
              </a:rPr>
              <a:t>        </a:t>
            </a:r>
            <a:r>
              <a:rPr lang="en-US" sz="2000" dirty="0" err="1">
                <a:latin typeface="Nunito Sans" panose="020B0604020202020204" charset="0"/>
              </a:rPr>
              <a:t>num</a:t>
            </a:r>
            <a:r>
              <a:rPr lang="en-US" sz="2000" dirty="0">
                <a:latin typeface="Nunito Sans" panose="020B0604020202020204" charset="0"/>
              </a:rPr>
              <a:t> &gt;&gt;= 1</a:t>
            </a:r>
          </a:p>
          <a:p>
            <a:r>
              <a:rPr lang="en-US" sz="2000" dirty="0">
                <a:latin typeface="Nunito Sans" panose="020B0604020202020204" charset="0"/>
              </a:rPr>
              <a:t>        count += 1</a:t>
            </a:r>
          </a:p>
          <a:p>
            <a:r>
              <a:rPr lang="en-US" sz="2000" dirty="0">
                <a:latin typeface="Nunito Sans" panose="020B0604020202020204" charset="0"/>
              </a:rPr>
              <a:t>    return count</a:t>
            </a:r>
          </a:p>
          <a:p>
            <a:r>
              <a:rPr lang="en-US" sz="2000" dirty="0">
                <a:latin typeface="Nunito Sans" panose="020B0604020202020204" charset="0"/>
              </a:rPr>
              <a:t>A = </a:t>
            </a:r>
            <a:r>
              <a:rPr lang="en-US" sz="2000" dirty="0" err="1">
                <a:latin typeface="Nunito Sans" panose="020B0604020202020204" charset="0"/>
              </a:rPr>
              <a:t>int</a:t>
            </a:r>
            <a:r>
              <a:rPr lang="en-US" sz="2000" dirty="0">
                <a:latin typeface="Nunito Sans" panose="020B0604020202020204" charset="0"/>
              </a:rPr>
              <a:t>(input())</a:t>
            </a:r>
          </a:p>
          <a:p>
            <a:r>
              <a:rPr lang="en-US" sz="2000" dirty="0">
                <a:latin typeface="Nunito Sans" panose="020B0604020202020204" charset="0"/>
              </a:rPr>
              <a:t>B = </a:t>
            </a:r>
            <a:r>
              <a:rPr lang="en-US" sz="2000" dirty="0" err="1">
                <a:latin typeface="Nunito Sans" panose="020B0604020202020204" charset="0"/>
              </a:rPr>
              <a:t>int</a:t>
            </a:r>
            <a:r>
              <a:rPr lang="en-US" sz="2000" dirty="0">
                <a:latin typeface="Nunito Sans" panose="020B0604020202020204" charset="0"/>
              </a:rPr>
              <a:t>(input())</a:t>
            </a:r>
          </a:p>
          <a:p>
            <a:r>
              <a:rPr lang="en-US" sz="2000" dirty="0">
                <a:latin typeface="Nunito Sans" panose="020B0604020202020204" charset="0"/>
              </a:rPr>
              <a:t>shifts = </a:t>
            </a:r>
            <a:r>
              <a:rPr lang="en-US" sz="2000" dirty="0" err="1">
                <a:latin typeface="Nunito Sans" panose="020B0604020202020204" charset="0"/>
              </a:rPr>
              <a:t>count_right_shifts</a:t>
            </a:r>
            <a:r>
              <a:rPr lang="en-US" sz="2000" dirty="0">
                <a:latin typeface="Nunito Sans" panose="020B0604020202020204" charset="0"/>
              </a:rPr>
              <a:t>(B)</a:t>
            </a:r>
          </a:p>
          <a:p>
            <a:r>
              <a:rPr lang="en-US" sz="2000" dirty="0">
                <a:latin typeface="Nunito Sans" panose="020B0604020202020204" charset="0"/>
              </a:rPr>
              <a:t>result = A ^ (B &gt;&gt; shifts)</a:t>
            </a:r>
          </a:p>
          <a:p>
            <a:r>
              <a:rPr lang="en-US" sz="2000" dirty="0">
                <a:latin typeface="Nunito Sans" panose="020B0604020202020204" charset="0"/>
              </a:rPr>
              <a:t>print(shifts, result)</a:t>
            </a:r>
          </a:p>
          <a:p>
            <a:br>
              <a:rPr lang="en-US" sz="2000" dirty="0">
                <a:latin typeface="Nunito Sans" panose="020B0604020202020204" charset="0"/>
              </a:rPr>
            </a:br>
            <a:endParaRPr lang="en-US" sz="2000" dirty="0">
              <a:latin typeface="Nunito Sans" panose="020B0604020202020204" charset="0"/>
            </a:endParaRPr>
          </a:p>
          <a:p>
            <a:endParaRPr lang="en-IN" sz="2000" b="0" dirty="0">
              <a:solidFill>
                <a:srgbClr val="D4D4D4"/>
              </a:solidFill>
              <a:effectLst/>
              <a:latin typeface="Nunito Sans" panose="020B0604020202020204"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097663594"/>
      </p:ext>
    </p:extLst>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893647"/>
          </a:xfrm>
          <a:prstGeom prst="rect">
            <a:avLst/>
          </a:prstGeom>
          <a:noFill/>
        </p:spPr>
        <p:txBody>
          <a:bodyPr wrap="square">
            <a:spAutoFit/>
          </a:bodyPr>
          <a:lstStyle/>
          <a:p>
            <a:pPr algn="l"/>
            <a:r>
              <a:rPr lang="en-US" sz="2400" b="0" i="0" dirty="0">
                <a:effectLst/>
                <a:latin typeface="Nunito Sans" pitchFamily="2" charset="0"/>
              </a:rPr>
              <a:t>You are given a string that contains a name hidden in it. Find the hidden name and try to find the Lucky number for it.</a:t>
            </a:r>
          </a:p>
          <a:p>
            <a:pPr algn="l"/>
            <a:r>
              <a:rPr lang="en-US" sz="2400" b="1" i="0" dirty="0">
                <a:effectLst/>
                <a:latin typeface="Nunito Sans" pitchFamily="2" charset="0"/>
              </a:rPr>
              <a:t>Input Format</a:t>
            </a:r>
            <a:endParaRPr lang="en-US" sz="2400" b="0" i="0" dirty="0">
              <a:effectLst/>
              <a:latin typeface="Nunito Sans" pitchFamily="2" charset="0"/>
            </a:endParaRPr>
          </a:p>
          <a:p>
            <a:pPr algn="l"/>
            <a:r>
              <a:rPr lang="en-US" sz="2400" b="0" i="0" dirty="0">
                <a:effectLst/>
                <a:latin typeface="Nunito Sans" pitchFamily="2" charset="0"/>
              </a:rPr>
              <a:t>The input contains a single string with a maximum of 32 characters in it.</a:t>
            </a:r>
          </a:p>
          <a:p>
            <a:pPr algn="l"/>
            <a:r>
              <a:rPr lang="en-US" sz="2400" b="1" i="0" dirty="0">
                <a:effectLst/>
                <a:latin typeface="Nunito Sans" pitchFamily="2" charset="0"/>
              </a:rPr>
              <a:t>Output Format: </a:t>
            </a:r>
            <a:endParaRPr lang="en-US" sz="2400" b="0" i="0" dirty="0">
              <a:effectLst/>
              <a:latin typeface="Nunito Sans" pitchFamily="2" charset="0"/>
            </a:endParaRPr>
          </a:p>
          <a:p>
            <a:pPr algn="l"/>
            <a:r>
              <a:rPr lang="en-US" sz="2400" b="0" i="0" dirty="0">
                <a:effectLst/>
                <a:latin typeface="Nunito Sans" pitchFamily="2" charset="0"/>
              </a:rPr>
              <a:t>The output contains a single integer representing the lucky number for the name decoded from the input.</a:t>
            </a:r>
          </a:p>
          <a:p>
            <a:pPr algn="l"/>
            <a:r>
              <a:rPr lang="en-US" sz="2400" b="1" i="0" dirty="0">
                <a:effectLst/>
                <a:latin typeface="Nunito Sans" pitchFamily="2" charset="0"/>
              </a:rPr>
              <a:t>Explanation :</a:t>
            </a:r>
          </a:p>
          <a:p>
            <a:pPr algn="l"/>
            <a:r>
              <a:rPr lang="en-US" sz="2400" b="0" i="0" dirty="0">
                <a:effectLst/>
                <a:latin typeface="Nunito Sans" pitchFamily="2" charset="0"/>
              </a:rPr>
              <a:t>Find the alpha characters and find the sum of alphabetical values. The lucky number is the digital sum reduced up to a single digit.</a:t>
            </a:r>
          </a:p>
          <a:p>
            <a:pPr algn="l"/>
            <a:r>
              <a:rPr lang="en-US" sz="2400" b="1" i="0" dirty="0">
                <a:effectLst/>
                <a:latin typeface="Nunito Sans" pitchFamily="2" charset="0"/>
              </a:rPr>
              <a:t>Constraints:</a:t>
            </a:r>
            <a:endParaRPr lang="en-US" sz="2400" b="0" i="0" dirty="0">
              <a:effectLst/>
              <a:latin typeface="Nunito Sans" pitchFamily="2" charset="0"/>
            </a:endParaRPr>
          </a:p>
          <a:p>
            <a:pPr algn="l"/>
            <a:r>
              <a:rPr lang="en-US" sz="2400" b="0" i="0" dirty="0">
                <a:effectLst/>
                <a:latin typeface="Nunito Sans" pitchFamily="2" charset="0"/>
              </a:rPr>
              <a:t>TC: O(n)</a:t>
            </a:r>
          </a:p>
          <a:p>
            <a:pPr algn="l"/>
            <a:r>
              <a:rPr lang="en-US" sz="2400" b="0" i="0" dirty="0">
                <a:effectLst/>
                <a:latin typeface="Nunito Sans" pitchFamily="2" charset="0"/>
              </a:rPr>
              <a:t>ASC: O(1)</a:t>
            </a:r>
          </a:p>
        </p:txBody>
      </p:sp>
    </p:spTree>
    <p:extLst>
      <p:ext uri="{BB962C8B-B14F-4D97-AF65-F5344CB8AC3E}">
        <p14:creationId xmlns:p14="http://schemas.microsoft.com/office/powerpoint/2010/main" val="1281898853"/>
      </p:ext>
    </p:extLst>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262979"/>
          </a:xfrm>
          <a:prstGeom prst="rect">
            <a:avLst/>
          </a:prstGeom>
          <a:noFill/>
        </p:spPr>
        <p:txBody>
          <a:bodyPr wrap="square">
            <a:spAutoFit/>
          </a:bodyPr>
          <a:lstStyle/>
          <a:p>
            <a:pPr algn="l"/>
            <a:r>
              <a:rPr lang="en-US" sz="2400" b="1" i="0" dirty="0">
                <a:effectLst/>
                <a:latin typeface="Nunito Sans" pitchFamily="2" charset="0"/>
              </a:rPr>
              <a:t>Sample Input 1:</a:t>
            </a:r>
            <a:endParaRPr lang="en-US" sz="2400" b="0" i="0" dirty="0">
              <a:effectLst/>
              <a:latin typeface="Nunito Sans" pitchFamily="2" charset="0"/>
            </a:endParaRPr>
          </a:p>
          <a:p>
            <a:pPr algn="l"/>
            <a:r>
              <a:rPr lang="en-US" sz="2400" b="0" i="0" dirty="0" err="1">
                <a:effectLst/>
                <a:latin typeface="Nunito Sans" pitchFamily="2" charset="0"/>
              </a:rPr>
              <a:t>D@h</a:t>
            </a:r>
            <a:r>
              <a:rPr lang="en-US" sz="2400" b="0" i="0" dirty="0">
                <a:effectLst/>
                <a:latin typeface="Nunito Sans" pitchFamily="2" charset="0"/>
              </a:rPr>
              <a:t>*o1n&amp;i%</a:t>
            </a:r>
          </a:p>
          <a:p>
            <a:pPr algn="l"/>
            <a:r>
              <a:rPr lang="en-US" sz="2400" b="1" i="0" dirty="0">
                <a:effectLst/>
                <a:latin typeface="Nunito Sans" pitchFamily="2" charset="0"/>
              </a:rPr>
              <a:t>Sample Output 1:</a:t>
            </a:r>
            <a:endParaRPr lang="en-US" sz="2400" b="0" i="0" dirty="0">
              <a:effectLst/>
              <a:latin typeface="Nunito Sans" pitchFamily="2" charset="0"/>
            </a:endParaRPr>
          </a:p>
          <a:p>
            <a:pPr algn="l"/>
            <a:r>
              <a:rPr lang="en-US" sz="2400" b="0" i="0" dirty="0">
                <a:effectLst/>
                <a:latin typeface="Nunito Sans" pitchFamily="2" charset="0"/>
              </a:rPr>
              <a:t>5</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The hidden name is Dhoni. So the sum will be 4+8+15+14+9 = 50</a:t>
            </a:r>
          </a:p>
          <a:p>
            <a:pPr algn="l"/>
            <a:r>
              <a:rPr lang="en-US" sz="2400" b="0" i="0" dirty="0">
                <a:effectLst/>
                <a:latin typeface="Nunito Sans" pitchFamily="2" charset="0"/>
              </a:rPr>
              <a:t>Digital sum reduced up to single-digit will be 50 =&gt; 5+0 = 5. </a:t>
            </a:r>
          </a:p>
          <a:p>
            <a:pPr algn="l"/>
            <a:r>
              <a:rPr lang="en-US" sz="2400" b="1" i="0" dirty="0">
                <a:effectLst/>
                <a:latin typeface="Nunito Sans" pitchFamily="2" charset="0"/>
              </a:rPr>
              <a:t>Sample Input 2:</a:t>
            </a:r>
            <a:endParaRPr lang="en-US" sz="2400" b="0" i="0" dirty="0">
              <a:effectLst/>
              <a:latin typeface="Nunito Sans" pitchFamily="2" charset="0"/>
            </a:endParaRPr>
          </a:p>
          <a:p>
            <a:pPr algn="l"/>
            <a:r>
              <a:rPr lang="en-US" sz="2400" b="0" i="0" dirty="0">
                <a:effectLst/>
                <a:latin typeface="Nunito Sans" pitchFamily="2" charset="0"/>
              </a:rPr>
              <a:t>!</a:t>
            </a:r>
            <a:r>
              <a:rPr lang="en-US" sz="2400" b="0" i="0" dirty="0" err="1">
                <a:effectLst/>
                <a:latin typeface="Nunito Sans" pitchFamily="2" charset="0"/>
              </a:rPr>
              <a:t>K#o$h</a:t>
            </a:r>
            <a:r>
              <a:rPr lang="en-US" sz="2400" b="0" i="0" dirty="0">
                <a:effectLst/>
                <a:latin typeface="Nunito Sans" pitchFamily="2" charset="0"/>
              </a:rPr>
              <a:t>*</a:t>
            </a:r>
            <a:r>
              <a:rPr lang="en-US" sz="2400" b="0" i="0" dirty="0" err="1">
                <a:effectLst/>
                <a:latin typeface="Nunito Sans" pitchFamily="2" charset="0"/>
              </a:rPr>
              <a:t>l@i</a:t>
            </a:r>
            <a:endParaRPr lang="en-US" sz="2400" b="0" i="0" dirty="0">
              <a:effectLst/>
              <a:latin typeface="Nunito Sans" pitchFamily="2" charset="0"/>
            </a:endParaRPr>
          </a:p>
          <a:p>
            <a:pPr algn="l"/>
            <a:r>
              <a:rPr lang="en-US" sz="2400" b="1" i="0" dirty="0">
                <a:effectLst/>
                <a:latin typeface="Nunito Sans" pitchFamily="2" charset="0"/>
              </a:rPr>
              <a:t>Sample Output 2:</a:t>
            </a:r>
            <a:endParaRPr lang="en-US" sz="2400" b="0" i="0" dirty="0">
              <a:effectLst/>
              <a:latin typeface="Nunito Sans" pitchFamily="2" charset="0"/>
            </a:endParaRPr>
          </a:p>
          <a:p>
            <a:pPr algn="l"/>
            <a:r>
              <a:rPr lang="en-US" sz="2400" b="0" i="0" dirty="0">
                <a:effectLst/>
                <a:latin typeface="Nunito Sans" pitchFamily="2" charset="0"/>
              </a:rPr>
              <a:t>1</a:t>
            </a:r>
          </a:p>
          <a:p>
            <a:pPr algn="l"/>
            <a:r>
              <a:rPr lang="en-US" sz="2400" b="1" i="0" dirty="0">
                <a:effectLst/>
                <a:latin typeface="Nunito Sans" pitchFamily="2" charset="0"/>
              </a:rPr>
              <a:t>Explanation:</a:t>
            </a:r>
            <a:endParaRPr lang="en-US" sz="2400" b="0" i="0" dirty="0">
              <a:effectLst/>
              <a:latin typeface="Nunito Sans" pitchFamily="2" charset="0"/>
            </a:endParaRPr>
          </a:p>
          <a:p>
            <a:pPr algn="l"/>
            <a:r>
              <a:rPr lang="en-US" sz="2400" b="0" i="0" dirty="0">
                <a:effectLst/>
                <a:latin typeface="Nunito Sans" pitchFamily="2" charset="0"/>
              </a:rPr>
              <a:t>The hidden name </a:t>
            </a:r>
            <a:r>
              <a:rPr lang="en-US" sz="2400" b="0" i="0" dirty="0" err="1">
                <a:effectLst/>
                <a:latin typeface="Nunito Sans" pitchFamily="2" charset="0"/>
              </a:rPr>
              <a:t>isKohli</a:t>
            </a:r>
            <a:r>
              <a:rPr lang="en-US" sz="2400" b="0" i="0" dirty="0">
                <a:effectLst/>
                <a:latin typeface="Nunito Sans" pitchFamily="2" charset="0"/>
              </a:rPr>
              <a:t>. So the sum will be 11+15+8+12+9 = 55</a:t>
            </a:r>
          </a:p>
          <a:p>
            <a:pPr algn="l"/>
            <a:r>
              <a:rPr lang="en-US" sz="2400" b="0" i="0" dirty="0">
                <a:effectLst/>
                <a:latin typeface="Nunito Sans" pitchFamily="2" charset="0"/>
              </a:rPr>
              <a:t>Digital sum reduced </a:t>
            </a:r>
            <a:r>
              <a:rPr lang="en-US" sz="2400" b="0" i="0" dirty="0" err="1">
                <a:effectLst/>
                <a:latin typeface="Nunito Sans" pitchFamily="2" charset="0"/>
              </a:rPr>
              <a:t>upto</a:t>
            </a:r>
            <a:r>
              <a:rPr lang="en-US" sz="2400" b="0" i="0" dirty="0">
                <a:effectLst/>
                <a:latin typeface="Nunito Sans" pitchFamily="2" charset="0"/>
              </a:rPr>
              <a:t> single digit will be 55 =&gt; 5+5 = 10 =&gt; 1+0 = 1</a:t>
            </a:r>
          </a:p>
        </p:txBody>
      </p:sp>
    </p:spTree>
    <p:extLst>
      <p:ext uri="{BB962C8B-B14F-4D97-AF65-F5344CB8AC3E}">
        <p14:creationId xmlns:p14="http://schemas.microsoft.com/office/powerpoint/2010/main" val="2170362948"/>
      </p:ext>
    </p:extLst>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'z'</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'Z'</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9</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"9\n"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9</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582286083"/>
      </p:ext>
    </p:extLst>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bits/</a:t>
            </a:r>
            <a:r>
              <a:rPr lang="en-IN" sz="2000" b="0" dirty="0" err="1">
                <a:solidFill>
                  <a:srgbClr val="CE9178"/>
                </a:solidFill>
                <a:effectLst/>
                <a:latin typeface="Nunito Sans" pitchFamily="2" charset="0"/>
              </a:rPr>
              <a:t>stdc</a:t>
            </a:r>
            <a:r>
              <a:rPr lang="en-IN" sz="2000" b="0" dirty="0">
                <a:solidFill>
                  <a:srgbClr val="CE9178"/>
                </a:solidFill>
                <a:effectLst/>
                <a:latin typeface="Nunito Sans" pitchFamily="2" charset="0"/>
              </a:rPr>
              <a:t>++.h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s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]&gt;=</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]&lt;=</a:t>
            </a:r>
            <a:r>
              <a:rPr lang="en-IN" sz="2000" b="0" dirty="0">
                <a:solidFill>
                  <a:srgbClr val="CE9178"/>
                </a:solidFill>
                <a:effectLst/>
                <a:latin typeface="Nunito Sans" pitchFamily="2" charset="0"/>
              </a:rPr>
              <a:t>'z'</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]&gt;=</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]&lt;=</a:t>
            </a:r>
            <a:r>
              <a:rPr lang="en-IN" sz="2000" b="0" dirty="0">
                <a:solidFill>
                  <a:srgbClr val="CE9178"/>
                </a:solidFill>
                <a:effectLst/>
                <a:latin typeface="Nunito Sans" pitchFamily="2" charset="0"/>
              </a:rPr>
              <a:t>'Z'</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sum</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9</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9</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sum</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9</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893691431"/>
      </p:ext>
    </p:extLst>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Character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isLowerCase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Character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isUpperCase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9</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"9"</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sum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9</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32891538"/>
      </p:ext>
    </p:extLst>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s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c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c.islower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569CD6"/>
                </a:solidFill>
                <a:effectLst/>
                <a:latin typeface="Nunito Sans" pitchFamily="2" charset="0"/>
              </a:rPr>
              <a:t>elif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c.isupper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9</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"9"</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else</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9</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761515889"/>
      </p:ext>
    </p:extLst>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s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c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c.islower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569CD6"/>
                </a:solidFill>
                <a:effectLst/>
                <a:latin typeface="Nunito Sans" pitchFamily="2" charset="0"/>
              </a:rPr>
              <a:t>elif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c.isupper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ord</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9</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"9"</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else</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sum</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9</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557955327"/>
      </p:ext>
    </p:extLst>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51</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907427"/>
            <a:ext cx="11858172" cy="5093702"/>
          </a:xfrm>
          <a:prstGeom prst="rect">
            <a:avLst/>
          </a:prstGeom>
          <a:noFill/>
        </p:spPr>
        <p:txBody>
          <a:bodyPr wrap="square">
            <a:spAutoFit/>
          </a:bodyPr>
          <a:lstStyle/>
          <a:p>
            <a:pPr algn="l"/>
            <a:r>
              <a:rPr lang="en-US" sz="2500" b="0" i="0" dirty="0">
                <a:effectLst/>
                <a:latin typeface="Nunito Sans" pitchFamily="2" charset="0"/>
              </a:rPr>
              <a:t>Given a string S and a character C, write a program to count the number of sub-strings of S that contains only the character C.</a:t>
            </a:r>
          </a:p>
          <a:p>
            <a:pPr algn="l"/>
            <a:r>
              <a:rPr lang="en-US" sz="2500" b="1" i="0" dirty="0">
                <a:effectLst/>
                <a:latin typeface="Nunito Sans" pitchFamily="2" charset="0"/>
              </a:rPr>
              <a:t>Input:</a:t>
            </a:r>
            <a:endParaRPr lang="en-US" sz="2500" b="0" i="0" dirty="0">
              <a:effectLst/>
              <a:latin typeface="Nunito Sans" pitchFamily="2" charset="0"/>
            </a:endParaRPr>
          </a:p>
          <a:p>
            <a:pPr algn="l"/>
            <a:r>
              <a:rPr lang="en-US" sz="2500" b="0" i="0" dirty="0">
                <a:effectLst/>
                <a:latin typeface="Nunito Sans" pitchFamily="2" charset="0"/>
              </a:rPr>
              <a:t>First line contains the string S</a:t>
            </a:r>
          </a:p>
          <a:p>
            <a:pPr algn="l"/>
            <a:r>
              <a:rPr lang="en-US" sz="2500" b="0" i="0" dirty="0">
                <a:effectLst/>
                <a:latin typeface="Nunito Sans" pitchFamily="2" charset="0"/>
              </a:rPr>
              <a:t>Second line contains the character C.</a:t>
            </a: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Single Integer denoting the </a:t>
            </a:r>
            <a:r>
              <a:rPr lang="en-US" sz="2500" b="0" i="0" dirty="0" err="1">
                <a:effectLst/>
                <a:latin typeface="Nunito Sans" pitchFamily="2" charset="0"/>
              </a:rPr>
              <a:t>no.of</a:t>
            </a:r>
            <a:r>
              <a:rPr lang="en-US" sz="2500" b="0" i="0" dirty="0">
                <a:effectLst/>
                <a:latin typeface="Nunito Sans" pitchFamily="2" charset="0"/>
              </a:rPr>
              <a:t> sub-string containing only the given character C.</a:t>
            </a:r>
          </a:p>
          <a:p>
            <a:pPr algn="l"/>
            <a:r>
              <a:rPr lang="en-US" sz="2500" b="1" i="0" dirty="0">
                <a:effectLst/>
                <a:latin typeface="Nunito Sans" pitchFamily="2" charset="0"/>
              </a:rPr>
              <a:t>Examples: </a:t>
            </a:r>
            <a:endParaRPr lang="en-US" sz="2500" b="0" i="0" dirty="0">
              <a:effectLst/>
              <a:latin typeface="Nunito Sans" pitchFamily="2" charset="0"/>
            </a:endParaRPr>
          </a:p>
          <a:p>
            <a:pPr algn="l"/>
            <a:r>
              <a:rPr lang="en-US" sz="2500" b="1" i="0" dirty="0">
                <a:effectLst/>
                <a:latin typeface="Nunito Sans" pitchFamily="2" charset="0"/>
              </a:rPr>
              <a:t>Input:</a:t>
            </a:r>
            <a:endParaRPr lang="en-US" sz="2500" b="0" i="0" dirty="0">
              <a:effectLst/>
              <a:latin typeface="Nunito Sans" pitchFamily="2" charset="0"/>
            </a:endParaRPr>
          </a:p>
          <a:p>
            <a:pPr algn="l"/>
            <a:r>
              <a:rPr lang="en-US" sz="2500" b="0" i="0" dirty="0">
                <a:effectLst/>
                <a:latin typeface="Nunito Sans" pitchFamily="2" charset="0"/>
              </a:rPr>
              <a:t>0110111</a:t>
            </a:r>
          </a:p>
          <a:p>
            <a:pPr algn="l"/>
            <a:r>
              <a:rPr lang="en-US" sz="2500" b="0" i="0" dirty="0">
                <a:effectLst/>
                <a:latin typeface="Nunito Sans" pitchFamily="2" charset="0"/>
              </a:rPr>
              <a:t>1 </a:t>
            </a: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9 </a:t>
            </a:r>
          </a:p>
        </p:txBody>
      </p:sp>
    </p:spTree>
    <p:extLst>
      <p:ext uri="{BB962C8B-B14F-4D97-AF65-F5344CB8AC3E}">
        <p14:creationId xmlns:p14="http://schemas.microsoft.com/office/powerpoint/2010/main" val="2512185585"/>
      </p:ext>
    </p:extLst>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51</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2400657"/>
          </a:xfrm>
          <a:prstGeom prst="rect">
            <a:avLst/>
          </a:prstGeom>
          <a:noFill/>
        </p:spPr>
        <p:txBody>
          <a:bodyPr wrap="square">
            <a:spAutoFit/>
          </a:bodyPr>
          <a:lstStyle/>
          <a:p>
            <a:pPr algn="l"/>
            <a:r>
              <a:rPr lang="en-US" sz="2500" b="1" i="0" dirty="0">
                <a:effectLst/>
                <a:latin typeface="Nunito Sans" pitchFamily="2" charset="0"/>
              </a:rPr>
              <a:t>Explanation:</a:t>
            </a:r>
            <a:r>
              <a:rPr lang="en-US" sz="2500" b="0" i="0" dirty="0">
                <a:effectLst/>
                <a:latin typeface="Nunito Sans" pitchFamily="2" charset="0"/>
              </a:rPr>
              <a:t> </a:t>
            </a:r>
          </a:p>
          <a:p>
            <a:pPr algn="l"/>
            <a:r>
              <a:rPr lang="en-US" sz="2500" b="0" i="0" dirty="0">
                <a:effectLst/>
                <a:latin typeface="Nunito Sans" pitchFamily="2" charset="0"/>
              </a:rPr>
              <a:t>The sub-strings containing only ‘1’ are:</a:t>
            </a:r>
          </a:p>
          <a:p>
            <a:pPr algn="l"/>
            <a:r>
              <a:rPr lang="en-US" sz="2500" b="0" i="0" dirty="0">
                <a:effectLst/>
                <a:latin typeface="Nunito Sans" pitchFamily="2" charset="0"/>
              </a:rPr>
              <a:t> “1” — 5 times </a:t>
            </a:r>
          </a:p>
          <a:p>
            <a:pPr algn="l"/>
            <a:r>
              <a:rPr lang="en-US" sz="2500" b="0" i="0" dirty="0">
                <a:effectLst/>
                <a:latin typeface="Nunito Sans" pitchFamily="2" charset="0"/>
              </a:rPr>
              <a:t>“11” — 3 times </a:t>
            </a:r>
          </a:p>
          <a:p>
            <a:pPr algn="l"/>
            <a:r>
              <a:rPr lang="en-US" sz="2500" b="0" i="0" dirty="0">
                <a:effectLst/>
                <a:latin typeface="Nunito Sans" pitchFamily="2" charset="0"/>
              </a:rPr>
              <a:t>“111” — 1 time </a:t>
            </a:r>
          </a:p>
          <a:p>
            <a:pPr algn="l"/>
            <a:r>
              <a:rPr lang="en-US" sz="2500" b="0" i="0" dirty="0">
                <a:effectLst/>
                <a:latin typeface="Nunito Sans" pitchFamily="2" charset="0"/>
              </a:rPr>
              <a:t>Hence, the count is 9.</a:t>
            </a:r>
          </a:p>
        </p:txBody>
      </p:sp>
    </p:spTree>
    <p:extLst>
      <p:ext uri="{BB962C8B-B14F-4D97-AF65-F5344CB8AC3E}">
        <p14:creationId xmlns:p14="http://schemas.microsoft.com/office/powerpoint/2010/main" val="3965313731"/>
      </p:ext>
    </p:extLst>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err="1">
                <a:solidFill>
                  <a:srgbClr val="CE9178"/>
                </a:solidFill>
                <a:effectLst/>
                <a:latin typeface="Nunito Sans" pitchFamily="2" charset="0"/>
              </a:rPr>
              <a:t>stdio.h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void</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countSubString</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CE9178"/>
                </a:solidFill>
                <a:effectLst/>
                <a:latin typeface="Nunito Sans" pitchFamily="2" charset="0"/>
              </a:rPr>
              <a:t>'</a:t>
            </a:r>
            <a:r>
              <a:rPr lang="en-US" sz="2000" b="0" dirty="0">
                <a:solidFill>
                  <a:srgbClr val="D4D4D4"/>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CE9178"/>
                </a:solidFill>
                <a:effectLst/>
                <a:latin typeface="Nunito Sans" pitchFamily="2" charset="0"/>
              </a:rPr>
              <a: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ch</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ch</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100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94593567"/>
      </p:ext>
    </p:extLst>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fgets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569CD6"/>
                </a:solidFill>
                <a:effectLst/>
                <a:latin typeface="Nunito Sans" pitchFamily="2" charset="0"/>
              </a:rPr>
              <a:t>sizeof</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stdin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"%c"</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countSubString</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825533358"/>
      </p:ext>
    </p:extLst>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#include</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&lt;</a:t>
            </a:r>
            <a:r>
              <a:rPr lang="en-US" sz="2000" b="0" dirty="0">
                <a:solidFill>
                  <a:srgbClr val="CE9178"/>
                </a:solidFill>
                <a:effectLst/>
                <a:latin typeface="Nunito Sans" pitchFamily="2" charset="0"/>
              </a:rPr>
              <a:t>bits/</a:t>
            </a:r>
            <a:r>
              <a:rPr lang="en-US" sz="2000" b="0" dirty="0" err="1">
                <a:solidFill>
                  <a:srgbClr val="CE9178"/>
                </a:solidFill>
                <a:effectLst/>
                <a:latin typeface="Nunito Sans" pitchFamily="2" charset="0"/>
              </a:rPr>
              <a:t>stdc</a:t>
            </a:r>
            <a:r>
              <a:rPr lang="en-US" sz="2000" b="0" dirty="0">
                <a:solidFill>
                  <a:srgbClr val="CE9178"/>
                </a:solidFill>
                <a:effectLst/>
                <a:latin typeface="Nunito Sans" pitchFamily="2" charset="0"/>
              </a:rPr>
              <a:t>++.h</a:t>
            </a:r>
            <a:r>
              <a:rPr lang="en-US" sz="2000" b="0" dirty="0">
                <a:solidFill>
                  <a:srgbClr val="569CD6"/>
                </a:solidFill>
                <a:effectLst/>
                <a:latin typeface="Nunito Sans" pitchFamily="2" charset="0"/>
              </a:rPr>
              <a:t>&gt;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using</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namespace</a:t>
            </a:r>
            <a:r>
              <a:rPr lang="en-US" sz="2000" b="0" dirty="0">
                <a:solidFill>
                  <a:srgbClr val="D4D4D4"/>
                </a:solidFill>
                <a:effectLst/>
                <a:latin typeface="Nunito Sans" pitchFamily="2" charset="0"/>
              </a:rPr>
              <a:t> std</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void</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countSubString</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string 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a:t>
            </a:r>
            <a:r>
              <a:rPr lang="en-US" sz="2000" b="0" dirty="0">
                <a:solidFill>
                  <a:srgbClr val="D4D4D4"/>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CE9178"/>
                </a:solidFill>
                <a:effectLst/>
                <a:latin typeface="Nunito Sans" pitchFamily="2" charset="0"/>
              </a:rPr>
              <a: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ch</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ch</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2</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&lt;&lt;</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21347701"/>
      </p:ext>
    </p:extLst>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string 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char</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getline</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cin</a:t>
            </a:r>
            <a:r>
              <a:rPr lang="en-US" sz="2000" b="0" dirty="0" err="1">
                <a:solidFill>
                  <a:srgbClr val="DCDCDC"/>
                </a:solidFill>
                <a:effectLst/>
                <a:latin typeface="Nunito Sans" pitchFamily="2" charset="0"/>
              </a:rPr>
              <a:t>,</a:t>
            </a:r>
            <a:r>
              <a:rPr lang="en-US" sz="2000" b="0" dirty="0" err="1">
                <a:solidFill>
                  <a:srgbClr val="D4D4D4"/>
                </a:solidFill>
                <a:effectLst/>
                <a:latin typeface="Nunito Sans" pitchFamily="2" charset="0"/>
              </a:rPr>
              <a:t>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countSubString</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897062709"/>
      </p:ext>
    </p:extLst>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countSubString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 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conCount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conCount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conCount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conCount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conCount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09254168"/>
      </p:ext>
    </p:extLst>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nextLine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countSubString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542240379"/>
      </p:ext>
    </p:extLst>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import</a:t>
            </a:r>
            <a:r>
              <a:rPr lang="en-US" sz="2000" b="0" dirty="0">
                <a:solidFill>
                  <a:srgbClr val="D4D4D4"/>
                </a:solidFill>
                <a:effectLst/>
                <a:latin typeface="Nunito Sans" pitchFamily="2" charset="0"/>
              </a:rPr>
              <a:t> sys</a:t>
            </a:r>
          </a:p>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countSubString</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err="1">
                <a:solidFill>
                  <a:srgbClr val="569CD6"/>
                </a:solidFill>
                <a:effectLst/>
                <a:latin typeface="Nunito Sans" pitchFamily="2" charset="0"/>
              </a:rPr>
              <a:t>len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ch</a:t>
            </a:r>
            <a:r>
              <a:rPr lang="en-US" sz="2000" b="0" dirty="0">
                <a:solidFill>
                  <a:srgbClr val="D4D4D4"/>
                </a:solidFill>
                <a:effectLst/>
                <a:latin typeface="Nunito Sans" pitchFamily="2" charset="0"/>
              </a:rPr>
              <a:t> = S</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ch</a:t>
            </a:r>
            <a:r>
              <a:rPr lang="en-US" sz="2000" b="0" dirty="0">
                <a:solidFill>
                  <a:srgbClr val="D4D4D4"/>
                </a:solidFill>
                <a:effectLst/>
                <a:latin typeface="Nunito Sans" pitchFamily="2" charset="0"/>
              </a:rPr>
              <a:t> ==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2</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conCount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2</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sys.stdout.write</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str</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S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C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countSubString</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838487797"/>
      </p:ext>
    </p:extLst>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478423"/>
          </a:xfrm>
          <a:prstGeom prst="rect">
            <a:avLst/>
          </a:prstGeom>
          <a:noFill/>
        </p:spPr>
        <p:txBody>
          <a:bodyPr wrap="square">
            <a:spAutoFit/>
          </a:bodyPr>
          <a:lstStyle/>
          <a:p>
            <a:pPr algn="l"/>
            <a:r>
              <a:rPr lang="en-US" sz="2500" b="0" i="0" dirty="0">
                <a:effectLst/>
                <a:latin typeface="Nunito Sans" pitchFamily="2" charset="0"/>
              </a:rPr>
              <a:t>Rahul is working with his friend Jitu on a sequence (1 based index).</a:t>
            </a:r>
          </a:p>
          <a:p>
            <a:pPr algn="l"/>
            <a:r>
              <a:rPr lang="en-US" sz="2500" b="0" i="0" dirty="0">
                <a:effectLst/>
                <a:latin typeface="Nunito Sans" pitchFamily="2" charset="0"/>
              </a:rPr>
              <a:t>The intention is to simplify the sequence, but they were not very sure about the rules with which they are going to reduce it.</a:t>
            </a:r>
          </a:p>
          <a:p>
            <a:pPr algn="l"/>
            <a:r>
              <a:rPr lang="en-US" sz="2500" b="0" i="0" dirty="0">
                <a:effectLst/>
                <a:latin typeface="Nunito Sans" pitchFamily="2" charset="0"/>
              </a:rPr>
              <a:t>But then Jitu came up with a rule. He said the sequence has to be simplified in the following manner:</a:t>
            </a:r>
          </a:p>
          <a:p>
            <a:pPr algn="l"/>
            <a:r>
              <a:rPr lang="en-US" sz="2500" b="0" i="0" dirty="0">
                <a:effectLst/>
                <a:latin typeface="Nunito Sans" pitchFamily="2" charset="0"/>
              </a:rPr>
              <a:t>•Select a particular index ‘</a:t>
            </a:r>
            <a:r>
              <a:rPr lang="en-US" sz="2500" b="0" i="0" dirty="0" err="1">
                <a:effectLst/>
                <a:latin typeface="Nunito Sans" pitchFamily="2" charset="0"/>
              </a:rPr>
              <a:t>i</a:t>
            </a:r>
            <a:r>
              <a:rPr lang="en-US" sz="2500" b="0" i="0" dirty="0">
                <a:effectLst/>
                <a:latin typeface="Nunito Sans" pitchFamily="2" charset="0"/>
              </a:rPr>
              <a:t>’ within 1 to N range.</a:t>
            </a:r>
          </a:p>
          <a:p>
            <a:pPr algn="l"/>
            <a:r>
              <a:rPr lang="en-US" sz="2500" b="0" i="0" dirty="0">
                <a:effectLst/>
                <a:latin typeface="Nunito Sans" pitchFamily="2" charset="0"/>
              </a:rPr>
              <a:t>•Chose an integer divisor D of A[</a:t>
            </a:r>
            <a:r>
              <a:rPr lang="en-US" sz="2500" b="0" i="0" dirty="0" err="1">
                <a:effectLst/>
                <a:latin typeface="Nunito Sans" pitchFamily="2" charset="0"/>
              </a:rPr>
              <a:t>i</a:t>
            </a:r>
            <a:r>
              <a:rPr lang="en-US" sz="2500" b="0" i="0" dirty="0">
                <a:effectLst/>
                <a:latin typeface="Nunito Sans" pitchFamily="2" charset="0"/>
              </a:rPr>
              <a:t>] such that D&lt;= K</a:t>
            </a:r>
          </a:p>
          <a:p>
            <a:pPr algn="l"/>
            <a:r>
              <a:rPr lang="en-US" sz="2500" b="0" i="0" dirty="0">
                <a:effectLst/>
                <a:latin typeface="Nunito Sans" pitchFamily="2" charset="0"/>
              </a:rPr>
              <a:t>•Divide A[</a:t>
            </a:r>
            <a:r>
              <a:rPr lang="en-US" sz="2500" b="0" i="0" dirty="0" err="1">
                <a:effectLst/>
                <a:latin typeface="Nunito Sans" pitchFamily="2" charset="0"/>
              </a:rPr>
              <a:t>i</a:t>
            </a:r>
            <a:r>
              <a:rPr lang="en-US" sz="2500" b="0" i="0" dirty="0">
                <a:effectLst/>
                <a:latin typeface="Nunito Sans" pitchFamily="2" charset="0"/>
              </a:rPr>
              <a:t>] by D</a:t>
            </a:r>
          </a:p>
          <a:p>
            <a:pPr algn="l"/>
            <a:r>
              <a:rPr lang="en-US" sz="2500" b="0" i="0" dirty="0">
                <a:effectLst/>
                <a:latin typeface="Nunito Sans" pitchFamily="2" charset="0"/>
              </a:rPr>
              <a:t>•Replace A[</a:t>
            </a:r>
            <a:r>
              <a:rPr lang="en-US" sz="2500" b="0" i="0" dirty="0" err="1">
                <a:effectLst/>
                <a:latin typeface="Nunito Sans" pitchFamily="2" charset="0"/>
              </a:rPr>
              <a:t>i</a:t>
            </a:r>
            <a:r>
              <a:rPr lang="en-US" sz="2500" b="0" i="0" dirty="0">
                <a:effectLst/>
                <a:latin typeface="Nunito Sans" pitchFamily="2" charset="0"/>
              </a:rPr>
              <a:t>] with the quotient of A[</a:t>
            </a:r>
            <a:r>
              <a:rPr lang="en-US" sz="2500" b="0" i="0" dirty="0" err="1">
                <a:effectLst/>
                <a:latin typeface="Nunito Sans" pitchFamily="2" charset="0"/>
              </a:rPr>
              <a:t>i</a:t>
            </a:r>
            <a:r>
              <a:rPr lang="en-US" sz="2500" b="0" i="0" dirty="0">
                <a:effectLst/>
                <a:latin typeface="Nunito Sans" pitchFamily="2" charset="0"/>
              </a:rPr>
              <a:t>]/D</a:t>
            </a:r>
          </a:p>
          <a:p>
            <a:pPr algn="l"/>
            <a:r>
              <a:rPr lang="en-US" sz="2500" b="0" i="0" dirty="0">
                <a:effectLst/>
                <a:latin typeface="Nunito Sans" pitchFamily="2" charset="0"/>
              </a:rPr>
              <a:t>You can perform the above operation any number of times.</a:t>
            </a:r>
          </a:p>
          <a:p>
            <a:pPr algn="l"/>
            <a:r>
              <a:rPr lang="en-US" sz="2500" b="0" i="0" dirty="0">
                <a:effectLst/>
                <a:latin typeface="Nunito Sans" pitchFamily="2" charset="0"/>
              </a:rPr>
              <a:t>You must simplify the sequence such that there is no such integer value greater than 1 which can divide every element of the sequence A. Alternatively we can say that the GCD of all the elements of the sequence </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1668878285"/>
      </p:ext>
    </p:extLst>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478423"/>
          </a:xfrm>
          <a:prstGeom prst="rect">
            <a:avLst/>
          </a:prstGeom>
          <a:noFill/>
        </p:spPr>
        <p:txBody>
          <a:bodyPr wrap="square">
            <a:spAutoFit/>
          </a:bodyPr>
          <a:lstStyle/>
          <a:p>
            <a:pPr algn="l"/>
            <a:r>
              <a:rPr lang="en-US" sz="2500" b="0" i="0" dirty="0">
                <a:effectLst/>
                <a:latin typeface="Nunito Sans" pitchFamily="2" charset="0"/>
              </a:rPr>
              <a:t>You can perform the above operation any number of times.</a:t>
            </a:r>
          </a:p>
          <a:p>
            <a:pPr algn="l"/>
            <a:r>
              <a:rPr lang="en-US" sz="2500" b="0" i="0" dirty="0">
                <a:effectLst/>
                <a:latin typeface="Nunito Sans" pitchFamily="2" charset="0"/>
              </a:rPr>
              <a:t>You must simplify the sequence such that there is no such integer value greater than 1 which can divide every element of the sequence A. Alternatively we can say that the GCD of all the elements of the sequence A is 1.</a:t>
            </a:r>
          </a:p>
          <a:p>
            <a:pPr algn="l"/>
            <a:r>
              <a:rPr lang="en-US" sz="2500" b="0" i="0" dirty="0">
                <a:effectLst/>
                <a:latin typeface="Nunito Sans" pitchFamily="2" charset="0"/>
              </a:rPr>
              <a:t>Return “Yes” if it is possible to bring simplify the sequence with the above conditions such that the GCD of each element of A is 1.</a:t>
            </a:r>
          </a:p>
          <a:p>
            <a:pPr algn="l"/>
            <a:r>
              <a:rPr lang="en-US" sz="2500" b="0" i="0" dirty="0">
                <a:effectLst/>
                <a:latin typeface="Nunito Sans" pitchFamily="2" charset="0"/>
              </a:rPr>
              <a:t>Otherwise, print “No”.</a:t>
            </a:r>
          </a:p>
          <a:p>
            <a:pPr algn="l"/>
            <a:r>
              <a:rPr lang="en-US" sz="2500" b="0" i="0" dirty="0">
                <a:effectLst/>
                <a:latin typeface="Nunito Sans" pitchFamily="2" charset="0"/>
              </a:rPr>
              <a:t>Consider number of element N=3 and K=6.</a:t>
            </a:r>
          </a:p>
          <a:p>
            <a:pPr algn="l"/>
            <a:r>
              <a:rPr lang="en-US" sz="2500" b="0" i="0" dirty="0">
                <a:effectLst/>
                <a:latin typeface="Nunito Sans" pitchFamily="2" charset="0"/>
              </a:rPr>
              <a:t>And each element of A= [10,15,30]</a:t>
            </a:r>
          </a:p>
          <a:p>
            <a:pPr algn="l"/>
            <a:r>
              <a:rPr lang="en-US" sz="2500" b="0" i="0" dirty="0">
                <a:effectLst/>
                <a:latin typeface="Nunito Sans" pitchFamily="2" charset="0"/>
              </a:rPr>
              <a:t>Lets choose the</a:t>
            </a:r>
          </a:p>
          <a:p>
            <a:pPr algn="l"/>
            <a:r>
              <a:rPr lang="en-US" sz="2500" b="0" i="0" dirty="0">
                <a:effectLst/>
                <a:latin typeface="Nunito Sans" pitchFamily="2" charset="0"/>
              </a:rPr>
              <a:t>•Element A[1] = 10, we need to choose a divisor less than or equal to k=6. Let us choose 5.</a:t>
            </a:r>
          </a:p>
          <a:p>
            <a:pPr algn="l"/>
            <a:r>
              <a:rPr lang="en-US" sz="2500" b="0" i="0" dirty="0">
                <a:effectLst/>
                <a:latin typeface="Nunito Sans" pitchFamily="2" charset="0"/>
              </a:rPr>
              <a:t>Then A[1] becomes 10/5=2</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3125117835"/>
      </p:ext>
    </p:extLst>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708981"/>
          </a:xfrm>
          <a:prstGeom prst="rect">
            <a:avLst/>
          </a:prstGeom>
          <a:noFill/>
        </p:spPr>
        <p:txBody>
          <a:bodyPr wrap="square">
            <a:spAutoFit/>
          </a:bodyPr>
          <a:lstStyle/>
          <a:p>
            <a:pPr algn="l"/>
            <a:r>
              <a:rPr lang="en-US" sz="2500" b="0" i="0" dirty="0">
                <a:effectLst/>
                <a:latin typeface="Nunito Sans" pitchFamily="2" charset="0"/>
              </a:rPr>
              <a:t>•Element A[2] = 15, we need to choose a divisor less than or equal to k=6. Let us choose 5.</a:t>
            </a:r>
          </a:p>
          <a:p>
            <a:pPr algn="l"/>
            <a:r>
              <a:rPr lang="en-US" sz="2500" b="0" i="0" dirty="0">
                <a:effectLst/>
                <a:latin typeface="Nunito Sans" pitchFamily="2" charset="0"/>
              </a:rPr>
              <a:t>Then A[2] becomes 15/5=3</a:t>
            </a:r>
          </a:p>
          <a:p>
            <a:pPr algn="l"/>
            <a:r>
              <a:rPr lang="en-US" sz="2500" b="0" i="0" dirty="0">
                <a:effectLst/>
                <a:latin typeface="Nunito Sans" pitchFamily="2" charset="0"/>
              </a:rPr>
              <a:t>•Element A[3]=30, we need to choose a divisor less than or equal to k=6. Let us choose 5.</a:t>
            </a:r>
          </a:p>
          <a:p>
            <a:pPr algn="l"/>
            <a:r>
              <a:rPr lang="en-US" sz="2500" b="0" i="0" dirty="0">
                <a:effectLst/>
                <a:latin typeface="Nunito Sans" pitchFamily="2" charset="0"/>
              </a:rPr>
              <a:t>Then A[3] becomes 30/5=6.</a:t>
            </a:r>
          </a:p>
          <a:p>
            <a:pPr algn="l"/>
            <a:r>
              <a:rPr lang="en-US" sz="2500" b="0" i="0" dirty="0">
                <a:effectLst/>
                <a:latin typeface="Nunito Sans" pitchFamily="2" charset="0"/>
              </a:rPr>
              <a:t>•Again , if we choose element A[3] = 6, we need to choose a divisor less than or equal k=6. Let us choose 6. Then A[3] becomes6/6 = 1.</a:t>
            </a:r>
          </a:p>
          <a:p>
            <a:pPr algn="l"/>
            <a:r>
              <a:rPr lang="en-US" sz="2500" b="0" i="0" dirty="0">
                <a:effectLst/>
                <a:latin typeface="Nunito Sans" pitchFamily="2" charset="0"/>
              </a:rPr>
              <a:t>Now, the updated sequence is as [2 3 1].</a:t>
            </a:r>
          </a:p>
          <a:p>
            <a:pPr algn="l"/>
            <a:r>
              <a:rPr lang="en-US" sz="2500" b="0" i="0" dirty="0">
                <a:effectLst/>
                <a:latin typeface="Nunito Sans" pitchFamily="2" charset="0"/>
              </a:rPr>
              <a:t>And the GCD of the elements of the sequence would be 1.</a:t>
            </a:r>
          </a:p>
          <a:p>
            <a:pPr algn="l"/>
            <a:r>
              <a:rPr lang="en-US" sz="2500" b="0" i="0" dirty="0">
                <a:effectLst/>
                <a:latin typeface="Nunito Sans" pitchFamily="2" charset="0"/>
              </a:rPr>
              <a:t>Hence the answer is 1.</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337314685"/>
      </p:ext>
    </p:extLst>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52</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708981"/>
          </a:xfrm>
          <a:prstGeom prst="rect">
            <a:avLst/>
          </a:prstGeom>
          <a:noFill/>
        </p:spPr>
        <p:txBody>
          <a:bodyPr wrap="square">
            <a:spAutoFit/>
          </a:bodyPr>
          <a:lstStyle/>
          <a:p>
            <a:pPr algn="l"/>
            <a:r>
              <a:rPr lang="en-US" sz="2500" b="1" i="0" dirty="0">
                <a:effectLst/>
                <a:latin typeface="Nunito Sans" pitchFamily="2" charset="0"/>
              </a:rPr>
              <a:t>Example 1:</a:t>
            </a:r>
            <a:endParaRPr lang="en-US" sz="2500" b="0" i="0" dirty="0">
              <a:effectLst/>
              <a:latin typeface="Nunito Sans" pitchFamily="2" charset="0"/>
            </a:endParaRPr>
          </a:p>
          <a:p>
            <a:pPr algn="l"/>
            <a:r>
              <a:rPr lang="en-US" sz="2500" b="1" i="0" dirty="0">
                <a:effectLst/>
                <a:latin typeface="Nunito Sans" pitchFamily="2" charset="0"/>
              </a:rPr>
              <a:t>Input:</a:t>
            </a:r>
            <a:endParaRPr lang="en-US" sz="2500" b="0" i="0" dirty="0">
              <a:effectLst/>
              <a:latin typeface="Nunito Sans" pitchFamily="2" charset="0"/>
            </a:endParaRPr>
          </a:p>
          <a:p>
            <a:pPr algn="l"/>
            <a:r>
              <a:rPr lang="en-US" sz="2500" b="0" i="0" dirty="0">
                <a:effectLst/>
                <a:latin typeface="Nunito Sans" pitchFamily="2" charset="0"/>
              </a:rPr>
              <a:t>3 4_&gt; Input integer, N, K</a:t>
            </a:r>
          </a:p>
          <a:p>
            <a:pPr algn="l"/>
            <a:r>
              <a:rPr lang="en-US" sz="2500" b="0" i="0" dirty="0">
                <a:effectLst/>
                <a:latin typeface="Nunito Sans" pitchFamily="2" charset="0"/>
              </a:rPr>
              <a:t>5 10 20 -&gt; Input integer, A[]</a:t>
            </a: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No-&gt; Output </a:t>
            </a:r>
          </a:p>
          <a:p>
            <a:pPr algn="l"/>
            <a:r>
              <a:rPr lang="en-US" sz="2500" b="1" i="0" dirty="0">
                <a:effectLst/>
                <a:latin typeface="Nunito Sans" pitchFamily="2" charset="0"/>
              </a:rPr>
              <a:t>Example 2:</a:t>
            </a:r>
            <a:endParaRPr lang="en-US" sz="2500" b="0" i="0" dirty="0">
              <a:effectLst/>
              <a:latin typeface="Nunito Sans" pitchFamily="2" charset="0"/>
            </a:endParaRPr>
          </a:p>
          <a:p>
            <a:pPr algn="l"/>
            <a:r>
              <a:rPr lang="en-US" sz="2500" b="1" i="0" dirty="0">
                <a:effectLst/>
                <a:latin typeface="Nunito Sans" pitchFamily="2" charset="0"/>
              </a:rPr>
              <a:t>Input:</a:t>
            </a:r>
            <a:endParaRPr lang="en-US" sz="2500" b="0" i="0" dirty="0">
              <a:effectLst/>
              <a:latin typeface="Nunito Sans" pitchFamily="2" charset="0"/>
            </a:endParaRPr>
          </a:p>
          <a:p>
            <a:pPr algn="l"/>
            <a:r>
              <a:rPr lang="en-US" sz="2500" b="0" i="0" dirty="0">
                <a:effectLst/>
                <a:latin typeface="Nunito Sans" pitchFamily="2" charset="0"/>
              </a:rPr>
              <a:t>3 5 -&gt; Input integer, N, K</a:t>
            </a:r>
          </a:p>
          <a:p>
            <a:pPr algn="l"/>
            <a:r>
              <a:rPr lang="en-US" sz="2500" b="0" i="0" dirty="0">
                <a:effectLst/>
                <a:latin typeface="Nunito Sans" pitchFamily="2" charset="0"/>
              </a:rPr>
              <a:t>10 15 20 -&gt; Input integer, A[]</a:t>
            </a:r>
          </a:p>
          <a:p>
            <a:pPr algn="l"/>
            <a:r>
              <a:rPr lang="en-US" sz="2500" b="1" i="0" dirty="0">
                <a:effectLst/>
                <a:latin typeface="Nunito Sans" pitchFamily="2" charset="0"/>
              </a:rPr>
              <a:t>Output:</a:t>
            </a:r>
            <a:endParaRPr lang="en-US" sz="2500" b="0" i="0" dirty="0">
              <a:effectLst/>
              <a:latin typeface="Nunito Sans" pitchFamily="2" charset="0"/>
            </a:endParaRPr>
          </a:p>
          <a:p>
            <a:pPr algn="l"/>
            <a:r>
              <a:rPr lang="en-US" sz="2500" b="0" i="0" dirty="0">
                <a:effectLst/>
                <a:latin typeface="Nunito Sans" pitchFamily="2" charset="0"/>
              </a:rPr>
              <a:t>Yes-&gt; Output</a:t>
            </a:r>
          </a:p>
        </p:txBody>
      </p:sp>
    </p:spTree>
    <p:extLst>
      <p:ext uri="{BB962C8B-B14F-4D97-AF65-F5344CB8AC3E}">
        <p14:creationId xmlns:p14="http://schemas.microsoft.com/office/powerpoint/2010/main" val="3754460490"/>
      </p:ext>
    </p:extLst>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stdbool.h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simplifySequence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foundDivisor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foundDivisor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foundDivisor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33170088"/>
      </p:ext>
    </p:extLst>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true</a:t>
            </a:r>
            <a:r>
              <a:rPr lang="en-US" sz="2000" b="0" dirty="0">
                <a:solidFill>
                  <a:srgbClr val="DCDCDC"/>
                </a:solidFill>
                <a:effectLst/>
                <a:latin typeface="Nunito Sans" pitchFamily="2" charset="0"/>
              </a:rPr>
              <a:t>;</a:t>
            </a:r>
            <a:r>
              <a:rPr lang="en-US" sz="2000" dirty="0">
                <a:solidFill>
                  <a:srgbClr val="D4D4D4"/>
                </a:solidFill>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K</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K</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scanf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&amp;</a:t>
            </a:r>
            <a:r>
              <a:rPr lang="en-US" sz="2000" b="0" dirty="0">
                <a:solidFill>
                  <a:srgbClr val="D4D4D4"/>
                </a:solidFill>
                <a:effectLst/>
                <a:latin typeface="Nunito Sans" pitchFamily="2" charset="0"/>
              </a:rPr>
              <a:t>A</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simplifySequence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K</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"Yes\n"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else</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"No\n"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612131033"/>
      </p:ext>
    </p:extLst>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vector</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simplifySequence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&gt;&amp;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foundDivisor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foundDivisor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foundDivisor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35772604"/>
      </p:ext>
    </p:extLst>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a:t>
            </a:r>
            <a:r>
              <a:rPr lang="en-IN" sz="2000" b="0" dirty="0">
                <a:solidFill>
                  <a:srgbClr val="DCDCDC"/>
                </a:solidFill>
                <a:effectLst/>
                <a:latin typeface="Nunito Sans" pitchFamily="2" charset="0"/>
              </a:rPr>
              <a:t>}</a:t>
            </a:r>
            <a:r>
              <a:rPr lang="en-IN" sz="2000" dirty="0">
                <a:solidFill>
                  <a:srgbClr val="D4D4D4"/>
                </a:solidFill>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simplifySequence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"Yes"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"No"</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US"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302284474"/>
      </p:ext>
    </p:extLst>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boolean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simplifySequence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boolean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foundDivisor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t>
            </a:r>
            <a:r>
              <a:rPr lang="en-IN" sz="2000" b="0" dirty="0" err="1">
                <a:solidFill>
                  <a:srgbClr val="DCDCDC"/>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j</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foundDivisor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foundDivisor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983135581"/>
      </p:ext>
    </p:extLst>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K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simplifySequence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"Yes"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"No"</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93189376"/>
      </p:ext>
    </p:extLst>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simplify_sequence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&gt;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found_divisor</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False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j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range</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 j ==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and</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j ==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num</a:t>
            </a:r>
            <a:r>
              <a:rPr lang="en-IN" sz="2000" b="0" dirty="0">
                <a:solidFill>
                  <a:srgbClr val="D4D4D4"/>
                </a:solidFill>
                <a:effectLst/>
                <a:latin typeface="Nunito Sans" pitchFamily="2" charset="0"/>
              </a:rPr>
              <a:t> //= j</a:t>
            </a: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found_divisor</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True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not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found_divisor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 = </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A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simplify_sequence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"Yes"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else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"No"</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655243645"/>
      </p:ext>
    </p:extLst>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939540"/>
          </a:xfrm>
          <a:prstGeom prst="rect">
            <a:avLst/>
          </a:prstGeom>
          <a:noFill/>
        </p:spPr>
        <p:txBody>
          <a:bodyPr wrap="square">
            <a:spAutoFit/>
          </a:bodyPr>
          <a:lstStyle/>
          <a:p>
            <a:pPr algn="l"/>
            <a:r>
              <a:rPr lang="en-US" sz="2500" b="0" i="0" dirty="0">
                <a:effectLst/>
                <a:latin typeface="Nunito Sans" pitchFamily="2" charset="0"/>
              </a:rPr>
              <a:t>Jack has given a word to its student to check whether it is palindrome.</a:t>
            </a:r>
          </a:p>
          <a:p>
            <a:pPr algn="l"/>
            <a:r>
              <a:rPr lang="en-US" sz="2500" b="0" i="0" dirty="0">
                <a:effectLst/>
                <a:latin typeface="Nunito Sans" pitchFamily="2" charset="0"/>
              </a:rPr>
              <a:t>But there is catch, if the word is not palindrome, they will get 1 chance to swap 2 alphabets to make it palindrome.</a:t>
            </a:r>
          </a:p>
          <a:p>
            <a:pPr algn="l"/>
            <a:r>
              <a:rPr lang="en-US" sz="2500" b="0" i="0" dirty="0">
                <a:effectLst/>
                <a:latin typeface="Nunito Sans" pitchFamily="2" charset="0"/>
              </a:rPr>
              <a:t>After 1 swap, if the word becomes palindrome, then the student wins, otherwise they lose.</a:t>
            </a:r>
          </a:p>
          <a:p>
            <a:pPr algn="l"/>
            <a:r>
              <a:rPr lang="en-US" sz="2500" b="0" i="0" dirty="0">
                <a:effectLst/>
                <a:latin typeface="Nunito Sans" pitchFamily="2" charset="0"/>
              </a:rPr>
              <a:t>Create a program that return True, if just 1 swap makes the word palindrome, otherwise False.</a:t>
            </a:r>
          </a:p>
          <a:p>
            <a:pPr algn="l"/>
            <a:endParaRPr lang="en-US" sz="2500" b="0" i="0" dirty="0">
              <a:effectLst/>
              <a:latin typeface="Nunito Sans" pitchFamily="2" charset="0"/>
            </a:endParaRPr>
          </a:p>
          <a:p>
            <a:pPr algn="l"/>
            <a:endParaRPr lang="en-US" sz="2500" b="0" i="0" dirty="0">
              <a:effectLst/>
              <a:latin typeface="Nunito Sans" pitchFamily="2" charset="0"/>
            </a:endParaRPr>
          </a:p>
          <a:p>
            <a:pPr algn="l"/>
            <a:endParaRPr lang="en-US" sz="2500" b="0" i="0" dirty="0">
              <a:effectLst/>
              <a:latin typeface="Nunito Sans" pitchFamily="2" charset="0"/>
            </a:endParaRPr>
          </a:p>
        </p:txBody>
      </p:sp>
    </p:spTree>
    <p:extLst>
      <p:ext uri="{BB962C8B-B14F-4D97-AF65-F5344CB8AC3E}">
        <p14:creationId xmlns:p14="http://schemas.microsoft.com/office/powerpoint/2010/main" val="1592864418"/>
      </p:ext>
    </p:extLst>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939540"/>
          </a:xfrm>
          <a:prstGeom prst="rect">
            <a:avLst/>
          </a:prstGeom>
          <a:noFill/>
        </p:spPr>
        <p:txBody>
          <a:bodyPr wrap="square">
            <a:spAutoFit/>
          </a:bodyPr>
          <a:lstStyle/>
          <a:p>
            <a:pPr algn="l"/>
            <a:r>
              <a:rPr lang="en-US" sz="2500" b="1" i="0" dirty="0">
                <a:effectLst/>
                <a:latin typeface="Nunito Sans" pitchFamily="2" charset="0"/>
              </a:rPr>
              <a:t>Example 1</a:t>
            </a:r>
          </a:p>
          <a:p>
            <a:pPr algn="l"/>
            <a:r>
              <a:rPr lang="en-US" sz="2500" b="1" i="0" dirty="0">
                <a:effectLst/>
                <a:latin typeface="Nunito Sans" pitchFamily="2" charset="0"/>
              </a:rPr>
              <a:t>Input :</a:t>
            </a:r>
          </a:p>
          <a:p>
            <a:pPr algn="l"/>
            <a:r>
              <a:rPr lang="en-US" sz="2500" b="0" i="0" dirty="0" err="1">
                <a:effectLst/>
                <a:latin typeface="Nunito Sans" pitchFamily="2" charset="0"/>
              </a:rPr>
              <a:t>abab</a:t>
            </a:r>
            <a:endParaRPr lang="en-US" sz="2500" b="0" i="0" dirty="0">
              <a:effectLst/>
              <a:latin typeface="Nunito Sans" pitchFamily="2" charset="0"/>
            </a:endParaRPr>
          </a:p>
          <a:p>
            <a:pPr algn="l"/>
            <a:r>
              <a:rPr lang="en-US" sz="2500" b="1" i="0" dirty="0">
                <a:effectLst/>
                <a:latin typeface="Nunito Sans" pitchFamily="2" charset="0"/>
              </a:rPr>
              <a:t>Output:</a:t>
            </a:r>
          </a:p>
          <a:p>
            <a:pPr algn="l"/>
            <a:r>
              <a:rPr lang="en-US" sz="2500" b="0" i="0" dirty="0">
                <a:effectLst/>
                <a:latin typeface="Nunito Sans" pitchFamily="2" charset="0"/>
              </a:rPr>
              <a:t>True</a:t>
            </a:r>
          </a:p>
          <a:p>
            <a:pPr algn="l"/>
            <a:r>
              <a:rPr lang="en-US" sz="2500" b="1" i="0" dirty="0">
                <a:effectLst/>
                <a:latin typeface="Nunito Sans" pitchFamily="2" charset="0"/>
              </a:rPr>
              <a:t>Explanation:</a:t>
            </a:r>
          </a:p>
          <a:p>
            <a:pPr algn="l"/>
            <a:r>
              <a:rPr lang="en-US" sz="2500" b="0" i="0" dirty="0">
                <a:effectLst/>
                <a:latin typeface="Nunito Sans" pitchFamily="2" charset="0"/>
              </a:rPr>
              <a:t>The input word is </a:t>
            </a:r>
            <a:r>
              <a:rPr lang="en-US" sz="2500" b="0" i="0" dirty="0" err="1">
                <a:effectLst/>
                <a:latin typeface="Nunito Sans" pitchFamily="2" charset="0"/>
              </a:rPr>
              <a:t>abab</a:t>
            </a:r>
            <a:r>
              <a:rPr lang="en-US" sz="2500" b="0" i="0" dirty="0">
                <a:effectLst/>
                <a:latin typeface="Nunito Sans" pitchFamily="2" charset="0"/>
              </a:rPr>
              <a:t>. If the first and second alphabet swap each other, then it makes the word as </a:t>
            </a:r>
            <a:r>
              <a:rPr lang="en-US" sz="2500" b="0" i="0" dirty="0" err="1">
                <a:effectLst/>
                <a:latin typeface="Nunito Sans" pitchFamily="2" charset="0"/>
              </a:rPr>
              <a:t>baab</a:t>
            </a:r>
            <a:r>
              <a:rPr lang="en-US" sz="2500" b="0" i="0" dirty="0">
                <a:effectLst/>
                <a:latin typeface="Nunito Sans" pitchFamily="2" charset="0"/>
              </a:rPr>
              <a:t>, which ultimately makes it palindrome.</a:t>
            </a:r>
          </a:p>
          <a:p>
            <a:pPr algn="l"/>
            <a:r>
              <a:rPr lang="en-US" sz="2500" b="0" i="0" dirty="0">
                <a:effectLst/>
                <a:latin typeface="Nunito Sans" pitchFamily="2" charset="0"/>
              </a:rPr>
              <a:t>So the result is True.</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92754028"/>
      </p:ext>
    </p:extLst>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53</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939540"/>
          </a:xfrm>
          <a:prstGeom prst="rect">
            <a:avLst/>
          </a:prstGeom>
          <a:noFill/>
        </p:spPr>
        <p:txBody>
          <a:bodyPr wrap="square">
            <a:spAutoFit/>
          </a:bodyPr>
          <a:lstStyle/>
          <a:p>
            <a:pPr algn="l"/>
            <a:r>
              <a:rPr lang="en-US" sz="2500" b="1" i="0" dirty="0">
                <a:effectLst/>
                <a:latin typeface="Nunito Sans" pitchFamily="2" charset="0"/>
              </a:rPr>
              <a:t>Example 2</a:t>
            </a:r>
          </a:p>
          <a:p>
            <a:pPr algn="l"/>
            <a:r>
              <a:rPr lang="en-US" sz="2500" b="1" i="0" dirty="0">
                <a:effectLst/>
                <a:latin typeface="Nunito Sans" pitchFamily="2" charset="0"/>
              </a:rPr>
              <a:t>Input :</a:t>
            </a:r>
          </a:p>
          <a:p>
            <a:pPr algn="l"/>
            <a:r>
              <a:rPr lang="en-US" sz="2500" b="0" i="0" dirty="0" err="1">
                <a:effectLst/>
                <a:latin typeface="Nunito Sans" pitchFamily="2" charset="0"/>
              </a:rPr>
              <a:t>abcabc</a:t>
            </a:r>
            <a:endParaRPr lang="en-US" sz="2500" b="0" i="0" dirty="0">
              <a:effectLst/>
              <a:latin typeface="Nunito Sans" pitchFamily="2" charset="0"/>
            </a:endParaRPr>
          </a:p>
          <a:p>
            <a:pPr algn="l"/>
            <a:r>
              <a:rPr lang="en-US" sz="2500" b="1" i="0" dirty="0">
                <a:effectLst/>
                <a:latin typeface="Nunito Sans" pitchFamily="2" charset="0"/>
              </a:rPr>
              <a:t>Output:</a:t>
            </a:r>
          </a:p>
          <a:p>
            <a:pPr algn="l"/>
            <a:r>
              <a:rPr lang="en-US" sz="2500" b="0" i="0" dirty="0">
                <a:effectLst/>
                <a:latin typeface="Nunito Sans" pitchFamily="2" charset="0"/>
              </a:rPr>
              <a:t>True</a:t>
            </a:r>
          </a:p>
          <a:p>
            <a:pPr algn="l"/>
            <a:r>
              <a:rPr lang="en-US" sz="2500" b="1" i="0" dirty="0">
                <a:effectLst/>
                <a:latin typeface="Nunito Sans" pitchFamily="2" charset="0"/>
              </a:rPr>
              <a:t>Explanation:</a:t>
            </a:r>
          </a:p>
          <a:p>
            <a:pPr algn="l"/>
            <a:r>
              <a:rPr lang="en-US" sz="2500" b="0" i="0" dirty="0">
                <a:effectLst/>
                <a:latin typeface="Nunito Sans" pitchFamily="2" charset="0"/>
              </a:rPr>
              <a:t>The input word is </a:t>
            </a:r>
            <a:r>
              <a:rPr lang="en-US" sz="2500" b="0" i="0" dirty="0" err="1">
                <a:effectLst/>
                <a:latin typeface="Nunito Sans" pitchFamily="2" charset="0"/>
              </a:rPr>
              <a:t>abcabc</a:t>
            </a:r>
            <a:r>
              <a:rPr lang="en-US" sz="2500" b="0" i="0" dirty="0">
                <a:effectLst/>
                <a:latin typeface="Nunito Sans" pitchFamily="2" charset="0"/>
              </a:rPr>
              <a:t>. If the first and third alphabet swap each other, then it makes the word as </a:t>
            </a:r>
            <a:r>
              <a:rPr lang="en-US" sz="2500" b="0" i="0" dirty="0" err="1">
                <a:effectLst/>
                <a:latin typeface="Nunito Sans" pitchFamily="2" charset="0"/>
              </a:rPr>
              <a:t>cbaabc</a:t>
            </a:r>
            <a:r>
              <a:rPr lang="en-US" sz="2500" b="0" i="0" dirty="0">
                <a:effectLst/>
                <a:latin typeface="Nunito Sans" pitchFamily="2" charset="0"/>
              </a:rPr>
              <a:t>, which ultimately makes it palindrome.</a:t>
            </a:r>
          </a:p>
          <a:p>
            <a:pPr algn="l"/>
            <a:r>
              <a:rPr lang="en-US" sz="2500" b="0" i="0" dirty="0">
                <a:effectLst/>
                <a:latin typeface="Nunito Sans" pitchFamily="2" charset="0"/>
              </a:rPr>
              <a:t>So the result is True.</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125108869"/>
      </p:ext>
    </p:extLst>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stdbool.h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string.h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isPalindromePossible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53470456"/>
      </p:ext>
    </p:extLst>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904142348"/>
      </p:ext>
    </p:extLst>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isPalindromePossible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"True\n"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"False\n"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22642721"/>
      </p:ext>
    </p:extLst>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cstring</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isPalindromePossible</a:t>
            </a:r>
            <a:r>
              <a:rPr lang="en-IN" sz="2000" b="0" dirty="0">
                <a:solidFill>
                  <a:srgbClr val="DCDCDC"/>
                </a:solidFill>
                <a:effectLst/>
                <a:latin typeface="Nunito Sans" pitchFamily="2" charset="0"/>
              </a:rPr>
              <a:t>(</a:t>
            </a:r>
            <a:r>
              <a:rPr lang="en-IN" sz="2000" b="0" dirty="0" err="1">
                <a:solidFill>
                  <a:srgbClr val="569CD6"/>
                </a:solidFill>
                <a:effectLst/>
                <a:latin typeface="Nunito Sans" pitchFamily="2" charset="0"/>
              </a:rPr>
              <a:t>const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366639408"/>
      </p:ext>
    </p:extLst>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32601126"/>
      </p:ext>
    </p:extLst>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isPalindromePossible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"True"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"False"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8085765"/>
      </p:ext>
    </p:extLst>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boolean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isPalindromePossible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 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input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input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input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input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input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90635500"/>
      </p:ext>
    </p:extLst>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input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midChar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82842958"/>
      </p:ext>
    </p:extLst>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input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isPalindromePossible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"False"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Nunito Sans" pitchFamily="2" charset="0"/>
              <a:cs typeface="Courier New" panose="02070309020205020404" pitchFamily="49"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49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57</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58</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59</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60</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61</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62</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63</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64</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65</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sym typeface="+mn-ea"/>
              </a:rPr>
              <a:t>66</a:t>
            </a:r>
            <a:endParaRPr kumimoji="0" lang="en-US" sz="2000" b="1" i="0" u="none" strike="noStrike" kern="1200" cap="none" spc="0" normalizeH="0" baseline="0" noProof="0" dirty="0">
              <a:ln>
                <a:noFill/>
              </a:ln>
              <a:solidFill>
                <a:srgbClr val="FFFF00"/>
              </a:solidFill>
              <a:effectLst/>
              <a:uLnTx/>
              <a:uFillTx/>
              <a:latin typeface="Courier New" panose="02070309020205020404" pitchFamily="49" charset="0"/>
              <a:ea typeface="+mn-ea"/>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803731423"/>
      </p:ext>
    </p:extLst>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isPalindromePossible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-&gt; </a:t>
            </a:r>
            <a:r>
              <a:rPr lang="en-IN" sz="2000" b="0" dirty="0">
                <a:solidFill>
                  <a:srgbClr val="569CD6"/>
                </a:solidFill>
                <a:effectLst/>
                <a:latin typeface="Nunito Sans" pitchFamily="2" charset="0"/>
              </a:rPr>
              <a:t>bool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length = </a:t>
            </a:r>
            <a:r>
              <a:rPr lang="en-IN" sz="2000" b="0" dirty="0" err="1">
                <a:solidFill>
                  <a:srgbClr val="569CD6"/>
                </a:solidFill>
                <a:effectLst/>
                <a:latin typeface="Nunito Sans" pitchFamily="2" charset="0"/>
              </a:rPr>
              <a:t>len</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diff = </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2</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&lt; length //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diffCount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elif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824837226"/>
      </p:ext>
    </p:extLst>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err="1">
                <a:solidFill>
                  <a:srgbClr val="D4D4D4"/>
                </a:solidFill>
                <a:effectLst/>
                <a:latin typeface="Nunito Sans" pitchFamily="2" charset="0"/>
              </a:rPr>
              <a:t>midChar</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length % </a:t>
            </a:r>
            <a:r>
              <a:rPr lang="en-IN" sz="2000" b="0" dirty="0">
                <a:solidFill>
                  <a:srgbClr val="B5CEA8"/>
                </a:solidFill>
                <a:effectLst/>
                <a:latin typeface="Nunito Sans" pitchFamily="2" charset="0"/>
              </a:rPr>
              <a:t>2</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and</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midChar</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or</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midChar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elif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diffCount</a:t>
            </a:r>
            <a:r>
              <a:rPr lang="en-IN" sz="2000" b="0" dirty="0">
                <a:solidFill>
                  <a:srgbClr val="D4D4D4"/>
                </a:solidFill>
                <a:effectLst/>
                <a:latin typeface="Nunito Sans" pitchFamily="2" charset="0"/>
              </a:rPr>
              <a:t> ==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and</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and</a:t>
            </a:r>
            <a:r>
              <a:rPr lang="en-IN" sz="2000" b="0" dirty="0">
                <a:solidFill>
                  <a:srgbClr val="D4D4D4"/>
                </a:solidFill>
                <a:effectLst/>
                <a:latin typeface="Nunito Sans" pitchFamily="2" charset="0"/>
              </a:rPr>
              <a:t>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diff</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str</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isPalindromePossible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640081573"/>
      </p:ext>
    </p:extLst>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708981"/>
          </a:xfrm>
          <a:prstGeom prst="rect">
            <a:avLst/>
          </a:prstGeom>
          <a:noFill/>
        </p:spPr>
        <p:txBody>
          <a:bodyPr wrap="square">
            <a:spAutoFit/>
          </a:bodyPr>
          <a:lstStyle/>
          <a:p>
            <a:pPr algn="l"/>
            <a:r>
              <a:rPr lang="en-US" sz="2500" b="0" i="0" dirty="0">
                <a:effectLst/>
                <a:latin typeface="Nunito Sans" pitchFamily="2" charset="0"/>
              </a:rPr>
              <a:t>Given a positive integer number N. the task is to find the number of ways in which the given number can be represented as the product of two distinct numbers.</a:t>
            </a:r>
          </a:p>
          <a:p>
            <a:pPr algn="l"/>
            <a:endParaRPr lang="en-US" sz="2500" b="0" i="0" dirty="0">
              <a:effectLst/>
              <a:latin typeface="Nunito Sans" pitchFamily="2" charset="0"/>
            </a:endParaRPr>
          </a:p>
          <a:p>
            <a:pPr algn="l"/>
            <a:r>
              <a:rPr lang="en-US" sz="2500" b="1" i="0" dirty="0">
                <a:effectLst/>
                <a:latin typeface="Nunito Sans" pitchFamily="2" charset="0"/>
              </a:rPr>
              <a:t>Example 1</a:t>
            </a:r>
          </a:p>
          <a:p>
            <a:pPr algn="l"/>
            <a:endParaRPr lang="en-US" sz="2500" b="1" i="0" dirty="0">
              <a:effectLst/>
              <a:latin typeface="Nunito Sans" pitchFamily="2" charset="0"/>
            </a:endParaRPr>
          </a:p>
          <a:p>
            <a:pPr algn="l"/>
            <a:r>
              <a:rPr lang="en-US" sz="2500" b="1" i="0" dirty="0">
                <a:effectLst/>
                <a:latin typeface="Nunito Sans" pitchFamily="2" charset="0"/>
              </a:rPr>
              <a:t>Input:</a:t>
            </a:r>
          </a:p>
          <a:p>
            <a:pPr algn="l"/>
            <a:r>
              <a:rPr lang="en-US" sz="2500" b="0" i="0" dirty="0">
                <a:effectLst/>
                <a:latin typeface="Nunito Sans" pitchFamily="2" charset="0"/>
              </a:rPr>
              <a:t>14</a:t>
            </a:r>
          </a:p>
          <a:p>
            <a:pPr algn="l"/>
            <a:r>
              <a:rPr lang="en-US" sz="2500" b="1" i="0" dirty="0">
                <a:effectLst/>
                <a:latin typeface="Nunito Sans" pitchFamily="2" charset="0"/>
              </a:rPr>
              <a:t>Output:</a:t>
            </a:r>
          </a:p>
          <a:p>
            <a:pPr algn="l"/>
            <a:r>
              <a:rPr lang="en-US" sz="2500" b="0" i="0" dirty="0">
                <a:effectLst/>
                <a:latin typeface="Nunito Sans" pitchFamily="2" charset="0"/>
              </a:rPr>
              <a:t>2</a:t>
            </a:r>
          </a:p>
          <a:p>
            <a:pPr algn="l"/>
            <a:r>
              <a:rPr lang="en-US" sz="2500" b="1" i="0" dirty="0">
                <a:effectLst/>
                <a:latin typeface="Nunito Sans" pitchFamily="2" charset="0"/>
              </a:rPr>
              <a:t>Explanation:</a:t>
            </a:r>
          </a:p>
          <a:p>
            <a:pPr algn="l"/>
            <a:r>
              <a:rPr lang="en-US" sz="2500" b="0" i="0" dirty="0">
                <a:effectLst/>
                <a:latin typeface="Nunito Sans" pitchFamily="2" charset="0"/>
              </a:rPr>
              <a:t>14 can be represented as 1 * 14 and 2 * 7</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1217831458"/>
      </p:ext>
    </p:extLst>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54</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324261"/>
          </a:xfrm>
          <a:prstGeom prst="rect">
            <a:avLst/>
          </a:prstGeom>
          <a:noFill/>
        </p:spPr>
        <p:txBody>
          <a:bodyPr wrap="square">
            <a:spAutoFit/>
          </a:bodyPr>
          <a:lstStyle/>
          <a:p>
            <a:pPr algn="l"/>
            <a:r>
              <a:rPr lang="en-US" sz="2500" b="1" i="0" dirty="0">
                <a:effectLst/>
                <a:latin typeface="Nunito Sans" pitchFamily="2" charset="0"/>
              </a:rPr>
              <a:t>Example 2</a:t>
            </a:r>
          </a:p>
          <a:p>
            <a:pPr algn="l"/>
            <a:endParaRPr lang="en-US" sz="2500" b="1" i="0" dirty="0">
              <a:effectLst/>
              <a:latin typeface="Nunito Sans" pitchFamily="2" charset="0"/>
            </a:endParaRPr>
          </a:p>
          <a:p>
            <a:pPr algn="l"/>
            <a:r>
              <a:rPr lang="en-US" sz="2500" b="1" i="0" dirty="0">
                <a:effectLst/>
                <a:latin typeface="Nunito Sans" pitchFamily="2" charset="0"/>
              </a:rPr>
              <a:t>Input :</a:t>
            </a:r>
          </a:p>
          <a:p>
            <a:pPr algn="l"/>
            <a:r>
              <a:rPr lang="en-US" sz="2500" b="0" i="0" dirty="0">
                <a:effectLst/>
                <a:latin typeface="Nunito Sans" pitchFamily="2" charset="0"/>
              </a:rPr>
              <a:t>16</a:t>
            </a:r>
          </a:p>
          <a:p>
            <a:pPr algn="l"/>
            <a:r>
              <a:rPr lang="en-US" sz="2500" b="1" i="0" dirty="0">
                <a:effectLst/>
                <a:latin typeface="Nunito Sans" pitchFamily="2" charset="0"/>
              </a:rPr>
              <a:t>Output :</a:t>
            </a:r>
          </a:p>
          <a:p>
            <a:pPr algn="l"/>
            <a:r>
              <a:rPr lang="en-US" sz="2500" b="0" i="0" dirty="0">
                <a:effectLst/>
                <a:latin typeface="Nunito Sans" pitchFamily="2" charset="0"/>
              </a:rPr>
              <a:t>2</a:t>
            </a:r>
          </a:p>
          <a:p>
            <a:pPr algn="l"/>
            <a:r>
              <a:rPr lang="en-US" sz="2500" b="1" i="0" dirty="0">
                <a:effectLst/>
                <a:latin typeface="Nunito Sans" pitchFamily="2" charset="0"/>
              </a:rPr>
              <a:t>Explanation :</a:t>
            </a:r>
          </a:p>
          <a:p>
            <a:pPr algn="l"/>
            <a:r>
              <a:rPr lang="en-US" sz="2500" b="0" i="0" dirty="0">
                <a:effectLst/>
                <a:latin typeface="Nunito Sans" pitchFamily="2" charset="0"/>
              </a:rPr>
              <a:t>16 can be represented as 1*16 and 2 * 8</a:t>
            </a:r>
          </a:p>
          <a:p>
            <a:pPr algn="l"/>
            <a:r>
              <a:rPr lang="en-US" sz="2500" b="0" i="0" dirty="0">
                <a:effectLst/>
                <a:latin typeface="Nunito Sans" pitchFamily="2" charset="0"/>
              </a:rPr>
              <a:t>Note</a:t>
            </a:r>
          </a:p>
          <a:p>
            <a:pPr algn="l"/>
            <a:r>
              <a:rPr lang="en-US" sz="2500" b="0" i="0" dirty="0">
                <a:effectLst/>
                <a:latin typeface="Nunito Sans" pitchFamily="2" charset="0"/>
              </a:rPr>
              <a:t>4*4 is not valid way because both the numbers are same.</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4155683751"/>
      </p:ext>
    </p:extLst>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90218408"/>
      </p:ext>
    </p:extLst>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93035602"/>
      </p:ext>
    </p:extLst>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735708881"/>
      </p:ext>
    </p:extLst>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import</a:t>
            </a:r>
            <a:r>
              <a:rPr lang="en-US" sz="2000" b="0" dirty="0">
                <a:solidFill>
                  <a:srgbClr val="D4D4D4"/>
                </a:solidFill>
                <a:effectLst/>
                <a:latin typeface="Nunito Sans" pitchFamily="2" charset="0"/>
              </a:rPr>
              <a:t> math</a:t>
            </a:r>
          </a:p>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count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math.sqrt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n %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a:t>
            </a:r>
            <a:r>
              <a:rPr lang="en-US" sz="2000" b="0" dirty="0">
                <a:solidFill>
                  <a:srgbClr val="B5CEA8"/>
                </a:solidFill>
                <a:effectLst/>
                <a:latin typeface="Nunito Sans" pitchFamily="2" charset="0"/>
              </a:rPr>
              <a:t>0</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and</a:t>
            </a:r>
            <a:r>
              <a:rPr lang="en-US" sz="2000" b="0" dirty="0">
                <a:solidFill>
                  <a:srgbClr val="D4D4D4"/>
                </a:solidFill>
                <a:effectLst/>
                <a:latin typeface="Nunito Sans" pitchFamily="2" charset="0"/>
              </a:rPr>
              <a:t> n//</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 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count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43504985"/>
      </p:ext>
    </p:extLst>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478423"/>
          </a:xfrm>
          <a:prstGeom prst="rect">
            <a:avLst/>
          </a:prstGeom>
          <a:noFill/>
        </p:spPr>
        <p:txBody>
          <a:bodyPr wrap="square">
            <a:spAutoFit/>
          </a:bodyPr>
          <a:lstStyle/>
          <a:p>
            <a:pPr algn="l"/>
            <a:r>
              <a:rPr lang="en-US" sz="2500" b="0" i="0" dirty="0">
                <a:effectLst/>
                <a:latin typeface="Nunito Sans" pitchFamily="2" charset="0"/>
              </a:rPr>
              <a:t>Consider the series below:</a:t>
            </a:r>
          </a:p>
          <a:p>
            <a:pPr algn="l"/>
            <a:r>
              <a:rPr lang="en-US" sz="2500" b="0" i="0" dirty="0">
                <a:effectLst/>
                <a:latin typeface="Nunito Sans" pitchFamily="2" charset="0"/>
              </a:rPr>
              <a:t>{2, 1, 3, 4, 7, 11, 18, so on}</a:t>
            </a:r>
          </a:p>
          <a:p>
            <a:pPr algn="l"/>
            <a:r>
              <a:rPr lang="en-US" sz="2500" b="0" i="0" dirty="0">
                <a:effectLst/>
                <a:latin typeface="Nunito Sans" pitchFamily="2" charset="0"/>
              </a:rPr>
              <a:t>In the above series first two elements are 2 and 1 respectively and other elements are the sum of its two immediately previous elements.</a:t>
            </a:r>
          </a:p>
          <a:p>
            <a:pPr algn="l"/>
            <a:r>
              <a:rPr lang="en-US" sz="2500" b="0" i="0" dirty="0">
                <a:effectLst/>
                <a:latin typeface="Nunito Sans" pitchFamily="2" charset="0"/>
              </a:rPr>
              <a:t>The task is to find the minimum number of elements that need to be changed in the given array </a:t>
            </a:r>
            <a:r>
              <a:rPr lang="en-US" sz="2500" b="0" i="0" dirty="0" err="1">
                <a:effectLst/>
                <a:latin typeface="Nunito Sans" pitchFamily="2" charset="0"/>
              </a:rPr>
              <a:t>Arr</a:t>
            </a:r>
            <a:r>
              <a:rPr lang="en-US" sz="2500" b="0" i="0" dirty="0">
                <a:effectLst/>
                <a:latin typeface="Nunito Sans" pitchFamily="2" charset="0"/>
              </a:rPr>
              <a:t> to make a series as per the above statement.</a:t>
            </a:r>
          </a:p>
          <a:p>
            <a:pPr algn="l"/>
            <a:endParaRPr lang="en-US" sz="2500" b="0" i="0" dirty="0">
              <a:effectLst/>
              <a:latin typeface="Nunito Sans" pitchFamily="2" charset="0"/>
            </a:endParaRPr>
          </a:p>
          <a:p>
            <a:pPr algn="l"/>
            <a:r>
              <a:rPr lang="en-US" sz="2500" b="1" i="0" dirty="0">
                <a:effectLst/>
                <a:latin typeface="Nunito Sans" pitchFamily="2" charset="0"/>
              </a:rPr>
              <a:t>For example</a:t>
            </a:r>
            <a:r>
              <a:rPr lang="en-US" sz="2500" b="0" i="0" dirty="0">
                <a:effectLst/>
                <a:latin typeface="Nunito Sans" pitchFamily="2" charset="0"/>
              </a:rPr>
              <a:t>:</a:t>
            </a:r>
          </a:p>
          <a:p>
            <a:pPr algn="l"/>
            <a:r>
              <a:rPr lang="en-US" sz="2500" b="0" i="0" dirty="0" err="1">
                <a:effectLst/>
                <a:latin typeface="Nunito Sans" pitchFamily="2" charset="0"/>
              </a:rPr>
              <a:t>Arr</a:t>
            </a:r>
            <a:r>
              <a:rPr lang="en-US" sz="2500" b="0" i="0" dirty="0">
                <a:effectLst/>
                <a:latin typeface="Nunito Sans" pitchFamily="2" charset="0"/>
              </a:rPr>
              <a:t>[] = {2, 1, 3, 4, 9, 11, 18}</a:t>
            </a:r>
          </a:p>
          <a:p>
            <a:pPr algn="l"/>
            <a:r>
              <a:rPr lang="en-US" sz="2500" b="0" i="0" dirty="0">
                <a:effectLst/>
                <a:latin typeface="Nunito Sans" pitchFamily="2" charset="0"/>
              </a:rPr>
              <a:t>In the given array 5</a:t>
            </a:r>
            <a:r>
              <a:rPr lang="en-US" sz="2500" b="0" i="0" baseline="30000" dirty="0">
                <a:effectLst/>
                <a:latin typeface="Nunito Sans" pitchFamily="2" charset="0"/>
              </a:rPr>
              <a:t>th</a:t>
            </a:r>
            <a:r>
              <a:rPr lang="en-US" sz="2500" b="0" i="0" dirty="0">
                <a:effectLst/>
                <a:latin typeface="Nunito Sans" pitchFamily="2" charset="0"/>
              </a:rPr>
              <a:t> element (9) needs to replace with 7 to make the correct series.</a:t>
            </a:r>
          </a:p>
          <a:p>
            <a:pPr algn="l"/>
            <a:r>
              <a:rPr lang="en-US" sz="2500" b="0" i="0" dirty="0">
                <a:effectLst/>
                <a:latin typeface="Nunito Sans" pitchFamily="2" charset="0"/>
              </a:rPr>
              <a:t> This means there is only one element that needs to replace in the given array. Hence the output = 1;</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3928011318"/>
      </p:ext>
    </p:extLst>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55</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324261"/>
          </a:xfrm>
          <a:prstGeom prst="rect">
            <a:avLst/>
          </a:prstGeom>
          <a:noFill/>
        </p:spPr>
        <p:txBody>
          <a:bodyPr wrap="square">
            <a:spAutoFit/>
          </a:bodyPr>
          <a:lstStyle/>
          <a:p>
            <a:pPr algn="l"/>
            <a:r>
              <a:rPr lang="en-US" sz="2500" b="1" i="0" dirty="0">
                <a:effectLst/>
                <a:latin typeface="Nunito Sans" pitchFamily="2" charset="0"/>
              </a:rPr>
              <a:t>Example 1</a:t>
            </a:r>
          </a:p>
          <a:p>
            <a:pPr algn="l"/>
            <a:r>
              <a:rPr lang="en-US" sz="2500" b="1" i="0" dirty="0">
                <a:effectLst/>
                <a:latin typeface="Nunito Sans" pitchFamily="2" charset="0"/>
              </a:rPr>
              <a:t>Input :</a:t>
            </a:r>
          </a:p>
          <a:p>
            <a:pPr algn="l"/>
            <a:r>
              <a:rPr lang="en-US" sz="2500" b="0" i="0" dirty="0">
                <a:effectLst/>
                <a:latin typeface="Nunito Sans" pitchFamily="2" charset="0"/>
              </a:rPr>
              <a:t>7</a:t>
            </a:r>
          </a:p>
          <a:p>
            <a:pPr algn="l"/>
            <a:r>
              <a:rPr lang="en-US" sz="2500" b="0" i="0" dirty="0">
                <a:effectLst/>
                <a:latin typeface="Nunito Sans" pitchFamily="2" charset="0"/>
              </a:rPr>
              <a:t>2 1 3 4 9 11 18</a:t>
            </a:r>
          </a:p>
          <a:p>
            <a:pPr algn="l"/>
            <a:r>
              <a:rPr lang="en-US" sz="2500" b="1" i="0" dirty="0">
                <a:effectLst/>
                <a:latin typeface="Nunito Sans" pitchFamily="2" charset="0"/>
              </a:rPr>
              <a:t>Output :</a:t>
            </a:r>
          </a:p>
          <a:p>
            <a:pPr algn="l"/>
            <a:r>
              <a:rPr lang="en-US" sz="2500" b="0" i="0" dirty="0">
                <a:effectLst/>
                <a:latin typeface="Nunito Sans" pitchFamily="2" charset="0"/>
              </a:rPr>
              <a:t>1</a:t>
            </a:r>
          </a:p>
          <a:p>
            <a:pPr algn="l"/>
            <a:r>
              <a:rPr lang="en-US" sz="2500" b="1" i="0" dirty="0">
                <a:effectLst/>
                <a:latin typeface="Nunito Sans" pitchFamily="2" charset="0"/>
              </a:rPr>
              <a:t>Explanation :</a:t>
            </a:r>
          </a:p>
          <a:p>
            <a:pPr algn="l"/>
            <a:r>
              <a:rPr lang="en-US" sz="2500" b="0" i="0" dirty="0">
                <a:effectLst/>
                <a:latin typeface="Nunito Sans" pitchFamily="2" charset="0"/>
              </a:rPr>
              <a:t>In the given array 5</a:t>
            </a:r>
            <a:r>
              <a:rPr lang="en-US" sz="2500" b="0" i="0" baseline="30000" dirty="0">
                <a:effectLst/>
                <a:latin typeface="Nunito Sans" pitchFamily="2" charset="0"/>
              </a:rPr>
              <a:t>th</a:t>
            </a:r>
            <a:r>
              <a:rPr lang="en-US" sz="2500" b="0" i="0" dirty="0">
                <a:effectLst/>
                <a:latin typeface="Nunito Sans" pitchFamily="2" charset="0"/>
              </a:rPr>
              <a:t> element (9) needs to replace with 7 to make the correct series. This means there is only one element that needs to replace in the given array. Hence the output = 1;</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4077805728"/>
      </p:ext>
    </p:extLst>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164620261"/>
      </p:ext>
    </p:extLst>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b</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b</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b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printf</a:t>
            </a:r>
            <a:r>
              <a:rPr lang="en-US" sz="2000" b="0" dirty="0">
                <a:solidFill>
                  <a:srgbClr val="DCDCDC"/>
                </a:solidFill>
                <a:effectLst/>
                <a:latin typeface="Nunito Sans" pitchFamily="2" charset="0"/>
              </a:rPr>
              <a:t>(</a:t>
            </a:r>
            <a:r>
              <a:rPr lang="en-US" sz="2000" b="0" dirty="0">
                <a:solidFill>
                  <a:srgbClr val="CE9178"/>
                </a:solidFill>
                <a:effectLst/>
                <a:latin typeface="Nunito Sans" pitchFamily="2" charset="0"/>
              </a:rPr>
              <a:t>"%d\n"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87685587"/>
      </p:ext>
    </p:extLst>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vector</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231138555"/>
      </p:ext>
    </p:extLst>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2</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c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b</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b</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b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&lt;&lt;</a:t>
            </a:r>
            <a:r>
              <a:rPr lang="en-US" sz="2000" b="0" dirty="0">
                <a:solidFill>
                  <a:srgbClr val="D4D4D4"/>
                </a:solidFill>
                <a:effectLst/>
                <a:latin typeface="Nunito Sans" pitchFamily="2" charset="0"/>
              </a:rPr>
              <a:t> 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30295346"/>
      </p:ext>
    </p:extLst>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ArrayList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List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List</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Integer</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ArrayList</a:t>
            </a:r>
            <a:r>
              <a:rPr lang="en-IN" sz="2000" b="0" dirty="0">
                <a:solidFill>
                  <a:srgbClr val="D4D4D4"/>
                </a:solidFill>
                <a:effectLst/>
                <a:latin typeface="Nunito Sans" pitchFamily="2" charset="0"/>
              </a:rPr>
              <a:t>&lt;&gt;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add</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count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get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get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11376856"/>
      </p:ext>
    </p:extLst>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b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arr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get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count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047346898"/>
      </p:ext>
    </p:extLst>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n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err="1">
                <a:solidFill>
                  <a:srgbClr val="D4D4D4"/>
                </a:solidFill>
                <a:effectLst/>
                <a:latin typeface="Nunito Sans" pitchFamily="2" charset="0"/>
              </a:rPr>
              <a:t>arr</a:t>
            </a:r>
            <a:r>
              <a:rPr lang="en-US" sz="2000" b="0" dirty="0">
                <a:solidFill>
                  <a:srgbClr val="D4D4D4"/>
                </a:solidFill>
                <a:effectLst/>
                <a:latin typeface="Nunito Sans" pitchFamily="2" charset="0"/>
              </a:rPr>
              <a:t> = </a:t>
            </a:r>
            <a:r>
              <a:rPr lang="en-US" sz="2000" b="0" dirty="0">
                <a:solidFill>
                  <a:srgbClr val="569CD6"/>
                </a:solidFill>
                <a:effectLst/>
                <a:latin typeface="Nunito Sans" pitchFamily="2" charset="0"/>
              </a:rPr>
              <a:t>list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map</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.strip</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.split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a = </a:t>
            </a:r>
            <a:r>
              <a:rPr lang="en-US" sz="2000" b="0" dirty="0">
                <a:solidFill>
                  <a:srgbClr val="B5CEA8"/>
                </a:solidFill>
                <a:effectLst/>
                <a:latin typeface="Nunito Sans" pitchFamily="2" charset="0"/>
              </a:rPr>
              <a:t>2</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b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count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a</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count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b</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count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2</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 = a + b</a:t>
            </a:r>
          </a:p>
          <a:p>
            <a:r>
              <a:rPr lang="en-US" sz="2000" b="0" dirty="0">
                <a:solidFill>
                  <a:srgbClr val="D4D4D4"/>
                </a:solidFill>
                <a:effectLst/>
                <a:latin typeface="Nunito Sans" pitchFamily="2" charset="0"/>
              </a:rPr>
              <a:t>    a = b</a:t>
            </a:r>
          </a:p>
          <a:p>
            <a:r>
              <a:rPr lang="en-US" sz="2000" b="0" dirty="0">
                <a:solidFill>
                  <a:srgbClr val="D4D4D4"/>
                </a:solidFill>
                <a:effectLst/>
                <a:latin typeface="Nunito Sans" pitchFamily="2" charset="0"/>
              </a:rPr>
              <a:t>    b = c</a:t>
            </a: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arr</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 c</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count = count +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count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972016415"/>
      </p:ext>
    </p:extLst>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554819"/>
          </a:xfrm>
          <a:prstGeom prst="rect">
            <a:avLst/>
          </a:prstGeom>
          <a:noFill/>
        </p:spPr>
        <p:txBody>
          <a:bodyPr wrap="square">
            <a:spAutoFit/>
          </a:bodyPr>
          <a:lstStyle/>
          <a:p>
            <a:pPr algn="l"/>
            <a:r>
              <a:rPr lang="en-US" sz="2500" b="0" i="0" dirty="0">
                <a:effectLst/>
                <a:latin typeface="Nunito Sans" pitchFamily="2" charset="0"/>
              </a:rPr>
              <a:t>A group of friends are playing cards. Only numeric cards are being used, along with the joker card (equivalent to 0) and the symbols in the cards are not taken into account. </a:t>
            </a:r>
          </a:p>
          <a:p>
            <a:pPr algn="l"/>
            <a:r>
              <a:rPr lang="en-US" sz="2500" b="0" i="0" dirty="0">
                <a:effectLst/>
                <a:latin typeface="Nunito Sans" pitchFamily="2" charset="0"/>
              </a:rPr>
              <a:t>Each player will receive a set of cards. The rule of the game is to rearrange the set of cards to the possible lowest number sequence. The player with the set of cards forming the smallest number wins the game. The number sequence of the cards should not start with a joker card. The task is to write a program for developing the logic of the game considering the set of cards as a number. The output will be the lowest possible number that can be formed, not beginning with 0.</a:t>
            </a:r>
          </a:p>
        </p:txBody>
      </p:sp>
    </p:spTree>
    <p:extLst>
      <p:ext uri="{BB962C8B-B14F-4D97-AF65-F5344CB8AC3E}">
        <p14:creationId xmlns:p14="http://schemas.microsoft.com/office/powerpoint/2010/main" val="2110816963"/>
      </p:ext>
    </p:extLst>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56</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939540"/>
          </a:xfrm>
          <a:prstGeom prst="rect">
            <a:avLst/>
          </a:prstGeom>
          <a:noFill/>
        </p:spPr>
        <p:txBody>
          <a:bodyPr wrap="square">
            <a:spAutoFit/>
          </a:bodyPr>
          <a:lstStyle/>
          <a:p>
            <a:pPr algn="l"/>
            <a:r>
              <a:rPr lang="en-US" sz="2500" b="1" i="0" dirty="0">
                <a:effectLst/>
                <a:latin typeface="Nunito Sans" pitchFamily="2" charset="0"/>
              </a:rPr>
              <a:t>Example 1</a:t>
            </a:r>
          </a:p>
          <a:p>
            <a:pPr algn="l"/>
            <a:endParaRPr lang="en-US" sz="2500" b="1" i="0" dirty="0">
              <a:effectLst/>
              <a:latin typeface="Nunito Sans" pitchFamily="2" charset="0"/>
            </a:endParaRPr>
          </a:p>
          <a:p>
            <a:pPr algn="l"/>
            <a:r>
              <a:rPr lang="en-US" sz="2500" b="1" i="0" dirty="0">
                <a:effectLst/>
                <a:latin typeface="Nunito Sans" pitchFamily="2" charset="0"/>
              </a:rPr>
              <a:t>Input :</a:t>
            </a:r>
          </a:p>
          <a:p>
            <a:pPr algn="l"/>
            <a:r>
              <a:rPr lang="en-US" sz="2500" b="0" i="0" dirty="0">
                <a:effectLst/>
                <a:latin typeface="Nunito Sans" pitchFamily="2" charset="0"/>
              </a:rPr>
              <a:t>34201</a:t>
            </a:r>
          </a:p>
          <a:p>
            <a:pPr algn="l"/>
            <a:r>
              <a:rPr lang="en-US" sz="2500" b="1" i="0" dirty="0">
                <a:effectLst/>
                <a:latin typeface="Nunito Sans" pitchFamily="2" charset="0"/>
              </a:rPr>
              <a:t>Output :</a:t>
            </a:r>
          </a:p>
          <a:p>
            <a:pPr algn="l"/>
            <a:r>
              <a:rPr lang="en-US" sz="2500" b="0" i="0" dirty="0">
                <a:effectLst/>
                <a:latin typeface="Nunito Sans" pitchFamily="2" charset="0"/>
              </a:rPr>
              <a:t>10234</a:t>
            </a:r>
          </a:p>
          <a:p>
            <a:pPr algn="l"/>
            <a:r>
              <a:rPr lang="en-US" sz="2500" b="1" i="0" dirty="0">
                <a:effectLst/>
                <a:latin typeface="Nunito Sans" pitchFamily="2" charset="0"/>
              </a:rPr>
              <a:t>Explanation :</a:t>
            </a:r>
          </a:p>
          <a:p>
            <a:pPr algn="l"/>
            <a:r>
              <a:rPr lang="en-US" sz="2500" b="0" i="0" dirty="0">
                <a:effectLst/>
                <a:latin typeface="Nunito Sans" pitchFamily="2" charset="0"/>
              </a:rPr>
              <a:t>The lowest number formation by rearranging the digits of the number 34201 and not starting with a 0 will be 10234. Hence the output is 10234</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2394935984"/>
      </p:ext>
    </p:extLst>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stdlib.h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string.h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smallest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memmove</a:t>
            </a:r>
            <a:r>
              <a:rPr lang="en-IN" sz="2000" b="0" dirty="0">
                <a:solidFill>
                  <a:srgbClr val="DCDCDC"/>
                </a:solidFill>
                <a:effectLst/>
                <a:latin typeface="Nunito Sans" pitchFamily="2" charset="0"/>
              </a:rPr>
              <a:t>(&amp;</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sizeof</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malloc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sizeof</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sprintf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t>
            </a:r>
            <a:r>
              <a:rPr lang="en-IN" sz="2000" b="0" dirty="0" err="1">
                <a:solidFill>
                  <a:srgbClr val="CE9178"/>
                </a:solidFill>
                <a:effectLst/>
                <a:latin typeface="Nunito Sans" pitchFamily="2" charset="0"/>
              </a:rPr>
              <a:t>c%s</a:t>
            </a:r>
            <a:r>
              <a:rPr lang="en-IN" sz="2000" b="0" dirty="0">
                <a:solidFill>
                  <a:srgbClr val="CE9178"/>
                </a:solidFill>
                <a:effectLst/>
                <a:latin typeface="Nunito Sans" pitchFamily="2" charset="0"/>
              </a:rPr>
              <a: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546778389"/>
      </p:ext>
    </p:extLst>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12</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sprintf</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strlen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qsort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sizeof</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strcmp</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smallest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"%s\n"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free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85846762"/>
      </p:ext>
    </p:extLst>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cstring</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algorithm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string smallest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erase</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57715686"/>
      </p:ext>
    </p:extLst>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lst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to_string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sort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begin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end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smallest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362393911"/>
      </p:ext>
    </p:extLst>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Arrays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String smallest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length</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charAt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substring</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substring</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05202907"/>
      </p:ext>
    </p:extLst>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a:t>
            </a:r>
            <a:r>
              <a:rPr lang="en-IN" sz="2000" b="0" dirty="0" err="1">
                <a:solidFill>
                  <a:srgbClr val="D4D4D4"/>
                </a:solidFill>
                <a:effectLst/>
                <a:latin typeface="Nunito Sans" pitchFamily="2" charset="0"/>
              </a:rPr>
              <a:t>lst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String</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valueOf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length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length</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lstChars</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toCharArray</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Arrays</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sort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lstChars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String</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lstChars</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smallest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11806035"/>
      </p:ext>
    </p:extLst>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smallest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569CD6"/>
                </a:solidFill>
                <a:effectLst/>
                <a:latin typeface="Nunito Sans" pitchFamily="2" charset="0"/>
              </a:rPr>
              <a:t>in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enumerate</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n != </a:t>
            </a:r>
            <a:r>
              <a:rPr lang="en-IN" sz="2000" b="0" dirty="0">
                <a:solidFill>
                  <a:srgbClr val="CE917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tmp</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lst.pop</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break</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tmp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a:solidFill>
                  <a:srgbClr val="CE9178"/>
                </a:solidFill>
                <a:effectLst/>
                <a:latin typeface="Nunito Sans" pitchFamily="2" charset="0"/>
              </a:rPr>
              <a:t>''</a:t>
            </a:r>
            <a:r>
              <a:rPr lang="en-IN" sz="2000" b="0" dirty="0">
                <a:solidFill>
                  <a:srgbClr val="D4D4D4"/>
                </a:solidFill>
                <a:effectLst/>
                <a:latin typeface="Nunito Sans" pitchFamily="2" charset="0"/>
              </a:rPr>
              <a:t>.join</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__name__</a:t>
            </a:r>
            <a:r>
              <a:rPr lang="en-IN" sz="2000" b="0" dirty="0">
                <a:solidFill>
                  <a:srgbClr val="D4D4D4"/>
                </a:solidFill>
                <a:effectLst/>
                <a:latin typeface="Nunito Sans" pitchFamily="2" charset="0"/>
              </a:rPr>
              <a:t> == </a:t>
            </a:r>
            <a:r>
              <a:rPr lang="en-IN" sz="2000" b="0" dirty="0">
                <a:solidFill>
                  <a:srgbClr val="CE9178"/>
                </a:solidFill>
                <a:effectLst/>
                <a:latin typeface="Nunito Sans" pitchFamily="2" charset="0"/>
              </a:rPr>
              <a:t>'__main__'</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lst.sort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smallest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lst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69492034"/>
      </p:ext>
    </p:extLst>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708981"/>
          </a:xfrm>
          <a:prstGeom prst="rect">
            <a:avLst/>
          </a:prstGeom>
          <a:noFill/>
        </p:spPr>
        <p:txBody>
          <a:bodyPr wrap="square">
            <a:spAutoFit/>
          </a:bodyPr>
          <a:lstStyle/>
          <a:p>
            <a:pPr algn="l"/>
            <a:r>
              <a:rPr lang="en-US" sz="2500" b="0" i="0" dirty="0">
                <a:effectLst/>
                <a:latin typeface="Nunito Sans" pitchFamily="2" charset="0"/>
              </a:rPr>
              <a:t>Mr. Rao is relocating from place A to B. the moving truck has a maximum capacity C. there are N items in the house where each item has a corresponding value (vi) and weight (Wi). Mr. Rao has to carry only the most valuable items whose total weight does not exceed the capacity of the truck. </a:t>
            </a:r>
          </a:p>
          <a:p>
            <a:pPr algn="l"/>
            <a:r>
              <a:rPr lang="en-US" sz="2500" b="0" i="0" dirty="0">
                <a:effectLst/>
                <a:latin typeface="Nunito Sans" pitchFamily="2" charset="0"/>
              </a:rPr>
              <a:t>The task here is to find those items (single or combination of items) whose total value (v) will be the maximum and their corresponding weight (w) will not exceed truck capacity ( C ) here</a:t>
            </a:r>
          </a:p>
          <a:p>
            <a:pPr algn="l"/>
            <a:r>
              <a:rPr lang="en-US" sz="2500" b="0" i="0" dirty="0">
                <a:effectLst/>
                <a:latin typeface="Nunito Sans" pitchFamily="2" charset="0"/>
              </a:rPr>
              <a:t>N = no. of items</a:t>
            </a:r>
          </a:p>
          <a:p>
            <a:pPr algn="l"/>
            <a:r>
              <a:rPr lang="en-US" sz="2500" b="0" i="0" dirty="0">
                <a:effectLst/>
                <a:latin typeface="Nunito Sans" pitchFamily="2" charset="0"/>
              </a:rPr>
              <a:t>C – maximum capacity of the truck, an integer value</a:t>
            </a:r>
          </a:p>
          <a:p>
            <a:pPr algn="l"/>
            <a:r>
              <a:rPr lang="en-US" sz="2500" b="0" i="0" dirty="0">
                <a:effectLst/>
                <a:latin typeface="Nunito Sans" pitchFamily="2" charset="0"/>
              </a:rPr>
              <a:t>W[0 to N-1] – An array consisting weight of each item</a:t>
            </a:r>
          </a:p>
          <a:p>
            <a:pPr algn="l"/>
            <a:r>
              <a:rPr lang="en-US" sz="2500" b="0" i="0" dirty="0">
                <a:effectLst/>
                <a:latin typeface="Nunito Sans" pitchFamily="2" charset="0"/>
              </a:rPr>
              <a:t>V[0 to N-1] – An array consisting value of each item.</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3991255304"/>
      </p:ext>
    </p:extLst>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57</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554819"/>
          </a:xfrm>
          <a:prstGeom prst="rect">
            <a:avLst/>
          </a:prstGeom>
          <a:noFill/>
        </p:spPr>
        <p:txBody>
          <a:bodyPr wrap="square">
            <a:spAutoFit/>
          </a:bodyPr>
          <a:lstStyle/>
          <a:p>
            <a:pPr algn="l"/>
            <a:r>
              <a:rPr lang="en-US" sz="2500" b="1" i="0" dirty="0">
                <a:effectLst/>
                <a:latin typeface="Nunito Sans" pitchFamily="2" charset="0"/>
              </a:rPr>
              <a:t>Example 1</a:t>
            </a:r>
          </a:p>
          <a:p>
            <a:r>
              <a:rPr lang="en-US" sz="2500" b="1" dirty="0">
                <a:latin typeface="Nunito Sans" pitchFamily="2" charset="0"/>
              </a:rPr>
              <a:t>In</a:t>
            </a:r>
            <a:r>
              <a:rPr lang="en-US" sz="2500" b="1" i="0" dirty="0">
                <a:effectLst/>
                <a:latin typeface="Nunito Sans" pitchFamily="2" charset="0"/>
              </a:rPr>
              <a:t>put:</a:t>
            </a:r>
          </a:p>
          <a:p>
            <a:pPr algn="l"/>
            <a:r>
              <a:rPr lang="en-US" sz="2500" b="0" i="0" dirty="0">
                <a:effectLst/>
                <a:latin typeface="Nunito Sans" pitchFamily="2" charset="0"/>
              </a:rPr>
              <a:t>4 -&gt; Value of N</a:t>
            </a:r>
          </a:p>
          <a:p>
            <a:pPr algn="l"/>
            <a:r>
              <a:rPr lang="en-US" sz="2500" b="0" i="0" dirty="0">
                <a:effectLst/>
                <a:latin typeface="Nunito Sans" pitchFamily="2" charset="0"/>
              </a:rPr>
              <a:t>80 -&gt; Value of C</a:t>
            </a:r>
          </a:p>
          <a:p>
            <a:pPr algn="l"/>
            <a:r>
              <a:rPr lang="en-US" sz="2500" b="0" i="0" dirty="0">
                <a:effectLst/>
                <a:latin typeface="Nunito Sans" pitchFamily="2" charset="0"/>
              </a:rPr>
              <a:t>10 45 60 90 -&gt; Elements of array V[]</a:t>
            </a:r>
          </a:p>
          <a:p>
            <a:pPr algn="l"/>
            <a:r>
              <a:rPr lang="en-US" sz="2500" b="0" i="0" dirty="0">
                <a:effectLst/>
                <a:latin typeface="Nunito Sans" pitchFamily="2" charset="0"/>
              </a:rPr>
              <a:t>15 20 30 40 -&gt; Elements of array W[]</a:t>
            </a:r>
          </a:p>
          <a:p>
            <a:pPr algn="l"/>
            <a:r>
              <a:rPr lang="en-US" sz="2500" b="1" i="0" dirty="0">
                <a:effectLst/>
                <a:latin typeface="Nunito Sans" pitchFamily="2" charset="0"/>
              </a:rPr>
              <a:t>Output:</a:t>
            </a:r>
          </a:p>
          <a:p>
            <a:pPr algn="l"/>
            <a:r>
              <a:rPr lang="en-US" sz="2500" b="0" i="0" dirty="0">
                <a:effectLst/>
                <a:latin typeface="Nunito Sans" pitchFamily="2" charset="0"/>
              </a:rPr>
              <a:t>150</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1361100442"/>
      </p:ext>
    </p:extLst>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W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280678427"/>
      </p:ext>
    </p:extLst>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841896680"/>
      </p:ext>
    </p:extLst>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W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534288785"/>
      </p:ext>
    </p:extLst>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489642957"/>
      </p:ext>
    </p:extLst>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b</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W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max</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41812189"/>
      </p:ext>
    </p:extLst>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005389057"/>
      </p:ext>
    </p:extLst>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def</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n == </a:t>
            </a:r>
            <a:r>
              <a:rPr lang="en-IN" sz="2000" b="0" dirty="0">
                <a:solidFill>
                  <a:srgbClr val="B5CEA8"/>
                </a:solidFill>
                <a:effectLst/>
                <a:latin typeface="Nunito Sans" pitchFamily="2" charset="0"/>
              </a:rPr>
              <a:t>0</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or</a:t>
            </a:r>
            <a:r>
              <a:rPr lang="en-IN" sz="2000" b="0" dirty="0">
                <a:solidFill>
                  <a:srgbClr val="D4D4D4"/>
                </a:solidFill>
                <a:effectLst/>
                <a:latin typeface="Nunito Sans" pitchFamily="2" charset="0"/>
              </a:rPr>
              <a:t> W ==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&gt; W</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max</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W-</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W</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C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val</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err="1">
                <a:solidFill>
                  <a:srgbClr val="D4D4D4"/>
                </a:solidFill>
                <a:effectLst/>
                <a:latin typeface="Nunito Sans" pitchFamily="2" charset="0"/>
              </a:rPr>
              <a:t>Wt</a:t>
            </a:r>
            <a:r>
              <a:rPr lang="en-IN" sz="2000" b="0" dirty="0">
                <a:solidFill>
                  <a:srgbClr val="D4D4D4"/>
                </a:solidFill>
                <a:effectLst/>
                <a:latin typeface="Nunito Sans" pitchFamily="2" charset="0"/>
              </a:rPr>
              <a:t> = </a:t>
            </a:r>
            <a:r>
              <a:rPr lang="en-IN" sz="2000" b="0" dirty="0">
                <a:solidFill>
                  <a:srgbClr val="569CD6"/>
                </a:solidFill>
                <a:effectLst/>
                <a:latin typeface="Nunito Sans" pitchFamily="2" charset="0"/>
              </a:rPr>
              <a:t>list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map</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.strip</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.split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print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knapSack</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Wt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val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649670931"/>
      </p:ext>
    </p:extLst>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554819"/>
          </a:xfrm>
          <a:prstGeom prst="rect">
            <a:avLst/>
          </a:prstGeom>
          <a:noFill/>
        </p:spPr>
        <p:txBody>
          <a:bodyPr wrap="square">
            <a:spAutoFit/>
          </a:bodyPr>
          <a:lstStyle/>
          <a:p>
            <a:pPr algn="l"/>
            <a:r>
              <a:rPr lang="en-US" sz="2500" b="0" i="0" dirty="0">
                <a:effectLst/>
                <a:latin typeface="Nunito Sans" pitchFamily="2" charset="0"/>
              </a:rPr>
              <a:t>Given two non-negative integers n1 and n2, where n1 &lt; n2. The task is to find the total number of integers in the range interval [n1, n2] (both inclusive) which have no repeated digits.</a:t>
            </a:r>
          </a:p>
          <a:p>
            <a:pPr algn="l"/>
            <a:endParaRPr lang="en-US" sz="2500" b="0" i="0" dirty="0">
              <a:effectLst/>
              <a:latin typeface="Nunito Sans" pitchFamily="2" charset="0"/>
            </a:endParaRPr>
          </a:p>
          <a:p>
            <a:pPr algn="l"/>
            <a:r>
              <a:rPr lang="en-US" sz="2500" b="1" i="0" dirty="0">
                <a:effectLst/>
                <a:latin typeface="Nunito Sans" pitchFamily="2" charset="0"/>
              </a:rPr>
              <a:t>For example</a:t>
            </a:r>
            <a:r>
              <a:rPr lang="en-US" sz="2500" b="0" i="0" dirty="0">
                <a:effectLst/>
                <a:latin typeface="Nunito Sans" pitchFamily="2" charset="0"/>
              </a:rPr>
              <a:t>:</a:t>
            </a:r>
          </a:p>
          <a:p>
            <a:pPr algn="l"/>
            <a:r>
              <a:rPr lang="en-US" sz="2500" b="0" i="0" dirty="0">
                <a:effectLst/>
                <a:latin typeface="Nunito Sans" pitchFamily="2" charset="0"/>
              </a:rPr>
              <a:t>Suppose n1 = 11 and n2 = 15</a:t>
            </a:r>
          </a:p>
          <a:p>
            <a:pPr algn="l"/>
            <a:r>
              <a:rPr lang="en-US" sz="2500" b="0" i="0" dirty="0">
                <a:effectLst/>
                <a:latin typeface="Nunito Sans" pitchFamily="2" charset="0"/>
              </a:rPr>
              <a:t>There is the number 11, which has repeated digits, but 12, 13, 14 and 15 have no repeated digits. So, the output is 4.</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112710268"/>
      </p:ext>
    </p:extLst>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58</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478423"/>
          </a:xfrm>
          <a:prstGeom prst="rect">
            <a:avLst/>
          </a:prstGeom>
          <a:noFill/>
        </p:spPr>
        <p:txBody>
          <a:bodyPr wrap="square">
            <a:spAutoFit/>
          </a:bodyPr>
          <a:lstStyle/>
          <a:p>
            <a:pPr algn="l"/>
            <a:r>
              <a:rPr lang="en-US" sz="2500" b="1" i="0" dirty="0">
                <a:effectLst/>
                <a:latin typeface="Nunito Sans" pitchFamily="2" charset="0"/>
              </a:rPr>
              <a:t>Example 1</a:t>
            </a:r>
          </a:p>
          <a:p>
            <a:pPr algn="l"/>
            <a:r>
              <a:rPr lang="en-US" sz="2500" b="1" i="0" dirty="0">
                <a:effectLst/>
                <a:latin typeface="Nunito Sans" pitchFamily="2" charset="0"/>
              </a:rPr>
              <a:t>Input :</a:t>
            </a:r>
          </a:p>
          <a:p>
            <a:pPr algn="l"/>
            <a:r>
              <a:rPr lang="en-US" sz="2500" b="0" i="0" dirty="0">
                <a:effectLst/>
                <a:latin typeface="Nunito Sans" pitchFamily="2" charset="0"/>
              </a:rPr>
              <a:t>11</a:t>
            </a:r>
          </a:p>
          <a:p>
            <a:pPr algn="l"/>
            <a:r>
              <a:rPr lang="en-US" sz="2500" b="0" i="0" dirty="0">
                <a:effectLst/>
                <a:latin typeface="Nunito Sans" pitchFamily="2" charset="0"/>
              </a:rPr>
              <a:t>15</a:t>
            </a:r>
          </a:p>
          <a:p>
            <a:pPr algn="l"/>
            <a:r>
              <a:rPr lang="en-US" sz="2500" b="1" i="0" dirty="0">
                <a:effectLst/>
                <a:latin typeface="Nunito Sans" pitchFamily="2" charset="0"/>
              </a:rPr>
              <a:t>Output :</a:t>
            </a:r>
          </a:p>
          <a:p>
            <a:pPr algn="l"/>
            <a:r>
              <a:rPr lang="en-US" sz="2500" b="0" i="0" dirty="0">
                <a:effectLst/>
                <a:latin typeface="Nunito Sans" pitchFamily="2" charset="0"/>
              </a:rPr>
              <a:t>4</a:t>
            </a:r>
          </a:p>
          <a:p>
            <a:pPr algn="l"/>
            <a:endParaRPr lang="en-US" sz="2500" b="1" i="0" dirty="0">
              <a:effectLst/>
              <a:latin typeface="Nunito Sans" pitchFamily="2" charset="0"/>
            </a:endParaRPr>
          </a:p>
          <a:p>
            <a:pPr algn="l"/>
            <a:r>
              <a:rPr lang="en-US" sz="2500" b="1" i="0" dirty="0">
                <a:effectLst/>
                <a:latin typeface="Nunito Sans" pitchFamily="2" charset="0"/>
              </a:rPr>
              <a:t>Example 2</a:t>
            </a:r>
          </a:p>
          <a:p>
            <a:pPr algn="l"/>
            <a:r>
              <a:rPr lang="en-US" sz="2500" b="1" i="0" dirty="0">
                <a:effectLst/>
                <a:latin typeface="Nunito Sans" pitchFamily="2" charset="0"/>
              </a:rPr>
              <a:t>Input :</a:t>
            </a:r>
          </a:p>
          <a:p>
            <a:pPr algn="l"/>
            <a:r>
              <a:rPr lang="en-US" sz="2500" b="0" i="0" dirty="0">
                <a:effectLst/>
                <a:latin typeface="Nunito Sans" pitchFamily="2" charset="0"/>
              </a:rPr>
              <a:t>101</a:t>
            </a:r>
          </a:p>
          <a:p>
            <a:pPr algn="l"/>
            <a:r>
              <a:rPr lang="en-US" sz="2500" b="0" i="0" dirty="0">
                <a:effectLst/>
                <a:latin typeface="Nunito Sans" pitchFamily="2" charset="0"/>
              </a:rPr>
              <a:t>200</a:t>
            </a:r>
          </a:p>
          <a:p>
            <a:pPr algn="l"/>
            <a:r>
              <a:rPr lang="en-US" sz="2500" b="1" i="0" dirty="0">
                <a:effectLst/>
                <a:latin typeface="Nunito Sans" pitchFamily="2" charset="0"/>
              </a:rPr>
              <a:t>Output :</a:t>
            </a:r>
          </a:p>
          <a:p>
            <a:pPr algn="l"/>
            <a:r>
              <a:rPr lang="en-US" sz="2500" b="0" i="0" dirty="0">
                <a:effectLst/>
                <a:latin typeface="Nunito Sans" pitchFamily="2" charset="0"/>
              </a:rPr>
              <a:t>72</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3111682063"/>
      </p:ext>
    </p:extLst>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repeated_digit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calculate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answer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answer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answer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repeated_digit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5544975"/>
      </p:ext>
    </p:extLst>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answer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calculate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504491280"/>
      </p:ext>
    </p:extLst>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repeated_digit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calculate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answer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005808735"/>
      </p:ext>
    </p:extLst>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D4D4D4"/>
                </a:solidFill>
                <a:effectLst/>
                <a:latin typeface="Nunito Sans" pitchFamily="2" charset="0"/>
              </a:rPr>
              <a:t>  answer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answer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repeated_digit</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answer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main</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L</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cin</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L </a:t>
            </a:r>
            <a:r>
              <a:rPr lang="en-US" sz="2000" b="0" dirty="0">
                <a:solidFill>
                  <a:srgbClr val="DCDCDC"/>
                </a:solidFill>
                <a:effectLst/>
                <a:latin typeface="Nunito Sans" pitchFamily="2" charset="0"/>
              </a:rPr>
              <a:t>&gt;&gt;</a:t>
            </a:r>
            <a:r>
              <a:rPr lang="en-US" sz="2000" b="0" dirty="0">
                <a:solidFill>
                  <a:srgbClr val="D4D4D4"/>
                </a:solidFill>
                <a:effectLst/>
                <a:latin typeface="Nunito Sans" pitchFamily="2" charset="0"/>
              </a:rPr>
              <a:t> 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int</a:t>
            </a:r>
            <a:r>
              <a:rPr lang="en-US" sz="2000" b="0" dirty="0">
                <a:solidFill>
                  <a:srgbClr val="D4D4D4"/>
                </a:solidFill>
                <a:effectLst/>
                <a:latin typeface="Nunito Sans" pitchFamily="2" charset="0"/>
              </a:rPr>
              <a:t> result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calculate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L</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cout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&lt;&lt;</a:t>
            </a:r>
            <a:r>
              <a:rPr lang="en-US" sz="2000" b="0" dirty="0">
                <a:solidFill>
                  <a:srgbClr val="D4D4D4"/>
                </a:solidFill>
                <a:effectLst/>
                <a:latin typeface="Nunito Sans" pitchFamily="2" charset="0"/>
              </a:rPr>
              <a:t> result </a:t>
            </a:r>
            <a:r>
              <a:rPr lang="en-US" sz="2000" b="0" dirty="0">
                <a:solidFill>
                  <a:srgbClr val="DCDCDC"/>
                </a:solidFill>
                <a:effectLst/>
                <a:latin typeface="Nunito Sans" pitchFamily="2" charset="0"/>
              </a:rPr>
              <a:t>&lt;&lt;</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endl</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272756048"/>
      </p:ext>
    </p:extLst>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repeated_digit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d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calculate</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answer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4112752331"/>
      </p:ext>
    </p:extLst>
  </p:cSld>
  <p:clrMapOvr>
    <a:masterClrMapping/>
  </p:clrMapOvr>
</p:sld>
</file>

<file path=ppt/slides/slide6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answer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answer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repeated_digit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answer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L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result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calculate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L</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result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45006857"/>
      </p:ext>
    </p:extLst>
  </p:cSld>
  <p:clrMapOvr>
    <a:masterClrMapping/>
  </p:clrMapOvr>
</p:sld>
</file>

<file path=ppt/slides/slide6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repeated_digit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n</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 = </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while</a:t>
            </a:r>
            <a:r>
              <a:rPr lang="en-US" sz="2000" b="0" dirty="0">
                <a:solidFill>
                  <a:srgbClr val="D4D4D4"/>
                </a:solidFill>
                <a:effectLst/>
                <a:latin typeface="Nunito Sans" pitchFamily="2" charset="0"/>
              </a:rPr>
              <a:t> n != </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d = n % </a:t>
            </a:r>
            <a:r>
              <a:rPr lang="en-US" sz="2000" b="0" dirty="0">
                <a:solidFill>
                  <a:srgbClr val="B5CEA8"/>
                </a:solidFill>
                <a:effectLst/>
                <a:latin typeface="Nunito Sans" pitchFamily="2" charset="0"/>
              </a:rPr>
              <a:t>10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d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a.append</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d</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n = n // </a:t>
            </a:r>
            <a:r>
              <a:rPr lang="en-US" sz="2000" b="0" dirty="0">
                <a:solidFill>
                  <a:srgbClr val="B5CEA8"/>
                </a:solidFill>
                <a:effectLst/>
                <a:latin typeface="Nunito Sans" pitchFamily="2" charset="0"/>
              </a:rPr>
              <a:t>10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1</a:t>
            </a:r>
            <a:endParaRPr lang="en-US" sz="2000" b="0" dirty="0">
              <a:solidFill>
                <a:srgbClr val="D4D4D4"/>
              </a:solidFill>
              <a:effectLst/>
              <a:latin typeface="Nunito Sans" pitchFamily="2" charset="0"/>
            </a:endParaRPr>
          </a:p>
          <a:p>
            <a:br>
              <a:rPr lang="en-US" sz="2000" b="0" dirty="0">
                <a:solidFill>
                  <a:srgbClr val="D4D4D4"/>
                </a:solidFill>
                <a:effectLst/>
                <a:latin typeface="Nunito Sans" pitchFamily="2" charset="0"/>
              </a:rPr>
            </a:br>
            <a:r>
              <a:rPr lang="en-US" sz="2000" b="0" dirty="0">
                <a:solidFill>
                  <a:srgbClr val="569CD6"/>
                </a:solidFill>
                <a:effectLst/>
                <a:latin typeface="Nunito Sans" pitchFamily="2" charset="0"/>
              </a:rPr>
              <a:t>def</a:t>
            </a:r>
            <a:r>
              <a:rPr lang="en-US" sz="2000" b="0" dirty="0">
                <a:solidFill>
                  <a:srgbClr val="D4D4D4"/>
                </a:solidFill>
                <a:effectLst/>
                <a:latin typeface="Nunito Sans" pitchFamily="2" charset="0"/>
              </a:rPr>
              <a:t> calculate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L</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answer = </a:t>
            </a:r>
            <a:r>
              <a:rPr lang="en-US" sz="2000" b="0" dirty="0">
                <a:solidFill>
                  <a:srgbClr val="B5CEA8"/>
                </a:solidFill>
                <a:effectLst/>
                <a:latin typeface="Nunito Sans" pitchFamily="2" charset="0"/>
              </a:rPr>
              <a:t>0</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L</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R + </a:t>
            </a:r>
            <a:r>
              <a:rPr lang="en-US" sz="2000" b="0" dirty="0">
                <a:solidFill>
                  <a:srgbClr val="B5CEA8"/>
                </a:solidFill>
                <a:effectLst/>
                <a:latin typeface="Nunito Sans" pitchFamily="2" charset="0"/>
              </a:rPr>
              <a:t>1</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answer = answer + </a:t>
            </a:r>
            <a:r>
              <a:rPr lang="en-US" sz="2000" b="0" dirty="0" err="1">
                <a:solidFill>
                  <a:srgbClr val="D4D4D4"/>
                </a:solidFill>
                <a:effectLst/>
                <a:latin typeface="Nunito Sans" pitchFamily="2" charset="0"/>
              </a:rPr>
              <a:t>repeated_digit</a:t>
            </a:r>
            <a:r>
              <a:rPr lang="en-US" sz="2000" b="0" dirty="0">
                <a:solidFill>
                  <a:srgbClr val="DCDCDC"/>
                </a:solidFill>
                <a:effectLst/>
                <a:latin typeface="Nunito Sans" pitchFamily="2" charset="0"/>
              </a:rPr>
              <a:t>(</a:t>
            </a:r>
            <a:r>
              <a:rPr lang="en-US" sz="2000" b="0" dirty="0" err="1">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return</a:t>
            </a:r>
            <a:r>
              <a:rPr lang="en-US" sz="2000" b="0" dirty="0">
                <a:solidFill>
                  <a:srgbClr val="D4D4D4"/>
                </a:solidFill>
                <a:effectLst/>
                <a:latin typeface="Nunito Sans" pitchFamily="2" charset="0"/>
              </a:rPr>
              <a:t> answer</a:t>
            </a:r>
          </a:p>
          <a:p>
            <a:br>
              <a:rPr lang="en-US" sz="2000" b="0" dirty="0">
                <a:solidFill>
                  <a:srgbClr val="D4D4D4"/>
                </a:solidFill>
                <a:effectLst/>
                <a:latin typeface="Nunito Sans" pitchFamily="2" charset="0"/>
              </a:rPr>
            </a:br>
            <a:r>
              <a:rPr lang="en-US" sz="2000" b="0" dirty="0">
                <a:solidFill>
                  <a:srgbClr val="D4D4D4"/>
                </a:solidFill>
                <a:effectLst/>
                <a:latin typeface="Nunito Sans" pitchFamily="2" charset="0"/>
              </a:rPr>
              <a:t>L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R = </a:t>
            </a:r>
            <a:r>
              <a:rPr lang="en-US" sz="2000" b="0" dirty="0">
                <a:solidFill>
                  <a:srgbClr val="569CD6"/>
                </a:solidFill>
                <a:effectLst/>
                <a:latin typeface="Nunito Sans" pitchFamily="2" charset="0"/>
              </a:rPr>
              <a:t>int</a:t>
            </a:r>
            <a:r>
              <a:rPr lang="en-US" sz="2000" b="0" dirty="0">
                <a:solidFill>
                  <a:srgbClr val="DCDCDC"/>
                </a:solidFill>
                <a:effectLst/>
                <a:latin typeface="Nunito Sans" pitchFamily="2" charset="0"/>
              </a:rPr>
              <a:t>(</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print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calculate</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L</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09807994"/>
      </p:ext>
    </p:extLst>
  </p:cSld>
  <p:clrMapOvr>
    <a:masterClrMapping/>
  </p:clrMapOvr>
</p:sld>
</file>

<file path=ppt/slides/slide6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939540"/>
          </a:xfrm>
          <a:prstGeom prst="rect">
            <a:avLst/>
          </a:prstGeom>
          <a:noFill/>
        </p:spPr>
        <p:txBody>
          <a:bodyPr wrap="square">
            <a:spAutoFit/>
          </a:bodyPr>
          <a:lstStyle/>
          <a:p>
            <a:pPr algn="l"/>
            <a:r>
              <a:rPr lang="en-US" sz="2500" b="0" i="0" dirty="0">
                <a:effectLst/>
                <a:latin typeface="Nunito Sans" pitchFamily="2" charset="0"/>
              </a:rPr>
              <a:t>Given a sentence str. The task is to find whether the given sentence contains all letters of the English alphabet (a to z or A to Z). If it does not, then print all missing letters of the alphabet, otherwise print 0.</a:t>
            </a:r>
          </a:p>
          <a:p>
            <a:pPr algn="l"/>
            <a:r>
              <a:rPr lang="en-US" sz="2500" b="0" i="0" dirty="0">
                <a:effectLst/>
                <a:latin typeface="Nunito Sans" pitchFamily="2" charset="0"/>
              </a:rPr>
              <a:t>Note</a:t>
            </a:r>
          </a:p>
          <a:p>
            <a:pPr algn="l"/>
            <a:r>
              <a:rPr lang="en-US" sz="2500" b="0" i="0" dirty="0">
                <a:effectLst/>
                <a:latin typeface="Nunito Sans" pitchFamily="2" charset="0"/>
              </a:rPr>
              <a:t>All characters in the given sentence should be treated as case insensitive, which means that ‘A’ and ‘a’ are to be treated as the same.</a:t>
            </a:r>
          </a:p>
          <a:p>
            <a:pPr algn="l"/>
            <a:r>
              <a:rPr lang="en-US" sz="2500" b="0" i="0" dirty="0">
                <a:effectLst/>
                <a:latin typeface="Nunito Sans" pitchFamily="2" charset="0"/>
              </a:rPr>
              <a:t>The output should be in alphabetic order</a:t>
            </a:r>
          </a:p>
          <a:p>
            <a:pPr algn="l"/>
            <a:r>
              <a:rPr lang="en-US" sz="2500" b="0" i="0" dirty="0">
                <a:effectLst/>
                <a:latin typeface="Nunito Sans" pitchFamily="2" charset="0"/>
              </a:rPr>
              <a:t>The output should contain only lowercase alphabets</a:t>
            </a:r>
          </a:p>
          <a:p>
            <a:pPr algn="l"/>
            <a:r>
              <a:rPr lang="en-US" sz="2500" b="0" i="0" dirty="0">
                <a:effectLst/>
                <a:latin typeface="Nunito Sans" pitchFamily="2" charset="0"/>
              </a:rPr>
              <a:t>If none of the letters are missing, print 0 as output</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88239763"/>
      </p:ext>
    </p:extLst>
  </p:cSld>
  <p:clrMapOvr>
    <a:masterClrMapping/>
  </p:clrMapOvr>
</p:sld>
</file>

<file path=ppt/slides/slide6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59</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3554819"/>
          </a:xfrm>
          <a:prstGeom prst="rect">
            <a:avLst/>
          </a:prstGeom>
          <a:noFill/>
        </p:spPr>
        <p:txBody>
          <a:bodyPr wrap="square">
            <a:spAutoFit/>
          </a:bodyPr>
          <a:lstStyle/>
          <a:p>
            <a:pPr algn="l"/>
            <a:r>
              <a:rPr lang="en-US" sz="2500" b="1" i="0" dirty="0">
                <a:effectLst/>
                <a:latin typeface="Nunito Sans" pitchFamily="2" charset="0"/>
              </a:rPr>
              <a:t>Example 1</a:t>
            </a:r>
          </a:p>
          <a:p>
            <a:pPr algn="l"/>
            <a:r>
              <a:rPr lang="en-US" sz="2500" b="1" i="0" dirty="0">
                <a:effectLst/>
                <a:latin typeface="Nunito Sans" pitchFamily="2" charset="0"/>
              </a:rPr>
              <a:t>Input :</a:t>
            </a:r>
            <a:r>
              <a:rPr lang="en-US" sz="2500" b="0" i="0" dirty="0">
                <a:effectLst/>
                <a:latin typeface="Nunito Sans" pitchFamily="2" charset="0"/>
              </a:rPr>
              <a:t> </a:t>
            </a:r>
          </a:p>
          <a:p>
            <a:pPr algn="l"/>
            <a:r>
              <a:rPr lang="en-US" sz="2500" b="0" i="0" dirty="0">
                <a:effectLst/>
                <a:latin typeface="Nunito Sans" pitchFamily="2" charset="0"/>
              </a:rPr>
              <a:t>The four boxing wizard starts over the quickly.</a:t>
            </a:r>
          </a:p>
          <a:p>
            <a:pPr algn="l"/>
            <a:r>
              <a:rPr lang="en-US" sz="2500" b="1" i="0" dirty="0">
                <a:effectLst/>
                <a:latin typeface="Nunito Sans" pitchFamily="2" charset="0"/>
              </a:rPr>
              <a:t>Output :</a:t>
            </a:r>
          </a:p>
          <a:p>
            <a:pPr algn="l"/>
            <a:r>
              <a:rPr lang="en-US" sz="2500" b="0" i="0" dirty="0" err="1">
                <a:effectLst/>
                <a:latin typeface="Nunito Sans" pitchFamily="2" charset="0"/>
              </a:rPr>
              <a:t>jmp</a:t>
            </a:r>
            <a:r>
              <a:rPr lang="en-US" sz="2500" b="0" i="0" dirty="0">
                <a:effectLst/>
                <a:latin typeface="Nunito Sans" pitchFamily="2" charset="0"/>
              </a:rPr>
              <a:t> </a:t>
            </a:r>
          </a:p>
          <a:p>
            <a:pPr algn="l"/>
            <a:r>
              <a:rPr lang="en-US" sz="2500" b="1" i="0" dirty="0">
                <a:effectLst/>
                <a:latin typeface="Nunito Sans" pitchFamily="2" charset="0"/>
              </a:rPr>
              <a:t>Explanation :</a:t>
            </a:r>
          </a:p>
          <a:p>
            <a:pPr algn="l"/>
            <a:r>
              <a:rPr lang="en-US" sz="2500" b="0" i="0" dirty="0">
                <a:effectLst/>
                <a:latin typeface="Nunito Sans" pitchFamily="2" charset="0"/>
              </a:rPr>
              <a:t>“The four boxing wizard starts over the quickly” does not contain all the letters from ‘a’ to ‘z’ or ‘A’ to ‘Z’ as ‘j’, ‘m’ and ‘p’ are missing.</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4118501551"/>
      </p:ext>
    </p:extLst>
  </p:cSld>
  <p:clrMapOvr>
    <a:masterClrMapping/>
  </p:clrMapOvr>
</p:sld>
</file>

<file path=ppt/slides/slide6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ctype.h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stdbool.h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100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fgets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sizeof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stdin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Convert the string to lowercase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tolower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bool</a:t>
            </a:r>
            <a:r>
              <a:rPr lang="en-IN" sz="2000" b="0" dirty="0">
                <a:solidFill>
                  <a:srgbClr val="D4D4D4"/>
                </a:solidFill>
                <a:effectLst/>
                <a:latin typeface="Nunito Sans" pitchFamily="2" charset="0"/>
              </a:rPr>
              <a:t> present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Array to track the presence of letters</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Mark the presence of each letter in the string</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isalpha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index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997527072"/>
      </p:ext>
    </p:extLst>
  </p:cSld>
  <p:clrMapOvr>
    <a:masterClrMapping/>
  </p:clrMapOvr>
</p:sld>
</file>

<file path=ppt/slides/slide6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present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Print the missing letters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present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missingLetter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missingLetter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565179137"/>
      </p:ext>
    </p:extLst>
  </p:cSld>
  <p:clrMapOvr>
    <a:masterClrMapping/>
  </p:clrMapOvr>
</p:sld>
</file>

<file path=ppt/slides/slide6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cctype</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vector</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getline</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Convert the string to lowercase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tolower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vector</a:t>
            </a:r>
            <a:r>
              <a:rPr lang="en-IN" sz="2000" b="0" dirty="0">
                <a:solidFill>
                  <a:srgbClr val="DCDCDC"/>
                </a:solidFill>
                <a:effectLst/>
                <a:latin typeface="Nunito Sans" pitchFamily="2" charset="0"/>
              </a:rPr>
              <a:t>&lt;</a:t>
            </a:r>
            <a:r>
              <a:rPr lang="en-IN" sz="2000" b="0" dirty="0">
                <a:solidFill>
                  <a:srgbClr val="569CD6"/>
                </a:solidFill>
                <a:effectLst/>
                <a:latin typeface="Nunito Sans" pitchFamily="2" charset="0"/>
              </a:rPr>
              <a:t>bool</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present</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false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Vector to track the presence of letters</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Mark the presence of each letter in the string</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str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isalpha</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index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present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649896976"/>
      </p:ext>
    </p:extLst>
  </p:cSld>
  <p:clrMapOvr>
    <a:masterClrMapping/>
  </p:clrMapOvr>
</p:sld>
</file>

<file path=ppt/slides/slide6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Print the missing letters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present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missingLetter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missingLetter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401192540"/>
      </p:ext>
    </p:extLst>
  </p:cSld>
  <p:clrMapOvr>
    <a:masterClrMapping/>
  </p:clrMapOvr>
</p:sld>
</file>

<file path=ppt/slides/slide6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String str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nextLine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Convert the string to lowercase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str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toLowerCase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boolean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present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a:t>
            </a:r>
            <a:r>
              <a:rPr lang="en-IN" sz="2000" b="0" dirty="0" err="1">
                <a:solidFill>
                  <a:srgbClr val="569CD6"/>
                </a:solidFill>
                <a:effectLst/>
                <a:latin typeface="Nunito Sans" pitchFamily="2" charset="0"/>
              </a:rPr>
              <a:t>boolean</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Array to track the presence of letters</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Mark the presence of each letter in the string</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str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toCharArray</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Character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isLetter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c</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index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c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present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index</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true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608B4E"/>
                </a:solidFill>
                <a:effectLst/>
                <a:latin typeface="Nunito Sans" pitchFamily="2" charset="0"/>
              </a:rPr>
              <a:t>// Print the missing letters</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for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26</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949283569"/>
      </p:ext>
    </p:extLst>
  </p:cSld>
  <p:clrMapOvr>
    <a:masterClrMapping/>
  </p:clrMapOvr>
</p:sld>
</file>

<file path=ppt/slides/slide6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present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char</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missingLetter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char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i</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'a'</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a:t>
            </a:r>
            <a:r>
              <a:rPr lang="en-IN" sz="2000" b="0" dirty="0">
                <a:solidFill>
                  <a:srgbClr val="DCDCDC"/>
                </a:solidFill>
                <a:effectLst/>
                <a:latin typeface="Nunito Sans" pitchFamily="2" charset="0"/>
              </a:rPr>
              <a:t>(</a:t>
            </a:r>
            <a:r>
              <a:rPr lang="en-IN" sz="2000" b="0" dirty="0" err="1">
                <a:solidFill>
                  <a:srgbClr val="D4D4D4"/>
                </a:solidFill>
                <a:effectLst/>
                <a:latin typeface="Nunito Sans" pitchFamily="2" charset="0"/>
              </a:rPr>
              <a:t>missingLetter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4810978"/>
      </p:ext>
    </p:extLst>
  </p:cSld>
  <p:clrMapOvr>
    <a:masterClrMapping/>
  </p:clrMapOvr>
</p:sld>
</file>

<file path=ppt/slides/slide6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0" dirty="0">
                <a:solidFill>
                  <a:srgbClr val="569CD6"/>
                </a:solidFill>
                <a:effectLst/>
                <a:latin typeface="Nunito Sans" pitchFamily="2" charset="0"/>
              </a:rPr>
              <a:t>str</a:t>
            </a:r>
            <a:r>
              <a:rPr lang="en-US" sz="2000" b="0" dirty="0">
                <a:solidFill>
                  <a:srgbClr val="D4D4D4"/>
                </a:solidFill>
                <a:effectLst/>
                <a:latin typeface="Nunito Sans" pitchFamily="2" charset="0"/>
              </a:rPr>
              <a:t> = </a:t>
            </a:r>
            <a:r>
              <a:rPr lang="en-US" sz="2000" b="0" dirty="0">
                <a:solidFill>
                  <a:srgbClr val="569CD6"/>
                </a:solidFill>
                <a:effectLst/>
                <a:latin typeface="Nunito Sans" pitchFamily="2" charset="0"/>
              </a:rPr>
              <a:t>input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str</a:t>
            </a:r>
            <a:r>
              <a:rPr lang="en-US" sz="2000" b="0" dirty="0">
                <a:solidFill>
                  <a:srgbClr val="D4D4D4"/>
                </a:solidFill>
                <a:effectLst/>
                <a:latin typeface="Nunito Sans" pitchFamily="2" charset="0"/>
              </a:rPr>
              <a:t> = </a:t>
            </a:r>
            <a:r>
              <a:rPr lang="en-US" sz="2000" b="0" dirty="0" err="1">
                <a:solidFill>
                  <a:srgbClr val="569CD6"/>
                </a:solidFill>
                <a:effectLst/>
                <a:latin typeface="Nunito Sans" pitchFamily="2" charset="0"/>
              </a:rPr>
              <a:t>str</a:t>
            </a:r>
            <a:r>
              <a:rPr lang="en-US" sz="2000" b="0" dirty="0" err="1">
                <a:solidFill>
                  <a:srgbClr val="D4D4D4"/>
                </a:solidFill>
                <a:effectLst/>
                <a:latin typeface="Nunito Sans" pitchFamily="2" charset="0"/>
              </a:rPr>
              <a:t>.lower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569CD6"/>
                </a:solidFill>
                <a:effectLst/>
                <a:latin typeface="Nunito Sans" pitchFamily="2" charset="0"/>
              </a:rPr>
              <a:t>for</a:t>
            </a:r>
            <a:r>
              <a:rPr lang="en-US" sz="2000" b="0" dirty="0">
                <a:solidFill>
                  <a:srgbClr val="D4D4D4"/>
                </a:solidFill>
                <a:effectLst/>
                <a:latin typeface="Nunito Sans" pitchFamily="2" charset="0"/>
              </a:rPr>
              <a:t> </a:t>
            </a:r>
            <a:r>
              <a:rPr lang="en-US" sz="2000" b="0" dirty="0" err="1">
                <a:solidFill>
                  <a:srgbClr val="D4D4D4"/>
                </a:solidFill>
                <a:effectLst/>
                <a:latin typeface="Nunito Sans" pitchFamily="2" charset="0"/>
              </a:rPr>
              <a:t>i</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range</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0</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a:t>
            </a:r>
            <a:r>
              <a:rPr lang="en-US" sz="2000" b="0" dirty="0">
                <a:solidFill>
                  <a:srgbClr val="B5CEA8"/>
                </a:solidFill>
                <a:effectLst/>
                <a:latin typeface="Nunito Sans" pitchFamily="2" charset="0"/>
              </a:rPr>
              <a:t>26</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t = </a:t>
            </a:r>
            <a:r>
              <a:rPr lang="en-US" sz="2000" b="0" dirty="0">
                <a:solidFill>
                  <a:srgbClr val="569CD6"/>
                </a:solidFill>
                <a:effectLst/>
                <a:latin typeface="Nunito Sans" pitchFamily="2" charset="0"/>
              </a:rPr>
              <a:t>chr</a:t>
            </a:r>
            <a:r>
              <a:rPr lang="en-US" sz="2000" b="0" dirty="0">
                <a:solidFill>
                  <a:srgbClr val="DCDCDC"/>
                </a:solidFill>
                <a:effectLst/>
                <a:latin typeface="Nunito Sans" pitchFamily="2" charset="0"/>
              </a:rPr>
              <a:t>(</a:t>
            </a:r>
            <a:r>
              <a:rPr lang="en-US" sz="2000" b="0" dirty="0">
                <a:solidFill>
                  <a:srgbClr val="B5CEA8"/>
                </a:solidFill>
                <a:effectLst/>
                <a:latin typeface="Nunito Sans" pitchFamily="2" charset="0"/>
              </a:rPr>
              <a:t>97</a:t>
            </a:r>
            <a:r>
              <a:rPr lang="en-US" sz="2000" b="0" dirty="0">
                <a:solidFill>
                  <a:srgbClr val="D4D4D4"/>
                </a:solidFill>
                <a:effectLst/>
                <a:latin typeface="Nunito Sans" pitchFamily="2" charset="0"/>
              </a:rPr>
              <a:t>+i</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if</a:t>
            </a:r>
            <a:r>
              <a:rPr lang="en-US" sz="2000" b="0" dirty="0">
                <a:solidFill>
                  <a:srgbClr val="D4D4D4"/>
                </a:solidFill>
                <a:effectLst/>
                <a:latin typeface="Nunito Sans" pitchFamily="2" charset="0"/>
              </a:rPr>
              <a:t> t </a:t>
            </a:r>
            <a:r>
              <a:rPr lang="en-US" sz="2000" b="0" dirty="0">
                <a:solidFill>
                  <a:srgbClr val="569CD6"/>
                </a:solidFill>
                <a:effectLst/>
                <a:latin typeface="Nunito Sans" pitchFamily="2" charset="0"/>
              </a:rPr>
              <a:t>not</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in</a:t>
            </a:r>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str</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r>
              <a:rPr lang="en-US" sz="2000" b="0" dirty="0">
                <a:solidFill>
                  <a:srgbClr val="D4D4D4"/>
                </a:solidFill>
                <a:effectLst/>
                <a:latin typeface="Nunito Sans" pitchFamily="2" charset="0"/>
              </a:rPr>
              <a:t>        </a:t>
            </a:r>
            <a:r>
              <a:rPr lang="en-US" sz="2000" b="0" dirty="0">
                <a:solidFill>
                  <a:srgbClr val="569CD6"/>
                </a:solidFill>
                <a:effectLst/>
                <a:latin typeface="Nunito Sans" pitchFamily="2" charset="0"/>
              </a:rPr>
              <a:t>print</a:t>
            </a:r>
            <a:r>
              <a:rPr lang="en-US" sz="2000" b="0" dirty="0">
                <a:solidFill>
                  <a:srgbClr val="D4D4D4"/>
                </a:solidFill>
                <a:effectLst/>
                <a:latin typeface="Nunito Sans" pitchFamily="2" charset="0"/>
              </a:rPr>
              <a:t> </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t</a:t>
            </a:r>
            <a:r>
              <a:rPr lang="en-US" sz="2000" b="0" dirty="0">
                <a:solidFill>
                  <a:srgbClr val="DCDCDC"/>
                </a:solidFill>
                <a:effectLst/>
                <a:latin typeface="Nunito Sans" pitchFamily="2" charset="0"/>
              </a:rPr>
              <a:t>,</a:t>
            </a:r>
            <a:r>
              <a:rPr lang="en-US" sz="2000" b="0" dirty="0">
                <a:solidFill>
                  <a:srgbClr val="D4D4D4"/>
                </a:solidFill>
                <a:effectLst/>
                <a:latin typeface="Nunito Sans" pitchFamily="2" charset="0"/>
              </a:rPr>
              <a:t> end=</a:t>
            </a:r>
            <a:r>
              <a:rPr lang="en-US" sz="2000" b="0" dirty="0">
                <a:solidFill>
                  <a:srgbClr val="CE9178"/>
                </a:solidFill>
                <a:effectLst/>
                <a:latin typeface="Nunito Sans" pitchFamily="2" charset="0"/>
              </a:rPr>
              <a:t>''</a:t>
            </a:r>
            <a:r>
              <a:rPr lang="en-US" sz="2000" b="0" dirty="0">
                <a:solidFill>
                  <a:srgbClr val="DCDCDC"/>
                </a:solidFill>
                <a:effectLst/>
                <a:latin typeface="Nunito Sans" pitchFamily="2" charset="0"/>
              </a:rPr>
              <a:t>)</a:t>
            </a:r>
            <a:endParaRPr lang="en-US"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963786188"/>
      </p:ext>
    </p:extLst>
  </p:cSld>
  <p:clrMapOvr>
    <a:masterClrMapping/>
  </p:clrMapOvr>
</p:sld>
</file>

<file path=ppt/slides/slide6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60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4708981"/>
          </a:xfrm>
          <a:prstGeom prst="rect">
            <a:avLst/>
          </a:prstGeom>
          <a:noFill/>
        </p:spPr>
        <p:txBody>
          <a:bodyPr wrap="square">
            <a:spAutoFit/>
          </a:bodyPr>
          <a:lstStyle/>
          <a:p>
            <a:pPr algn="l"/>
            <a:r>
              <a:rPr lang="en-US" sz="2500" b="0" i="0" dirty="0">
                <a:effectLst/>
                <a:latin typeface="Nunito Sans" pitchFamily="2" charset="0"/>
              </a:rPr>
              <a:t>An accountant in a firm has a serious issue with numbers. He types the numbers in a reverse manner. Suppose he has to enter 123, he enters the number 321. He has the habit of reading numbers from right to left.</a:t>
            </a:r>
          </a:p>
          <a:p>
            <a:pPr algn="l"/>
            <a:r>
              <a:rPr lang="en-US" sz="2500" b="0" i="0" dirty="0">
                <a:effectLst/>
                <a:latin typeface="Nunito Sans" pitchFamily="2" charset="0"/>
              </a:rPr>
              <a:t>The boss became aware of this only after he found out at the end of the billing month when he had to file the tax. He has to correct al the numbers by reentering each number from right to left. This gives the corrected number.</a:t>
            </a:r>
          </a:p>
          <a:p>
            <a:pPr algn="l"/>
            <a:r>
              <a:rPr lang="en-US" sz="2500" b="0" i="0" dirty="0">
                <a:effectLst/>
                <a:latin typeface="Nunito Sans" pitchFamily="2" charset="0"/>
              </a:rPr>
              <a:t>Given a number N, help the boss find out the corrected numbers. Display the corrected numbers as output. Also ignore any 0’s at the end of the number.</a:t>
            </a:r>
          </a:p>
          <a:p>
            <a:pPr algn="l"/>
            <a:r>
              <a:rPr lang="en-US" sz="2500" b="0" i="0" dirty="0">
                <a:effectLst/>
                <a:latin typeface="Nunito Sans" pitchFamily="2" charset="0"/>
              </a:rPr>
              <a:t>Note</a:t>
            </a:r>
          </a:p>
          <a:p>
            <a:pPr algn="l"/>
            <a:r>
              <a:rPr lang="en-US" sz="2500" b="0" i="0" dirty="0">
                <a:effectLst/>
                <a:latin typeface="Nunito Sans" pitchFamily="2" charset="0"/>
              </a:rPr>
              <a:t>The corrected numbers should be only 16-bit signed integers. If the output (the corrected number is outside the range display “Wrong value”.</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1317054086"/>
      </p:ext>
    </p:extLst>
  </p:cSld>
  <p:clrMapOvr>
    <a:masterClrMapping/>
  </p:clrMapOvr>
</p:sld>
</file>

<file path=ppt/slides/slide6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60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093702"/>
          </a:xfrm>
          <a:prstGeom prst="rect">
            <a:avLst/>
          </a:prstGeom>
          <a:noFill/>
        </p:spPr>
        <p:txBody>
          <a:bodyPr wrap="square">
            <a:spAutoFit/>
          </a:bodyPr>
          <a:lstStyle/>
          <a:p>
            <a:pPr algn="l"/>
            <a:r>
              <a:rPr lang="en-US" sz="2500" b="1" i="0" dirty="0">
                <a:effectLst/>
                <a:latin typeface="Nunito Sans" pitchFamily="2" charset="0"/>
              </a:rPr>
              <a:t>Example 1</a:t>
            </a:r>
          </a:p>
          <a:p>
            <a:pPr algn="l"/>
            <a:r>
              <a:rPr lang="en-US" sz="2500" b="1" i="0" dirty="0">
                <a:effectLst/>
                <a:latin typeface="Nunito Sans" pitchFamily="2" charset="0"/>
              </a:rPr>
              <a:t>Input :</a:t>
            </a:r>
          </a:p>
          <a:p>
            <a:pPr algn="l"/>
            <a:r>
              <a:rPr lang="en-US" sz="2500" b="0" i="0" dirty="0">
                <a:effectLst/>
                <a:latin typeface="Nunito Sans" pitchFamily="2" charset="0"/>
              </a:rPr>
              <a:t>-4512</a:t>
            </a:r>
          </a:p>
          <a:p>
            <a:pPr algn="l"/>
            <a:r>
              <a:rPr lang="en-US" sz="2500" b="1" i="0" dirty="0">
                <a:effectLst/>
                <a:latin typeface="Nunito Sans" pitchFamily="2" charset="0"/>
              </a:rPr>
              <a:t>Output :</a:t>
            </a:r>
          </a:p>
          <a:p>
            <a:pPr algn="l"/>
            <a:r>
              <a:rPr lang="en-US" sz="2500" b="0" i="0" dirty="0">
                <a:effectLst/>
                <a:latin typeface="Nunito Sans" pitchFamily="2" charset="0"/>
              </a:rPr>
              <a:t>-2154</a:t>
            </a:r>
          </a:p>
          <a:p>
            <a:pPr algn="l"/>
            <a:endParaRPr lang="en-US" sz="2500" b="0" i="0" dirty="0">
              <a:effectLst/>
              <a:latin typeface="Nunito Sans" pitchFamily="2" charset="0"/>
            </a:endParaRPr>
          </a:p>
          <a:p>
            <a:pPr algn="l"/>
            <a:r>
              <a:rPr lang="en-US" sz="2500" b="1" i="0" dirty="0">
                <a:effectLst/>
                <a:latin typeface="Nunito Sans" pitchFamily="2" charset="0"/>
              </a:rPr>
              <a:t>Explanation :</a:t>
            </a:r>
          </a:p>
          <a:p>
            <a:pPr algn="l"/>
            <a:r>
              <a:rPr lang="en-US" sz="2500" b="0" i="0" dirty="0">
                <a:effectLst/>
                <a:latin typeface="Nunito Sans" pitchFamily="2" charset="0"/>
              </a:rPr>
              <a:t>From the inputs given below</a:t>
            </a:r>
          </a:p>
          <a:p>
            <a:pPr algn="l"/>
            <a:r>
              <a:rPr lang="en-US" sz="2500" b="0" i="0" dirty="0">
                <a:effectLst/>
                <a:latin typeface="Nunito Sans" pitchFamily="2" charset="0"/>
              </a:rPr>
              <a:t>N = -4512</a:t>
            </a:r>
          </a:p>
          <a:p>
            <a:pPr algn="l"/>
            <a:r>
              <a:rPr lang="en-US" sz="2500" b="0" i="0" dirty="0">
                <a:effectLst/>
                <a:latin typeface="Nunito Sans" pitchFamily="2" charset="0"/>
              </a:rPr>
              <a:t>The correct number would be from right to left which is 2154 and the sign is retained.</a:t>
            </a:r>
          </a:p>
          <a:p>
            <a:pPr algn="l"/>
            <a:r>
              <a:rPr lang="en-US" sz="2500" b="0" i="0" dirty="0">
                <a:effectLst/>
                <a:latin typeface="Nunito Sans" pitchFamily="2" charset="0"/>
              </a:rPr>
              <a:t>Hence the </a:t>
            </a:r>
            <a:r>
              <a:rPr lang="en-US" sz="2500" b="0" i="0" dirty="0" err="1">
                <a:effectLst/>
                <a:latin typeface="Nunito Sans" pitchFamily="2" charset="0"/>
              </a:rPr>
              <a:t>outpt</a:t>
            </a:r>
            <a:r>
              <a:rPr lang="en-US" sz="2500" b="0" i="0" dirty="0">
                <a:effectLst/>
                <a:latin typeface="Nunito Sans" pitchFamily="2" charset="0"/>
              </a:rPr>
              <a:t> is -2154</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3777983769"/>
      </p:ext>
    </p:extLst>
  </p:cSld>
  <p:clrMapOvr>
    <a:masterClrMapping/>
  </p:clrMapOvr>
</p:sld>
</file>

<file path=ppt/slides/slide6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23809"/>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dirty="0">
                <a:latin typeface="Nunito Sans" pitchFamily="2" charset="0"/>
              </a:rPr>
              <a:t>                                           QUESTION NO : 60</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366430"/>
            <a:ext cx="2356664" cy="298800"/>
          </a:xfrm>
          <a:prstGeom prst="rect">
            <a:avLst/>
          </a:prstGeom>
        </p:spPr>
      </p:pic>
      <p:sp>
        <p:nvSpPr>
          <p:cNvPr id="4" name="TextBox 3">
            <a:extLst>
              <a:ext uri="{FF2B5EF4-FFF2-40B4-BE49-F238E27FC236}">
                <a16:creationId xmlns:a16="http://schemas.microsoft.com/office/drawing/2014/main" id="{1D5B3098-0E62-1A88-042F-4400B3144569}"/>
              </a:ext>
            </a:extLst>
          </p:cNvPr>
          <p:cNvSpPr txBox="1"/>
          <p:nvPr/>
        </p:nvSpPr>
        <p:spPr>
          <a:xfrm>
            <a:off x="166914" y="1093165"/>
            <a:ext cx="11858172" cy="5093702"/>
          </a:xfrm>
          <a:prstGeom prst="rect">
            <a:avLst/>
          </a:prstGeom>
          <a:noFill/>
        </p:spPr>
        <p:txBody>
          <a:bodyPr wrap="square">
            <a:spAutoFit/>
          </a:bodyPr>
          <a:lstStyle/>
          <a:p>
            <a:pPr algn="l"/>
            <a:r>
              <a:rPr lang="en-US" sz="2500" b="1" i="0" dirty="0">
                <a:effectLst/>
                <a:latin typeface="Nunito Sans" pitchFamily="2" charset="0"/>
              </a:rPr>
              <a:t>Example 2</a:t>
            </a:r>
          </a:p>
          <a:p>
            <a:pPr algn="l"/>
            <a:r>
              <a:rPr lang="en-US" sz="2500" b="1" i="0" dirty="0">
                <a:effectLst/>
                <a:latin typeface="Nunito Sans" pitchFamily="2" charset="0"/>
              </a:rPr>
              <a:t>Input :</a:t>
            </a:r>
          </a:p>
          <a:p>
            <a:pPr algn="l"/>
            <a:r>
              <a:rPr lang="en-US" sz="2500" b="0" i="0" dirty="0">
                <a:effectLst/>
                <a:latin typeface="Nunito Sans" pitchFamily="2" charset="0"/>
              </a:rPr>
              <a:t>500</a:t>
            </a:r>
          </a:p>
          <a:p>
            <a:pPr algn="l"/>
            <a:r>
              <a:rPr lang="en-US" sz="2500" b="1" i="0" dirty="0">
                <a:effectLst/>
                <a:latin typeface="Nunito Sans" pitchFamily="2" charset="0"/>
              </a:rPr>
              <a:t>Output :</a:t>
            </a:r>
          </a:p>
          <a:p>
            <a:pPr algn="l"/>
            <a:r>
              <a:rPr lang="en-US" sz="2500" b="0" i="0" dirty="0">
                <a:effectLst/>
                <a:latin typeface="Nunito Sans" pitchFamily="2" charset="0"/>
              </a:rPr>
              <a:t>5</a:t>
            </a:r>
          </a:p>
          <a:p>
            <a:pPr algn="l"/>
            <a:endParaRPr lang="en-US" sz="2500" b="0" i="0" dirty="0">
              <a:effectLst/>
              <a:latin typeface="Nunito Sans" pitchFamily="2" charset="0"/>
            </a:endParaRPr>
          </a:p>
          <a:p>
            <a:pPr algn="l"/>
            <a:r>
              <a:rPr lang="en-US" sz="2500" b="1" i="0" dirty="0">
                <a:effectLst/>
                <a:latin typeface="Nunito Sans" pitchFamily="2" charset="0"/>
              </a:rPr>
              <a:t>Explanation :</a:t>
            </a:r>
          </a:p>
          <a:p>
            <a:pPr algn="l"/>
            <a:r>
              <a:rPr lang="en-US" sz="2500" b="0" i="0" dirty="0">
                <a:effectLst/>
                <a:latin typeface="Nunito Sans" pitchFamily="2" charset="0"/>
              </a:rPr>
              <a:t>From the inputs given above:</a:t>
            </a:r>
          </a:p>
          <a:p>
            <a:pPr algn="l"/>
            <a:r>
              <a:rPr lang="en-US" sz="2500" b="0" i="0" dirty="0">
                <a:effectLst/>
                <a:latin typeface="Nunito Sans" pitchFamily="2" charset="0"/>
              </a:rPr>
              <a:t>N = 500</a:t>
            </a:r>
          </a:p>
          <a:p>
            <a:pPr algn="l"/>
            <a:r>
              <a:rPr lang="en-US" sz="2500" b="0" i="0" dirty="0">
                <a:effectLst/>
                <a:latin typeface="Nunito Sans" pitchFamily="2" charset="0"/>
              </a:rPr>
              <a:t>The correct number would be from right to left which is 005 which can be displayed as 5.</a:t>
            </a:r>
          </a:p>
          <a:p>
            <a:pPr algn="l"/>
            <a:r>
              <a:rPr lang="en-US" sz="2500" b="0" i="0" dirty="0">
                <a:effectLst/>
                <a:latin typeface="Nunito Sans" pitchFamily="2" charset="0"/>
              </a:rPr>
              <a:t>Hence the output is 5.</a:t>
            </a:r>
          </a:p>
          <a:p>
            <a:pPr algn="l"/>
            <a:endParaRPr lang="en-US" sz="2500" b="0" i="0" dirty="0">
              <a:effectLst/>
              <a:latin typeface="Nunito Sans" pitchFamily="2" charset="0"/>
            </a:endParaRPr>
          </a:p>
        </p:txBody>
      </p:sp>
    </p:spTree>
    <p:extLst>
      <p:ext uri="{BB962C8B-B14F-4D97-AF65-F5344CB8AC3E}">
        <p14:creationId xmlns:p14="http://schemas.microsoft.com/office/powerpoint/2010/main" val="1634243254"/>
      </p:ext>
    </p:extLst>
  </p:cSld>
  <p:clrMapOvr>
    <a:masterClrMapping/>
  </p:clrMapOvr>
</p:sld>
</file>

<file path=ppt/slides/slide6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stdio.h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err="1">
                <a:solidFill>
                  <a:srgbClr val="CE9178"/>
                </a:solidFill>
                <a:effectLst/>
                <a:latin typeface="Nunito Sans" pitchFamily="2" charset="0"/>
              </a:rPr>
              <a:t>stdbool.h</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t>
            </a:r>
            <a:r>
              <a:rPr lang="en-IN" sz="2000" b="0" dirty="0">
                <a:solidFill>
                  <a:srgbClr val="D4D4D4"/>
                </a:solidFill>
                <a:effectLst/>
                <a:latin typeface="Nunito Sans" pitchFamily="2" charset="0"/>
              </a:rPr>
              <a:t>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temp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32786</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32767</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temp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289180801"/>
      </p:ext>
    </p:extLst>
  </p:cSld>
  <p:clrMapOvr>
    <a:masterClrMapping/>
  </p:clrMapOvr>
</p:sld>
</file>

<file path=ppt/slides/slide6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3"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"%d\n"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rev</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printf</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"Wrong value\n"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819152350"/>
      </p:ext>
    </p:extLst>
  </p:cSld>
  <p:clrMapOvr>
    <a:masterClrMapping/>
  </p:clrMapOvr>
</p:sld>
</file>

<file path=ppt/slides/slide6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#include</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&lt;</a:t>
            </a:r>
            <a:r>
              <a:rPr lang="en-IN" sz="2000" b="0" dirty="0">
                <a:solidFill>
                  <a:srgbClr val="CE9178"/>
                </a:solidFill>
                <a:effectLst/>
                <a:latin typeface="Nunito Sans" pitchFamily="2" charset="0"/>
              </a:rPr>
              <a:t>iostream</a:t>
            </a:r>
            <a:r>
              <a:rPr lang="en-IN" sz="2000" b="0" dirty="0">
                <a:solidFill>
                  <a:srgbClr val="569CD6"/>
                </a:solidFill>
                <a:effectLst/>
                <a:latin typeface="Nunito Sans" pitchFamily="2" charset="0"/>
              </a:rPr>
              <a:t>&gt;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using</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namespace</a:t>
            </a:r>
            <a:r>
              <a:rPr lang="en-IN" sz="2000" b="0" dirty="0">
                <a:solidFill>
                  <a:srgbClr val="D4D4D4"/>
                </a:solidFill>
                <a:effectLst/>
                <a:latin typeface="Nunito Sans" pitchFamily="2" charset="0"/>
              </a:rPr>
              <a:t> std</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cin</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&gt;&gt;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temp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32786</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32767</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temp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834313290"/>
      </p:ext>
    </p:extLst>
  </p:cSld>
  <p:clrMapOvr>
    <a:masterClrMapping/>
  </p:clrMapOvr>
</p:sld>
</file>

<file path=ppt/slides/slide6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3"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std::</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std::</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cout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a:t>
            </a:r>
            <a:r>
              <a:rPr lang="en-IN" sz="2000" b="0" dirty="0">
                <a:solidFill>
                  <a:srgbClr val="CE9178"/>
                </a:solidFill>
                <a:effectLst/>
                <a:latin typeface="Nunito Sans" pitchFamily="2" charset="0"/>
              </a:rPr>
              <a:t>"Wrong value"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&lt;&lt;</a:t>
            </a:r>
            <a:r>
              <a:rPr lang="en-IN" sz="2000" b="0" dirty="0">
                <a:solidFill>
                  <a:srgbClr val="D4D4D4"/>
                </a:solidFill>
                <a:effectLst/>
                <a:latin typeface="Nunito Sans" pitchFamily="2" charset="0"/>
              </a:rPr>
              <a:t> std::</a:t>
            </a:r>
            <a:r>
              <a:rPr lang="en-IN" sz="2000" b="0" dirty="0" err="1">
                <a:solidFill>
                  <a:srgbClr val="D4D4D4"/>
                </a:solidFill>
                <a:effectLst/>
                <a:latin typeface="Nunito Sans" pitchFamily="2" charset="0"/>
              </a:rPr>
              <a:t>endl</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return</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br>
              <a:rPr lang="en-IN" sz="2000" b="0" dirty="0">
                <a:solidFill>
                  <a:srgbClr val="D4D4D4"/>
                </a:solidFill>
                <a:effectLst/>
                <a:latin typeface="Nunito Sans" pitchFamily="2" charset="0"/>
              </a:rPr>
            </a:b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143085756"/>
      </p:ext>
    </p:extLst>
  </p:cSld>
  <p:clrMapOvr>
    <a:masterClrMapping/>
  </p:clrMapOvr>
</p:sld>
</file>

<file path=ppt/slides/slide6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569CD6"/>
                </a:solidFill>
                <a:effectLst/>
                <a:latin typeface="Nunito Sans" pitchFamily="2" charset="0"/>
              </a:rPr>
              <a:t>import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java</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util</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Scanner</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class</a:t>
            </a:r>
            <a:r>
              <a:rPr lang="en-IN" sz="2000" b="0" dirty="0">
                <a:solidFill>
                  <a:srgbClr val="D4D4D4"/>
                </a:solidFill>
                <a:effectLst/>
                <a:latin typeface="Nunito Sans" pitchFamily="2" charset="0"/>
              </a:rPr>
              <a:t> Main </a:t>
            </a: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public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static</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void</a:t>
            </a:r>
            <a:r>
              <a:rPr lang="en-IN" sz="2000" b="0" dirty="0">
                <a:solidFill>
                  <a:srgbClr val="D4D4D4"/>
                </a:solidFill>
                <a:effectLst/>
                <a:latin typeface="Nunito Sans" pitchFamily="2" charset="0"/>
              </a:rPr>
              <a:t> main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String</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args</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Scanner </a:t>
            </a:r>
            <a:r>
              <a:rPr lang="en-IN" sz="2000" b="0" dirty="0" err="1">
                <a:solidFill>
                  <a:srgbClr val="D4D4D4"/>
                </a:solidFill>
                <a:effectLst/>
                <a:latin typeface="Nunito Sans" pitchFamily="2" charset="0"/>
              </a:rPr>
              <a:t>scanner</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new</a:t>
            </a:r>
            <a:r>
              <a:rPr lang="en-IN" sz="2000" b="0" dirty="0">
                <a:solidFill>
                  <a:srgbClr val="D4D4D4"/>
                </a:solidFill>
                <a:effectLst/>
                <a:latin typeface="Nunito Sans" pitchFamily="2" charset="0"/>
              </a:rPr>
              <a:t> Scanner</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System</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in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scanner</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nextInt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temp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&gt;=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32786</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&amp;&amp;</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32767</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int</a:t>
            </a:r>
            <a:r>
              <a:rPr lang="en-IN" sz="2000" b="0" dirty="0">
                <a:solidFill>
                  <a:srgbClr val="D4D4D4"/>
                </a:solidFill>
                <a:effectLst/>
                <a:latin typeface="Nunito Sans" pitchFamily="2" charset="0"/>
              </a:rPr>
              <a:t> rem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rem</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n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10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763178430"/>
      </p:ext>
    </p:extLst>
  </p:cSld>
  <p:clrMapOvr>
    <a:masterClrMapping/>
  </p:clrMapOvr>
</p:sld>
</file>

<file path=ppt/slides/slide6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3"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temp </a:t>
            </a:r>
            <a:r>
              <a:rPr lang="en-IN" sz="2000" b="0" dirty="0">
                <a:solidFill>
                  <a:srgbClr val="DCDCDC"/>
                </a:solidFill>
                <a:effectLst/>
                <a:latin typeface="Nunito Sans" pitchFamily="2" charset="0"/>
              </a:rPr>
              <a:t>&lt;</a:t>
            </a:r>
            <a:r>
              <a:rPr lang="en-IN" sz="2000" b="0" dirty="0">
                <a:solidFill>
                  <a:srgbClr val="D4D4D4"/>
                </a:solidFill>
                <a:effectLst/>
                <a:latin typeface="Nunito Sans" pitchFamily="2" charset="0"/>
              </a:rPr>
              <a: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rev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B5CEA8"/>
                </a:solidFill>
                <a:effectLst/>
                <a:latin typeface="Nunito Sans" pitchFamily="2" charset="0"/>
              </a:rPr>
              <a:t>1</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rev</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4D4D4"/>
                </a:solidFill>
                <a:effectLst/>
                <a:latin typeface="Nunito Sans" pitchFamily="2" charset="0"/>
              </a:rPr>
              <a:t> </a:t>
            </a: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err="1">
                <a:solidFill>
                  <a:srgbClr val="D4D4D4"/>
                </a:solidFill>
                <a:effectLst/>
                <a:latin typeface="Nunito Sans" pitchFamily="2" charset="0"/>
              </a:rPr>
              <a:t>System</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out</a:t>
            </a:r>
            <a:r>
              <a:rPr lang="en-IN" sz="2000" b="0" dirty="0" err="1">
                <a:solidFill>
                  <a:srgbClr val="DCDCDC"/>
                </a:solidFill>
                <a:effectLst/>
                <a:latin typeface="Nunito Sans" pitchFamily="2" charset="0"/>
              </a:rPr>
              <a:t>.</a:t>
            </a:r>
            <a:r>
              <a:rPr lang="en-IN" sz="2000" b="0" dirty="0" err="1">
                <a:solidFill>
                  <a:srgbClr val="D4D4D4"/>
                </a:solidFill>
                <a:effectLst/>
                <a:latin typeface="Nunito Sans" pitchFamily="2" charset="0"/>
              </a:rPr>
              <a:t>println</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"Wrong value"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sym typeface="+mn-ea"/>
              </a:rPr>
              <a:t>23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29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34</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35</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36</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37</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38</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39</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40</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41</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42</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43</a:t>
            </a:r>
            <a:endParaRPr lang="en-US" sz="2000" b="1" dirty="0">
              <a:solidFill>
                <a:srgbClr val="FFFF00"/>
              </a:solidFill>
              <a:latin typeface="Courier New" panose="02070309020205020404" pitchFamily="49" charset="0"/>
              <a:cs typeface="Courier New" panose="02070309020205020404" pitchFamily="49" charset="0"/>
            </a:endParaRPr>
          </a:p>
          <a:p>
            <a:r>
              <a:rPr lang="en-US" sz="2000" b="1" dirty="0">
                <a:solidFill>
                  <a:srgbClr val="FFFF00"/>
                </a:solidFill>
                <a:latin typeface="Courier New" panose="02070309020205020404" pitchFamily="49" charset="0"/>
                <a:cs typeface="Courier New" panose="02070309020205020404" pitchFamily="49" charset="0"/>
                <a:sym typeface="+mn-ea"/>
              </a:rPr>
              <a:t>44</a:t>
            </a:r>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496617563"/>
      </p:ext>
    </p:extLst>
  </p:cSld>
  <p:clrMapOvr>
    <a:masterClrMapping/>
  </p:clrMapOvr>
</p:sld>
</file>

<file path=ppt/slides/slide6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IN" sz="2000" b="0" dirty="0">
                <a:solidFill>
                  <a:srgbClr val="D4D4D4"/>
                </a:solidFill>
                <a:effectLst/>
                <a:latin typeface="Nunito Sans" pitchFamily="2" charset="0"/>
              </a:rPr>
              <a:t>n = </a:t>
            </a:r>
            <a:r>
              <a:rPr lang="en-IN" sz="2000" b="0" dirty="0">
                <a:solidFill>
                  <a:srgbClr val="569CD6"/>
                </a:solidFill>
                <a:effectLst/>
                <a:latin typeface="Nunito Sans" pitchFamily="2" charset="0"/>
              </a:rPr>
              <a:t>int</a:t>
            </a:r>
            <a:r>
              <a:rPr lang="en-IN" sz="2000" b="0" dirty="0">
                <a:solidFill>
                  <a:srgbClr val="DCDCDC"/>
                </a:solidFill>
                <a:effectLst/>
                <a:latin typeface="Nunito Sans" pitchFamily="2" charset="0"/>
              </a:rPr>
              <a:t>(</a:t>
            </a:r>
            <a:r>
              <a:rPr lang="en-IN" sz="2000" b="0" dirty="0">
                <a:solidFill>
                  <a:srgbClr val="569CD6"/>
                </a:solidFill>
                <a:effectLst/>
                <a:latin typeface="Nunito Sans" pitchFamily="2" charset="0"/>
              </a:rPr>
              <a:t>input</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temp = n</a:t>
            </a:r>
          </a:p>
          <a:p>
            <a:r>
              <a:rPr lang="en-IN" sz="2000" b="0" dirty="0">
                <a:solidFill>
                  <a:srgbClr val="569CD6"/>
                </a:solidFill>
                <a:effectLst/>
                <a:latin typeface="Nunito Sans" pitchFamily="2" charset="0"/>
              </a:rPr>
              <a:t>if</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&gt;= </a:t>
            </a:r>
            <a:r>
              <a:rPr lang="en-IN" sz="2000" b="0" dirty="0">
                <a:solidFill>
                  <a:srgbClr val="B5CEA8"/>
                </a:solidFill>
                <a:effectLst/>
                <a:latin typeface="Nunito Sans" pitchFamily="2" charset="0"/>
              </a:rPr>
              <a:t>-32786</a:t>
            </a:r>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and</a:t>
            </a:r>
            <a:r>
              <a:rPr lang="en-IN" sz="2000" b="0" dirty="0">
                <a:solidFill>
                  <a:srgbClr val="D4D4D4"/>
                </a:solidFill>
                <a:effectLst/>
                <a:latin typeface="Nunito Sans" pitchFamily="2" charset="0"/>
              </a:rPr>
              <a:t> n &lt;= </a:t>
            </a:r>
            <a:r>
              <a:rPr lang="en-IN" sz="2000" b="0" dirty="0">
                <a:solidFill>
                  <a:srgbClr val="B5CEA8"/>
                </a:solidFill>
                <a:effectLst/>
                <a:latin typeface="Nunito Sans" pitchFamily="2" charset="0"/>
              </a:rPr>
              <a:t>32767</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&lt;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n = n * </a:t>
            </a:r>
            <a:r>
              <a:rPr lang="en-IN" sz="2000" b="0" dirty="0">
                <a:solidFill>
                  <a:srgbClr val="B5CEA8"/>
                </a:solidFill>
                <a:effectLst/>
                <a:latin typeface="Nunito Sans" pitchFamily="2" charset="0"/>
              </a:rPr>
              <a:t>-1</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rev = </a:t>
            </a:r>
            <a:r>
              <a:rPr lang="en-IN" sz="2000" b="0" dirty="0">
                <a:solidFill>
                  <a:srgbClr val="B5CEA8"/>
                </a:solidFill>
                <a:effectLst/>
                <a:latin typeface="Nunito Sans" pitchFamily="2" charset="0"/>
              </a:rPr>
              <a:t>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while</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n !=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rem = n % </a:t>
            </a:r>
            <a:r>
              <a:rPr lang="en-IN" sz="2000" b="0" dirty="0">
                <a:solidFill>
                  <a:srgbClr val="B5CEA8"/>
                </a:solidFill>
                <a:effectLst/>
                <a:latin typeface="Nunito Sans" pitchFamily="2" charset="0"/>
              </a:rPr>
              <a:t>10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rev = rev * </a:t>
            </a:r>
            <a:r>
              <a:rPr lang="en-IN" sz="2000" b="0" dirty="0">
                <a:solidFill>
                  <a:srgbClr val="B5CEA8"/>
                </a:solidFill>
                <a:effectLst/>
                <a:latin typeface="Nunito Sans" pitchFamily="2" charset="0"/>
              </a:rPr>
              <a:t>10</a:t>
            </a:r>
            <a:r>
              <a:rPr lang="en-IN" sz="2000" b="0" dirty="0">
                <a:solidFill>
                  <a:srgbClr val="D4D4D4"/>
                </a:solidFill>
                <a:effectLst/>
                <a:latin typeface="Nunito Sans" pitchFamily="2" charset="0"/>
              </a:rPr>
              <a:t> + rem</a:t>
            </a:r>
          </a:p>
          <a:p>
            <a:r>
              <a:rPr lang="en-IN" sz="2000" b="0" dirty="0">
                <a:solidFill>
                  <a:srgbClr val="D4D4D4"/>
                </a:solidFill>
                <a:effectLst/>
                <a:latin typeface="Nunito Sans" pitchFamily="2" charset="0"/>
              </a:rPr>
              <a:t>        n = n // </a:t>
            </a:r>
            <a:r>
              <a:rPr lang="en-IN" sz="2000" b="0" dirty="0">
                <a:solidFill>
                  <a:srgbClr val="B5CEA8"/>
                </a:solidFill>
                <a:effectLst/>
                <a:latin typeface="Nunito Sans" pitchFamily="2" charset="0"/>
              </a:rPr>
              <a:t>10</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if</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temp &lt; </a:t>
            </a:r>
            <a:r>
              <a:rPr lang="en-IN" sz="2000" b="0" dirty="0">
                <a:solidFill>
                  <a:srgbClr val="B5CEA8"/>
                </a:solidFill>
                <a:effectLst/>
                <a:latin typeface="Nunito Sans" pitchFamily="2" charset="0"/>
              </a:rPr>
              <a:t>0</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rev * </a:t>
            </a:r>
            <a:r>
              <a:rPr lang="en-IN" sz="2000" b="0" dirty="0">
                <a:solidFill>
                  <a:srgbClr val="B5CEA8"/>
                </a:solidFill>
                <a:effectLst/>
                <a:latin typeface="Nunito Sans" pitchFamily="2" charset="0"/>
              </a:rPr>
              <a:t>-1</a:t>
            </a:r>
            <a:r>
              <a:rPr lang="en-IN" sz="2000" b="0" dirty="0">
                <a:solidFill>
                  <a:srgbClr val="D4D4D4"/>
                </a:solidFill>
                <a:effectLst/>
                <a:latin typeface="Nunito Sans" pitchFamily="2" charset="0"/>
              </a:rPr>
              <a:t> </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else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D4D4D4"/>
                </a:solidFill>
                <a:effectLst/>
                <a:latin typeface="Nunito Sans" pitchFamily="2" charset="0"/>
              </a:rPr>
              <a:t>rev</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569CD6"/>
                </a:solidFill>
                <a:effectLst/>
                <a:latin typeface="Nunito Sans" pitchFamily="2" charset="0"/>
              </a:rPr>
              <a:t>else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r>
              <a:rPr lang="en-IN" sz="2000" b="0" dirty="0">
                <a:solidFill>
                  <a:srgbClr val="D4D4D4"/>
                </a:solidFill>
                <a:effectLst/>
                <a:latin typeface="Nunito Sans" pitchFamily="2" charset="0"/>
              </a:rPr>
              <a:t>    </a:t>
            </a:r>
            <a:r>
              <a:rPr lang="en-IN" sz="2000" b="0" dirty="0">
                <a:solidFill>
                  <a:srgbClr val="569CD6"/>
                </a:solidFill>
                <a:effectLst/>
                <a:latin typeface="Nunito Sans" pitchFamily="2" charset="0"/>
              </a:rPr>
              <a:t>print</a:t>
            </a:r>
            <a:r>
              <a:rPr lang="en-IN" sz="2000" b="0" dirty="0">
                <a:solidFill>
                  <a:srgbClr val="DCDCDC"/>
                </a:solidFill>
                <a:effectLst/>
                <a:latin typeface="Nunito Sans" pitchFamily="2" charset="0"/>
              </a:rPr>
              <a:t>(</a:t>
            </a:r>
            <a:r>
              <a:rPr lang="en-IN" sz="2000" b="0" dirty="0">
                <a:solidFill>
                  <a:srgbClr val="CE9178"/>
                </a:solidFill>
                <a:effectLst/>
                <a:latin typeface="Nunito Sans" pitchFamily="2" charset="0"/>
              </a:rPr>
              <a:t>"Wrong value"</a:t>
            </a:r>
            <a:r>
              <a:rPr lang="en-IN" sz="2000" b="0" dirty="0">
                <a:solidFill>
                  <a:srgbClr val="DCDCDC"/>
                </a:solidFill>
                <a:effectLst/>
                <a:latin typeface="Nunito Sans" pitchFamily="2" charset="0"/>
              </a:rPr>
              <a:t>)</a:t>
            </a:r>
            <a:endParaRPr lang="en-IN" sz="2000" b="0" dirty="0">
              <a:solidFill>
                <a:srgbClr val="D4D4D4"/>
              </a:solidFill>
              <a:effectLst/>
              <a:latin typeface="Nunito Sans" pitchFamily="2" charset="0"/>
            </a:endParaRPr>
          </a:p>
          <a:p>
            <a:endParaRPr lang="en-IN" sz="2000" b="0" dirty="0">
              <a:solidFill>
                <a:srgbClr val="D4D4D4"/>
              </a:solidFill>
              <a:effectLst/>
              <a:latin typeface="Nunito Sans" pitchFamily="2" charset="0"/>
            </a:endParaRP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743607755"/>
      </p:ext>
    </p:extLst>
  </p:cSld>
  <p:clrMapOvr>
    <a:masterClrMapping/>
  </p:clrMapOvr>
</p:sld>
</file>

<file path=ppt/slides/slide6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3">
            <a:extLst>
              <a:ext uri="{28A0092B-C50C-407E-A947-70E740481C1C}">
                <a14:useLocalDpi xmlns:a14="http://schemas.microsoft.com/office/drawing/2010/main" val="0"/>
              </a:ext>
            </a:extLst>
          </a:blip>
          <a:srcRect l="1110" b="849"/>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itchFamily="2" charset="0"/>
              </a:rPr>
              <a:t>THANK YOU</a:t>
            </a:r>
            <a:endParaRPr lang="en-US" sz="8000" b="1" dirty="0">
              <a:solidFill>
                <a:srgbClr val="F05136"/>
              </a:solidFill>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5600" y="6202800"/>
            <a:ext cx="2358000" cy="29896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3779</TotalTime>
  <Words>80972</Words>
  <Application>Microsoft Office PowerPoint</Application>
  <PresentationFormat>Widescreen</PresentationFormat>
  <Paragraphs>19825</Paragraphs>
  <Slides>624</Slides>
  <Notes>216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624</vt:i4>
      </vt:variant>
    </vt:vector>
  </HeadingPairs>
  <TitlesOfParts>
    <vt:vector size="634" baseType="lpstr">
      <vt:lpstr>Arial</vt:lpstr>
      <vt:lpstr>Calibri</vt:lpstr>
      <vt:lpstr>Calibri Light</vt:lpstr>
      <vt:lpstr>Consolas</vt:lpstr>
      <vt:lpstr>Courier New</vt:lpstr>
      <vt:lpstr>Nunito Sans</vt:lpstr>
      <vt:lpstr>Nunito Sans SemiBold</vt:lpstr>
      <vt:lpstr>Sans Serif Collection</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SARAN MANICKAM</dc:creator>
  <cp:lastModifiedBy>Pavan Kota</cp:lastModifiedBy>
  <cp:revision>83</cp:revision>
  <dcterms:created xsi:type="dcterms:W3CDTF">2020-09-15T10:22:00Z</dcterms:created>
  <dcterms:modified xsi:type="dcterms:W3CDTF">2024-12-04T16:18:03Z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1033-11.2.0.9665</vt:lpwstr>
  </property>
</Properties>
</file>